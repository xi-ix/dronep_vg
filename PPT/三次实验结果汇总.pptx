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70AA"/>
                </a:solidFill>
                <a:latin typeface="Noto Sans CJK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01168"/>
            <a:ext cx="1074420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92430"/>
                </a:solidFill>
                <a:latin typeface="Noto Sans CJK SC"/>
              </a:rPr>
              <a:t>RL 闭环轮数消融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658368"/>
            <a:ext cx="1069848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875"/>
                </a:solidFill>
                <a:latin typeface="Noto Sans CJK SC"/>
              </a:rPr>
              <a:t>固定同一策略与候选流程 · VisDrone test：150 张 / 7,973 GT · 仅改变总推理轮数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93424" y="6510528"/>
            <a:ext cx="347472" cy="1828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B6875"/>
                </a:solidFill>
                <a:latin typeface="Noto Sans CJK SC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78992"/>
            <a:ext cx="19202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54864" cy="658368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152144"/>
            <a:ext cx="1673352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最高 Acc@0.5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353312"/>
            <a:ext cx="1673352" cy="2834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D70AA"/>
                </a:solidFill>
                <a:latin typeface="Noto Sans CJK SC"/>
              </a:rPr>
              <a:t>0.5357 · 4轮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2032" y="1078992"/>
            <a:ext cx="19202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42032" y="1078992"/>
            <a:ext cx="54864" cy="658368"/>
          </a:xfrm>
          <a:prstGeom prst="rect">
            <a:avLst/>
          </a:prstGeom>
          <a:solidFill>
            <a:srgbClr val="17857D"/>
          </a:solidFill>
          <a:ln w="10160">
            <a:solidFill>
              <a:srgbClr val="17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1152144"/>
            <a:ext cx="1673352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最高 mAP@0.5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1353312"/>
            <a:ext cx="1673352" cy="2834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857D"/>
                </a:solidFill>
                <a:latin typeface="Noto Sans CJK SC"/>
              </a:rPr>
              <a:t>0.1402 · 4轮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81144" y="1078992"/>
            <a:ext cx="19202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81144" y="1078992"/>
            <a:ext cx="54864" cy="658368"/>
          </a:xfrm>
          <a:prstGeom prst="rect">
            <a:avLst/>
          </a:prstGeom>
          <a:solidFill>
            <a:srgbClr val="D99124"/>
          </a:solidFill>
          <a:ln w="10160">
            <a:solidFill>
              <a:srgbClr val="D99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5736" y="1152144"/>
            <a:ext cx="1673352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均衡设置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1353312"/>
            <a:ext cx="1673352" cy="2834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D99124"/>
                </a:solidFill>
                <a:latin typeface="Noto Sans CJK SC"/>
              </a:rPr>
              <a:t>3轮 · 93ms/图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1078992"/>
            <a:ext cx="4965192" cy="3026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1216151"/>
            <a:ext cx="4507992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2430"/>
                </a:solidFill>
                <a:latin typeface="Noto Sans CJK SC"/>
              </a:rPr>
              <a:t>轮数增加带来的收益与时延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87768" y="1737360"/>
            <a:ext cx="4096511" cy="5486"/>
          </a:xfrm>
          <a:prstGeom prst="rect">
            <a:avLst/>
          </a:prstGeom>
          <a:solidFill>
            <a:srgbClr val="DADFE5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87768" y="2395728"/>
            <a:ext cx="4096511" cy="5486"/>
          </a:xfrm>
          <a:prstGeom prst="rect">
            <a:avLst/>
          </a:prstGeom>
          <a:solidFill>
            <a:srgbClr val="DADFE5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87768" y="3054096"/>
            <a:ext cx="4096511" cy="5486"/>
          </a:xfrm>
          <a:prstGeom prst="rect">
            <a:avLst/>
          </a:prstGeom>
          <a:solidFill>
            <a:srgbClr val="DADFE5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87768" y="3712464"/>
            <a:ext cx="4096511" cy="5486"/>
          </a:xfrm>
          <a:prstGeom prst="rect">
            <a:avLst/>
          </a:prstGeom>
          <a:solidFill>
            <a:srgbClr val="DADFE5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3803904"/>
            <a:ext cx="402336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2轮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5" y="3803904"/>
            <a:ext cx="402336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3轮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3111" y="3803904"/>
            <a:ext cx="402336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4轮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7287768" y="2461954"/>
            <a:ext cx="2048256" cy="899899"/>
          </a:xfrm>
          <a:prstGeom prst="line">
            <a:avLst/>
          </a:prstGeom>
          <a:ln w="31750">
            <a:solidFill>
              <a:srgbClr val="2D7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336024" y="2087970"/>
            <a:ext cx="2048256" cy="373984"/>
          </a:xfrm>
          <a:prstGeom prst="line">
            <a:avLst/>
          </a:prstGeom>
          <a:ln w="31750">
            <a:solidFill>
              <a:srgbClr val="2D7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7228331" y="3302417"/>
            <a:ext cx="118872" cy="118872"/>
          </a:xfrm>
          <a:prstGeom prst="ellipse">
            <a:avLst/>
          </a:prstGeom>
          <a:solidFill>
            <a:srgbClr val="2D70AA"/>
          </a:solidFill>
          <a:ln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58583" y="3050957"/>
            <a:ext cx="658368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2D70AA"/>
                </a:solidFill>
                <a:latin typeface="Noto Sans CJK SC"/>
              </a:rPr>
              <a:t>0.5139</a:t>
            </a:r>
          </a:p>
        </p:txBody>
      </p:sp>
      <p:sp>
        <p:nvSpPr>
          <p:cNvPr id="32" name="Oval 31"/>
          <p:cNvSpPr/>
          <p:nvPr/>
        </p:nvSpPr>
        <p:spPr>
          <a:xfrm>
            <a:off x="9276588" y="2402518"/>
            <a:ext cx="118872" cy="118872"/>
          </a:xfrm>
          <a:prstGeom prst="ellipse">
            <a:avLst/>
          </a:prstGeom>
          <a:solidFill>
            <a:srgbClr val="2D70AA"/>
          </a:solidFill>
          <a:ln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2151058"/>
            <a:ext cx="658368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2D70AA"/>
                </a:solidFill>
                <a:latin typeface="Noto Sans CJK SC"/>
              </a:rPr>
              <a:t>0.5293</a:t>
            </a:r>
          </a:p>
        </p:txBody>
      </p:sp>
      <p:sp>
        <p:nvSpPr>
          <p:cNvPr id="34" name="Oval 33"/>
          <p:cNvSpPr/>
          <p:nvPr/>
        </p:nvSpPr>
        <p:spPr>
          <a:xfrm>
            <a:off x="11324844" y="2028534"/>
            <a:ext cx="118872" cy="118872"/>
          </a:xfrm>
          <a:prstGeom prst="ellipse">
            <a:avLst/>
          </a:prstGeom>
          <a:solidFill>
            <a:srgbClr val="2D70AA"/>
          </a:solidFill>
          <a:ln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55096" y="1777074"/>
            <a:ext cx="658368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2D70AA"/>
                </a:solidFill>
                <a:latin typeface="Noto Sans CJK SC"/>
              </a:rPr>
              <a:t>0.5357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7287768" y="2613533"/>
            <a:ext cx="2048256" cy="801922"/>
          </a:xfrm>
          <a:prstGeom prst="line">
            <a:avLst/>
          </a:prstGeom>
          <a:ln w="31750">
            <a:solidFill>
              <a:srgbClr val="D99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336024" y="2034368"/>
            <a:ext cx="2048256" cy="579165"/>
          </a:xfrm>
          <a:prstGeom prst="line">
            <a:avLst/>
          </a:prstGeom>
          <a:ln w="31750">
            <a:solidFill>
              <a:srgbClr val="D99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7228331" y="3356019"/>
            <a:ext cx="118872" cy="118872"/>
          </a:xfrm>
          <a:prstGeom prst="ellipse">
            <a:avLst/>
          </a:prstGeom>
          <a:solidFill>
            <a:srgbClr val="D99124"/>
          </a:solidFill>
          <a:ln>
            <a:solidFill>
              <a:srgbClr val="D99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58583" y="3525183"/>
            <a:ext cx="658368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D99124"/>
                </a:solidFill>
                <a:latin typeface="Noto Sans CJK SC"/>
              </a:rPr>
              <a:t>11.27s</a:t>
            </a:r>
          </a:p>
        </p:txBody>
      </p:sp>
      <p:sp>
        <p:nvSpPr>
          <p:cNvPr id="40" name="Oval 39"/>
          <p:cNvSpPr/>
          <p:nvPr/>
        </p:nvSpPr>
        <p:spPr>
          <a:xfrm>
            <a:off x="9276588" y="2554097"/>
            <a:ext cx="118872" cy="118872"/>
          </a:xfrm>
          <a:prstGeom prst="ellipse">
            <a:avLst/>
          </a:prstGeom>
          <a:solidFill>
            <a:srgbClr val="D99124"/>
          </a:solidFill>
          <a:ln>
            <a:solidFill>
              <a:srgbClr val="D99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06840" y="2723261"/>
            <a:ext cx="658368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D99124"/>
                </a:solidFill>
                <a:latin typeface="Noto Sans CJK SC"/>
              </a:rPr>
              <a:t>13.97s</a:t>
            </a:r>
          </a:p>
        </p:txBody>
      </p:sp>
      <p:sp>
        <p:nvSpPr>
          <p:cNvPr id="42" name="Oval 41"/>
          <p:cNvSpPr/>
          <p:nvPr/>
        </p:nvSpPr>
        <p:spPr>
          <a:xfrm>
            <a:off x="11324844" y="1974932"/>
            <a:ext cx="118872" cy="118872"/>
          </a:xfrm>
          <a:prstGeom prst="ellipse">
            <a:avLst/>
          </a:prstGeom>
          <a:solidFill>
            <a:srgbClr val="D99124"/>
          </a:solidFill>
          <a:ln>
            <a:solidFill>
              <a:srgbClr val="D99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55096" y="2144096"/>
            <a:ext cx="658368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D99124"/>
                </a:solidFill>
                <a:latin typeface="Noto Sans CJK SC"/>
              </a:rPr>
              <a:t>15.92s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54312" y="1225295"/>
            <a:ext cx="2011680" cy="219456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/>
            <a:r>
              <a:rPr sz="950" b="1">
                <a:solidFill>
                  <a:srgbClr val="2D70AA"/>
                </a:solidFill>
                <a:latin typeface="Noto Sans CJK SC"/>
              </a:rPr>
              <a:t>● </a:t>
            </a:r>
            <a:r>
              <a:rPr sz="950" b="0">
                <a:solidFill>
                  <a:srgbClr val="5B6875"/>
                </a:solidFill>
                <a:latin typeface="Noto Sans CJK SC"/>
              </a:rPr>
              <a:t>Acc@0.5</a:t>
            </a:r>
            <a:r>
              <a:rPr sz="950" b="1">
                <a:solidFill>
                  <a:srgbClr val="D99124"/>
                </a:solidFill>
                <a:latin typeface="Noto Sans CJK SC"/>
              </a:rPr>
              <a:t>    ● </a:t>
            </a:r>
            <a:r>
              <a:rPr sz="950" b="0">
                <a:solidFill>
                  <a:srgbClr val="5B6875"/>
                </a:solidFill>
                <a:latin typeface="Noto Sans CJK SC"/>
              </a:rPr>
              <a:t>闭环时间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2011679"/>
            <a:ext cx="54864" cy="210312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" y="1947672"/>
            <a:ext cx="586130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2430"/>
                </a:solidFill>
                <a:latin typeface="Noto Sans CJK SC"/>
              </a:rPr>
              <a:t>同口径复跑结果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2331720"/>
            <a:ext cx="5623560" cy="1682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" y="2331720"/>
            <a:ext cx="685800" cy="420624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8" y="2350008"/>
            <a:ext cx="649224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轮数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88720" y="2331720"/>
            <a:ext cx="1005840" cy="420624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07008" y="2350008"/>
            <a:ext cx="969264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候选框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94560" y="2331720"/>
            <a:ext cx="960120" cy="420624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12848" y="2350008"/>
            <a:ext cx="923544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TP@0.5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54680" y="2331720"/>
            <a:ext cx="960120" cy="420624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72968" y="2350008"/>
            <a:ext cx="923544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Acc@0.5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0" y="2331720"/>
            <a:ext cx="960120" cy="420624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33087" y="2350008"/>
            <a:ext cx="923544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mAP@0.5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74920" y="2331720"/>
            <a:ext cx="1051560" cy="420624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93207" y="2350008"/>
            <a:ext cx="1014983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单图时间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2752344"/>
            <a:ext cx="6858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9496" y="2761487"/>
            <a:ext cx="612648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>
                <a:solidFill>
                  <a:srgbClr val="192430"/>
                </a:solidFill>
                <a:latin typeface="Noto Sans CJK SC"/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88720" y="2752344"/>
            <a:ext cx="100584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25296" y="2761487"/>
            <a:ext cx="932688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>
                <a:solidFill>
                  <a:srgbClr val="192430"/>
                </a:solidFill>
                <a:latin typeface="Noto Sans CJK SC"/>
              </a:rPr>
              <a:t>37,487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94560" y="2752344"/>
            <a:ext cx="96012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31136" y="2761487"/>
            <a:ext cx="886968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>
                <a:solidFill>
                  <a:srgbClr val="192430"/>
                </a:solidFill>
                <a:latin typeface="Noto Sans CJK SC"/>
              </a:rPr>
              <a:t>4,097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54680" y="2752344"/>
            <a:ext cx="96012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91256" y="2761487"/>
            <a:ext cx="886968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>
                <a:solidFill>
                  <a:srgbClr val="192430"/>
                </a:solidFill>
                <a:latin typeface="Noto Sans CJK SC"/>
              </a:rPr>
              <a:t>0.5139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0" y="2752344"/>
            <a:ext cx="96012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51376" y="2761487"/>
            <a:ext cx="886968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>
                <a:solidFill>
                  <a:srgbClr val="192430"/>
                </a:solidFill>
                <a:latin typeface="Noto Sans CJK SC"/>
              </a:rPr>
              <a:t>0.1386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74920" y="2752344"/>
            <a:ext cx="10515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11496" y="2761487"/>
            <a:ext cx="978407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>
                <a:solidFill>
                  <a:srgbClr val="192430"/>
                </a:solidFill>
                <a:latin typeface="Noto Sans CJK SC"/>
              </a:rPr>
              <a:t>75.11 ms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2920" y="3172968"/>
            <a:ext cx="685800" cy="420624"/>
          </a:xfrm>
          <a:prstGeom prst="rect">
            <a:avLst/>
          </a:prstGeom>
          <a:solidFill>
            <a:srgbClr val="FBEED3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9496" y="3182111"/>
            <a:ext cx="612648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2D70AA"/>
                </a:solidFill>
                <a:latin typeface="Noto Sans CJK SC"/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88720" y="3172968"/>
            <a:ext cx="1005840" cy="420624"/>
          </a:xfrm>
          <a:prstGeom prst="rect">
            <a:avLst/>
          </a:prstGeom>
          <a:solidFill>
            <a:srgbClr val="FBEED3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225296" y="3182111"/>
            <a:ext cx="932688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1">
                <a:solidFill>
                  <a:srgbClr val="192430"/>
                </a:solidFill>
                <a:latin typeface="Noto Sans CJK SC"/>
              </a:rPr>
              <a:t>40,904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194560" y="3172968"/>
            <a:ext cx="960120" cy="420624"/>
          </a:xfrm>
          <a:prstGeom prst="rect">
            <a:avLst/>
          </a:prstGeom>
          <a:solidFill>
            <a:srgbClr val="FBEED3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231136" y="3182111"/>
            <a:ext cx="886968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1">
                <a:solidFill>
                  <a:srgbClr val="192430"/>
                </a:solidFill>
                <a:latin typeface="Noto Sans CJK SC"/>
              </a:rPr>
              <a:t>4,220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154680" y="3172968"/>
            <a:ext cx="960120" cy="420624"/>
          </a:xfrm>
          <a:prstGeom prst="rect">
            <a:avLst/>
          </a:prstGeom>
          <a:solidFill>
            <a:srgbClr val="FBEED3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191256" y="3182111"/>
            <a:ext cx="886968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1">
                <a:solidFill>
                  <a:srgbClr val="192430"/>
                </a:solidFill>
                <a:latin typeface="Noto Sans CJK SC"/>
              </a:rPr>
              <a:t>0.5293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14800" y="3172968"/>
            <a:ext cx="960120" cy="420624"/>
          </a:xfrm>
          <a:prstGeom prst="rect">
            <a:avLst/>
          </a:prstGeom>
          <a:solidFill>
            <a:srgbClr val="FBEED3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51376" y="3182111"/>
            <a:ext cx="886968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1">
                <a:solidFill>
                  <a:srgbClr val="192430"/>
                </a:solidFill>
                <a:latin typeface="Noto Sans CJK SC"/>
              </a:rPr>
              <a:t>0.1397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74920" y="3172968"/>
            <a:ext cx="1051560" cy="420624"/>
          </a:xfrm>
          <a:prstGeom prst="rect">
            <a:avLst/>
          </a:prstGeom>
          <a:solidFill>
            <a:srgbClr val="FBEED3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111496" y="3182111"/>
            <a:ext cx="978407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1">
                <a:solidFill>
                  <a:srgbClr val="2D70AA"/>
                </a:solidFill>
                <a:latin typeface="Noto Sans CJK SC"/>
              </a:rPr>
              <a:t>93.16 ms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2920" y="3593591"/>
            <a:ext cx="685800" cy="420624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9496" y="3602735"/>
            <a:ext cx="612648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2D70AA"/>
                </a:solidFill>
                <a:latin typeface="Noto Sans CJK SC"/>
              </a:rPr>
              <a:t>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88720" y="3593591"/>
            <a:ext cx="1005840" cy="420624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225296" y="3602735"/>
            <a:ext cx="932688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1">
                <a:solidFill>
                  <a:srgbClr val="192430"/>
                </a:solidFill>
                <a:latin typeface="Noto Sans CJK SC"/>
              </a:rPr>
              <a:t>42,229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194560" y="3593591"/>
            <a:ext cx="960120" cy="420624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231136" y="3602735"/>
            <a:ext cx="886968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1">
                <a:solidFill>
                  <a:srgbClr val="192430"/>
                </a:solidFill>
                <a:latin typeface="Noto Sans CJK SC"/>
              </a:rPr>
              <a:t>4,271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154680" y="3593591"/>
            <a:ext cx="960120" cy="420624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191256" y="3602735"/>
            <a:ext cx="886968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1">
                <a:solidFill>
                  <a:srgbClr val="192430"/>
                </a:solidFill>
                <a:latin typeface="Noto Sans CJK SC"/>
              </a:rPr>
              <a:t>0.5357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0" y="3593591"/>
            <a:ext cx="960120" cy="420624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51376" y="3602735"/>
            <a:ext cx="886968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1">
                <a:solidFill>
                  <a:srgbClr val="192430"/>
                </a:solidFill>
                <a:latin typeface="Noto Sans CJK SC"/>
              </a:rPr>
              <a:t>0.1402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74920" y="3593591"/>
            <a:ext cx="1051560" cy="420624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111496" y="3602735"/>
            <a:ext cx="978407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1">
                <a:solidFill>
                  <a:srgbClr val="2D70AA"/>
                </a:solidFill>
                <a:latin typeface="Noto Sans CJK SC"/>
              </a:rPr>
              <a:t>106.11 ms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02920" y="4224528"/>
            <a:ext cx="11183112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49808" y="4471416"/>
            <a:ext cx="54864" cy="210312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77824" y="4407408"/>
            <a:ext cx="279806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2430"/>
                </a:solidFill>
                <a:latin typeface="Noto Sans CJK SC"/>
              </a:rPr>
              <a:t>结论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4672" y="4736592"/>
            <a:ext cx="10607040" cy="365760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/>
            <a:r>
              <a:rPr sz="1500" b="1">
                <a:solidFill>
                  <a:srgbClr val="2D70AA"/>
                </a:solidFill>
                <a:latin typeface="Noto Sans CJK SC"/>
              </a:rPr>
              <a:t>4轮</a:t>
            </a:r>
            <a:r>
              <a:rPr sz="1500" b="0">
                <a:solidFill>
                  <a:srgbClr val="192430"/>
                </a:solidFill>
                <a:latin typeface="Noto Sans CJK SC"/>
              </a:rPr>
              <a:t>取得最高指标，但 3→4 轮仅新增 </a:t>
            </a:r>
            <a:r>
              <a:rPr sz="1500" b="1">
                <a:solidFill>
                  <a:srgbClr val="2D70AA"/>
                </a:solidFill>
                <a:latin typeface="Noto Sans CJK SC"/>
              </a:rPr>
              <a:t>51 TP</a:t>
            </a:r>
            <a:r>
              <a:rPr sz="1500" b="0">
                <a:solidFill>
                  <a:srgbClr val="192430"/>
                </a:solidFill>
                <a:latin typeface="Noto Sans CJK SC"/>
              </a:rPr>
              <a:t>、mAP +0.00052，同时增加 </a:t>
            </a:r>
            <a:r>
              <a:rPr sz="1500" b="1">
                <a:solidFill>
                  <a:srgbClr val="D99124"/>
                </a:solidFill>
                <a:latin typeface="Noto Sans CJK SC"/>
              </a:rPr>
              <a:t>1.94 s</a:t>
            </a:r>
            <a:r>
              <a:rPr sz="1500" b="0">
                <a:solidFill>
                  <a:srgbClr val="192430"/>
                </a:solidFill>
                <a:latin typeface="Noto Sans CJK SC"/>
              </a:rPr>
              <a:t> 推理时间。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" y="5175504"/>
            <a:ext cx="10561320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875"/>
                </a:solidFill>
                <a:latin typeface="Noto Sans CJK SC"/>
              </a:rPr>
              <a:t>最高召回/评分优先：4轮；综合候选规模与推理效率：3轮更均衡。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30352" y="6181344"/>
            <a:ext cx="10789920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5B6875"/>
                </a:solidFill>
                <a:latin typeface="Noto Sans CJK SC"/>
              </a:rPr>
              <a:t>注：4轮沿用三轮训练策略，属于固定策略下的推理轮数消融。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70AA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01168"/>
            <a:ext cx="1074420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92430"/>
                </a:solidFill>
                <a:latin typeface="Noto Sans CJK SC"/>
              </a:rPr>
              <a:t>RL 动作策略消融（Exp43）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658368"/>
            <a:ext cx="1069848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875"/>
                </a:solidFill>
                <a:latin typeface="Noto Sans CJK SC"/>
              </a:rPr>
              <a:t>相同初始候选、去重、Exp38 重评分与评测逻辑 · Random action 为 5 seeds 均值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93424" y="6510528"/>
            <a:ext cx="347472" cy="1828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B6875"/>
                </a:solidFill>
                <a:latin typeface="Noto Sans CJK SC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78992"/>
            <a:ext cx="21031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54864" cy="658368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152144"/>
            <a:ext cx="1856231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Fixed RL vs Random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353312"/>
            <a:ext cx="1856231" cy="2834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D70AA"/>
                </a:solidFill>
                <a:latin typeface="Noto Sans CJK SC"/>
              </a:rPr>
              <a:t>Acc +4.01 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24912" y="1078992"/>
            <a:ext cx="21031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24912" y="1078992"/>
            <a:ext cx="54864" cy="658368"/>
          </a:xfrm>
          <a:prstGeom prst="rect">
            <a:avLst/>
          </a:prstGeom>
          <a:solidFill>
            <a:srgbClr val="17857D"/>
          </a:solidFill>
          <a:ln w="10160">
            <a:solidFill>
              <a:srgbClr val="17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9504" y="1152144"/>
            <a:ext cx="1856231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小目标最终召回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1353312"/>
            <a:ext cx="1856231" cy="2834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857D"/>
                </a:solidFill>
                <a:latin typeface="Noto Sans CJK SC"/>
              </a:rPr>
              <a:t>+5.75 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46904" y="1078992"/>
            <a:ext cx="21031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46904" y="1078992"/>
            <a:ext cx="54864" cy="658368"/>
          </a:xfrm>
          <a:prstGeom prst="rect">
            <a:avLst/>
          </a:prstGeom>
          <a:solidFill>
            <a:srgbClr val="D99124"/>
          </a:solidFill>
          <a:ln w="10160">
            <a:solidFill>
              <a:srgbClr val="D99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1496" y="1152144"/>
            <a:ext cx="1856231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相对穷举动作预算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1496" y="1353312"/>
            <a:ext cx="1856231" cy="2834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D99124"/>
                </a:solidFill>
                <a:latin typeface="Noto Sans CJK SC"/>
              </a:rPr>
              <a:t>仅 1 / 8.13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0336" y="1078992"/>
            <a:ext cx="4425696" cy="34107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88936" y="1207007"/>
            <a:ext cx="3968496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2430"/>
                </a:solidFill>
                <a:latin typeface="Noto Sans CJK SC"/>
              </a:rPr>
              <a:t>Acc@0.5 对比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8352" y="1581912"/>
            <a:ext cx="1234440" cy="3899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No expansion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14232" y="1692005"/>
            <a:ext cx="1583550" cy="183489"/>
          </a:xfrm>
          <a:prstGeom prst="rect">
            <a:avLst/>
          </a:prstGeom>
          <a:solidFill>
            <a:srgbClr val="B5BEC7"/>
          </a:solidFill>
          <a:ln w="10160">
            <a:solidFill>
              <a:srgbClr val="B5B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61790" y="1581912"/>
            <a:ext cx="658368" cy="3899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B5BEC7"/>
                </a:solidFill>
                <a:latin typeface="Noto Sans CJK SC"/>
              </a:rPr>
              <a:t>0.4651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52" y="2040635"/>
            <a:ext cx="1234440" cy="3899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Random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14232" y="2150729"/>
            <a:ext cx="1665605" cy="183489"/>
          </a:xfrm>
          <a:prstGeom prst="rect">
            <a:avLst/>
          </a:prstGeom>
          <a:solidFill>
            <a:srgbClr val="B5BEC7"/>
          </a:solidFill>
          <a:ln w="10160">
            <a:solidFill>
              <a:srgbClr val="B5B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43845" y="2040635"/>
            <a:ext cx="658368" cy="3899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B5BEC7"/>
                </a:solidFill>
                <a:latin typeface="Noto Sans CJK SC"/>
              </a:rPr>
              <a:t>0.4892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2499360"/>
            <a:ext cx="1234440" cy="3899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Prompt-rank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14232" y="2609453"/>
            <a:ext cx="1733019" cy="183489"/>
          </a:xfrm>
          <a:prstGeom prst="rect">
            <a:avLst/>
          </a:prstGeom>
          <a:solidFill>
            <a:srgbClr val="17857D"/>
          </a:solidFill>
          <a:ln w="10160">
            <a:solidFill>
              <a:srgbClr val="17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1259" y="2499360"/>
            <a:ext cx="658368" cy="3899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17857D"/>
                </a:solidFill>
                <a:latin typeface="Noto Sans CJK SC"/>
              </a:rPr>
              <a:t>0.5090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2958084"/>
            <a:ext cx="1234440" cy="3899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Fixed RL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14232" y="3068177"/>
            <a:ext cx="1802136" cy="183489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80376" y="2958084"/>
            <a:ext cx="658368" cy="3899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2D70AA"/>
                </a:solidFill>
                <a:latin typeface="Noto Sans CJK SC"/>
              </a:rPr>
              <a:t>0.5293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352" y="3416807"/>
            <a:ext cx="1234440" cy="3899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Qwen dynamic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14232" y="3526901"/>
            <a:ext cx="1703738" cy="183489"/>
          </a:xfrm>
          <a:prstGeom prst="rect">
            <a:avLst/>
          </a:prstGeom>
          <a:solidFill>
            <a:srgbClr val="D99124"/>
          </a:solidFill>
          <a:ln w="10160">
            <a:solidFill>
              <a:srgbClr val="D99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81978" y="3416807"/>
            <a:ext cx="658368" cy="3899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D99124"/>
                </a:solidFill>
                <a:latin typeface="Noto Sans CJK SC"/>
              </a:rPr>
              <a:t>0.5004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88352" y="3875532"/>
            <a:ext cx="1234440" cy="3899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All expansion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14232" y="3985625"/>
            <a:ext cx="1951264" cy="183489"/>
          </a:xfrm>
          <a:prstGeom prst="rect">
            <a:avLst/>
          </a:prstGeom>
          <a:solidFill>
            <a:srgbClr val="C65049"/>
          </a:solidFill>
          <a:ln w="10160">
            <a:solidFill>
              <a:srgbClr val="C6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29504" y="3875532"/>
            <a:ext cx="658368" cy="3899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C65049"/>
                </a:solidFill>
                <a:latin typeface="Noto Sans CJK SC"/>
              </a:rPr>
              <a:t>0.5731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2011679"/>
            <a:ext cx="54864" cy="210312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" y="1947672"/>
            <a:ext cx="640994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2430"/>
                </a:solidFill>
                <a:latin typeface="Noto Sans CJK SC"/>
              </a:rPr>
              <a:t>准确率、排序质量与资源开销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2331720"/>
            <a:ext cx="6355079" cy="2496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2331720"/>
            <a:ext cx="1417320" cy="356616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" y="2350008"/>
            <a:ext cx="1380744" cy="3200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方法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20240" y="2331720"/>
            <a:ext cx="1024128" cy="356616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38528" y="2350008"/>
            <a:ext cx="987552" cy="3200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预测框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44368" y="2331720"/>
            <a:ext cx="932688" cy="356616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62656" y="2350008"/>
            <a:ext cx="896112" cy="3200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Acc@0.5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77056" y="2331720"/>
            <a:ext cx="932688" cy="356616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95344" y="2350008"/>
            <a:ext cx="896112" cy="3200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mAP@0.5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09744" y="2331720"/>
            <a:ext cx="969264" cy="356616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28031" y="2350008"/>
            <a:ext cx="932688" cy="3200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动作/图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79008" y="2331720"/>
            <a:ext cx="1078992" cy="356616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97296" y="2350008"/>
            <a:ext cx="1042415" cy="3200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小目标Recall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2688336"/>
            <a:ext cx="1417320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9496" y="2697479"/>
            <a:ext cx="1344168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No expansion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20240" y="2688336"/>
            <a:ext cx="1024128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56816" y="2697479"/>
            <a:ext cx="950976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22,298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44368" y="2688336"/>
            <a:ext cx="932688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80944" y="2697479"/>
            <a:ext cx="859536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0.4651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77056" y="2688336"/>
            <a:ext cx="932688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13632" y="2697479"/>
            <a:ext cx="859536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0.1343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09744" y="2688336"/>
            <a:ext cx="969264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46320" y="2697479"/>
            <a:ext cx="896112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0.000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79008" y="2688336"/>
            <a:ext cx="1078992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15584" y="2697479"/>
            <a:ext cx="1005839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0.3291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3044952"/>
            <a:ext cx="1417320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9496" y="3054096"/>
            <a:ext cx="1344168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All expansion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20240" y="3044952"/>
            <a:ext cx="1024128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956816" y="3054096"/>
            <a:ext cx="950976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68,771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44368" y="3044952"/>
            <a:ext cx="932688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80944" y="3054096"/>
            <a:ext cx="859536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0.5731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77056" y="3044952"/>
            <a:ext cx="932688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913632" y="3054096"/>
            <a:ext cx="859536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0.1510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809744" y="3044952"/>
            <a:ext cx="969264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46320" y="3054096"/>
            <a:ext cx="896112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11.000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779008" y="3044952"/>
            <a:ext cx="1078992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815584" y="3054096"/>
            <a:ext cx="1005839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0.4593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3401568"/>
            <a:ext cx="1417320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39496" y="3410711"/>
            <a:ext cx="1344168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Random (5 seeds)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20240" y="3401568"/>
            <a:ext cx="1024128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956816" y="3410711"/>
            <a:ext cx="950976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30,227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944368" y="3401568"/>
            <a:ext cx="932688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980944" y="3410711"/>
            <a:ext cx="859536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0.4892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77056" y="3401568"/>
            <a:ext cx="932688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913632" y="3410711"/>
            <a:ext cx="859536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0.1377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809744" y="3401568"/>
            <a:ext cx="969264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846320" y="3410711"/>
            <a:ext cx="896112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1.353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779008" y="3401568"/>
            <a:ext cx="1078992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15584" y="3410711"/>
            <a:ext cx="1005839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0.3584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" y="3758183"/>
            <a:ext cx="1417320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9496" y="3767327"/>
            <a:ext cx="1344168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Prompt-rank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20240" y="3758183"/>
            <a:ext cx="1024128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956816" y="3767327"/>
            <a:ext cx="950976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41,969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944368" y="3758183"/>
            <a:ext cx="932688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980944" y="3767327"/>
            <a:ext cx="859536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0.5090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877056" y="3758183"/>
            <a:ext cx="932688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913632" y="3767327"/>
            <a:ext cx="859536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0.1440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809744" y="3758183"/>
            <a:ext cx="969264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846320" y="3767327"/>
            <a:ext cx="896112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1.087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779008" y="3758183"/>
            <a:ext cx="1078992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815584" y="3767327"/>
            <a:ext cx="1005839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0.3840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02920" y="4114800"/>
            <a:ext cx="1417320" cy="356616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39496" y="4123944"/>
            <a:ext cx="1344168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2D70AA"/>
                </a:solidFill>
                <a:latin typeface="Noto Sans CJK SC"/>
              </a:rPr>
              <a:t>Fixed-action RL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920240" y="4114800"/>
            <a:ext cx="1024128" cy="356616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956816" y="4123944"/>
            <a:ext cx="950976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192430"/>
                </a:solidFill>
                <a:latin typeface="Noto Sans CJK SC"/>
              </a:rPr>
              <a:t>40,904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944368" y="4114800"/>
            <a:ext cx="932688" cy="356616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980944" y="4123944"/>
            <a:ext cx="859536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192430"/>
                </a:solidFill>
                <a:latin typeface="Noto Sans CJK SC"/>
              </a:rPr>
              <a:t>0.5293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877056" y="4114800"/>
            <a:ext cx="932688" cy="356616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913632" y="4123944"/>
            <a:ext cx="859536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192430"/>
                </a:solidFill>
                <a:latin typeface="Noto Sans CJK SC"/>
              </a:rPr>
              <a:t>0.1397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809744" y="4114800"/>
            <a:ext cx="969264" cy="356616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846320" y="4123944"/>
            <a:ext cx="896112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192430"/>
                </a:solidFill>
                <a:latin typeface="Noto Sans CJK SC"/>
              </a:rPr>
              <a:t>1.353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79008" y="4114800"/>
            <a:ext cx="1078992" cy="356616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815584" y="4123944"/>
            <a:ext cx="1005839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D70AA"/>
                </a:solidFill>
                <a:latin typeface="Noto Sans CJK SC"/>
              </a:rPr>
              <a:t>0.4159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02920" y="4471416"/>
            <a:ext cx="1417320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39496" y="4480559"/>
            <a:ext cx="1344168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Qwen dynamic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920240" y="4471416"/>
            <a:ext cx="1024128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956816" y="4480559"/>
            <a:ext cx="950976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35,869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944368" y="4471416"/>
            <a:ext cx="932688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980944" y="4480559"/>
            <a:ext cx="859536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0.5004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877056" y="4471416"/>
            <a:ext cx="932688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913632" y="4480559"/>
            <a:ext cx="859536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0.1424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809744" y="4471416"/>
            <a:ext cx="969264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846320" y="4480559"/>
            <a:ext cx="896112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0.953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779008" y="4471416"/>
            <a:ext cx="1078992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815584" y="4480559"/>
            <a:ext cx="1005839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192430"/>
                </a:solidFill>
                <a:latin typeface="Noto Sans CJK SC"/>
              </a:rPr>
              <a:t>0.3732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02920" y="4974336"/>
            <a:ext cx="1118311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49808" y="5175504"/>
            <a:ext cx="54864" cy="210312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77824" y="5111496"/>
            <a:ext cx="170078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2430"/>
                </a:solidFill>
                <a:latin typeface="Noto Sans CJK SC"/>
              </a:rPr>
              <a:t>结论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874519" y="5074920"/>
            <a:ext cx="9464040" cy="38404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/>
            <a:r>
              <a:rPr sz="1320" b="1">
                <a:solidFill>
                  <a:srgbClr val="2D70AA"/>
                </a:solidFill>
                <a:latin typeface="Noto Sans CJK SC"/>
              </a:rPr>
              <a:t>Fixed-action RL</a:t>
            </a:r>
            <a:r>
              <a:rPr sz="1320" b="0">
                <a:solidFill>
                  <a:srgbClr val="192430"/>
                </a:solidFill>
                <a:latin typeface="Noto Sans CJK SC"/>
              </a:rPr>
              <a:t> 在相同动作预算下显著优于随机策略，证明收益来自</a:t>
            </a:r>
            <a:r>
              <a:rPr sz="1320" b="1">
                <a:solidFill>
                  <a:srgbClr val="17857D"/>
                </a:solidFill>
                <a:latin typeface="Noto Sans CJK SC"/>
              </a:rPr>
              <a:t>有效的动作选择</a:t>
            </a:r>
            <a:r>
              <a:rPr sz="1320" b="0">
                <a:solidFill>
                  <a:srgbClr val="192430"/>
                </a:solidFill>
                <a:latin typeface="Noto Sans CJK SC"/>
              </a:rPr>
              <a:t>。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874519" y="5468112"/>
            <a:ext cx="94640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875"/>
                </a:solidFill>
                <a:latin typeface="Noto Sans CJK SC"/>
              </a:rPr>
              <a:t>All expansion 绝对指标最高但开销最大；动态策略更省候选，固定策略在召回上更强。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30352" y="6181344"/>
            <a:ext cx="10789920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5B6875"/>
                </a:solidFill>
                <a:latin typeface="Noto Sans CJK SC"/>
              </a:rPr>
              <a:t>Small-object：面积 ≤ 32×32，class-aware 一对一匹配，IoU ≥ 0.5。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70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01168"/>
            <a:ext cx="1074420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92430"/>
                </a:solidFill>
                <a:latin typeface="Noto Sans CJK SC"/>
              </a:rPr>
              <a:t>Exp38 元数据特征消融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658368"/>
            <a:ext cx="1069848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875"/>
                </a:solidFill>
                <a:latin typeface="Noto Sans CJK SC"/>
              </a:rPr>
              <a:t>固定 52,872 个候选框与 19,649 参数 · 3 seeds · alpha 仅由 val holdout 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93424" y="6510528"/>
            <a:ext cx="347472" cy="1828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B6875"/>
                </a:solidFill>
                <a:latin typeface="Noto Sans CJK SC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78992"/>
            <a:ext cx="21488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54864" cy="658368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152144"/>
            <a:ext cx="1901952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Full vs Raw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353312"/>
            <a:ext cx="1901952" cy="2834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D70AA"/>
                </a:solidFill>
                <a:latin typeface="Noto Sans CJK SC"/>
              </a:rPr>
              <a:t>+0.0212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0632" y="1078992"/>
            <a:ext cx="21488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70632" y="1078992"/>
            <a:ext cx="54864" cy="658368"/>
          </a:xfrm>
          <a:prstGeom prst="rect">
            <a:avLst/>
          </a:prstGeom>
          <a:solidFill>
            <a:srgbClr val="17857D"/>
          </a:solidFill>
          <a:ln w="10160">
            <a:solidFill>
              <a:srgbClr val="17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35224" y="1152144"/>
            <a:ext cx="1901952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相对提升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1353312"/>
            <a:ext cx="1901952" cy="2834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857D"/>
                </a:solidFill>
                <a:latin typeface="Noto Sans CJK SC"/>
              </a:rPr>
              <a:t>+14.5%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1078992"/>
            <a:ext cx="21488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38344" y="1078992"/>
            <a:ext cx="54864" cy="658368"/>
          </a:xfrm>
          <a:prstGeom prst="rect">
            <a:avLst/>
          </a:prstGeom>
          <a:solidFill>
            <a:srgbClr val="D99124"/>
          </a:solidFill>
          <a:ln w="10160">
            <a:solidFill>
              <a:srgbClr val="D99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2936" y="1152144"/>
            <a:ext cx="1901952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最大单步贡献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1353312"/>
            <a:ext cx="1901952" cy="2834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D99124"/>
                </a:solidFill>
                <a:latin typeface="Noto Sans CJK SC"/>
              </a:rPr>
              <a:t>+source · +0.0150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97496" y="1078992"/>
            <a:ext cx="4288536" cy="3877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1207007"/>
            <a:ext cx="3831336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2430"/>
                </a:solidFill>
                <a:latin typeface="Noto Sans CJK SC"/>
              </a:rPr>
              <a:t>mAP@0.5 逐步累积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1581912"/>
            <a:ext cx="1234440" cy="4559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Raw 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51392" y="1710659"/>
            <a:ext cx="1596519" cy="214579"/>
          </a:xfrm>
          <a:prstGeom prst="rect">
            <a:avLst/>
          </a:prstGeom>
          <a:solidFill>
            <a:srgbClr val="B5BEC7"/>
          </a:solidFill>
          <a:ln w="10160">
            <a:solidFill>
              <a:srgbClr val="B5B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1919" y="1581912"/>
            <a:ext cx="658368" cy="4559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B5BEC7"/>
                </a:solidFill>
                <a:latin typeface="Noto Sans CJK SC"/>
              </a:rPr>
              <a:t>0.1464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5512" y="2118360"/>
            <a:ext cx="1234440" cy="4559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+ geometry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51392" y="2247107"/>
            <a:ext cx="1640140" cy="214579"/>
          </a:xfrm>
          <a:prstGeom prst="rect">
            <a:avLst/>
          </a:prstGeom>
          <a:solidFill>
            <a:srgbClr val="B5BEC7"/>
          </a:solidFill>
          <a:ln w="10160">
            <a:solidFill>
              <a:srgbClr val="B5B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55540" y="2118360"/>
            <a:ext cx="658368" cy="4559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B5BEC7"/>
                </a:solidFill>
                <a:latin typeface="Noto Sans CJK SC"/>
              </a:rPr>
              <a:t>0.1504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5512" y="2654808"/>
            <a:ext cx="1234440" cy="4559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+ query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51392" y="2783555"/>
            <a:ext cx="1651045" cy="214579"/>
          </a:xfrm>
          <a:prstGeom prst="rect">
            <a:avLst/>
          </a:prstGeom>
          <a:solidFill>
            <a:srgbClr val="17857D"/>
          </a:solidFill>
          <a:ln w="10160">
            <a:solidFill>
              <a:srgbClr val="17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66445" y="2654808"/>
            <a:ext cx="658368" cy="4559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17857D"/>
                </a:solidFill>
                <a:latin typeface="Noto Sans CJK SC"/>
              </a:rPr>
              <a:t>0.1514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5512" y="3191256"/>
            <a:ext cx="1234440" cy="4559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+ source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51392" y="3320003"/>
            <a:ext cx="1814623" cy="214579"/>
          </a:xfrm>
          <a:prstGeom prst="rect">
            <a:avLst/>
          </a:prstGeom>
          <a:solidFill>
            <a:srgbClr val="D99124"/>
          </a:solidFill>
          <a:ln w="10160">
            <a:solidFill>
              <a:srgbClr val="D99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30023" y="3191256"/>
            <a:ext cx="658368" cy="4559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D99124"/>
                </a:solidFill>
                <a:latin typeface="Noto Sans CJK SC"/>
              </a:rPr>
              <a:t>0.1664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3727704"/>
            <a:ext cx="1234440" cy="4559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+ small prior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51392" y="3856451"/>
            <a:ext cx="1785179" cy="214579"/>
          </a:xfrm>
          <a:prstGeom prst="rect">
            <a:avLst/>
          </a:prstGeom>
          <a:solidFill>
            <a:srgbClr val="C65049"/>
          </a:solidFill>
          <a:ln w="10160">
            <a:solidFill>
              <a:srgbClr val="C65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00579" y="3727704"/>
            <a:ext cx="658368" cy="4559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C65049"/>
                </a:solidFill>
                <a:latin typeface="Noto Sans CJK SC"/>
              </a:rPr>
              <a:t>0.1637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4264152"/>
            <a:ext cx="1234440" cy="4559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Full Exp38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51392" y="4392899"/>
            <a:ext cx="1828800" cy="214579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44200" y="4264152"/>
            <a:ext cx="658368" cy="4559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2D70AA"/>
                </a:solidFill>
                <a:latin typeface="Noto Sans CJK SC"/>
              </a:rPr>
              <a:t>0.1677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2011679"/>
            <a:ext cx="54864" cy="210312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" y="1947672"/>
            <a:ext cx="654710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2430"/>
                </a:solidFill>
                <a:latin typeface="Noto Sans CJK SC"/>
              </a:rPr>
              <a:t>逐步累积特征结果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2331720"/>
            <a:ext cx="6446520" cy="26243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2331720"/>
            <a:ext cx="1389888" cy="374904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" y="2350008"/>
            <a:ext cx="1353312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配置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92808" y="2331720"/>
            <a:ext cx="731520" cy="374904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11096" y="2350008"/>
            <a:ext cx="694944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维数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24328" y="2331720"/>
            <a:ext cx="1069848" cy="374904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42616" y="2350008"/>
            <a:ext cx="1033271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Acc@0.5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94176" y="2331720"/>
            <a:ext cx="1069848" cy="374904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12463" y="2350008"/>
            <a:ext cx="1033271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Acc@0.75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64024" y="2331720"/>
            <a:ext cx="1069848" cy="374904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82312" y="2350008"/>
            <a:ext cx="1033271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mAP@0.5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33872" y="2331720"/>
            <a:ext cx="1115568" cy="374904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59" y="2350008"/>
            <a:ext cx="1078992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逐步增量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2706624"/>
            <a:ext cx="1389888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9496" y="2715768"/>
            <a:ext cx="1316736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Raw score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92808" y="2706624"/>
            <a:ext cx="73152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29384" y="2715768"/>
            <a:ext cx="658368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24328" y="2706624"/>
            <a:ext cx="1069848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60904" y="2715768"/>
            <a:ext cx="99669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0.5374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94176" y="2706624"/>
            <a:ext cx="1069848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30752" y="2715768"/>
            <a:ext cx="99669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0.3463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64024" y="2706624"/>
            <a:ext cx="1069848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00600" y="2715768"/>
            <a:ext cx="99669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0.1464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33872" y="2706624"/>
            <a:ext cx="1115568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70448" y="2715768"/>
            <a:ext cx="104241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+0.0000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3081527"/>
            <a:ext cx="1389888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9496" y="3090671"/>
            <a:ext cx="1316736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+ geometry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92808" y="3081527"/>
            <a:ext cx="73152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929384" y="3090671"/>
            <a:ext cx="658368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624328" y="3081527"/>
            <a:ext cx="1069848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660904" y="3090671"/>
            <a:ext cx="99669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0.5374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94176" y="3081527"/>
            <a:ext cx="1069848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730752" y="3090671"/>
            <a:ext cx="99669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0.3463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64024" y="3081527"/>
            <a:ext cx="1069848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00600" y="3090671"/>
            <a:ext cx="99669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0.1504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833872" y="3081527"/>
            <a:ext cx="1115568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870448" y="3090671"/>
            <a:ext cx="104241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+0.0040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3456432"/>
            <a:ext cx="1389888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39496" y="3465575"/>
            <a:ext cx="1316736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+ query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92808" y="3456432"/>
            <a:ext cx="73152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929384" y="3465575"/>
            <a:ext cx="658368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10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624328" y="3456432"/>
            <a:ext cx="1069848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660904" y="3465575"/>
            <a:ext cx="99669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0.5374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94176" y="3456432"/>
            <a:ext cx="1069848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730752" y="3465575"/>
            <a:ext cx="99669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0.3461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764024" y="3456432"/>
            <a:ext cx="1069848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800600" y="3465575"/>
            <a:ext cx="99669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0.1514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33872" y="3456432"/>
            <a:ext cx="1115568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70448" y="3465575"/>
            <a:ext cx="104241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+0.0010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" y="3831335"/>
            <a:ext cx="1389888" cy="374904"/>
          </a:xfrm>
          <a:prstGeom prst="rect">
            <a:avLst/>
          </a:prstGeom>
          <a:solidFill>
            <a:srgbClr val="FBEED3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9496" y="3840479"/>
            <a:ext cx="1316736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70AA"/>
                </a:solidFill>
                <a:latin typeface="Noto Sans CJK SC"/>
              </a:rPr>
              <a:t>+ source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92808" y="3831335"/>
            <a:ext cx="731520" cy="374904"/>
          </a:xfrm>
          <a:prstGeom prst="rect">
            <a:avLst/>
          </a:prstGeom>
          <a:solidFill>
            <a:srgbClr val="FBEED3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929384" y="3840479"/>
            <a:ext cx="658368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92430"/>
                </a:solidFill>
                <a:latin typeface="Noto Sans CJK SC"/>
              </a:rPr>
              <a:t>36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624328" y="3831335"/>
            <a:ext cx="1069848" cy="374904"/>
          </a:xfrm>
          <a:prstGeom prst="rect">
            <a:avLst/>
          </a:prstGeom>
          <a:solidFill>
            <a:srgbClr val="FBEED3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660904" y="3840479"/>
            <a:ext cx="99669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92430"/>
                </a:solidFill>
                <a:latin typeface="Noto Sans CJK SC"/>
              </a:rPr>
              <a:t>0.5374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94176" y="3831335"/>
            <a:ext cx="1069848" cy="374904"/>
          </a:xfrm>
          <a:prstGeom prst="rect">
            <a:avLst/>
          </a:prstGeom>
          <a:solidFill>
            <a:srgbClr val="FBEED3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730752" y="3840479"/>
            <a:ext cx="99669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92430"/>
                </a:solidFill>
                <a:latin typeface="Noto Sans CJK SC"/>
              </a:rPr>
              <a:t>0.3483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764024" y="3831335"/>
            <a:ext cx="1069848" cy="374904"/>
          </a:xfrm>
          <a:prstGeom prst="rect">
            <a:avLst/>
          </a:prstGeom>
          <a:solidFill>
            <a:srgbClr val="FBEED3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800600" y="3840479"/>
            <a:ext cx="99669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92430"/>
                </a:solidFill>
                <a:latin typeface="Noto Sans CJK SC"/>
              </a:rPr>
              <a:t>0.1664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833872" y="3831335"/>
            <a:ext cx="1115568" cy="374904"/>
          </a:xfrm>
          <a:prstGeom prst="rect">
            <a:avLst/>
          </a:prstGeom>
          <a:solidFill>
            <a:srgbClr val="FBEED3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870448" y="3840479"/>
            <a:ext cx="104241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D70AA"/>
                </a:solidFill>
                <a:latin typeface="Noto Sans CJK SC"/>
              </a:rPr>
              <a:t>+0.0150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02920" y="4206240"/>
            <a:ext cx="1389888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39496" y="4215383"/>
            <a:ext cx="1316736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+ small prior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92808" y="4206240"/>
            <a:ext cx="73152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929384" y="4215383"/>
            <a:ext cx="658368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59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624328" y="4206240"/>
            <a:ext cx="1069848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660904" y="4215383"/>
            <a:ext cx="99669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0.5374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694176" y="4206240"/>
            <a:ext cx="1069848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730752" y="4215383"/>
            <a:ext cx="99669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0.3482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764024" y="4206240"/>
            <a:ext cx="1069848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800600" y="4215383"/>
            <a:ext cx="99669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0.1637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833872" y="4206240"/>
            <a:ext cx="1115568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870448" y="4215383"/>
            <a:ext cx="104241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92430"/>
                </a:solidFill>
                <a:latin typeface="Noto Sans CJK SC"/>
              </a:rPr>
              <a:t>−0.0027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02920" y="4581144"/>
            <a:ext cx="1389888" cy="374904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39496" y="4590288"/>
            <a:ext cx="1316736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70AA"/>
                </a:solidFill>
                <a:latin typeface="Noto Sans CJK SC"/>
              </a:rPr>
              <a:t>Full Exp38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92808" y="4581144"/>
            <a:ext cx="731520" cy="374904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929384" y="4590288"/>
            <a:ext cx="658368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92430"/>
                </a:solidFill>
                <a:latin typeface="Noto Sans CJK SC"/>
              </a:rPr>
              <a:t>68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624328" y="4581144"/>
            <a:ext cx="1069848" cy="374904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660904" y="4590288"/>
            <a:ext cx="99669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92430"/>
                </a:solidFill>
                <a:latin typeface="Noto Sans CJK SC"/>
              </a:rPr>
              <a:t>0.5374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694176" y="4581144"/>
            <a:ext cx="1069848" cy="374904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730752" y="4590288"/>
            <a:ext cx="99669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92430"/>
                </a:solidFill>
                <a:latin typeface="Noto Sans CJK SC"/>
              </a:rPr>
              <a:t>0.3490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764024" y="4581144"/>
            <a:ext cx="1069848" cy="374904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800600" y="4590288"/>
            <a:ext cx="99669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92430"/>
                </a:solidFill>
                <a:latin typeface="Noto Sans CJK SC"/>
              </a:rPr>
              <a:t>0.1677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833872" y="4581144"/>
            <a:ext cx="1115568" cy="374904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870448" y="4590288"/>
            <a:ext cx="1042415" cy="356615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D70AA"/>
                </a:solidFill>
                <a:latin typeface="Noto Sans CJK SC"/>
              </a:rPr>
              <a:t>+0.0040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02920" y="5056632"/>
            <a:ext cx="11183112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49808" y="5248656"/>
            <a:ext cx="54864" cy="210312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77824" y="5184648"/>
            <a:ext cx="170078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2430"/>
                </a:solidFill>
                <a:latin typeface="Noto Sans CJK SC"/>
              </a:rPr>
              <a:t>结论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874519" y="5129784"/>
            <a:ext cx="9464040" cy="365760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/>
            <a:r>
              <a:rPr sz="1300" b="1">
                <a:solidFill>
                  <a:srgbClr val="192430"/>
                </a:solidFill>
                <a:latin typeface="Noto Sans CJK SC"/>
              </a:rPr>
              <a:t>候选数和 Acc@0.5 完全不变</a:t>
            </a:r>
            <a:r>
              <a:rPr sz="1300" b="0">
                <a:solidFill>
                  <a:srgbClr val="192430"/>
                </a:solidFill>
                <a:latin typeface="Noto Sans CJK SC"/>
              </a:rPr>
              <a:t>，mAP 的提升来自</a:t>
            </a:r>
            <a:r>
              <a:rPr sz="1300" b="1">
                <a:solidFill>
                  <a:srgbClr val="2D70AA"/>
                </a:solidFill>
                <a:latin typeface="Noto Sans CJK SC"/>
              </a:rPr>
              <a:t>排序质量</a:t>
            </a:r>
            <a:r>
              <a:rPr sz="1300" b="0">
                <a:solidFill>
                  <a:srgbClr val="192430"/>
                </a:solidFill>
                <a:latin typeface="Noto Sans CJK SC"/>
              </a:rPr>
              <a:t>；</a:t>
            </a:r>
            <a:r>
              <a:rPr sz="1300" b="1">
                <a:solidFill>
                  <a:srgbClr val="D99124"/>
                </a:solidFill>
                <a:latin typeface="Noto Sans CJK SC"/>
              </a:rPr>
              <a:t>source 信息</a:t>
            </a:r>
            <a:r>
              <a:rPr sz="1300" b="0">
                <a:solidFill>
                  <a:srgbClr val="192430"/>
                </a:solidFill>
                <a:latin typeface="Noto Sans CJK SC"/>
              </a:rPr>
              <a:t>是最主要且稳定的贡献。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874519" y="5504688"/>
            <a:ext cx="9418320" cy="2286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875"/>
                </a:solidFill>
                <a:latin typeface="Noto Sans CJK SC"/>
              </a:rPr>
              <a:t>small prior 单独加入后下降，提示手工先验可能过拟合或与来源特征重复。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30352" y="6181344"/>
            <a:ext cx="10789920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5B6875"/>
                </a:solidFill>
                <a:latin typeface="Noto Sans CJK SC"/>
              </a:rPr>
              <a:t>结果为均值；原始报告同时给出样本标准差。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三次实验结果汇总</dc:title>
  <dc:subject>RL 闭环轮数、动作策略与 Exp38 元数据消融</dc:subject>
  <dc:creator>DroneP_VG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