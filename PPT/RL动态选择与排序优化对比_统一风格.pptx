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70AA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01168"/>
            <a:ext cx="10744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92430"/>
                </a:solidFill>
                <a:latin typeface="Noto Sans CJK SC"/>
              </a:rPr>
              <a:t>RL 动态选择与固定策略对比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658368"/>
            <a:ext cx="1069848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875"/>
                </a:solidFill>
                <a:latin typeface="Noto Sans CJK SC"/>
              </a:rPr>
              <a:t>同一评测协议 · Query base、固定动作三轮 RL 与 Qwen 动态动作三轮对比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3424" y="6510528"/>
            <a:ext cx="347472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875"/>
                </a:solidFill>
                <a:latin typeface="Noto Sans CJK SC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864" cy="658368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52144"/>
            <a:ext cx="19019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固定 RL · Acc@0.5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53312"/>
            <a:ext cx="19019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70AA"/>
                </a:solidFill>
                <a:latin typeface="Noto Sans CJK SC"/>
              </a:rPr>
              <a:t>0.5293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078992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1078992"/>
            <a:ext cx="54864" cy="658368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5224" y="1152144"/>
            <a:ext cx="19019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动态 RL · 候选框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1353312"/>
            <a:ext cx="19019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857D"/>
                </a:solidFill>
                <a:latin typeface="Noto Sans CJK SC"/>
              </a:rPr>
              <a:t>35,869 · −12.3%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078992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8344" y="1078992"/>
            <a:ext cx="54864" cy="658368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152144"/>
            <a:ext cx="19019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动态 RL · mAP@0.5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1353312"/>
            <a:ext cx="19019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9124"/>
                </a:solidFill>
                <a:latin typeface="Noto Sans CJK SC"/>
              </a:rPr>
              <a:t>0.1424 · 最高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011679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947672"/>
            <a:ext cx="654710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统一指标对比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31720"/>
            <a:ext cx="601675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331720"/>
            <a:ext cx="1664208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2350008"/>
            <a:ext cx="1627632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方法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7128" y="2331720"/>
            <a:ext cx="1143000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85416" y="2350008"/>
            <a:ext cx="1106424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预测框数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2331720"/>
            <a:ext cx="1069848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2350008"/>
            <a:ext cx="1033271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9976" y="2331720"/>
            <a:ext cx="1069848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8264" y="2350008"/>
            <a:ext cx="1033271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331720"/>
            <a:ext cx="1069848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68112" y="2350008"/>
            <a:ext cx="1033271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mAP@0.5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834639"/>
            <a:ext cx="166420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" y="2843783"/>
            <a:ext cx="1591056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Query 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67128" y="2834639"/>
            <a:ext cx="11430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03704" y="2843783"/>
            <a:ext cx="1069848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22,298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2834639"/>
            <a:ext cx="106984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6704" y="284378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0.4651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9976" y="2834639"/>
            <a:ext cx="106984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284378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0.3131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9824" y="2834639"/>
            <a:ext cx="106984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284378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0.1343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337560"/>
            <a:ext cx="1664208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346703"/>
            <a:ext cx="1591056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1">
                <a:solidFill>
                  <a:srgbClr val="2D70AA"/>
                </a:solidFill>
                <a:latin typeface="Noto Sans CJK SC"/>
              </a:rPr>
              <a:t>固定动作三轮 RL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7128" y="3337560"/>
            <a:ext cx="1143000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03704" y="3346703"/>
            <a:ext cx="1069848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192430"/>
                </a:solidFill>
                <a:latin typeface="Noto Sans CJK SC"/>
              </a:rPr>
              <a:t>40,904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10128" y="3337560"/>
            <a:ext cx="1069848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6704" y="334670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192430"/>
                </a:solidFill>
                <a:latin typeface="Noto Sans CJK SC"/>
              </a:rPr>
              <a:t>0.5293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79976" y="3337560"/>
            <a:ext cx="1069848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6552" y="334670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192430"/>
                </a:solidFill>
                <a:latin typeface="Noto Sans CJK SC"/>
              </a:rPr>
              <a:t>0.3310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9824" y="3337560"/>
            <a:ext cx="1069848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334670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2D70AA"/>
                </a:solidFill>
                <a:latin typeface="Noto Sans CJK SC"/>
              </a:rPr>
              <a:t>0.1397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3840480"/>
            <a:ext cx="1664208" cy="502920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6" y="3849624"/>
            <a:ext cx="1591056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1">
                <a:solidFill>
                  <a:srgbClr val="2D70AA"/>
                </a:solidFill>
                <a:latin typeface="Noto Sans CJK SC"/>
              </a:rPr>
              <a:t>Qwen 动态动作三轮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67128" y="3840480"/>
            <a:ext cx="1143000" cy="502920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03704" y="3849624"/>
            <a:ext cx="1069848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192430"/>
                </a:solidFill>
                <a:latin typeface="Noto Sans CJK SC"/>
              </a:rPr>
              <a:t>35,869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10128" y="3840480"/>
            <a:ext cx="1069848" cy="502920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6704" y="3849624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192430"/>
                </a:solidFill>
                <a:latin typeface="Noto Sans CJK SC"/>
              </a:rPr>
              <a:t>0.5004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79976" y="3840480"/>
            <a:ext cx="1069848" cy="502920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6552" y="3849624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192430"/>
                </a:solidFill>
                <a:latin typeface="Noto Sans CJK SC"/>
              </a:rPr>
              <a:t>0.3248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9824" y="3840480"/>
            <a:ext cx="1069848" cy="502920"/>
          </a:xfrm>
          <a:prstGeom prst="rect">
            <a:avLst/>
          </a:prstGeom>
          <a:solidFill>
            <a:srgbClr val="DEF3E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49624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2D70AA"/>
                </a:solidFill>
                <a:latin typeface="Noto Sans CJK SC"/>
              </a:rPr>
              <a:t>0.1424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97496" y="1078992"/>
            <a:ext cx="4288536" cy="3255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26096" y="1207007"/>
            <a:ext cx="3831336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2430"/>
                </a:solidFill>
                <a:latin typeface="Noto Sans CJK SC"/>
              </a:rPr>
              <a:t>Acc@0.5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25512" y="1581912"/>
            <a:ext cx="1234440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Query base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51392" y="1789663"/>
            <a:ext cx="1606980" cy="346252"/>
          </a:xfrm>
          <a:prstGeom prst="rect">
            <a:avLst/>
          </a:prstGeom>
          <a:solidFill>
            <a:srgbClr val="B5BEC7"/>
          </a:solidFill>
          <a:ln w="10160">
            <a:solidFill>
              <a:srgbClr val="B5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22380" y="1581912"/>
            <a:ext cx="658368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5BEC7"/>
                </a:solidFill>
                <a:latin typeface="Noto Sans CJK SC"/>
              </a:rPr>
              <a:t>0.4651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25512" y="2447544"/>
            <a:ext cx="1234440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固定动作 RL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51392" y="2655295"/>
            <a:ext cx="1828800" cy="34625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44200" y="2447544"/>
            <a:ext cx="658368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D70AA"/>
                </a:solidFill>
                <a:latin typeface="Noto Sans CJK SC"/>
              </a:rPr>
              <a:t>0.5293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5512" y="3313175"/>
            <a:ext cx="1234440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Qwen 动态 RL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51392" y="3520927"/>
            <a:ext cx="1728946" cy="346252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44346" y="3313175"/>
            <a:ext cx="658368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7857D"/>
                </a:solidFill>
                <a:latin typeface="Noto Sans CJK SC"/>
              </a:rPr>
              <a:t>0.5004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4553712"/>
            <a:ext cx="11183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9808" y="4773168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7824" y="4709160"/>
            <a:ext cx="17007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结论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74519" y="4645152"/>
            <a:ext cx="9372600" cy="393192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330" b="1">
                <a:solidFill>
                  <a:srgbClr val="2D70AA"/>
                </a:solidFill>
                <a:latin typeface="Noto Sans CJK SC"/>
              </a:rPr>
              <a:t>固定动作 RL</a:t>
            </a:r>
            <a:r>
              <a:rPr sz="1330" b="0">
                <a:solidFill>
                  <a:srgbClr val="192430"/>
                </a:solidFill>
                <a:latin typeface="Noto Sans CJK SC"/>
              </a:rPr>
              <a:t> 召回更强；</a:t>
            </a:r>
            <a:r>
              <a:rPr sz="1330" b="1">
                <a:solidFill>
                  <a:srgbClr val="17857D"/>
                </a:solidFill>
                <a:latin typeface="Noto Sans CJK SC"/>
              </a:rPr>
              <a:t>Qwen 动态 RL</a:t>
            </a:r>
            <a:r>
              <a:rPr sz="1330" b="0">
                <a:solidFill>
                  <a:srgbClr val="192430"/>
                </a:solidFill>
                <a:latin typeface="Noto Sans CJK SC"/>
              </a:rPr>
              <a:t> 候选减少约 12.3%，并取得最高 mAP。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74519" y="5074920"/>
            <a:ext cx="93726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875"/>
                </a:solidFill>
                <a:latin typeface="Noto Sans CJK SC"/>
              </a:rPr>
              <a:t>动态 prompt pool 使 RL 从“固定类别 ID 选择”扩展为“状态—动作匹配”，但当前不存在所有指标均占优的单一策略。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" y="6181344"/>
            <a:ext cx="1078992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B6875"/>
                </a:solidFill>
                <a:latin typeface="Noto Sans CJK SC"/>
              </a:rPr>
              <a:t>数据来自原始两页 PPT，数值与口径保持不变。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70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01168"/>
            <a:ext cx="10744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92430"/>
                </a:solidFill>
                <a:latin typeface="Noto Sans CJK SC"/>
              </a:rPr>
              <a:t>固定候选集上的排序优化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658368"/>
            <a:ext cx="1069848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875"/>
                </a:solidFill>
                <a:latin typeface="Noto Sans CJK SC"/>
              </a:rPr>
              <a:t>三种方法读取同一份 52,872 个 metadata 候选框 · 规则组仅筛选 · 排序器仅重标定分数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3424" y="6510528"/>
            <a:ext cx="347472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875"/>
                </a:solidFill>
                <a:latin typeface="Noto Sans CJK SC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864" cy="658368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52144"/>
            <a:ext cx="19019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排序器 · mAP@0.5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53312"/>
            <a:ext cx="19019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70AA"/>
                </a:solidFill>
                <a:latin typeface="Noto Sans CJK SC"/>
              </a:rPr>
              <a:t>0.1690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078992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1078992"/>
            <a:ext cx="54864" cy="658368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5224" y="1152144"/>
            <a:ext cx="19019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相对融合前提升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1353312"/>
            <a:ext cx="19019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857D"/>
                </a:solidFill>
                <a:latin typeface="Noto Sans CJK SC"/>
              </a:rPr>
              <a:t>+0.0226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078992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8344" y="1078992"/>
            <a:ext cx="54864" cy="658368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152144"/>
            <a:ext cx="190195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候选数 / Acc@0.5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1353312"/>
            <a:ext cx="190195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9124"/>
                </a:solidFill>
                <a:latin typeface="Noto Sans CJK SC"/>
              </a:rPr>
              <a:t>保持不变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011679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947672"/>
            <a:ext cx="654710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固定候选集控制变量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31720"/>
            <a:ext cx="601675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331720"/>
            <a:ext cx="1664208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2350008"/>
            <a:ext cx="1627632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方法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7128" y="2331720"/>
            <a:ext cx="1143000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85416" y="2350008"/>
            <a:ext cx="1106424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预测框数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2331720"/>
            <a:ext cx="1069848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2350008"/>
            <a:ext cx="1033271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9976" y="2331720"/>
            <a:ext cx="1069848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8264" y="2350008"/>
            <a:ext cx="1033271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331720"/>
            <a:ext cx="1069848" cy="502920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68112" y="2350008"/>
            <a:ext cx="1033271" cy="4663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mAP@0.5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834639"/>
            <a:ext cx="166420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" y="2843783"/>
            <a:ext cx="1591056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富元信息融合前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67128" y="2834639"/>
            <a:ext cx="11430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03704" y="2843783"/>
            <a:ext cx="1069848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52,872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2834639"/>
            <a:ext cx="106984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6704" y="284378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0.5374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9976" y="2834639"/>
            <a:ext cx="106984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284378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0.3463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9824" y="2834639"/>
            <a:ext cx="106984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284378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0.1464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337560"/>
            <a:ext cx="166420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346703"/>
            <a:ext cx="1591056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规则筛选对照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7128" y="3337560"/>
            <a:ext cx="11430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03704" y="3346703"/>
            <a:ext cx="1069848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9,586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10128" y="3337560"/>
            <a:ext cx="106984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6704" y="334670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0.3193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79976" y="3337560"/>
            <a:ext cx="106984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6552" y="334670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0.2491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9824" y="3337560"/>
            <a:ext cx="106984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3346703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192430"/>
                </a:solidFill>
                <a:latin typeface="Noto Sans CJK SC"/>
              </a:rPr>
              <a:t>0.1187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3840480"/>
            <a:ext cx="1664208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6" y="3849624"/>
            <a:ext cx="1591056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1">
                <a:solidFill>
                  <a:srgbClr val="2D70AA"/>
                </a:solidFill>
                <a:latin typeface="Noto Sans CJK SC"/>
              </a:rPr>
              <a:t>排序器校准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67128" y="3840480"/>
            <a:ext cx="1143000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03704" y="3849624"/>
            <a:ext cx="1069848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192430"/>
                </a:solidFill>
                <a:latin typeface="Noto Sans CJK SC"/>
              </a:rPr>
              <a:t>52,872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10128" y="3840480"/>
            <a:ext cx="1069848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6704" y="3849624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192430"/>
                </a:solidFill>
                <a:latin typeface="Noto Sans CJK SC"/>
              </a:rPr>
              <a:t>0.5374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79976" y="3840480"/>
            <a:ext cx="1069848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6552" y="3849624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192430"/>
                </a:solidFill>
                <a:latin typeface="Noto Sans CJK SC"/>
              </a:rPr>
              <a:t>0.3491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9824" y="3840480"/>
            <a:ext cx="1069848" cy="502920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849624"/>
            <a:ext cx="996695" cy="4846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2D70AA"/>
                </a:solidFill>
                <a:latin typeface="Noto Sans CJK SC"/>
              </a:rPr>
              <a:t>0.1690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97496" y="1078992"/>
            <a:ext cx="4288536" cy="3255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26096" y="1207007"/>
            <a:ext cx="3831336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2430"/>
                </a:solidFill>
                <a:latin typeface="Noto Sans CJK SC"/>
              </a:rPr>
              <a:t>mAP@0.5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25512" y="1581912"/>
            <a:ext cx="1234440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融合前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51392" y="1789663"/>
            <a:ext cx="1584238" cy="346252"/>
          </a:xfrm>
          <a:prstGeom prst="rect">
            <a:avLst/>
          </a:prstGeom>
          <a:solidFill>
            <a:srgbClr val="B5BEC7"/>
          </a:solidFill>
          <a:ln w="10160">
            <a:solidFill>
              <a:srgbClr val="B5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99638" y="1581912"/>
            <a:ext cx="658368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5BEC7"/>
                </a:solidFill>
                <a:latin typeface="Noto Sans CJK SC"/>
              </a:rPr>
              <a:t>0.1464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25512" y="2447544"/>
            <a:ext cx="1234440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规则筛选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51392" y="2655295"/>
            <a:ext cx="1284488" cy="346252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99888" y="2447544"/>
            <a:ext cx="658368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D99124"/>
                </a:solidFill>
                <a:latin typeface="Noto Sans CJK SC"/>
              </a:rPr>
              <a:t>0.1187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5512" y="3313175"/>
            <a:ext cx="1234440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排序器校准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51392" y="3520927"/>
            <a:ext cx="1828800" cy="34625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744200" y="3313175"/>
            <a:ext cx="658368" cy="73578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D70AA"/>
                </a:solidFill>
                <a:latin typeface="Noto Sans CJK SC"/>
              </a:rPr>
              <a:t>0.1690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4553712"/>
            <a:ext cx="11183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9808" y="4773168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7824" y="4709160"/>
            <a:ext cx="17007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结论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74519" y="4645152"/>
            <a:ext cx="9372600" cy="393192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330" b="1">
                <a:solidFill>
                  <a:srgbClr val="192430"/>
                </a:solidFill>
                <a:latin typeface="Noto Sans CJK SC"/>
              </a:rPr>
              <a:t>候选框数量和 Acc@0.5 不变</a:t>
            </a:r>
            <a:r>
              <a:rPr sz="1330" b="0">
                <a:solidFill>
                  <a:srgbClr val="192430"/>
                </a:solidFill>
                <a:latin typeface="Noto Sans CJK SC"/>
              </a:rPr>
              <a:t>，mAP@0.5 从 </a:t>
            </a:r>
            <a:r>
              <a:rPr sz="1330" b="1">
                <a:solidFill>
                  <a:srgbClr val="5B6875"/>
                </a:solidFill>
                <a:latin typeface="Noto Sans CJK SC"/>
              </a:rPr>
              <a:t>0.1464</a:t>
            </a:r>
            <a:r>
              <a:rPr sz="1330" b="0">
                <a:solidFill>
                  <a:srgbClr val="192430"/>
                </a:solidFill>
                <a:latin typeface="Noto Sans CJK SC"/>
              </a:rPr>
              <a:t> 提升至 </a:t>
            </a:r>
            <a:r>
              <a:rPr sz="1330" b="1">
                <a:solidFill>
                  <a:srgbClr val="2D70AA"/>
                </a:solidFill>
                <a:latin typeface="Noto Sans CJK SC"/>
              </a:rPr>
              <a:t>0.1690</a:t>
            </a:r>
            <a:r>
              <a:rPr sz="1330" b="0">
                <a:solidFill>
                  <a:srgbClr val="192430"/>
                </a:solidFill>
                <a:latin typeface="Noto Sans CJK SC"/>
              </a:rPr>
              <a:t>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74519" y="5074920"/>
            <a:ext cx="93726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875"/>
                </a:solidFill>
                <a:latin typeface="Noto Sans CJK SC"/>
              </a:rPr>
              <a:t>提升来自候选置信度校准与排序，而不是增加候选框；规则硬筛选会同时损失候选覆盖与排序质量。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" y="6181344"/>
            <a:ext cx="1078992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B6875"/>
                </a:solidFill>
                <a:latin typeface="Noto Sans CJK SC"/>
              </a:rPr>
              <a:t>Exp38 将候选来源、query 匹配和小目标先验纳入最终排序。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动态选择与排序优化对比</dc:title>
  <dc:subject>统一视觉风格版</dc:subject>
  <dc:creator>DroneP_VG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