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Cand Recall@0.5</c:v>
                </c:pt>
              </c:strCache>
            </c:strRef>
          </c:tx>
          <c:spPr>
            <a:solidFill>
              <a:srgbClr val="4070BE"/>
            </a:solidFill>
            <a:ln>
              <a:solidFill>
                <a:srgbClr val="4070BE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fixed10</c:v>
                </c:pt>
                <c:pt idx="1">
                  <c:v>query_only</c:v>
                </c:pt>
                <c:pt idx="2">
                  <c:v>query_alias</c:v>
                </c:pt>
                <c:pt idx="3">
                  <c:v>alias_fallback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0.3744</c:v>
                </c:pt>
                <c:pt idx="1">
                  <c:v>0.3717</c:v>
                </c:pt>
                <c:pt idx="2">
                  <c:v>0.4202</c:v>
                </c:pt>
                <c:pt idx="3">
                  <c:v>0.4527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Cand Recall@0.5</c:v>
                </c:pt>
              </c:strCache>
            </c:strRef>
          </c:tx>
          <c:spPr>
            <a:solidFill>
              <a:srgbClr val="C27518"/>
            </a:solidFill>
            <a:ln>
              <a:solidFill>
                <a:srgbClr val="C27518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fixed10</c:v>
                </c:pt>
                <c:pt idx="1">
                  <c:v>query_only</c:v>
                </c:pt>
                <c:pt idx="2">
                  <c:v>query_alias</c:v>
                </c:pt>
                <c:pt idx="3">
                  <c:v>alias_fallback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0.1579</c:v>
                </c:pt>
                <c:pt idx="1">
                  <c:v>0.1556</c:v>
                </c:pt>
                <c:pt idx="2">
                  <c:v>0.3043</c:v>
                </c:pt>
                <c:pt idx="3">
                  <c:v>0.3187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5"/>
          <c:min val="0.0"/>
        </c:scaling>
        <c:delete val="0"/>
        <c:axPos val="l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Acc@0.5</c:v>
                </c:pt>
              </c:strCache>
            </c:strRef>
          </c:tx>
          <c:spPr>
            <a:solidFill>
              <a:srgbClr val="4070BE"/>
            </a:solidFill>
            <a:ln>
              <a:solidFill>
                <a:srgbClr val="4070BE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Query base</c:v>
                </c:pt>
                <c:pt idx="1">
                  <c:v>固定动作</c:v>
                </c:pt>
                <c:pt idx="2">
                  <c:v>Qwen动态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0.4651</c:v>
                </c:pt>
                <c:pt idx="1">
                  <c:v>0.5293</c:v>
                </c:pt>
                <c:pt idx="2">
                  <c:v>0.5004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2A8F5B"/>
            </a:solidFill>
            <a:ln>
              <a:solidFill>
                <a:srgbClr val="2A8F5B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Query base</c:v>
                </c:pt>
                <c:pt idx="1">
                  <c:v>固定动作</c:v>
                </c:pt>
                <c:pt idx="2">
                  <c:v>Qwen动态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0.1343</c:v>
                </c:pt>
                <c:pt idx="1">
                  <c:v>0.1397</c:v>
                </c:pt>
                <c:pt idx="2">
                  <c:v>0.1424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Acc@0.5</c:v>
                </c:pt>
              </c:strCache>
            </c:strRef>
          </c:tx>
          <c:spPr>
            <a:solidFill>
              <a:srgbClr val="4070BE"/>
            </a:solidFill>
            <a:ln>
              <a:solidFill>
                <a:srgbClr val="4070BE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融合前</c:v>
                </c:pt>
                <c:pt idx="1">
                  <c:v>规则筛选</c:v>
                </c:pt>
                <c:pt idx="2">
                  <c:v>Exp38校准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0.5374</c:v>
                </c:pt>
                <c:pt idx="1">
                  <c:v>0.3193</c:v>
                </c:pt>
                <c:pt idx="2">
                  <c:v>0.5374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C27518"/>
            </a:solidFill>
            <a:ln>
              <a:solidFill>
                <a:srgbClr val="C27518"/>
              </a:solidFill>
            </a:ln>
          </c:spPr>
          <c:dLbls>
            <c:numFmt formatCode="0.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融合前</c:v>
                </c:pt>
                <c:pt idx="1">
                  <c:v>规则筛选</c:v>
                </c:pt>
                <c:pt idx="2">
                  <c:v>Exp38校准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0.1464</c:v>
                </c:pt>
                <c:pt idx="1">
                  <c:v>0.1187</c:v>
                </c:pt>
                <c:pt idx="2">
                  <c:v>0.169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>
              <a:solidFill>
                <a:srgbClr val="D7DE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32688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F2937"/>
                </a:solidFill>
                <a:latin typeface="Microsoft YaHei"/>
              </a:rPr>
              <a:t>RL_loop 与 Exp38 排序器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19072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714EBE"/>
                </a:solidFill>
                <a:latin typeface="Microsoft YaHei"/>
              </a:rPr>
              <a:t>从候选覆盖到候选排序的联合优化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880360" cy="11430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Qwen</a:t>
            </a:r>
          </a:p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生成动态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45152" y="2743200"/>
            <a:ext cx="2880360" cy="11430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RL_loop</a:t>
            </a:r>
          </a:p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决定扩充动作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2743200"/>
            <a:ext cx="2880360" cy="11430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Exp38</a:t>
            </a:r>
          </a:p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重新排序候选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3310128"/>
            <a:ext cx="731520" cy="0"/>
          </a:xfrm>
          <a:prstGeom prst="line">
            <a:avLst/>
          </a:prstGeom>
          <a:ln w="21590">
            <a:solidFill>
              <a:srgbClr val="4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71231" y="3310128"/>
            <a:ext cx="731521" cy="0"/>
          </a:xfrm>
          <a:prstGeom prst="line">
            <a:avLst/>
          </a:prstGeom>
          <a:ln w="21590">
            <a:solidFill>
              <a:srgbClr val="714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25880" y="4892040"/>
            <a:ext cx="9555480" cy="658368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核心问题：候选框不是越多越好，而是要根据当前状态自适应补充，并把可靠候选排在前面。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1. 为什么需要 RL_loop？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承接 Qwen 提示词：从“生成 prompt”进一步走向“选择 prompt”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246120" cy="1234440"/>
          </a:xfrm>
          <a:prstGeom prst="roundRect">
            <a:avLst/>
          </a:prstGeom>
          <a:solidFill>
            <a:srgbClr val="FFE2E2"/>
          </a:solidFill>
          <a:ln w="1397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固定类别提示词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候选覆盖不足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小目标与易混类别容易漏检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34440"/>
            <a:ext cx="3246120" cy="1234440"/>
          </a:xfrm>
          <a:prstGeom prst="roundRect">
            <a:avLst/>
          </a:prstGeom>
          <a:solidFill>
            <a:srgbClr val="FFE8CC"/>
          </a:solidFill>
          <a:ln w="13970">
            <a:solidFill>
              <a:srgbClr val="C27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一次性加入所有扩展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候选数量膨胀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误检、重复框和计算成本增加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3246120" cy="123444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自适应候选扩充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根据当前状态决定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是否扩充、扩充什么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847088"/>
            <a:ext cx="475488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120" y="1847088"/>
            <a:ext cx="475488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05840" y="3246120"/>
            <a:ext cx="10149840" cy="114300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RL_loop 的角色：不改 GroundingDINO 的检测结构，而是在推理阶段作为候选采集控制器，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把“当前候选集缺什么”转换为“下一轮应该补什么”。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892040"/>
            <a:ext cx="2926080" cy="64008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4892040"/>
            <a:ext cx="2926080" cy="64008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动作选择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892040"/>
            <a:ext cx="2926080" cy="64008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成本控制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2. RL_loop：State、Action、Reward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状态描述当前候选质量，动作描述下一轮候选来源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474720" cy="91440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State：38维候选状态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051560"/>
            <a:ext cx="3474720" cy="9144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Action：12个候选扩充动作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3024" y="1051560"/>
            <a:ext cx="3474720" cy="9144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Reward：收益 - 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23160"/>
            <a:ext cx="3200400" cy="2194560"/>
          </a:xfrm>
          <a:prstGeom prst="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6维全局统计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候选数量、平均分、最高分、分数方差、平均面积、小目标比例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30维类别统计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10类数量 + 10类最高分 + 10类平均面积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2维过程信息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轮次与剩余预算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2423160"/>
            <a:ext cx="3200400" cy="2194560"/>
          </a:xfrm>
          <a:prstGeom prst="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STOP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ADD_GDINO_BASE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ADD_PERSON / PEOPLE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ADD_TRICYCLE 系列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ADD_MOTORCYCLE / MOTORBIKE / SCOOTER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ADD_BICYCLE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0183" y="2423160"/>
            <a:ext cx="3200400" cy="2194560"/>
          </a:xfrm>
          <a:prstGeom prst="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普通召回提升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高 IoU 召回提升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小目标召回提升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精度提升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候选框数量成本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动作次数成本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停止动作惩罚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5074920"/>
            <a:ext cx="9738360" cy="658368"/>
          </a:xfrm>
          <a:prstGeom prst="roundRect">
            <a:avLst/>
          </a:prstGeom>
          <a:solidFill>
            <a:srgbClr val="FFE2E2"/>
          </a:solidFill>
          <a:ln w="1397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核心设计：Reward 同时考虑小目标收益与候选数量成本，而不是单纯追求“生成更多框”。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3. 从固定动作到 Qwen 动态动作空间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动态策略学习的是“某个 prompt 是否值得执行”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2057400" cy="9144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Query / caption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536192"/>
            <a:ext cx="502920" cy="0"/>
          </a:xfrm>
          <a:prstGeom prst="line">
            <a:avLst/>
          </a:prstGeom>
          <a:ln w="21590">
            <a:solidFill>
              <a:srgbClr val="4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078992"/>
            <a:ext cx="2057400" cy="9144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Qwen prompt proposer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49240" y="1536192"/>
            <a:ext cx="502920" cy="0"/>
          </a:xfrm>
          <a:prstGeom prst="line">
            <a:avLst/>
          </a:prstGeom>
          <a:ln w="21590">
            <a:solidFill>
              <a:srgbClr val="4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078992"/>
            <a:ext cx="2057400" cy="9144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Dynamic prompt 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46720" y="1536192"/>
            <a:ext cx="502920" cy="0"/>
          </a:xfrm>
          <a:prstGeom prst="line">
            <a:avLst/>
          </a:prstGeom>
          <a:ln w="21590">
            <a:solidFill>
              <a:srgbClr val="714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0" y="1078992"/>
            <a:ext cx="3063240" cy="9144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State-action scorer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32461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固定动作版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state -&gt; 固定12个动作 -&gt; 选择动作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动作语义依赖预设类别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743200"/>
            <a:ext cx="32461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动态动作版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state + prompt feature -&gt; action score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每张图的 action pool 可以不同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743200"/>
            <a:ext cx="32461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20维 action feature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类别、prompt 长度、Qwen rank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query overlap、角色、轮次、是否用过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937760"/>
            <a:ext cx="10012680" cy="68580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Qwen 不直接预测检测框；它提供与当前 query 相关的候选动作，RL 决定哪些动作真正执行。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4. Exp38 排序器：从候选生成到候选排序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候选扩充解决“有没有”，Exp38 解决“谁优先”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057400" cy="9144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</a:rPr>
              <a:t>候选框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</a:rPr>
              <a:t>坐标、类别、原始分数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45920"/>
            <a:ext cx="502920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960120"/>
            <a:ext cx="2286000" cy="137160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Rich metadata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source_prompt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source_type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query_match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small_area_bonus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area_ratio / rank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0" y="1645920"/>
            <a:ext cx="502920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188720"/>
            <a:ext cx="1965960" cy="9144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Exp38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fusion scorer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1645920"/>
            <a:ext cx="502921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20" y="1188720"/>
            <a:ext cx="2926080" cy="9144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校准后的最终分数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重新排序输出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54680"/>
            <a:ext cx="29260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候选集合不变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预测框数量不变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坐标不变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154680"/>
            <a:ext cx="29260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只改变置信度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改变候选排序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提升真实框靠前概率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154680"/>
            <a:ext cx="29260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7A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区别于规则筛选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不直接删除大量候选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避免误删小目标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074920"/>
            <a:ext cx="10241280" cy="658368"/>
          </a:xfrm>
          <a:prstGeom prst="roundRect">
            <a:avLst/>
          </a:prstGeom>
          <a:solidFill>
            <a:srgbClr val="FFE2E2"/>
          </a:solidFill>
          <a:ln w="1397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Exp38 的创新证据应通过“固定候选集合、只改变排序”来展示。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5. 一次推理流程：Qwen → RL → Exp38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645920" cy="86868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</a:rPr>
              <a:t>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84831" y="1536192"/>
            <a:ext cx="384049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4600" y="1097280"/>
            <a:ext cx="1920240" cy="86868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Qwen prompt pool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8 prompts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26280" y="1536192"/>
            <a:ext cx="384048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56048" y="1097280"/>
            <a:ext cx="1600200" cy="86868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映射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person / bicycle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47688" y="1536192"/>
            <a:ext cx="384048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77456" y="1097280"/>
            <a:ext cx="1600200" cy="86868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RL 选择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</a:rPr>
              <a:t>person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69096" y="1536192"/>
            <a:ext cx="384048" cy="0"/>
          </a:xfrm>
          <a:prstGeom prst="line">
            <a:avLst/>
          </a:prstGeom>
          <a:ln w="21590">
            <a:solidFill>
              <a:srgbClr val="97A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98864" y="1097280"/>
            <a:ext cx="2560320" cy="86868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</a:rPr>
              <a:t>候选扩充 + Exp38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74320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候选数量/结果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C0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query_alias_fallback 初始候选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当前样例 trace 中记录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Round 2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RL 选择 person，追加候选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动作来自动态 prompt pool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Round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RL 选择 bicycle，追加候选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动态动作继续执行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Final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合并、去重、Exp38 rescoring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Microsoft YaHei"/>
                        </a:rPr>
                        <a:t>输出最终排序结果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14400" y="5212080"/>
            <a:ext cx="10287000" cy="64008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</a:rPr>
              <a:t>示例 query：white electric bicycle + man + woman；Qwen 将开放描述转成可执行的 person / bicycle 来源。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6. 候选召回实验：Query-aware prompt 的作用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先验证候选集能否覆盖真实目标，再讨论后续排序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57150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Prompt策略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候选数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Cand R@0.5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Small Cand R@0.5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Acc@0.5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fixed10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7,476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0.1579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0.3719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query_only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9,967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0.3717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0.1556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0.3691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query_alias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23,633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0.4202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0.3043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0.4178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query_alias_fallback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26,091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0.4527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0.3187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0.4504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143000"/>
          <a:ext cx="5166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892040"/>
            <a:ext cx="10607040" cy="749808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结论：query + alias + fallback 明显提高候选覆盖，尤其改善小目标候选召回；但候选数量也随之增加，因此需要 RL 进行选择和控制。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7. RL_loop 与动态动作实验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比较候选覆盖、候选数量和排序质量的综合收益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58064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预测框数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Acc@0.5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Acc@0.75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mAP@0.5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Query base + Exp38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22,298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0.4651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固定动作三轮 RL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40,904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0.5293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0.3310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0.1397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Qwen 动态动作三轮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35,869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0.5004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37960" y="1024128"/>
          <a:ext cx="4800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572000"/>
            <a:ext cx="3429000" cy="9144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固定动作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召回更强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候选更多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9144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Qwen动态动作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候选少约12.3%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mAP更高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4572000"/>
            <a:ext cx="3429000" cy="9144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说明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动态 prompt 提高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候选利用效率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8. Exp38 固定候选集排序实验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66273"/>
                </a:solidFill>
                <a:latin typeface="Microsoft YaHei"/>
              </a:rPr>
              <a:t>这是证明排序器创新性的核心控制变量实验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5897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6"/>
                <a:gridCol w="1179576"/>
                <a:gridCol w="1179576"/>
                <a:gridCol w="1179576"/>
                <a:gridCol w="1179576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预测框数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Acc@0.5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Acc@0.75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mAP@0.5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富元信息融合前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52,872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0.5374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0.3463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规则筛选对照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9,586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0.3193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0.2491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0.1187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Exp38反馈式校准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52,872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0.5374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0.3491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Microsoft YaHei"/>
                        </a:rPr>
                        <a:t>0.1690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051560"/>
          <a:ext cx="47091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617720"/>
            <a:ext cx="10378440" cy="86868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在相同候选集合上，Exp38 将 mAP@0.5 从 0.1464 提升到 0.1690。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提升主要来自候选置信度校准与排序改善，而不是增加候选框数量。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9. 应该如何解释方法创新？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3337560" cy="114300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创新一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Qwen 动态 prompt pool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将开放描述转成候选动作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143000"/>
            <a:ext cx="3337560" cy="114300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创新二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RL 自适应候选扩充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按状态选择下一步动作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320" y="1143000"/>
            <a:ext cx="3337560" cy="114300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创新三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Exp38 富元信息排序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利用来源和查询匹配重排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63240"/>
            <a:ext cx="10607040" cy="132588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F2937"/>
                </a:solidFill>
                <a:latin typeface="Microsoft YaHei"/>
              </a:rPr>
              <a:t>联合效果：</a:t>
            </a:r>
          </a:p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F2937"/>
                </a:solidFill>
                <a:latin typeface="Microsoft YaHei"/>
              </a:rPr>
              <a:t>Qwen 提供与 query 相关的动作，RL 决定动作是否值得执行，Exp38 判断候选框谁应该排在前面。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3063240" cy="64008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覆盖率提升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892040"/>
            <a:ext cx="3063240" cy="64008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候选成本控制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92040"/>
            <a:ext cx="3063240" cy="64008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排序质量提升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10. 术语边界与答辩表述建议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120640" cy="132588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RL_loop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基于验证集奖励表的离线策略学习，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推理时执行上下文相关的候选动作选择。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097280"/>
            <a:ext cx="5120640" cy="132588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Exp38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基于候选反馈特征的排序与分数校准器，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Microsoft YaHei"/>
              </a:rPr>
              <a:t>不是策略梯度模块。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469880" cy="1188720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</a:rPr>
              <a:t>推荐总述：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</a:rPr>
              <a:t>本文构建了一个从候选覆盖到候选排序的反馈式推理流程，而不是重新训练一个大型检测器。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92040"/>
            <a:ext cx="9966960" cy="640080"/>
          </a:xfrm>
          <a:prstGeom prst="roundRect">
            <a:avLst/>
          </a:prstGeom>
          <a:solidFill>
            <a:srgbClr val="FFE2E2"/>
          </a:solidFill>
          <a:ln w="1397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Qwen 生成动作，RL 选择动作，Exp38 校准排序。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18872"/>
            <a:ext cx="11384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</a:rPr>
              <a:t>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143000"/>
            <a:ext cx="10424160" cy="960120"/>
          </a:xfrm>
          <a:prstGeom prst="roundRect">
            <a:avLst/>
          </a:prstGeom>
          <a:solidFill>
            <a:srgbClr val="DCEBFF"/>
          </a:solidFill>
          <a:ln w="13970">
            <a:solidFill>
              <a:srgbClr val="4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</a:rPr>
              <a:t>Qwen：把开放语言描述转成动态 prompt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468880"/>
            <a:ext cx="10424160" cy="960120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1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</a:rPr>
              <a:t>RL_loop：根据当前候选状态，选择下一步候选扩充动作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94760"/>
            <a:ext cx="10424160" cy="960120"/>
          </a:xfrm>
          <a:prstGeom prst="roundRect">
            <a:avLst/>
          </a:prstGeom>
          <a:solidFill>
            <a:srgbClr val="DEF4E7"/>
          </a:solidFill>
          <a:ln w="13970">
            <a:solidFill>
              <a:srgbClr val="2A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</a:rPr>
              <a:t>Exp38：利用 rich metadata 对候选框进行重新打分和排序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349240"/>
            <a:ext cx="9966960" cy="621792"/>
          </a:xfrm>
          <a:prstGeom prst="roundRect">
            <a:avLst/>
          </a:prstGeom>
          <a:solidFill>
            <a:srgbClr val="FFF2C7"/>
          </a:solidFill>
          <a:ln w="13970">
            <a:solidFill>
              <a:srgbClr val="BE8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最终目标：在不盲目扩大候选集合的前提下，提高小目标覆盖和候选排序质量。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292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66273"/>
                </a:solidFill>
                <a:latin typeface="Microsoft YaHei"/>
              </a:rPr>
              <a:t>当前结果均以仓库 summary.json 与 Exp42 补充实验记录为准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