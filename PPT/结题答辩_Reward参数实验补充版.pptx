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9" r:id="rId5"/>
    <p:sldId id="257" r:id="rId6"/>
    <p:sldId id="260" r:id="rId7"/>
    <p:sldId id="261" r:id="rId8"/>
    <p:sldId id="274" r:id="rId9"/>
    <p:sldId id="263" r:id="rId10"/>
    <p:sldId id="276" r:id="rId11"/>
    <p:sldId id="282" r:id="rId12"/>
    <p:sldId id="283" r:id="rId13"/>
    <p:sldId id="279" r:id="rId14"/>
    <p:sldId id="280" r:id="rId15"/>
    <p:sldId id="281" r:id="rId16"/>
    <p:sldId id="284" r:id="rId22"/>
    <p:sldId id="285" r:id="rId23"/>
    <p:sldId id="286" r:id="rId24"/>
    <p:sldId id="287" r:id="rId25"/>
    <p:sldId id="271" r:id="rId17"/>
    <p:sldId id="272" r:id="rId18"/>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38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p>
            <a:r>
              <a:rPr>
                <a:sym typeface="+mn-ea"/>
              </a:rPr>
              <a:t>各位老师好，我是王哲。我的毕业设计题目是《强化学习驱动的闭环航拍图像识别方法》。本文面向无人机航拍图像中的目标识别任务，重点研究在航拍场景下</a:t>
            </a:r>
            <a:r>
              <a:rPr lang="zh-CN">
                <a:sym typeface="+mn-ea"/>
              </a:rPr>
              <a:t>小目标漏检的</a:t>
            </a:r>
            <a:r>
              <a:rPr>
                <a:sym typeface="+mn-ea"/>
              </a:rPr>
              <a:t>问题。本文以已有基础模型产生的候选为起点，通过候选扩展、富元信息建模和反馈式校准，形成一个轻量的闭环优化流程。接下来我将</a:t>
            </a:r>
            <a:r>
              <a:rPr lang="zh-CN">
                <a:sym typeface="+mn-ea"/>
              </a:rPr>
              <a:t>展开进行汇报</a:t>
            </a:r>
            <a:r>
              <a:rPr>
                <a:sym typeface="+mn-ea"/>
              </a:rPr>
              <a:t>。</a:t>
            </a:r>
            <a:endParaRPr>
              <a:sym typeface="+mn-ea"/>
            </a:endParaRPr>
          </a:p>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r>
              <a:rPr lang="zh-CN"/>
              <a:t>为了解决上述问题，我的思路是放开基础模型的生成标准，提高候选中的目标覆盖，然后再通过重新排序找到最优结果。</a:t>
            </a:r>
            <a:endParaRPr lang="zh-CN"/>
          </a:p>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r>
              <a:rPr lang="zh-CN"/>
              <a:t>航拍图像目标像素常出现像素占比低、特定视角下特征不明显的特点。由于这一原因，传统识别模型经常会出现漏检错检的问题。</a:t>
            </a:r>
            <a:endParaRPr lang="zh-CN"/>
          </a:p>
          <a:p/>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sym typeface="+mn-ea"/>
              </a:rPr>
              <a:t>这个是我的模型整体</a:t>
            </a:r>
            <a:r>
              <a:rPr lang="zh-CN">
                <a:sym typeface="+mn-ea"/>
              </a:rPr>
              <a:t>架构。</a:t>
            </a:r>
            <a:endParaRPr lang="zh-CN">
              <a:sym typeface="+mn-ea"/>
            </a:endParaRPr>
          </a:p>
          <a:p>
            <a:endParaRPr lang="zh-CN">
              <a:sym typeface="+mn-ea"/>
            </a:endParaRPr>
          </a:p>
          <a:p>
            <a:r>
              <a:rPr lang="zh-CN">
                <a:sym typeface="+mn-ea"/>
              </a:rPr>
              <a:t>首先，根据上一次老师提出的意见，我不再使用</a:t>
            </a:r>
            <a:r>
              <a:rPr lang="zh-CN" b="1">
                <a:sym typeface="+mn-ea"/>
              </a:rPr>
              <a:t>固定提示词</a:t>
            </a:r>
            <a:r>
              <a:rPr lang="zh-CN">
                <a:sym typeface="+mn-ea"/>
              </a:rPr>
              <a:t>进行候选框扩充，而是采用</a:t>
            </a:r>
            <a:r>
              <a:rPr lang="en-US" altLang="zh-CN" b="1">
                <a:sym typeface="+mn-ea"/>
              </a:rPr>
              <a:t>Qwen3-VL</a:t>
            </a:r>
            <a:r>
              <a:rPr lang="zh-CN" altLang="en-US" b="1">
                <a:sym typeface="+mn-ea"/>
              </a:rPr>
              <a:t>模型</a:t>
            </a:r>
            <a:r>
              <a:rPr lang="zh-CN" altLang="en-US">
                <a:sym typeface="+mn-ea"/>
              </a:rPr>
              <a:t>动态生成提示词和强化学习动作池，提高模型的泛化</a:t>
            </a:r>
            <a:r>
              <a:rPr lang="zh-CN" altLang="en-US">
                <a:sym typeface="+mn-ea"/>
              </a:rPr>
              <a:t>能力。</a:t>
            </a:r>
            <a:endParaRPr lang="zh-CN" altLang="en-US">
              <a:sym typeface="+mn-ea"/>
            </a:endParaRPr>
          </a:p>
          <a:p>
            <a:r>
              <a:rPr lang="zh-CN" altLang="en-US">
                <a:sym typeface="+mn-ea"/>
              </a:rPr>
              <a:t>接下来修改后的提示词指导视觉模型生成第一轮候选，接下来强化学习模块会决定是否增加候选以及增加哪一部分的候选，最多进行三轮</a:t>
            </a:r>
            <a:r>
              <a:rPr lang="zh-CN" altLang="en-US">
                <a:sym typeface="+mn-ea"/>
              </a:rPr>
              <a:t>增强。</a:t>
            </a:r>
            <a:endParaRPr lang="zh-CN" altLang="en-US">
              <a:sym typeface="+mn-ea"/>
            </a:endParaRPr>
          </a:p>
          <a:p>
            <a:r>
              <a:rPr lang="zh-CN" altLang="en-US">
                <a:sym typeface="+mn-ea"/>
              </a:rPr>
              <a:t>最后处理后的候选框连带保留下的富信息一起交给排序器，输出最终</a:t>
            </a:r>
            <a:r>
              <a:rPr lang="zh-CN" altLang="en-US">
                <a:sym typeface="+mn-ea"/>
              </a:rPr>
              <a:t>结果。</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sym typeface="+mn-ea"/>
              </a:rPr>
              <a:t>接下来展开</a:t>
            </a:r>
            <a:r>
              <a:rPr lang="zh-CN">
                <a:sym typeface="+mn-ea"/>
              </a:rPr>
              <a:t>讲一下。</a:t>
            </a:r>
            <a:endParaRPr lang="zh-CN">
              <a:sym typeface="+mn-ea"/>
            </a:endParaRPr>
          </a:p>
          <a:p>
            <a:r>
              <a:rPr lang="zh-CN">
                <a:sym typeface="+mn-ea"/>
              </a:rPr>
              <a:t>首先是提示词生成</a:t>
            </a:r>
            <a:r>
              <a:rPr lang="zh-CN">
                <a:sym typeface="+mn-ea"/>
              </a:rPr>
              <a:t>部分</a:t>
            </a:r>
            <a:endParaRPr lang="zh-CN">
              <a:sym typeface="+mn-ea"/>
            </a:endParaRPr>
          </a:p>
          <a:p>
            <a:r>
              <a:rPr lang="zh-CN">
                <a:sym typeface="+mn-ea"/>
              </a:rPr>
              <a:t>同种含义的不同表达产生的结果可能完全不同，所以第一步就是以这个思路扩展提示词。让语言模型</a:t>
            </a:r>
            <a:r>
              <a:rPr lang="zh-CN" altLang="en-US">
                <a:sym typeface="+mn-ea"/>
              </a:rPr>
              <a:t>将包含属性和空间关系的长查询，扩展为多组目标短语和同义表达</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r>
              <a:rPr lang="zh-CN" altLang="en-US">
                <a:sym typeface="+mn-ea"/>
              </a:rPr>
              <a:t>从图中的实验结果可以看出将提示词分批交给模型确实能够增加覆盖率，说明这个思路是可行</a:t>
            </a:r>
            <a:r>
              <a:rPr lang="zh-CN" altLang="en-US">
                <a:sym typeface="+mn-ea"/>
              </a:rPr>
              <a:t>的。</a:t>
            </a:r>
            <a:endParaRPr lang="zh-CN" altLang="en-US">
              <a:sym typeface="+mn-ea"/>
            </a:endParaRPr>
          </a:p>
          <a:p>
            <a:r>
              <a:rPr lang="zh-CN" altLang="en-US">
                <a:sym typeface="+mn-ea"/>
              </a:rPr>
              <a:t>但是</a:t>
            </a:r>
            <a:r>
              <a:rPr>
                <a:solidFill>
                  <a:srgbClr val="1F2937"/>
                </a:solidFill>
                <a:latin typeface="微软雅黑" panose="020B0503020204020204" charset="-122"/>
                <a:sym typeface="+mn-ea"/>
              </a:rPr>
              <a:t>一次性加入所有扩展</a:t>
            </a:r>
            <a:r>
              <a:rPr lang="zh-CN">
                <a:solidFill>
                  <a:srgbClr val="1F2937"/>
                </a:solidFill>
                <a:latin typeface="微软雅黑" panose="020B0503020204020204" charset="-122"/>
                <a:ea typeface="宋体" panose="02010600030101010101" pitchFamily="2" charset="-122"/>
                <a:sym typeface="+mn-ea"/>
              </a:rPr>
              <a:t>，</a:t>
            </a:r>
            <a:r>
              <a:rPr b="1">
                <a:solidFill>
                  <a:srgbClr val="1F2937"/>
                </a:solidFill>
                <a:latin typeface="微软雅黑" panose="020B0503020204020204" charset="-122"/>
                <a:sym typeface="+mn-ea"/>
              </a:rPr>
              <a:t>候选数量膨胀</a:t>
            </a:r>
            <a:r>
              <a:rPr lang="zh-CN">
                <a:solidFill>
                  <a:srgbClr val="1F2937"/>
                </a:solidFill>
                <a:latin typeface="微软雅黑" panose="020B0503020204020204" charset="-122"/>
                <a:ea typeface="宋体" panose="02010600030101010101" pitchFamily="2" charset="-122"/>
                <a:sym typeface="+mn-ea"/>
              </a:rPr>
              <a:t>，</a:t>
            </a:r>
            <a:r>
              <a:rPr>
                <a:solidFill>
                  <a:srgbClr val="1F2937"/>
                </a:solidFill>
                <a:latin typeface="微软雅黑" panose="020B0503020204020204" charset="-122"/>
                <a:sym typeface="+mn-ea"/>
              </a:rPr>
              <a:t>误检、重复框和计算成本增加</a:t>
            </a:r>
            <a:r>
              <a:rPr lang="zh-CN" altLang="en-US">
                <a:sym typeface="+mn-ea"/>
              </a:rPr>
              <a:t>。所以设计了后续的强化学习反馈模块，根据当前的状态决定是否扩充、扩充</a:t>
            </a:r>
            <a:r>
              <a:rPr lang="zh-CN" altLang="en-US">
                <a:sym typeface="+mn-ea"/>
              </a:rPr>
              <a:t>什么。以提高</a:t>
            </a:r>
            <a:r>
              <a:rPr lang="zh-CN" altLang="en-US">
                <a:sym typeface="+mn-ea"/>
              </a:rPr>
              <a:t>效率。</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强化学习部分的</a:t>
            </a:r>
            <a:r>
              <a:rPr lang="zh-CN"/>
              <a:t>设计</a:t>
            </a:r>
            <a:endParaRPr lang="zh-CN"/>
          </a:p>
          <a:p>
            <a:r>
              <a:rPr lang="zh-CN"/>
              <a:t>正如前面提到的，动作空间不是固定的，而是由语言模型动态生成</a:t>
            </a:r>
            <a:r>
              <a:rPr lang="zh-CN"/>
              <a:t>的。</a:t>
            </a:r>
            <a:endParaRPr lang="zh-CN"/>
          </a:p>
          <a:p>
            <a:r>
              <a:rPr lang="en-US" altLang="zh-CN"/>
              <a:t>r</a:t>
            </a:r>
            <a:r>
              <a:rPr lang="zh-CN" altLang="en-US">
                <a:sym typeface="+mn-ea"/>
              </a:rPr>
              <a:t>eward 同时考虑小目标收益与候选数量成本，而不是单纯追求“生成更多框</a:t>
            </a:r>
            <a:r>
              <a:rPr lang="en-US" altLang="zh-CN">
                <a:sym typeface="+mn-ea"/>
              </a:rPr>
              <a:t>“</a:t>
            </a:r>
            <a:r>
              <a:rPr lang="zh-CN" altLang="en-US">
                <a:sym typeface="+mn-ea"/>
              </a:rPr>
              <a:t>。</a:t>
            </a:r>
            <a:endParaRPr lang="zh-CN" altLang="en-US">
              <a:sym typeface="+mn-ea"/>
            </a:endParaRPr>
          </a:p>
          <a:p>
            <a:r>
              <a:rPr lang="zh-CN" altLang="en-US">
                <a:sym typeface="+mn-ea"/>
              </a:rPr>
              <a:t>这一部分通过输入的状态信息，判断候选是否确实，选择是否继续补充候选以及补充那一部分的</a:t>
            </a:r>
            <a:r>
              <a:rPr lang="zh-CN" altLang="en-US">
                <a:sym typeface="+mn-ea"/>
              </a:rPr>
              <a:t>候选</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之前的候选框生成和扩展这是保证了候选集已经覆盖了目标，但是不代表目标最后会被选出来，原因在于基础模型对候选框的打分未必准确，高准确度的结果未必有高</a:t>
            </a:r>
            <a:r>
              <a:rPr lang="zh-CN"/>
              <a:t>分，</a:t>
            </a:r>
            <a:endParaRPr lang="zh-CN"/>
          </a:p>
          <a:p>
            <a:r>
              <a:rPr lang="zh-CN"/>
              <a:t>所以最后一步我设计了一个重新打分的模块，，通过保留比一般目标识别更丰富的元信息，通过最终排序器输出新的保留</a:t>
            </a:r>
            <a:r>
              <a:rPr lang="zh-CN"/>
              <a:t>概率。</a:t>
            </a:r>
            <a:endParaRPr lang="zh-CN"/>
          </a:p>
          <a:p>
            <a:endParaRPr lang="zh-CN"/>
          </a:p>
          <a:p>
            <a:endParaRPr lang="zh-CN"/>
          </a:p>
          <a:p>
            <a:endParaRPr lang="zh-CN"/>
          </a:p>
          <a:p>
            <a:r>
              <a:rPr lang="en-US" altLang="zh-CN"/>
              <a:t># </a:t>
            </a:r>
            <a:r>
              <a:rPr lang="zh-CN" altLang="en-US"/>
              <a:t>使用实际的图</a:t>
            </a:r>
            <a:r>
              <a:rPr lang="zh-CN" altLang="en-US"/>
              <a:t>展示</a:t>
            </a:r>
            <a:endParaRPr lang="zh-CN" altLang="en-US"/>
          </a:p>
          <a:p>
            <a:endParaRPr lang="zh-CN" altLang="en-US"/>
          </a:p>
          <a:p>
            <a:endParaRPr lang="zh-CN" altLang="en-US"/>
          </a:p>
          <a:p>
            <a:r>
              <a:rPr lang="zh-CN" altLang="en-US"/>
              <a:t>一般式</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展示</a:t>
            </a:r>
            <a:r>
              <a:rPr lang="en-US" altLang="zh-CN"/>
              <a:t>RL_loop</a:t>
            </a:r>
            <a:r>
              <a:rPr lang="zh-CN" altLang="en-US"/>
              <a:t>的</a:t>
            </a:r>
            <a:r>
              <a:rPr lang="zh-CN" altLang="en-US"/>
              <a:t>优势</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展示排序器的</a:t>
            </a:r>
            <a:r>
              <a:rPr lang="zh-CN" altLang="en-US"/>
              <a:t>优势</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推理循环次数</a:t>
            </a:r>
            <a:r>
              <a:rPr lang="zh-CN" altLang="en-US"/>
              <a:t>选择</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元数据设计</a:t>
            </a:r>
            <a:r>
              <a:rPr lang="zh-CN" altLang="en-US"/>
              <a:t>优势</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【主讲稿】</a:t>
            </a:r>
          </a:p>
          <a:p/>
          <a:p>
            <a:r>
              <a:t>我的汇报完毕，感谢各位老师聆听，恳请批评指正。</a:t>
            </a:r>
          </a:p>
          <a:p/>
          <a:p>
            <a:r>
              <a:t>【提问备答】</a:t>
            </a:r>
          </a:p>
          <a:p/>
          <a:p>
            <a:r>
              <a:t>【备答：致谢】感谢老师聆听，如有问题将结合实验设置、方法结构和消融结果进一步说明。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【页面功能】</a:t>
            </a:r>
          </a:p>
          <a:p>
            <a:r>
              <a:t>解释 reward 为什么由这些检测收益与成本项组成，先给出设计逻辑，再为后续系数实验建立口径。</a:t>
            </a:r>
          </a:p>
          <a:p/>
          <a:p>
            <a:r>
              <a:t>【主讲稿】</a:t>
            </a:r>
          </a:p>
          <a:p>
            <a:r>
              <a:t>这一页先回答公式层面的合理性。Recall@0.5 是主要命中目标，Recall@0.75 保证定位质量，弱类召回权重最高是因为航拍任务的核心困难是小目标和弱类别。Precision 用来约束误检，三个成本项则防止策略通过不断增加候选和动作获得表面收益。四个正权重之和是 1.22，它们不是概率；真正重要的是相对比例以及它们相对于成本项的尺度。</a:t>
            </a:r>
          </a:p>
          <a:p/>
          <a:p>
            <a:r>
              <a:t>【可能追问】</a:t>
            </a:r>
          </a:p>
          <a:p>
            <a:r>
              <a:t>如果老师问 small 为什么不是面积定义：当前公式采用弱类别先验，但 Exp44 同时测试了面积 small 和二者混合，二者没有稳定超过 Current。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【页面功能】</a:t>
            </a:r>
          </a:p>
          <a:p>
            <a:r>
              <a:t>证明参数不是凭经验挑选后直接报告，而是经过无 test 泄漏的系统搜索和多种子复核。</a:t>
            </a:r>
          </a:p>
          <a:p/>
          <a:p>
            <a:r>
              <a:t>【主讲稿】</a:t>
            </a:r>
          </a:p>
          <a:p>
            <a:r>
              <a:t>这一页讲实验可信度。我们先把 150 张 validation 按序列分成五折，避免相邻帧跨折。粗筛覆盖 136 组，包括逐项消融、七类单因素曲线、三个交互面和四十个全局样本。满足动作数和候选框不超过 Current 105% 的配置才算可行。随后选 12 组做五折三种子、300 epoch 复核。最后冻结 Current 和最强 Challenger，test 只评测一次，不再根据 test 改参数。</a:t>
            </a:r>
          </a:p>
          <a:p/>
          <a:p>
            <a:r>
              <a:t>【可能追问】</a:t>
            </a:r>
          </a:p>
          <a:p>
            <a:r>
              <a:t>如果老师问为什么不是全网格：四维权重加三个成本项的完整笛卡尔积会产生大量冗余组合，因此采用单因素、关键交互面和空间填充采样结合，既看趋势也覆盖全局。</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【页面功能】</a:t>
            </a:r>
          </a:p>
          <a:p>
            <a:r>
              <a:t>直接回答老师最可能提出的问题：为什么第一个系数恰好写成 0.40。</a:t>
            </a:r>
          </a:p>
          <a:p/>
          <a:p>
            <a:r>
              <a:t>【主讲稿】</a:t>
            </a:r>
          </a:p>
          <a:p>
            <a:r>
              <a:t>0.40 不是理论解析得到的唯一常数，而是正奖励总权重中的 32.8%。我们保持总尺度 1.22 不变，把该权重从 0 扫描到约 0.60。较大的权重在单次粗筛中偶尔提高约千分之一的 Acc，但动作数超过 105% 成本约束。满足预算且最接近的竞争点是 0.3268；它进入五折三种子复核后，Acc 与 Current 几乎相同，但 Current 的小目标召回、OOF mAP 更高，动作数也更少。因此保留 0.40。</a:t>
            </a:r>
          </a:p>
          <a:p/>
          <a:p>
            <a:r>
              <a:t>【可能追问】</a:t>
            </a:r>
          </a:p>
          <a:p>
            <a:r>
              <a:t>如果老师追问为什么不是 0.39 或 0.41：实验支持的是 0.40 所在的稳定区间，不支持小数点后任意精度的唯一最优性；取 0.40 是为了使用简单、可解释的代表值。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【页面功能】</a:t>
            </a:r>
          </a:p>
          <a:p>
            <a:r>
              <a:t>用完全独立的 test 结果收束参数实验，说明最终为什么没有替换当前公式，并给出统计边界。</a:t>
            </a:r>
          </a:p>
          <a:p/>
          <a:p>
            <a:r>
              <a:t>【主讲稿】</a:t>
            </a:r>
          </a:p>
          <a:p>
            <a:r>
              <a:t>验证集按照预注册规则保留 Current，同时冻结最强的非当前配置作为 Challenger。独立 test 上，Current 的三种子平均 Acc@0.5、mAP 和面积小目标召回都更高，动作数基本相同。逐图 Bootstrap 中，面积小目标 Recall 的差异区间完全位于零左侧，说明 Current 在这一核心指标上具有显著优势。Acc 的区间上界触及零，所以这里只称稳定领先，不称所有指标都显著。最终保留原 reward。</a:t>
            </a:r>
          </a:p>
          <a:p/>
          <a:p>
            <a:r>
              <a:t>【可能追问】</a:t>
            </a:r>
          </a:p>
          <a:p>
            <a:r>
              <a:t>如果老师问是否用 test 反向选参：没有。Current 和 Challenger 在 test 前已经冻结，test 后没有继续搜索；本页只报告泛化验证。</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24" y="6356350"/>
            <a:ext cx="2133711"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363" y="6356350"/>
            <a:ext cx="2895751" cy="365125"/>
          </a:xfrm>
        </p:spPr>
        <p:txBody>
          <a:bodyPr/>
          <a:lstStyle/>
          <a:p>
            <a:endParaRPr lang="en-US"/>
          </a:p>
        </p:txBody>
      </p:sp>
      <p:sp>
        <p:nvSpPr>
          <p:cNvPr id="4" name="Slide Number Placeholder 3"/>
          <p:cNvSpPr>
            <a:spLocks noGrp="1"/>
          </p:cNvSpPr>
          <p:nvPr>
            <p:ph type="sldNum" sz="quarter" idx="12"/>
          </p:nvPr>
        </p:nvSpPr>
        <p:spPr>
          <a:xfrm>
            <a:off x="6553541" y="6356350"/>
            <a:ext cx="2133711" cy="365125"/>
          </a:xfrm>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tags" Target="../tags/tag6.xml"/><Relationship Id="rId6" Type="http://schemas.openxmlformats.org/officeDocument/2006/relationships/tags" Target="../tags/tag7.xml"/><Relationship Id="rId7" Type="http://schemas.openxmlformats.org/officeDocument/2006/relationships/tags" Target="../tags/tag8.xml"/><Relationship Id="rId8" Type="http://schemas.openxmlformats.org/officeDocument/2006/relationships/tags" Target="../tags/tag9.xml"/><Relationship Id="rId9" Type="http://schemas.openxmlformats.org/officeDocument/2006/relationships/tags" Target="../tags/tag10.xml"/><Relationship Id="rId10" Type="http://schemas.openxmlformats.org/officeDocument/2006/relationships/tags" Target="../tags/tag11.xml"/><Relationship Id="rId11" Type="http://schemas.openxmlformats.org/officeDocument/2006/relationships/tags" Target="../tags/tag12.xml"/><Relationship Id="rId12" Type="http://schemas.openxmlformats.org/officeDocument/2006/relationships/tags" Target="../tags/tag13.xml"/><Relationship Id="rId13" Type="http://schemas.openxmlformats.org/officeDocument/2006/relationships/tags" Target="../tags/tag14.xml"/><Relationship Id="rId14" Type="http://schemas.openxmlformats.org/officeDocument/2006/relationships/tags" Target="../tags/tag15.xml"/><Relationship Id="rId15" Type="http://schemas.openxmlformats.org/officeDocument/2006/relationships/tags" Target="../tags/tag16.xml"/><Relationship Id="rId16" Type="http://schemas.openxmlformats.org/officeDocument/2006/relationships/tags" Target="../tags/tag17.xml"/><Relationship Id="rId17" Type="http://schemas.openxmlformats.org/officeDocument/2006/relationships/tags" Target="../tags/tag18.xml"/><Relationship Id="rId18" Type="http://schemas.openxmlformats.org/officeDocument/2006/relationships/tags" Target="../tags/tag19.xml"/><Relationship Id="rId19" Type="http://schemas.openxmlformats.org/officeDocument/2006/relationships/slideLayout" Target="../slideLayouts/slideLayout1.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a:spLocks noGrp="1"/>
          </p:cNvSpPr>
          <p:nvPr/>
        </p:nvSpPr>
        <p:spPr>
          <a:xfrm>
            <a:off x="0" y="0"/>
            <a:ext cx="12192000" cy="6858000"/>
          </a:xfrm>
          <a:prstGeom prst="rect">
            <a:avLst/>
          </a:prstGeom>
          <a:solidFill>
            <a:srgbClr val="102A43"/>
          </a:solidFill>
          <a:ln w="0">
            <a:noFill/>
            <a:prstDash val="solid"/>
          </a:ln>
        </p:spPr>
      </p:sp>
      <p:sp>
        <p:nvSpPr>
          <p:cNvPr id="2" name="圆角矩形 1"/>
          <p:cNvSpPr>
            <a:spLocks noGrp="1"/>
          </p:cNvSpPr>
          <p:nvPr/>
        </p:nvSpPr>
        <p:spPr>
          <a:xfrm>
            <a:off x="685800" y="857250"/>
            <a:ext cx="114300" cy="3714750"/>
          </a:xfrm>
          <a:prstGeom prst="roundRect">
            <a:avLst>
              <a:gd name="adj" fmla="val 50000"/>
            </a:avLst>
          </a:prstGeom>
          <a:solidFill>
            <a:srgbClr val="18A999"/>
          </a:solidFill>
          <a:ln w="0">
            <a:noFill/>
            <a:prstDash val="solid"/>
          </a:ln>
        </p:spPr>
      </p:sp>
      <p:sp>
        <p:nvSpPr>
          <p:cNvPr id="3" name="矩形 2"/>
          <p:cNvSpPr>
            <a:spLocks noGrp="1"/>
          </p:cNvSpPr>
          <p:nvPr/>
        </p:nvSpPr>
        <p:spPr>
          <a:xfrm>
            <a:off x="1066800" y="1066800"/>
            <a:ext cx="7239000" cy="1714500"/>
          </a:xfrm>
          <a:prstGeom prst="rect">
            <a:avLst/>
          </a:prstGeom>
          <a:noFill/>
          <a:ln w="0">
            <a:noFill/>
            <a:prstDash val="solid"/>
          </a:ln>
        </p:spPr>
        <p:txBody>
          <a:bodyPr anchor="ctr"/>
          <a:lstStyle/>
          <a:p>
            <a:pPr algn="l">
              <a:buNone/>
              <a:defRPr sz="3900" b="1">
                <a:solidFill>
                  <a:srgbClr val="FFFFFF"/>
                </a:solidFill>
              </a:defRPr>
            </a:pPr>
            <a:r>
              <a:rPr sz="3900" b="1">
                <a:solidFill>
                  <a:srgbClr val="FFFFFF"/>
                </a:solidFill>
              </a:rPr>
              <a:t>强化学习驱动的</a:t>
            </a:r>
            <a:endParaRPr sz="3900" b="1">
              <a:solidFill>
                <a:srgbClr val="FFFFFF"/>
              </a:solidFill>
            </a:endParaRPr>
          </a:p>
          <a:p>
            <a:pPr algn="l">
              <a:buNone/>
              <a:defRPr sz="3900" b="1">
                <a:solidFill>
                  <a:srgbClr val="FFFFFF"/>
                </a:solidFill>
              </a:defRPr>
            </a:pPr>
            <a:r>
              <a:rPr sz="3900" b="1">
                <a:solidFill>
                  <a:srgbClr val="FFFFFF"/>
                </a:solidFill>
              </a:rPr>
              <a:t>闭环航拍图像识别方法</a:t>
            </a:r>
            <a:endParaRPr sz="3900" b="1">
              <a:solidFill>
                <a:srgbClr val="FFFFFF"/>
              </a:solidFill>
            </a:endParaRPr>
          </a:p>
        </p:txBody>
      </p:sp>
      <p:sp>
        <p:nvSpPr>
          <p:cNvPr id="4" name="矩形 3"/>
          <p:cNvSpPr>
            <a:spLocks noGrp="1"/>
          </p:cNvSpPr>
          <p:nvPr/>
        </p:nvSpPr>
        <p:spPr>
          <a:xfrm>
            <a:off x="1085850" y="3000375"/>
            <a:ext cx="6191250" cy="552450"/>
          </a:xfrm>
          <a:prstGeom prst="rect">
            <a:avLst/>
          </a:prstGeom>
          <a:noFill/>
          <a:ln w="0">
            <a:noFill/>
            <a:prstDash val="solid"/>
          </a:ln>
        </p:spPr>
        <p:txBody>
          <a:bodyPr anchor="ctr"/>
          <a:lstStyle/>
          <a:p>
            <a:pPr algn="l">
              <a:buNone/>
              <a:defRPr sz="1725" b="0">
                <a:solidFill>
                  <a:srgbClr val="B9D9F1"/>
                </a:solidFill>
              </a:defRPr>
            </a:pPr>
            <a:r>
              <a:rPr sz="1725" b="0">
                <a:solidFill>
                  <a:srgbClr val="B9D9F1"/>
                </a:solidFill>
              </a:rPr>
              <a:t>Reinforcement Learning-Driven Closed-Loop</a:t>
            </a:r>
            <a:endParaRPr sz="1725" b="0">
              <a:solidFill>
                <a:srgbClr val="B9D9F1"/>
              </a:solidFill>
            </a:endParaRPr>
          </a:p>
          <a:p>
            <a:pPr algn="l">
              <a:buNone/>
              <a:defRPr sz="1725" b="0">
                <a:solidFill>
                  <a:srgbClr val="B9D9F1"/>
                </a:solidFill>
              </a:defRPr>
            </a:pPr>
            <a:r>
              <a:rPr sz="1725" b="0">
                <a:solidFill>
                  <a:srgbClr val="B9D9F1"/>
                </a:solidFill>
              </a:rPr>
              <a:t>Aerial Image Recognition Method</a:t>
            </a:r>
            <a:endParaRPr sz="1725" b="0">
              <a:solidFill>
                <a:srgbClr val="B9D9F1"/>
              </a:solidFill>
            </a:endParaRPr>
          </a:p>
        </p:txBody>
      </p:sp>
      <p:sp>
        <p:nvSpPr>
          <p:cNvPr id="5" name="矩形 4"/>
          <p:cNvSpPr>
            <a:spLocks noGrp="1"/>
          </p:cNvSpPr>
          <p:nvPr/>
        </p:nvSpPr>
        <p:spPr>
          <a:xfrm>
            <a:off x="1085850" y="4057650"/>
            <a:ext cx="2857500" cy="304800"/>
          </a:xfrm>
          <a:prstGeom prst="rect">
            <a:avLst/>
          </a:prstGeom>
          <a:noFill/>
          <a:ln w="0">
            <a:noFill/>
            <a:prstDash val="solid"/>
          </a:ln>
        </p:spPr>
        <p:txBody>
          <a:bodyPr anchor="ctr"/>
          <a:lstStyle/>
          <a:p>
            <a:pPr algn="l">
              <a:buNone/>
              <a:defRPr sz="1650" b="1">
                <a:solidFill>
                  <a:srgbClr val="D5E6F5"/>
                </a:solidFill>
              </a:defRPr>
            </a:pPr>
            <a:r>
              <a:rPr sz="1650" b="1">
                <a:solidFill>
                  <a:srgbClr val="D5E6F5"/>
                </a:solidFill>
              </a:rPr>
              <a:t>本科毕业设计答辩</a:t>
            </a:r>
            <a:endParaRPr sz="1650" b="1">
              <a:solidFill>
                <a:srgbClr val="D5E6F5"/>
              </a:solidFill>
            </a:endParaRPr>
          </a:p>
        </p:txBody>
      </p:sp>
      <p:sp>
        <p:nvSpPr>
          <p:cNvPr id="6" name="矩形 5"/>
          <p:cNvSpPr>
            <a:spLocks noGrp="1"/>
          </p:cNvSpPr>
          <p:nvPr/>
        </p:nvSpPr>
        <p:spPr>
          <a:xfrm>
            <a:off x="1085850" y="4495800"/>
            <a:ext cx="6000750" cy="285750"/>
          </a:xfrm>
          <a:prstGeom prst="rect">
            <a:avLst/>
          </a:prstGeom>
          <a:noFill/>
          <a:ln w="0">
            <a:noFill/>
            <a:prstDash val="solid"/>
          </a:ln>
        </p:spPr>
        <p:txBody>
          <a:bodyPr anchor="ctr"/>
          <a:lstStyle/>
          <a:p>
            <a:pPr algn="l">
              <a:buNone/>
              <a:defRPr sz="1350" b="0">
                <a:solidFill>
                  <a:srgbClr val="B9D9F1"/>
                </a:solidFill>
              </a:defRPr>
            </a:pPr>
            <a:r>
              <a:rPr sz="1350" b="0">
                <a:solidFill>
                  <a:srgbClr val="B9D9F1"/>
                </a:solidFill>
              </a:rPr>
              <a:t>王哲  |  计算机科学与技术  |  指导教师：王耀威</a:t>
            </a:r>
            <a:r>
              <a:rPr lang="zh-CN" sz="1350" b="0">
                <a:solidFill>
                  <a:srgbClr val="B9D9F1"/>
                </a:solidFill>
                <a:ea typeface="宋体" panose="02010600030101010101" pitchFamily="2" charset="-122"/>
              </a:rPr>
              <a:t>、蓝湘源</a:t>
            </a:r>
            <a:r>
              <a:rPr>
                <a:sym typeface="+mn-ea"/>
              </a:rPr>
              <a:t>教授</a:t>
            </a:r>
            <a:endParaRPr lang="zh-CN" b="0">
              <a:solidFill>
                <a:srgbClr val="B9D9F1"/>
              </a:solidFill>
              <a:ea typeface="宋体" panose="02010600030101010101" pitchFamily="2" charset="-122"/>
              <a:sym typeface="+mn-ea"/>
            </a:endParaRPr>
          </a:p>
        </p:txBody>
      </p:sp>
      <p:sp>
        <p:nvSpPr>
          <p:cNvPr id="8" name="矩形 7"/>
          <p:cNvSpPr>
            <a:spLocks noGrp="1"/>
          </p:cNvSpPr>
          <p:nvPr/>
        </p:nvSpPr>
        <p:spPr>
          <a:xfrm>
            <a:off x="685800" y="6381750"/>
            <a:ext cx="3619500" cy="171450"/>
          </a:xfrm>
          <a:prstGeom prst="rect">
            <a:avLst/>
          </a:prstGeom>
          <a:noFill/>
          <a:ln w="0">
            <a:noFill/>
            <a:prstDash val="solid"/>
          </a:ln>
        </p:spPr>
        <p:txBody>
          <a:bodyPr anchor="ctr"/>
          <a:lstStyle/>
          <a:p>
            <a:pPr algn="l">
              <a:buNone/>
              <a:defRPr sz="1050" b="0">
                <a:solidFill>
                  <a:srgbClr val="B9D9F1"/>
                </a:solidFill>
              </a:defRPr>
            </a:pPr>
            <a:r>
              <a:rPr sz="1050" b="0">
                <a:solidFill>
                  <a:srgbClr val="B9D9F1"/>
                </a:solidFill>
              </a:rPr>
              <a:t>哈尔滨工业大学（深圳）</a:t>
            </a:r>
            <a:endParaRPr sz="1050" b="0">
              <a:solidFill>
                <a:srgbClr val="B9D9F1"/>
              </a:solidFill>
            </a:endParaRPr>
          </a:p>
        </p:txBody>
      </p:sp>
      <p:pic>
        <p:nvPicPr>
          <p:cNvPr id="25" name="图片 23"/>
          <p:cNvPicPr>
            <a:picLocks noChangeAspect="1"/>
          </p:cNvPicPr>
          <p:nvPr/>
        </p:nvPicPr>
        <p:blipFill>
          <a:blip r:embed="rId1"/>
          <a:srcRect t="12" b="12"/>
          <a:stretch>
            <a:fillRect/>
          </a:stretch>
        </p:blipFill>
        <p:spPr>
          <a:xfrm>
            <a:off x="7981950" y="2180630"/>
            <a:ext cx="3524250" cy="1982391"/>
          </a:xfrm>
          <a:prstGeom prst="roundRect">
            <a:avLst/>
          </a:prstGeom>
        </p:spPr>
      </p:pic>
      <p:sp>
        <p:nvSpPr>
          <p:cNvPr id="11" name="矩形 10"/>
          <p:cNvSpPr>
            <a:spLocks noGrp="1"/>
          </p:cNvSpPr>
          <p:nvPr/>
        </p:nvSpPr>
        <p:spPr>
          <a:xfrm>
            <a:off x="8763000" y="3390900"/>
            <a:ext cx="371475" cy="333375"/>
          </a:xfrm>
          <a:prstGeom prst="rect">
            <a:avLst/>
          </a:prstGeom>
          <a:ln w="19050">
            <a:solidFill>
              <a:srgbClr val="19B6A7"/>
            </a:solidFill>
            <a:prstDash val="solid"/>
          </a:ln>
        </p:spPr>
      </p:sp>
      <p:sp>
        <p:nvSpPr>
          <p:cNvPr id="12" name="矩形 11"/>
          <p:cNvSpPr>
            <a:spLocks noGrp="1"/>
          </p:cNvSpPr>
          <p:nvPr/>
        </p:nvSpPr>
        <p:spPr>
          <a:xfrm>
            <a:off x="8763000" y="3286125"/>
            <a:ext cx="333375" cy="104775"/>
          </a:xfrm>
          <a:prstGeom prst="rect">
            <a:avLst/>
          </a:prstGeom>
          <a:solidFill>
            <a:srgbClr val="19B6A7"/>
          </a:solidFill>
          <a:ln w="0">
            <a:solidFill>
              <a:srgbClr val="19B6A7"/>
            </a:solidFill>
            <a:prstDash val="solid"/>
          </a:ln>
        </p:spPr>
        <p:txBody>
          <a:bodyPr anchor="ctr"/>
          <a:lstStyle/>
          <a:p>
            <a:pPr>
              <a:buNone/>
              <a:defRPr sz="525" b="1">
                <a:solidFill>
                  <a:srgbClr val="FFFFFF"/>
                </a:solidFill>
              </a:defRPr>
            </a:pPr>
            <a:r>
              <a:rPr sz="525" b="1">
                <a:solidFill>
                  <a:srgbClr val="FFFFFF"/>
                </a:solidFill>
              </a:rPr>
              <a:t>CAR</a:t>
            </a:r>
            <a:endParaRPr sz="525" b="1">
              <a:solidFill>
                <a:srgbClr val="FFFFFF"/>
              </a:solidFill>
            </a:endParaRPr>
          </a:p>
        </p:txBody>
      </p:sp>
      <p:sp>
        <p:nvSpPr>
          <p:cNvPr id="13" name="矩形 12"/>
          <p:cNvSpPr>
            <a:spLocks noGrp="1"/>
          </p:cNvSpPr>
          <p:nvPr/>
        </p:nvSpPr>
        <p:spPr>
          <a:xfrm>
            <a:off x="9401175" y="3829050"/>
            <a:ext cx="247650" cy="209550"/>
          </a:xfrm>
          <a:prstGeom prst="rect">
            <a:avLst/>
          </a:prstGeom>
          <a:ln w="19050">
            <a:solidFill>
              <a:srgbClr val="19B6A7"/>
            </a:solidFill>
            <a:prstDash val="solid"/>
          </a:ln>
        </p:spPr>
      </p:sp>
      <p:sp>
        <p:nvSpPr>
          <p:cNvPr id="14" name="矩形 13"/>
          <p:cNvSpPr>
            <a:spLocks noGrp="1"/>
          </p:cNvSpPr>
          <p:nvPr/>
        </p:nvSpPr>
        <p:spPr>
          <a:xfrm>
            <a:off x="9401175" y="3724275"/>
            <a:ext cx="333375" cy="104775"/>
          </a:xfrm>
          <a:prstGeom prst="rect">
            <a:avLst/>
          </a:prstGeom>
          <a:solidFill>
            <a:srgbClr val="19B6A7"/>
          </a:solidFill>
          <a:ln w="0">
            <a:solidFill>
              <a:srgbClr val="19B6A7"/>
            </a:solidFill>
            <a:prstDash val="solid"/>
          </a:ln>
        </p:spPr>
        <p:txBody>
          <a:bodyPr anchor="ctr"/>
          <a:lstStyle/>
          <a:p>
            <a:pPr>
              <a:buNone/>
              <a:defRPr sz="525" b="1">
                <a:solidFill>
                  <a:srgbClr val="FFFFFF"/>
                </a:solidFill>
              </a:defRPr>
            </a:pPr>
            <a:r>
              <a:rPr sz="525" b="1">
                <a:solidFill>
                  <a:srgbClr val="FFFFFF"/>
                </a:solidFill>
              </a:rPr>
              <a:t>CAR</a:t>
            </a:r>
            <a:endParaRPr sz="525" b="1">
              <a:solidFill>
                <a:srgbClr val="FFFFFF"/>
              </a:solidFill>
            </a:endParaRPr>
          </a:p>
        </p:txBody>
      </p:sp>
      <p:sp>
        <p:nvSpPr>
          <p:cNvPr id="15" name="矩形 14"/>
          <p:cNvSpPr>
            <a:spLocks noGrp="1"/>
          </p:cNvSpPr>
          <p:nvPr/>
        </p:nvSpPr>
        <p:spPr>
          <a:xfrm>
            <a:off x="10553700" y="3771900"/>
            <a:ext cx="285750" cy="200025"/>
          </a:xfrm>
          <a:prstGeom prst="rect">
            <a:avLst/>
          </a:prstGeom>
          <a:ln w="19050">
            <a:solidFill>
              <a:srgbClr val="19B6A7"/>
            </a:solidFill>
            <a:prstDash val="solid"/>
          </a:ln>
        </p:spPr>
      </p:sp>
      <p:sp>
        <p:nvSpPr>
          <p:cNvPr id="16" name="矩形 15"/>
          <p:cNvSpPr>
            <a:spLocks noGrp="1"/>
          </p:cNvSpPr>
          <p:nvPr/>
        </p:nvSpPr>
        <p:spPr>
          <a:xfrm>
            <a:off x="10553700" y="3667125"/>
            <a:ext cx="333375" cy="104775"/>
          </a:xfrm>
          <a:prstGeom prst="rect">
            <a:avLst/>
          </a:prstGeom>
          <a:solidFill>
            <a:srgbClr val="19B6A7"/>
          </a:solidFill>
          <a:ln w="0">
            <a:solidFill>
              <a:srgbClr val="19B6A7"/>
            </a:solidFill>
            <a:prstDash val="solid"/>
          </a:ln>
        </p:spPr>
        <p:txBody>
          <a:bodyPr anchor="ctr"/>
          <a:lstStyle/>
          <a:p>
            <a:pPr>
              <a:buNone/>
              <a:defRPr sz="525" b="1">
                <a:solidFill>
                  <a:srgbClr val="FFFFFF"/>
                </a:solidFill>
              </a:defRPr>
            </a:pPr>
            <a:r>
              <a:rPr sz="525" b="1">
                <a:solidFill>
                  <a:srgbClr val="FFFFFF"/>
                </a:solidFill>
              </a:rPr>
              <a:t>CAR</a:t>
            </a:r>
            <a:endParaRPr sz="525" b="1">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矩形 17"/>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1000" b="1">
                <a:solidFill>
                  <a:srgbClr val="18A999"/>
                </a:solidFill>
                <a:latin typeface="微软雅黑" panose="020B0503020204020204" charset="-122"/>
                <a:ea typeface="微软雅黑" panose="020B0503020204020204" charset="-122"/>
              </a:rPr>
              <a:t>OBJECTIVE</a:t>
            </a:r>
            <a:endParaRPr sz="1000" b="1">
              <a:solidFill>
                <a:srgbClr val="18A999"/>
              </a:solidFill>
              <a:latin typeface="微软雅黑" panose="020B0503020204020204" charset="-122"/>
              <a:ea typeface="微软雅黑" panose="020B0503020204020204" charset="-122"/>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构建“候选生成—反馈优化</a:t>
            </a:r>
            <a:r>
              <a:rPr>
                <a:sym typeface="+mn-ea"/>
              </a:rPr>
              <a:t>—排序校准</a:t>
            </a:r>
            <a:r>
              <a:rPr sz="2700" b="1">
                <a:solidFill>
                  <a:srgbClr val="102A43"/>
                </a:solidFill>
              </a:rPr>
              <a:t>”的闭环识别流程</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矩形 3"/>
          <p:cNvSpPr>
            <a:spLocks noGrp="1"/>
          </p:cNvSpPr>
          <p:nvPr/>
        </p:nvSpPr>
        <p:spPr>
          <a:xfrm>
            <a:off x="857250" y="2286000"/>
            <a:ext cx="2894965" cy="361950"/>
          </a:xfrm>
          <a:prstGeom prst="rect">
            <a:avLst/>
          </a:prstGeom>
          <a:noFill/>
          <a:ln w="0">
            <a:noFill/>
            <a:prstDash val="solid"/>
          </a:ln>
        </p:spPr>
        <p:txBody>
          <a:bodyPr anchor="ctr"/>
          <a:lstStyle/>
          <a:p>
            <a:pPr algn="ctr">
              <a:buNone/>
              <a:defRPr sz="1800" b="1">
                <a:solidFill>
                  <a:srgbClr val="102A43"/>
                </a:solidFill>
              </a:defRPr>
            </a:pPr>
            <a:r>
              <a:rPr sz="1800" b="1">
                <a:solidFill>
                  <a:srgbClr val="102A43"/>
                </a:solidFill>
              </a:rPr>
              <a:t>输入航拍图像与文本提示</a:t>
            </a:r>
            <a:endParaRPr sz="1800" b="1">
              <a:solidFill>
                <a:srgbClr val="102A43"/>
              </a:solidFill>
            </a:endParaRPr>
          </a:p>
        </p:txBody>
      </p:sp>
      <p:sp>
        <p:nvSpPr>
          <p:cNvPr id="5" name="矩形 4"/>
          <p:cNvSpPr>
            <a:spLocks noGrp="1"/>
          </p:cNvSpPr>
          <p:nvPr/>
        </p:nvSpPr>
        <p:spPr>
          <a:xfrm>
            <a:off x="4799965" y="2286000"/>
            <a:ext cx="2381250" cy="361950"/>
          </a:xfrm>
          <a:prstGeom prst="rect">
            <a:avLst/>
          </a:prstGeom>
          <a:noFill/>
          <a:ln w="0">
            <a:noFill/>
            <a:prstDash val="solid"/>
          </a:ln>
        </p:spPr>
        <p:txBody>
          <a:bodyPr anchor="ctr"/>
          <a:lstStyle/>
          <a:p>
            <a:pPr algn="ctr">
              <a:buNone/>
              <a:defRPr sz="1800" b="1">
                <a:solidFill>
                  <a:srgbClr val="102A43"/>
                </a:solidFill>
              </a:defRPr>
            </a:pPr>
            <a:r>
              <a:rPr sz="1800" b="1">
                <a:solidFill>
                  <a:srgbClr val="102A43"/>
                </a:solidFill>
              </a:rPr>
              <a:t>提高小目标候选覆盖</a:t>
            </a:r>
            <a:endParaRPr sz="1800" b="1">
              <a:solidFill>
                <a:srgbClr val="102A43"/>
              </a:solidFill>
            </a:endParaRPr>
          </a:p>
        </p:txBody>
      </p:sp>
      <p:sp>
        <p:nvSpPr>
          <p:cNvPr id="6" name="矩形 5"/>
          <p:cNvSpPr>
            <a:spLocks noGrp="1"/>
          </p:cNvSpPr>
          <p:nvPr/>
        </p:nvSpPr>
        <p:spPr>
          <a:xfrm>
            <a:off x="8228965" y="2286000"/>
            <a:ext cx="3238500" cy="361950"/>
          </a:xfrm>
          <a:prstGeom prst="rect">
            <a:avLst/>
          </a:prstGeom>
          <a:noFill/>
          <a:ln w="0">
            <a:noFill/>
            <a:prstDash val="solid"/>
          </a:ln>
        </p:spPr>
        <p:txBody>
          <a:bodyPr anchor="ctr"/>
          <a:lstStyle/>
          <a:p>
            <a:pPr algn="ctr">
              <a:buNone/>
              <a:defRPr sz="1800" b="1">
                <a:solidFill>
                  <a:srgbClr val="102A43"/>
                </a:solidFill>
              </a:defRPr>
            </a:pPr>
            <a:r>
              <a:rPr sz="1800" b="1">
                <a:solidFill>
                  <a:srgbClr val="102A43"/>
                </a:solidFill>
              </a:rPr>
              <a:t>改善候选排序与输出质量</a:t>
            </a:r>
            <a:endParaRPr sz="1800" b="1">
              <a:solidFill>
                <a:srgbClr val="102A43"/>
              </a:solidFill>
            </a:endParaRPr>
          </a:p>
        </p:txBody>
      </p:sp>
      <p:sp>
        <p:nvSpPr>
          <p:cNvPr id="7" name="直接连接符 6"/>
          <p:cNvSpPr>
            <a:spLocks noGrp="1"/>
          </p:cNvSpPr>
          <p:nvPr/>
        </p:nvSpPr>
        <p:spPr>
          <a:xfrm>
            <a:off x="4085590" y="2476500"/>
            <a:ext cx="571500" cy="0"/>
          </a:xfrm>
          <a:prstGeom prst="line">
            <a:avLst/>
          </a:prstGeom>
          <a:ln w="38100">
            <a:solidFill>
              <a:srgbClr val="18A999"/>
            </a:solidFill>
            <a:prstDash val="solid"/>
          </a:ln>
        </p:spPr>
      </p:sp>
      <p:sp>
        <p:nvSpPr>
          <p:cNvPr id="8" name="直接连接符 7"/>
          <p:cNvSpPr>
            <a:spLocks noGrp="1"/>
          </p:cNvSpPr>
          <p:nvPr/>
        </p:nvSpPr>
        <p:spPr>
          <a:xfrm>
            <a:off x="7228840" y="2476500"/>
            <a:ext cx="762000" cy="0"/>
          </a:xfrm>
          <a:prstGeom prst="line">
            <a:avLst/>
          </a:prstGeom>
          <a:ln w="38100">
            <a:solidFill>
              <a:srgbClr val="18A999"/>
            </a:solidFill>
            <a:prstDash val="solid"/>
          </a:ln>
        </p:spPr>
      </p:sp>
      <p:sp>
        <p:nvSpPr>
          <p:cNvPr id="9" name="圆角矩形 8"/>
          <p:cNvSpPr>
            <a:spLocks noGrp="1"/>
          </p:cNvSpPr>
          <p:nvPr/>
        </p:nvSpPr>
        <p:spPr>
          <a:xfrm>
            <a:off x="1415415" y="2978785"/>
            <a:ext cx="1714500" cy="838200"/>
          </a:xfrm>
          <a:prstGeom prst="roundRect">
            <a:avLst>
              <a:gd name="adj" fmla="val 13636"/>
            </a:avLst>
          </a:prstGeom>
          <a:solidFill>
            <a:srgbClr val="E8F5F2"/>
          </a:solidFill>
          <a:ln w="0">
            <a:noFill/>
            <a:prstDash val="solid"/>
          </a:ln>
        </p:spPr>
      </p:sp>
      <p:sp>
        <p:nvSpPr>
          <p:cNvPr id="10" name="矩形 9"/>
          <p:cNvSpPr>
            <a:spLocks noGrp="1"/>
          </p:cNvSpPr>
          <p:nvPr/>
        </p:nvSpPr>
        <p:spPr>
          <a:xfrm>
            <a:off x="1415415" y="3140710"/>
            <a:ext cx="1714500" cy="476250"/>
          </a:xfrm>
          <a:prstGeom prst="rect">
            <a:avLst/>
          </a:prstGeom>
          <a:noFill/>
          <a:ln w="0">
            <a:noFill/>
            <a:prstDash val="solid"/>
          </a:ln>
        </p:spPr>
        <p:txBody>
          <a:bodyPr anchor="ctr"/>
          <a:lstStyle/>
          <a:p>
            <a:pPr algn="ctr">
              <a:buNone/>
              <a:defRPr sz="1725" b="1">
                <a:solidFill>
                  <a:srgbClr val="102A43"/>
                </a:solidFill>
              </a:defRPr>
            </a:pPr>
            <a:r>
              <a:rPr sz="1725" b="1">
                <a:solidFill>
                  <a:srgbClr val="102A43"/>
                </a:solidFill>
              </a:rPr>
              <a:t>开放词表</a:t>
            </a:r>
            <a:endParaRPr sz="1725" b="1">
              <a:solidFill>
                <a:srgbClr val="102A43"/>
              </a:solidFill>
            </a:endParaRPr>
          </a:p>
          <a:p>
            <a:pPr algn="ctr">
              <a:buNone/>
              <a:defRPr sz="1725" b="1">
                <a:solidFill>
                  <a:srgbClr val="102A43"/>
                </a:solidFill>
              </a:defRPr>
            </a:pPr>
            <a:r>
              <a:rPr sz="1725" b="1">
                <a:solidFill>
                  <a:srgbClr val="102A43"/>
                </a:solidFill>
              </a:rPr>
              <a:t>候选生成</a:t>
            </a:r>
            <a:endParaRPr sz="1725" b="1">
              <a:solidFill>
                <a:srgbClr val="102A43"/>
              </a:solidFill>
            </a:endParaRPr>
          </a:p>
        </p:txBody>
      </p:sp>
      <p:sp>
        <p:nvSpPr>
          <p:cNvPr id="11" name="圆角矩形 10"/>
          <p:cNvSpPr>
            <a:spLocks noGrp="1"/>
          </p:cNvSpPr>
          <p:nvPr/>
        </p:nvSpPr>
        <p:spPr>
          <a:xfrm>
            <a:off x="5160010" y="2994025"/>
            <a:ext cx="1714500" cy="838200"/>
          </a:xfrm>
          <a:prstGeom prst="roundRect">
            <a:avLst>
              <a:gd name="adj" fmla="val 13636"/>
            </a:avLst>
          </a:prstGeom>
          <a:solidFill>
            <a:srgbClr val="E9F4FD"/>
          </a:solidFill>
          <a:ln w="0">
            <a:noFill/>
            <a:prstDash val="solid"/>
          </a:ln>
        </p:spPr>
      </p:sp>
      <p:sp>
        <p:nvSpPr>
          <p:cNvPr id="12" name="矩形 11"/>
          <p:cNvSpPr>
            <a:spLocks noGrp="1"/>
          </p:cNvSpPr>
          <p:nvPr/>
        </p:nvSpPr>
        <p:spPr>
          <a:xfrm>
            <a:off x="5160010" y="3155950"/>
            <a:ext cx="1714500" cy="476250"/>
          </a:xfrm>
          <a:prstGeom prst="rect">
            <a:avLst/>
          </a:prstGeom>
          <a:noFill/>
          <a:ln w="0">
            <a:noFill/>
            <a:prstDash val="solid"/>
          </a:ln>
        </p:spPr>
        <p:txBody>
          <a:bodyPr anchor="ctr"/>
          <a:lstStyle/>
          <a:p>
            <a:pPr algn="ctr">
              <a:buNone/>
              <a:defRPr sz="1725" b="1">
                <a:solidFill>
                  <a:srgbClr val="102A43"/>
                </a:solidFill>
              </a:defRPr>
            </a:pPr>
            <a:r>
              <a:rPr>
                <a:sym typeface="+mn-ea"/>
              </a:rPr>
              <a:t>反馈式</a:t>
            </a:r>
            <a:r>
              <a:rPr sz="1725" b="1">
                <a:solidFill>
                  <a:srgbClr val="102A43"/>
                </a:solidFill>
              </a:rPr>
              <a:t>小目标</a:t>
            </a:r>
            <a:endParaRPr sz="1725" b="1">
              <a:solidFill>
                <a:srgbClr val="102A43"/>
              </a:solidFill>
            </a:endParaRPr>
          </a:p>
          <a:p>
            <a:pPr algn="ctr">
              <a:buNone/>
              <a:defRPr sz="1725" b="1">
                <a:solidFill>
                  <a:srgbClr val="102A43"/>
                </a:solidFill>
              </a:defRPr>
            </a:pPr>
            <a:r>
              <a:rPr sz="1725" b="1">
                <a:solidFill>
                  <a:srgbClr val="102A43"/>
                </a:solidFill>
              </a:rPr>
              <a:t>召回增强</a:t>
            </a:r>
            <a:endParaRPr sz="1725" b="1">
              <a:solidFill>
                <a:srgbClr val="102A43"/>
              </a:solidFill>
            </a:endParaRPr>
          </a:p>
        </p:txBody>
      </p:sp>
      <p:sp>
        <p:nvSpPr>
          <p:cNvPr id="13" name="圆角矩形 12"/>
          <p:cNvSpPr>
            <a:spLocks noGrp="1"/>
          </p:cNvSpPr>
          <p:nvPr/>
        </p:nvSpPr>
        <p:spPr>
          <a:xfrm>
            <a:off x="8760460" y="2981325"/>
            <a:ext cx="2095500" cy="838200"/>
          </a:xfrm>
          <a:prstGeom prst="roundRect">
            <a:avLst>
              <a:gd name="adj" fmla="val 13636"/>
            </a:avLst>
          </a:prstGeom>
          <a:solidFill>
            <a:srgbClr val="FCEFE2"/>
          </a:solidFill>
          <a:ln w="0">
            <a:noFill/>
            <a:prstDash val="solid"/>
          </a:ln>
        </p:spPr>
      </p:sp>
      <p:sp>
        <p:nvSpPr>
          <p:cNvPr id="14" name="矩形 13"/>
          <p:cNvSpPr>
            <a:spLocks noGrp="1"/>
          </p:cNvSpPr>
          <p:nvPr/>
        </p:nvSpPr>
        <p:spPr>
          <a:xfrm>
            <a:off x="8760460" y="3143250"/>
            <a:ext cx="2095500" cy="476250"/>
          </a:xfrm>
          <a:prstGeom prst="rect">
            <a:avLst/>
          </a:prstGeom>
          <a:noFill/>
          <a:ln w="0">
            <a:noFill/>
            <a:prstDash val="solid"/>
          </a:ln>
        </p:spPr>
        <p:txBody>
          <a:bodyPr anchor="ctr"/>
          <a:lstStyle/>
          <a:p>
            <a:pPr algn="ctr">
              <a:buNone/>
              <a:defRPr sz="1725" b="1">
                <a:solidFill>
                  <a:srgbClr val="102A43"/>
                </a:solidFill>
              </a:defRPr>
            </a:pPr>
            <a:r>
              <a:rPr sz="1725" b="1">
                <a:solidFill>
                  <a:srgbClr val="102A43"/>
                </a:solidFill>
              </a:rPr>
              <a:t>富元信息融合</a:t>
            </a:r>
            <a:endParaRPr sz="1725" b="1">
              <a:solidFill>
                <a:srgbClr val="102A43"/>
              </a:solidFill>
            </a:endParaRPr>
          </a:p>
          <a:p>
            <a:pPr algn="ctr">
              <a:buNone/>
              <a:defRPr sz="1725" b="1">
                <a:solidFill>
                  <a:srgbClr val="102A43"/>
                </a:solidFill>
              </a:defRPr>
            </a:pPr>
            <a:r>
              <a:rPr sz="1725" b="1">
                <a:solidFill>
                  <a:srgbClr val="102A43"/>
                </a:solidFill>
              </a:rPr>
              <a:t>校准</a:t>
            </a:r>
            <a:endParaRPr sz="1725" b="1">
              <a:solidFill>
                <a:srgbClr val="102A43"/>
              </a:solidFill>
            </a:endParaRPr>
          </a:p>
        </p:txBody>
      </p:sp>
      <p:sp>
        <p:nvSpPr>
          <p:cNvPr id="15" name="矩形 14"/>
          <p:cNvSpPr>
            <a:spLocks noGrp="1"/>
          </p:cNvSpPr>
          <p:nvPr/>
        </p:nvSpPr>
        <p:spPr>
          <a:xfrm>
            <a:off x="1647190" y="4796790"/>
            <a:ext cx="8686800" cy="400050"/>
          </a:xfrm>
          <a:prstGeom prst="rect">
            <a:avLst/>
          </a:prstGeom>
          <a:noFill/>
          <a:ln w="0">
            <a:noFill/>
            <a:prstDash val="solid"/>
          </a:ln>
        </p:spPr>
        <p:txBody>
          <a:bodyPr anchor="ctr"/>
          <a:lstStyle/>
          <a:p>
            <a:pPr algn="ctr">
              <a:buNone/>
              <a:defRPr sz="1950" b="1">
                <a:solidFill>
                  <a:srgbClr val="18A999"/>
                </a:solidFill>
              </a:defRPr>
            </a:pPr>
            <a:r>
              <a:rPr sz="1950" b="1">
                <a:solidFill>
                  <a:srgbClr val="18A999"/>
                </a:solidFill>
              </a:rPr>
              <a:t>设计原则：冻结基础模型，学习轻量级候选框后处理模块</a:t>
            </a:r>
            <a:endParaRPr sz="1950" b="1">
              <a:solidFill>
                <a:srgbClr val="18A999"/>
              </a:solidFill>
            </a:endParaRPr>
          </a:p>
        </p:txBody>
      </p:sp>
      <p:sp>
        <p:nvSpPr>
          <p:cNvPr id="16" name="矩形 15"/>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7" name="矩形 16"/>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3</a:t>
            </a:r>
            <a:endParaRPr lang="en-US" sz="900" b="1">
              <a:solidFill>
                <a:srgbClr val="18A999"/>
              </a:solidFill>
            </a:endParaRPr>
          </a:p>
        </p:txBody>
      </p:sp>
      <p:sp>
        <p:nvSpPr>
          <p:cNvPr id="19" name="矩形 18"/>
          <p:cNvSpPr>
            <a:spLocks noGrp="1"/>
          </p:cNvSpPr>
          <p:nvPr/>
        </p:nvSpPr>
        <p:spPr>
          <a:xfrm>
            <a:off x="1453515" y="4055110"/>
            <a:ext cx="323850" cy="38100"/>
          </a:xfrm>
          <a:prstGeom prst="rect">
            <a:avLst/>
          </a:prstGeom>
          <a:solidFill>
            <a:srgbClr val="2AAE9B"/>
          </a:solidFill>
          <a:ln w="0">
            <a:solidFill>
              <a:srgbClr val="2AAE9B"/>
            </a:solidFill>
            <a:prstDash val="solid"/>
          </a:ln>
        </p:spPr>
      </p:sp>
      <p:sp>
        <p:nvSpPr>
          <p:cNvPr id="20" name="矩形 19"/>
          <p:cNvSpPr>
            <a:spLocks noGrp="1"/>
          </p:cNvSpPr>
          <p:nvPr/>
        </p:nvSpPr>
        <p:spPr>
          <a:xfrm>
            <a:off x="1415415" y="4131310"/>
            <a:ext cx="1714500" cy="266700"/>
          </a:xfrm>
          <a:prstGeom prst="rect">
            <a:avLst/>
          </a:prstGeom>
          <a:noFill/>
          <a:ln w="0">
            <a:noFill/>
            <a:prstDash val="solid"/>
          </a:ln>
        </p:spPr>
        <p:txBody>
          <a:bodyPr anchor="ctr"/>
          <a:lstStyle/>
          <a:p>
            <a:pPr>
              <a:buNone/>
              <a:defRPr sz="1125" b="1">
                <a:solidFill>
                  <a:srgbClr val="64748B"/>
                </a:solidFill>
              </a:defRPr>
            </a:pPr>
            <a:r>
              <a:rPr sz="1200" b="1">
                <a:solidFill>
                  <a:srgbClr val="64748B"/>
                </a:solidFill>
              </a:rPr>
              <a:t>基础类别 + 场景别名</a:t>
            </a:r>
            <a:endParaRPr sz="1200" b="1">
              <a:solidFill>
                <a:srgbClr val="64748B"/>
              </a:solidFill>
            </a:endParaRPr>
          </a:p>
        </p:txBody>
      </p:sp>
      <p:sp>
        <p:nvSpPr>
          <p:cNvPr id="21" name="矩形 20"/>
          <p:cNvSpPr>
            <a:spLocks noGrp="1"/>
          </p:cNvSpPr>
          <p:nvPr/>
        </p:nvSpPr>
        <p:spPr>
          <a:xfrm>
            <a:off x="5188585" y="4070350"/>
            <a:ext cx="323850" cy="38100"/>
          </a:xfrm>
          <a:prstGeom prst="rect">
            <a:avLst/>
          </a:prstGeom>
          <a:solidFill>
            <a:srgbClr val="3988C9"/>
          </a:solidFill>
          <a:ln w="0">
            <a:solidFill>
              <a:srgbClr val="3988C9"/>
            </a:solidFill>
            <a:prstDash val="solid"/>
          </a:ln>
        </p:spPr>
      </p:sp>
      <p:sp>
        <p:nvSpPr>
          <p:cNvPr id="22" name="矩形 21"/>
          <p:cNvSpPr>
            <a:spLocks noGrp="1"/>
          </p:cNvSpPr>
          <p:nvPr/>
        </p:nvSpPr>
        <p:spPr>
          <a:xfrm>
            <a:off x="5150485" y="4221480"/>
            <a:ext cx="2381250" cy="266700"/>
          </a:xfrm>
          <a:prstGeom prst="rect">
            <a:avLst/>
          </a:prstGeom>
          <a:noFill/>
          <a:ln w="0">
            <a:noFill/>
            <a:prstDash val="solid"/>
          </a:ln>
        </p:spPr>
        <p:txBody>
          <a:bodyPr anchor="ctr"/>
          <a:lstStyle/>
          <a:p>
            <a:pPr>
              <a:buNone/>
              <a:defRPr sz="1125" b="1">
                <a:solidFill>
                  <a:srgbClr val="64748B"/>
                </a:solidFill>
              </a:defRPr>
            </a:pPr>
            <a:r>
              <a:rPr sz="1125" b="1">
                <a:solidFill>
                  <a:srgbClr val="64748B"/>
                </a:solidFill>
              </a:rPr>
              <a:t>候选框 + 类别 + 分数 + 来源</a:t>
            </a:r>
            <a:br>
              <a:rPr sz="1125" b="1">
                <a:solidFill>
                  <a:srgbClr val="64748B"/>
                </a:solidFill>
              </a:rPr>
            </a:br>
            <a:r>
              <a:rPr lang="en-US" sz="1125" b="1">
                <a:solidFill>
                  <a:srgbClr val="64748B"/>
                </a:solidFill>
              </a:rPr>
              <a:t>RL_loop</a:t>
            </a:r>
            <a:endParaRPr lang="en-US" sz="1125" b="1">
              <a:solidFill>
                <a:srgbClr val="64748B"/>
              </a:solidFill>
            </a:endParaRPr>
          </a:p>
        </p:txBody>
      </p:sp>
      <p:sp>
        <p:nvSpPr>
          <p:cNvPr id="23" name="矩形 22"/>
          <p:cNvSpPr>
            <a:spLocks noGrp="1"/>
          </p:cNvSpPr>
          <p:nvPr/>
        </p:nvSpPr>
        <p:spPr>
          <a:xfrm>
            <a:off x="8798560" y="4057650"/>
            <a:ext cx="323850" cy="38100"/>
          </a:xfrm>
          <a:prstGeom prst="rect">
            <a:avLst/>
          </a:prstGeom>
          <a:solidFill>
            <a:srgbClr val="F49A45"/>
          </a:solidFill>
          <a:ln w="0">
            <a:solidFill>
              <a:srgbClr val="F49A45"/>
            </a:solidFill>
            <a:prstDash val="solid"/>
          </a:ln>
        </p:spPr>
      </p:sp>
      <p:sp>
        <p:nvSpPr>
          <p:cNvPr id="24" name="矩形 23"/>
          <p:cNvSpPr>
            <a:spLocks noGrp="1"/>
          </p:cNvSpPr>
          <p:nvPr/>
        </p:nvSpPr>
        <p:spPr>
          <a:xfrm>
            <a:off x="8760460" y="4133850"/>
            <a:ext cx="2095500" cy="266700"/>
          </a:xfrm>
          <a:prstGeom prst="rect">
            <a:avLst/>
          </a:prstGeom>
          <a:noFill/>
          <a:ln w="0">
            <a:noFill/>
            <a:prstDash val="solid"/>
          </a:ln>
        </p:spPr>
        <p:txBody>
          <a:bodyPr anchor="ctr"/>
          <a:lstStyle/>
          <a:p>
            <a:pPr>
              <a:buNone/>
              <a:defRPr sz="1125" b="1">
                <a:solidFill>
                  <a:srgbClr val="64748B"/>
                </a:solidFill>
              </a:defRPr>
            </a:pPr>
            <a:r>
              <a:rPr sz="1125" b="1">
                <a:solidFill>
                  <a:srgbClr val="64748B"/>
                </a:solidFill>
              </a:rPr>
              <a:t>重排序分数 + 最终检测输出</a:t>
            </a:r>
            <a:endParaRPr sz="1125" b="1">
              <a:solidFill>
                <a:srgbClr val="64748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矩形 14"/>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1000" b="1">
                <a:solidFill>
                  <a:srgbClr val="18A999"/>
                </a:solidFill>
                <a:latin typeface="微软雅黑" panose="020B0503020204020204" charset="-122"/>
                <a:ea typeface="微软雅黑" panose="020B0503020204020204" charset="-122"/>
              </a:rPr>
              <a:t>BACKGROUND</a:t>
            </a:r>
            <a:endParaRPr sz="1000" b="1">
              <a:solidFill>
                <a:srgbClr val="18A999"/>
              </a:solidFill>
              <a:latin typeface="微软雅黑" panose="020B0503020204020204" charset="-122"/>
              <a:ea typeface="微软雅黑" panose="020B0503020204020204" charset="-122"/>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航拍识别需求增长，但小目标仍是核心瓶颈</a:t>
            </a:r>
            <a:endParaRPr sz="2700" b="1">
              <a:solidFill>
                <a:srgbClr val="102A43"/>
              </a:solidFill>
            </a:endParaRPr>
          </a:p>
        </p:txBody>
      </p:sp>
      <p:sp>
        <p:nvSpPr>
          <p:cNvPr id="3" name="矩形 2"/>
          <p:cNvSpPr>
            <a:spLocks noGrp="1"/>
          </p:cNvSpPr>
          <p:nvPr/>
        </p:nvSpPr>
        <p:spPr>
          <a:xfrm>
            <a:off x="685800" y="1181100"/>
            <a:ext cx="10477500" cy="266700"/>
          </a:xfrm>
          <a:prstGeom prst="rect">
            <a:avLst/>
          </a:prstGeom>
          <a:noFill/>
          <a:ln w="0">
            <a:noFill/>
            <a:prstDash val="solid"/>
          </a:ln>
        </p:spPr>
        <p:txBody>
          <a:bodyPr anchor="ctr"/>
          <a:lstStyle/>
          <a:p>
            <a:pPr algn="l">
              <a:buNone/>
              <a:defRPr sz="1275" b="0">
                <a:solidFill>
                  <a:srgbClr val="64748B"/>
                </a:solidFill>
              </a:defRPr>
            </a:pPr>
            <a:r>
              <a:rPr sz="1275" b="0">
                <a:solidFill>
                  <a:srgbClr val="64748B"/>
                </a:solidFill>
              </a:rPr>
              <a:t>面向交通监测、巡检和低空遥感中的视觉定位任务</a:t>
            </a:r>
            <a:endParaRPr sz="1275" b="0">
              <a:solidFill>
                <a:srgbClr val="64748B"/>
              </a:solidFill>
            </a:endParaRPr>
          </a:p>
        </p:txBody>
      </p:sp>
      <p:sp>
        <p:nvSpPr>
          <p:cNvPr id="4" name="直接连接符 3"/>
          <p:cNvSpPr>
            <a:spLocks noGrp="1"/>
          </p:cNvSpPr>
          <p:nvPr/>
        </p:nvSpPr>
        <p:spPr>
          <a:xfrm>
            <a:off x="685800" y="1543050"/>
            <a:ext cx="10820400" cy="0"/>
          </a:xfrm>
          <a:prstGeom prst="line">
            <a:avLst/>
          </a:prstGeom>
          <a:ln w="9525">
            <a:solidFill>
              <a:srgbClr val="D7E1EA"/>
            </a:solidFill>
            <a:prstDash val="solid"/>
          </a:ln>
        </p:spPr>
      </p:sp>
      <p:sp>
        <p:nvSpPr>
          <p:cNvPr id="6" name="矩形 5"/>
          <p:cNvSpPr>
            <a:spLocks noGrp="1"/>
          </p:cNvSpPr>
          <p:nvPr/>
        </p:nvSpPr>
        <p:spPr>
          <a:xfrm>
            <a:off x="7680325" y="2714625"/>
            <a:ext cx="3714750" cy="285750"/>
          </a:xfrm>
          <a:prstGeom prst="rect">
            <a:avLst/>
          </a:prstGeom>
          <a:noFill/>
          <a:ln w="0">
            <a:noFill/>
            <a:prstDash val="solid"/>
          </a:ln>
        </p:spPr>
        <p:txBody>
          <a:bodyPr anchor="ctr"/>
          <a:lstStyle/>
          <a:p>
            <a:pPr algn="l">
              <a:buNone/>
              <a:defRPr sz="1875" b="1">
                <a:solidFill>
                  <a:srgbClr val="102A43"/>
                </a:solidFill>
              </a:defRPr>
            </a:pPr>
            <a:r>
              <a:rPr sz="1875" b="1">
                <a:solidFill>
                  <a:srgbClr val="102A43"/>
                </a:solidFill>
              </a:rPr>
              <a:t>航拍场景的三类典型困难</a:t>
            </a:r>
            <a:endParaRPr sz="1875" b="1">
              <a:solidFill>
                <a:srgbClr val="102A43"/>
              </a:solidFill>
            </a:endParaRPr>
          </a:p>
        </p:txBody>
      </p:sp>
      <p:sp>
        <p:nvSpPr>
          <p:cNvPr id="7" name="圆角矩形 6"/>
          <p:cNvSpPr>
            <a:spLocks noGrp="1"/>
          </p:cNvSpPr>
          <p:nvPr/>
        </p:nvSpPr>
        <p:spPr>
          <a:xfrm>
            <a:off x="7680325" y="3422015"/>
            <a:ext cx="95250" cy="95250"/>
          </a:xfrm>
          <a:prstGeom prst="roundRect">
            <a:avLst>
              <a:gd name="adj" fmla="val 50000"/>
            </a:avLst>
          </a:prstGeom>
          <a:solidFill>
            <a:srgbClr val="18A999"/>
          </a:solidFill>
          <a:ln w="0">
            <a:noFill/>
            <a:prstDash val="solid"/>
          </a:ln>
        </p:spPr>
      </p:sp>
      <p:sp>
        <p:nvSpPr>
          <p:cNvPr id="8" name="矩形 7"/>
          <p:cNvSpPr>
            <a:spLocks noGrp="1"/>
          </p:cNvSpPr>
          <p:nvPr/>
        </p:nvSpPr>
        <p:spPr>
          <a:xfrm>
            <a:off x="7908925" y="3238500"/>
            <a:ext cx="3486150" cy="457200"/>
          </a:xfrm>
          <a:prstGeom prst="rect">
            <a:avLst/>
          </a:prstGeom>
          <a:noFill/>
          <a:ln w="0">
            <a:noFill/>
            <a:prstDash val="solid"/>
          </a:ln>
        </p:spPr>
        <p:txBody>
          <a:bodyPr anchor="ctr"/>
          <a:lstStyle/>
          <a:p>
            <a:pPr algn="l">
              <a:buNone/>
              <a:defRPr sz="1575" b="0">
                <a:solidFill>
                  <a:srgbClr val="152536"/>
                </a:solidFill>
              </a:defRPr>
            </a:pPr>
            <a:r>
              <a:rPr sz="1575" b="0">
                <a:solidFill>
                  <a:srgbClr val="152536"/>
                </a:solidFill>
              </a:rPr>
              <a:t>高空俯视导致目标像素占比低</a:t>
            </a:r>
            <a:endParaRPr sz="1575" b="0">
              <a:solidFill>
                <a:srgbClr val="152536"/>
              </a:solidFill>
            </a:endParaRPr>
          </a:p>
        </p:txBody>
      </p:sp>
      <p:sp>
        <p:nvSpPr>
          <p:cNvPr id="9" name="圆角矩形 8"/>
          <p:cNvSpPr>
            <a:spLocks noGrp="1"/>
          </p:cNvSpPr>
          <p:nvPr/>
        </p:nvSpPr>
        <p:spPr>
          <a:xfrm>
            <a:off x="7680325" y="3938905"/>
            <a:ext cx="95250" cy="95250"/>
          </a:xfrm>
          <a:prstGeom prst="roundRect">
            <a:avLst>
              <a:gd name="adj" fmla="val 50000"/>
            </a:avLst>
          </a:prstGeom>
          <a:solidFill>
            <a:srgbClr val="18A999"/>
          </a:solidFill>
          <a:ln w="0">
            <a:noFill/>
            <a:prstDash val="solid"/>
          </a:ln>
        </p:spPr>
      </p:sp>
      <p:sp>
        <p:nvSpPr>
          <p:cNvPr id="10" name="矩形 9"/>
          <p:cNvSpPr>
            <a:spLocks noGrp="1"/>
          </p:cNvSpPr>
          <p:nvPr/>
        </p:nvSpPr>
        <p:spPr>
          <a:xfrm>
            <a:off x="7908925" y="3790950"/>
            <a:ext cx="3486150" cy="457200"/>
          </a:xfrm>
          <a:prstGeom prst="rect">
            <a:avLst/>
          </a:prstGeom>
          <a:noFill/>
          <a:ln w="0">
            <a:noFill/>
            <a:prstDash val="solid"/>
          </a:ln>
        </p:spPr>
        <p:txBody>
          <a:bodyPr anchor="ctr"/>
          <a:lstStyle/>
          <a:p>
            <a:pPr algn="l">
              <a:buNone/>
              <a:defRPr sz="1575" b="0">
                <a:solidFill>
                  <a:srgbClr val="152536"/>
                </a:solidFill>
              </a:defRPr>
            </a:pPr>
            <a:r>
              <a:rPr sz="1575" b="0">
                <a:solidFill>
                  <a:srgbClr val="152536"/>
                </a:solidFill>
              </a:rPr>
              <a:t>密集分布与遮挡增加定位难度</a:t>
            </a:r>
            <a:endParaRPr sz="1575" b="0">
              <a:solidFill>
                <a:srgbClr val="152536"/>
              </a:solidFill>
            </a:endParaRPr>
          </a:p>
        </p:txBody>
      </p:sp>
      <p:sp>
        <p:nvSpPr>
          <p:cNvPr id="11" name="圆角矩形 10"/>
          <p:cNvSpPr>
            <a:spLocks noGrp="1"/>
          </p:cNvSpPr>
          <p:nvPr/>
        </p:nvSpPr>
        <p:spPr>
          <a:xfrm>
            <a:off x="7680325" y="4562475"/>
            <a:ext cx="95250" cy="95250"/>
          </a:xfrm>
          <a:prstGeom prst="roundRect">
            <a:avLst>
              <a:gd name="adj" fmla="val 50000"/>
            </a:avLst>
          </a:prstGeom>
          <a:solidFill>
            <a:srgbClr val="18A999"/>
          </a:solidFill>
          <a:ln w="0">
            <a:noFill/>
            <a:prstDash val="solid"/>
          </a:ln>
        </p:spPr>
      </p:sp>
      <p:sp>
        <p:nvSpPr>
          <p:cNvPr id="12" name="矩形 11"/>
          <p:cNvSpPr>
            <a:spLocks noGrp="1"/>
          </p:cNvSpPr>
          <p:nvPr/>
        </p:nvSpPr>
        <p:spPr>
          <a:xfrm>
            <a:off x="7908925" y="4343400"/>
            <a:ext cx="3486150" cy="457200"/>
          </a:xfrm>
          <a:prstGeom prst="rect">
            <a:avLst/>
          </a:prstGeom>
          <a:noFill/>
          <a:ln w="0">
            <a:noFill/>
            <a:prstDash val="solid"/>
          </a:ln>
        </p:spPr>
        <p:txBody>
          <a:bodyPr anchor="ctr"/>
          <a:lstStyle/>
          <a:p>
            <a:pPr algn="l">
              <a:buNone/>
              <a:defRPr sz="1575" b="0">
                <a:solidFill>
                  <a:srgbClr val="152536"/>
                </a:solidFill>
              </a:defRPr>
            </a:pPr>
            <a:r>
              <a:rPr sz="1575" b="0">
                <a:solidFill>
                  <a:srgbClr val="152536"/>
                </a:solidFill>
              </a:rPr>
              <a:t>相近类别外观差异被进一步压缩</a:t>
            </a:r>
            <a:endParaRPr sz="1575" b="0">
              <a:solidFill>
                <a:srgbClr val="152536"/>
              </a:solidFill>
            </a:endParaRPr>
          </a:p>
        </p:txBody>
      </p:sp>
      <p:sp>
        <p:nvSpPr>
          <p:cNvPr id="13" name="矩形 12"/>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4" name="矩形 13"/>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02</a:t>
            </a:r>
            <a:endParaRPr sz="900" b="1">
              <a:solidFill>
                <a:srgbClr val="18A999"/>
              </a:solidFill>
            </a:endParaRPr>
          </a:p>
        </p:txBody>
      </p:sp>
      <p:pic>
        <p:nvPicPr>
          <p:cNvPr id="5" name="图片 4" descr="original_0000193_01705_d_0000112"/>
          <p:cNvPicPr>
            <a:picLocks noChangeAspect="1"/>
          </p:cNvPicPr>
          <p:nvPr/>
        </p:nvPicPr>
        <p:blipFill>
          <a:blip r:embed="rId1"/>
          <a:stretch>
            <a:fillRect/>
          </a:stretch>
        </p:blipFill>
        <p:spPr>
          <a:xfrm>
            <a:off x="506095" y="2387600"/>
            <a:ext cx="5840095" cy="3285490"/>
          </a:xfrm>
          <a:prstGeom prst="rect">
            <a:avLst/>
          </a:prstGeom>
        </p:spPr>
      </p:pic>
      <p:pic>
        <p:nvPicPr>
          <p:cNvPr id="16" name="图片 15" descr="zoomed_0000193_01705_d_0000112"/>
          <p:cNvPicPr>
            <a:picLocks noChangeAspect="1"/>
          </p:cNvPicPr>
          <p:nvPr/>
        </p:nvPicPr>
        <p:blipFill>
          <a:blip r:embed="rId2"/>
          <a:srcRect r="66979" b="4700"/>
          <a:stretch>
            <a:fillRect/>
          </a:stretch>
        </p:blipFill>
        <p:spPr>
          <a:xfrm>
            <a:off x="4164965" y="1657350"/>
            <a:ext cx="3131820" cy="3285490"/>
          </a:xfrm>
          <a:prstGeom prst="rect">
            <a:avLst/>
          </a:prstGeom>
          <a:ln w="38100">
            <a:solidFill>
              <a:schemeClr val="bg1"/>
            </a:solidFill>
          </a:ln>
        </p:spPr>
      </p:pic>
      <p:cxnSp>
        <p:nvCxnSpPr>
          <p:cNvPr id="17" name="直接连接符 16"/>
          <p:cNvCxnSpPr/>
          <p:nvPr/>
        </p:nvCxnSpPr>
        <p:spPr>
          <a:xfrm>
            <a:off x="2207260" y="4220845"/>
            <a:ext cx="1944370" cy="792480"/>
          </a:xfrm>
          <a:prstGeom prst="line">
            <a:avLst/>
          </a:prstGeom>
          <a:ln w="31750" cap="rnd">
            <a:solidFill>
              <a:srgbClr val="FF0000"/>
            </a:solidFill>
            <a:round/>
          </a:ln>
        </p:spPr>
        <p:style>
          <a:lnRef idx="0">
            <a:srgbClr val="FFFFFF"/>
          </a:lnRef>
          <a:fillRef idx="0">
            <a:srgbClr val="FFFFFF"/>
          </a:fillRef>
          <a:effectRef idx="0">
            <a:srgbClr val="FFFFFF"/>
          </a:effectRef>
          <a:fontRef idx="minor">
            <a:schemeClr val="tx1"/>
          </a:fontRef>
        </p:style>
      </p:cxnSp>
      <p:cxnSp>
        <p:nvCxnSpPr>
          <p:cNvPr id="18" name="直接连接符 17"/>
          <p:cNvCxnSpPr/>
          <p:nvPr/>
        </p:nvCxnSpPr>
        <p:spPr>
          <a:xfrm flipV="1">
            <a:off x="2207260" y="1700530"/>
            <a:ext cx="1944370" cy="1376045"/>
          </a:xfrm>
          <a:prstGeom prst="line">
            <a:avLst/>
          </a:prstGeom>
          <a:ln w="31750" cap="rnd">
            <a:solidFill>
              <a:srgbClr val="FF0000"/>
            </a:solidFill>
            <a:roun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1000" b="1">
                <a:solidFill>
                  <a:srgbClr val="18A999"/>
                </a:solidFill>
                <a:latin typeface="微软雅黑" panose="020B0503020204020204" charset="-122"/>
                <a:ea typeface="微软雅黑" panose="020B0503020204020204" charset="-122"/>
              </a:rPr>
              <a:t>FRAMEWORK</a:t>
            </a:r>
            <a:endParaRPr sz="1000" b="1">
              <a:solidFill>
                <a:srgbClr val="18A999"/>
              </a:solidFill>
              <a:latin typeface="微软雅黑" panose="020B0503020204020204" charset="-122"/>
              <a:ea typeface="微软雅黑" panose="020B0503020204020204" charset="-122"/>
            </a:endParaRPr>
          </a:p>
        </p:txBody>
      </p:sp>
      <p:sp>
        <p:nvSpPr>
          <p:cNvPr id="3" name="直接连接符 2"/>
          <p:cNvSpPr>
            <a:spLocks noGrp="1"/>
          </p:cNvSpPr>
          <p:nvPr/>
        </p:nvSpPr>
        <p:spPr>
          <a:xfrm>
            <a:off x="695325" y="765175"/>
            <a:ext cx="10820400" cy="0"/>
          </a:xfrm>
          <a:prstGeom prst="line">
            <a:avLst/>
          </a:prstGeom>
          <a:ln w="9525">
            <a:solidFill>
              <a:srgbClr val="D7E1EA"/>
            </a:solidFill>
            <a:prstDash val="solid"/>
          </a:ln>
        </p:spPr>
      </p:sp>
      <p:sp>
        <p:nvSpPr>
          <p:cNvPr id="5" name="矩形 4"/>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6" name="矩形 5"/>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4</a:t>
            </a:r>
            <a:endParaRPr lang="en-US" sz="900" b="1">
              <a:solidFill>
                <a:srgbClr val="18A999"/>
              </a:solidFill>
            </a:endParaRPr>
          </a:p>
        </p:txBody>
      </p:sp>
      <p:pic>
        <p:nvPicPr>
          <p:cNvPr id="2" name="图片 1" descr="图片8"/>
          <p:cNvPicPr>
            <a:picLocks noChangeAspect="1"/>
          </p:cNvPicPr>
          <p:nvPr/>
        </p:nvPicPr>
        <p:blipFill>
          <a:blip r:embed="rId1"/>
          <a:stretch>
            <a:fillRect/>
          </a:stretch>
        </p:blipFill>
        <p:spPr>
          <a:xfrm>
            <a:off x="1631315" y="97790"/>
            <a:ext cx="9185275" cy="64173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latin typeface="微软雅黑" panose="020B0503020204020204" charset="-122"/>
                <a:ea typeface="微软雅黑" panose="020B0503020204020204" charset="-122"/>
              </a:rPr>
              <a:t>CANDIDATE GENERATION</a:t>
            </a:r>
            <a:endParaRPr sz="975" b="1">
              <a:solidFill>
                <a:srgbClr val="18A999"/>
              </a:solidFill>
              <a:latin typeface="微软雅黑" panose="020B0503020204020204" charset="-122"/>
              <a:ea typeface="微软雅黑" panose="020B0503020204020204" charset="-122"/>
            </a:endParaRPr>
          </a:p>
        </p:txBody>
      </p:sp>
      <p:sp>
        <p:nvSpPr>
          <p:cNvPr id="2" name="矩形 1"/>
          <p:cNvSpPr>
            <a:spLocks noGrp="1"/>
          </p:cNvSpPr>
          <p:nvPr/>
        </p:nvSpPr>
        <p:spPr>
          <a:xfrm>
            <a:off x="66675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语义扩展和动作空间生</a:t>
            </a:r>
            <a:r>
              <a:rPr lang="zh-CN" sz="2700" b="1">
                <a:solidFill>
                  <a:srgbClr val="102A43"/>
                </a:solidFill>
              </a:rPr>
              <a:t>成</a:t>
            </a:r>
            <a:endParaRPr lang="zh-CN" sz="2700" b="1">
              <a:solidFill>
                <a:srgbClr val="102A43"/>
              </a:solidFill>
            </a:endParaRPr>
          </a:p>
        </p:txBody>
      </p:sp>
      <p:sp>
        <p:nvSpPr>
          <p:cNvPr id="3" name="直接连接符 2"/>
          <p:cNvSpPr>
            <a:spLocks noGrp="1"/>
          </p:cNvSpPr>
          <p:nvPr/>
        </p:nvSpPr>
        <p:spPr>
          <a:xfrm>
            <a:off x="623570" y="1268730"/>
            <a:ext cx="10820400" cy="0"/>
          </a:xfrm>
          <a:prstGeom prst="line">
            <a:avLst/>
          </a:prstGeom>
          <a:ln w="9525">
            <a:solidFill>
              <a:srgbClr val="D7E1EA"/>
            </a:solidFill>
            <a:prstDash val="solid"/>
          </a:ln>
        </p:spPr>
      </p:sp>
      <p:sp>
        <p:nvSpPr>
          <p:cNvPr id="18" name="矩形 17"/>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9" name="矩形 18"/>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5</a:t>
            </a:r>
            <a:endParaRPr lang="en-US" sz="900" b="1">
              <a:solidFill>
                <a:srgbClr val="18A999"/>
              </a:solidFill>
            </a:endParaRPr>
          </a:p>
        </p:txBody>
      </p:sp>
      <p:sp>
        <p:nvSpPr>
          <p:cNvPr id="4" name="文本框 3"/>
          <p:cNvSpPr txBox="1"/>
          <p:nvPr/>
        </p:nvSpPr>
        <p:spPr>
          <a:xfrm>
            <a:off x="685800" y="2204720"/>
            <a:ext cx="3369310" cy="1086485"/>
          </a:xfrm>
          <a:prstGeom prst="rect">
            <a:avLst/>
          </a:prstGeom>
        </p:spPr>
        <p:txBody>
          <a:bodyPr>
            <a:noAutofit/>
          </a:bodyPr>
          <a:p>
            <a:pPr marL="0" indent="0" algn="l"/>
            <a:r>
              <a:rPr lang="en-US" altLang="zh-CN" sz="2400" b="1" i="0">
                <a:solidFill>
                  <a:srgbClr val="555555"/>
                </a:solidFill>
                <a:latin typeface="Optima-Regular"/>
                <a:ea typeface="Optima-Regular"/>
              </a:rPr>
              <a:t>Query</a:t>
            </a:r>
            <a:endParaRPr lang="en-US" altLang="zh-CN" sz="2400" b="1" i="0">
              <a:solidFill>
                <a:srgbClr val="555555"/>
              </a:solidFill>
              <a:latin typeface="Optima-Regular"/>
              <a:ea typeface="Optima-Regular"/>
            </a:endParaRPr>
          </a:p>
          <a:p>
            <a:pPr marL="0" indent="0" algn="l"/>
            <a:r>
              <a:rPr lang="en-US" altLang="zh-CN" sz="1600" b="0" i="0">
                <a:solidFill>
                  <a:srgbClr val="555555"/>
                </a:solidFill>
                <a:latin typeface="Optima-Regular"/>
                <a:ea typeface="Optima-Regular"/>
              </a:rPr>
              <a:t>A black-clad cyclist is crossing the intersection. There is a red tricycle at the top left.</a:t>
            </a:r>
            <a:endParaRPr lang="en-US" altLang="zh-CN" sz="1600" b="0" i="0">
              <a:solidFill>
                <a:srgbClr val="555555"/>
              </a:solidFill>
              <a:latin typeface="Optima-Regular"/>
              <a:ea typeface="Optima-Regular"/>
            </a:endParaRPr>
          </a:p>
        </p:txBody>
      </p:sp>
      <p:cxnSp>
        <p:nvCxnSpPr>
          <p:cNvPr id="7" name="直接箭头连接符 6"/>
          <p:cNvCxnSpPr/>
          <p:nvPr/>
        </p:nvCxnSpPr>
        <p:spPr>
          <a:xfrm>
            <a:off x="4439920" y="3068955"/>
            <a:ext cx="20161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6600190" y="1508760"/>
            <a:ext cx="5318125" cy="3909695"/>
          </a:xfrm>
          <a:prstGeom prst="rect">
            <a:avLst/>
          </a:prstGeom>
        </p:spPr>
        <p:txBody>
          <a:bodyPr wrap="square">
            <a:noAutofit/>
          </a:bodyPr>
          <a:p>
            <a:pPr marL="63500" indent="0" algn="l">
              <a:spcBef>
                <a:spcPts val="500"/>
              </a:spcBef>
              <a:spcAft>
                <a:spcPts val="500"/>
              </a:spcAft>
              <a:buNone/>
            </a:pPr>
            <a:r>
              <a:rPr lang="en-US" altLang="zh-CN" sz="2000" b="1" i="0">
                <a:solidFill>
                  <a:srgbClr val="333333"/>
                </a:solidFill>
                <a:latin typeface="Optima-Regular"/>
                <a:ea typeface="Optima-Regular"/>
              </a:rPr>
              <a:t>Extended prompt</a:t>
            </a:r>
            <a:endParaRPr lang="en-US" altLang="zh-CN" sz="2000" b="1"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black-clad cyclist crossing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moving through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person in black attire crossing a road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wearing dark clothing navigating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traversing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crossing a street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crossing a road </a:t>
            </a:r>
            <a:endParaRPr lang="en-US" altLang="zh-CN" sz="1400" b="0" i="0">
              <a:solidFill>
                <a:srgbClr val="333333"/>
              </a:solidFill>
              <a:latin typeface="Optima-Regular"/>
              <a:ea typeface="Optima-Regular"/>
            </a:endParaRPr>
          </a:p>
        </p:txBody>
      </p:sp>
      <p:pic>
        <p:nvPicPr>
          <p:cNvPr id="9" name="图片 8" descr="qwen-colo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88255" y="2132965"/>
            <a:ext cx="821690" cy="8216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lang="en-US" altLang="zh-CN" sz="1000" b="1">
                <a:solidFill>
                  <a:srgbClr val="18A999"/>
                </a:solidFill>
                <a:latin typeface="微软雅黑" panose="020B0503020204020204" charset="-122"/>
                <a:ea typeface="微软雅黑" panose="020B0503020204020204" charset="-122"/>
              </a:rPr>
              <a:t>EXPERIMENT </a:t>
            </a:r>
            <a:endParaRPr lang="en-US" altLang="zh-CN" sz="1000" b="1">
              <a:solidFill>
                <a:srgbClr val="18A999"/>
              </a:solidFill>
              <a:latin typeface="微软雅黑" panose="020B0503020204020204" charset="-122"/>
              <a:ea typeface="微软雅黑" panose="020B0503020204020204" charset="-122"/>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扩充提示词对目标覆盖率</a:t>
            </a:r>
            <a:r>
              <a:rPr lang="zh-CN" sz="2700" b="1">
                <a:solidFill>
                  <a:srgbClr val="102A43"/>
                </a:solidFill>
              </a:rPr>
              <a:t>提高</a:t>
            </a:r>
            <a:endParaRPr lang="zh-CN" sz="2700" b="1">
              <a:solidFill>
                <a:srgbClr val="102A43"/>
              </a:solidFill>
            </a:endParaRPr>
          </a:p>
        </p:txBody>
      </p:sp>
      <p:sp>
        <p:nvSpPr>
          <p:cNvPr id="3" name="直接连接符 2"/>
          <p:cNvSpPr>
            <a:spLocks noGrp="1"/>
          </p:cNvSpPr>
          <p:nvPr/>
        </p:nvSpPr>
        <p:spPr>
          <a:xfrm>
            <a:off x="623570" y="1268730"/>
            <a:ext cx="10820400" cy="0"/>
          </a:xfrm>
          <a:prstGeom prst="line">
            <a:avLst/>
          </a:prstGeom>
          <a:ln w="9525">
            <a:solidFill>
              <a:srgbClr val="D7E1EA"/>
            </a:solidFill>
            <a:prstDash val="solid"/>
          </a:ln>
        </p:spPr>
      </p:sp>
      <p:sp>
        <p:nvSpPr>
          <p:cNvPr id="18" name="矩形 17"/>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9" name="矩形 18"/>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5</a:t>
            </a:r>
            <a:endParaRPr lang="en-US" sz="900" b="1">
              <a:solidFill>
                <a:srgbClr val="18A999"/>
              </a:solidFill>
            </a:endParaRPr>
          </a:p>
        </p:txBody>
      </p:sp>
      <p:graphicFrame>
        <p:nvGraphicFramePr>
          <p:cNvPr id="5" name="表格 4"/>
          <p:cNvGraphicFramePr/>
          <p:nvPr>
            <p:custDataLst>
              <p:tags r:id="rId1"/>
            </p:custDataLst>
          </p:nvPr>
        </p:nvGraphicFramePr>
        <p:xfrm>
          <a:off x="685800" y="1484630"/>
          <a:ext cx="10738485" cy="3017520"/>
        </p:xfrm>
        <a:graphic>
          <a:graphicData uri="http://schemas.openxmlformats.org/drawingml/2006/table">
            <a:tbl>
              <a:tblPr firstRow="1" bandRow="1">
                <a:tableStyleId>{5C22544A-7EE6-4342-B048-85BDC9FD1C3A}</a:tableStyleId>
              </a:tblPr>
              <a:tblGrid>
                <a:gridCol w="3688715"/>
                <a:gridCol w="3512185"/>
                <a:gridCol w="3537585"/>
              </a:tblGrid>
              <a:tr h="381000">
                <a:tc>
                  <a:txBody>
                    <a:bodyPr/>
                    <a:p>
                      <a:pPr>
                        <a:buNone/>
                      </a:pPr>
                      <a:r>
                        <a:rPr lang="zh-CN" altLang="en-US" sz="2400"/>
                        <a:t>方法</a:t>
                      </a:r>
                      <a:endParaRPr lang="zh-CN" altLang="en-US" sz="2400"/>
                    </a:p>
                  </a:txBody>
                  <a:tcPr/>
                </a:tc>
                <a:tc>
                  <a:txBody>
                    <a:bodyPr/>
                    <a:p>
                      <a:pPr>
                        <a:buNone/>
                      </a:pPr>
                      <a:r>
                        <a:rPr lang="zh-CN" altLang="en-US" sz="2400"/>
                        <a:t>候选总数</a:t>
                      </a:r>
                      <a:endParaRPr lang="zh-CN" altLang="en-US" sz="2400"/>
                    </a:p>
                  </a:txBody>
                  <a:tcPr/>
                </a:tc>
                <a:tc>
                  <a:txBody>
                    <a:bodyPr/>
                    <a:p>
                      <a:pPr>
                        <a:buNone/>
                      </a:pPr>
                      <a:r>
                        <a:rPr lang="en-US" altLang="zh-CN" sz="2400"/>
                        <a:t>GT</a:t>
                      </a:r>
                      <a:r>
                        <a:rPr lang="zh-CN" altLang="en-US" sz="2400"/>
                        <a:t>覆盖率</a:t>
                      </a:r>
                      <a:endParaRPr lang="zh-CN" altLang="en-US" sz="2400"/>
                    </a:p>
                  </a:txBody>
                  <a:tcPr/>
                </a:tc>
              </a:tr>
              <a:tr h="381000">
                <a:tc>
                  <a:txBody>
                    <a:bodyPr/>
                    <a:p>
                      <a:pPr>
                        <a:buNone/>
                      </a:pPr>
                      <a:r>
                        <a:rPr lang="en-US" altLang="zh-CN" sz="2000">
                          <a:latin typeface="Adobe Gothic Std B" panose="020B0800000000000000" charset="-128"/>
                          <a:ea typeface="Adobe Gothic Std B" panose="020B0800000000000000" charset="-128"/>
                        </a:rPr>
                        <a:t>only_query</a:t>
                      </a:r>
                      <a:endParaRPr lang="en-US" altLang="zh-CN" sz="2000">
                        <a:latin typeface="Adobe Gothic Std B" panose="020B0800000000000000" charset="-128"/>
                        <a:ea typeface="Adobe Gothic Std B" panose="020B0800000000000000" charset="-128"/>
                      </a:endParaRPr>
                    </a:p>
                  </a:txBody>
                  <a:tcPr/>
                </a:tc>
                <a:tc>
                  <a:txBody>
                    <a:bodyPr/>
                    <a:p>
                      <a:pPr>
                        <a:buNone/>
                      </a:pPr>
                      <a:r>
                        <a:rPr lang="en-US" altLang="zh-CN" sz="2400"/>
                        <a:t>9413</a:t>
                      </a:r>
                      <a:endParaRPr lang="en-US" altLang="zh-CN" sz="2400"/>
                    </a:p>
                  </a:txBody>
                  <a:tcPr/>
                </a:tc>
                <a:tc>
                  <a:txBody>
                    <a:bodyPr/>
                    <a:p>
                      <a:pPr>
                        <a:buNone/>
                      </a:pPr>
                      <a:r>
                        <a:rPr lang="en-US" altLang="zh-CN" sz="2400"/>
                        <a:t>38.53%</a:t>
                      </a:r>
                      <a:endParaRPr lang="en-US" altLang="zh-CN" sz="2400"/>
                    </a:p>
                  </a:txBody>
                  <a:tcPr/>
                </a:tc>
              </a:tr>
              <a:tr h="381000">
                <a:tc>
                  <a:txBody>
                    <a:bodyPr/>
                    <a:p>
                      <a:pPr>
                        <a:buNone/>
                      </a:pPr>
                      <a:r>
                        <a:rPr lang="en-US" altLang="zh-CN" sz="2000">
                          <a:latin typeface="Adobe Gothic Std B" panose="020B0800000000000000" charset="-128"/>
                          <a:ea typeface="Adobe Gothic Std B" panose="020B0800000000000000" charset="-128"/>
                          <a:cs typeface="华文中宋" panose="02010600040101010101" charset="-122"/>
                        </a:rPr>
                        <a:t>Qwen_prompt </a:t>
                      </a:r>
                      <a:r>
                        <a:rPr lang="zh-CN" altLang="en-US" sz="2000">
                          <a:latin typeface="华文中宋" panose="02010600040101010101" charset="-122"/>
                          <a:ea typeface="华文中宋" panose="02010600040101010101" charset="-122"/>
                          <a:cs typeface="华文中宋" panose="02010600040101010101" charset="-122"/>
                        </a:rPr>
                        <a:t>一次性候选</a:t>
                      </a:r>
                      <a:endParaRPr lang="zh-CN" altLang="en-US" sz="2000">
                        <a:latin typeface="华文中宋" panose="02010600040101010101" charset="-122"/>
                        <a:ea typeface="华文中宋" panose="02010600040101010101" charset="-122"/>
                        <a:cs typeface="华文中宋" panose="02010600040101010101" charset="-122"/>
                      </a:endParaRPr>
                    </a:p>
                  </a:txBody>
                  <a:tcPr/>
                </a:tc>
                <a:tc>
                  <a:txBody>
                    <a:bodyPr/>
                    <a:p>
                      <a:pPr>
                        <a:buNone/>
                      </a:pPr>
                      <a:r>
                        <a:rPr lang="en-US" altLang="zh-CN" sz="2400"/>
                        <a:t>10837</a:t>
                      </a:r>
                      <a:endParaRPr lang="en-US" altLang="zh-CN" sz="2400"/>
                    </a:p>
                  </a:txBody>
                  <a:tcPr/>
                </a:tc>
                <a:tc>
                  <a:txBody>
                    <a:bodyPr/>
                    <a:p>
                      <a:pPr>
                        <a:buNone/>
                      </a:pPr>
                      <a:r>
                        <a:rPr lang="en-US" altLang="zh-CN" sz="2400"/>
                        <a:t>36.18%</a:t>
                      </a:r>
                      <a:endParaRPr lang="en-US" altLang="zh-CN" sz="2400"/>
                    </a:p>
                  </a:txBody>
                  <a:tcPr/>
                </a:tc>
              </a:tr>
              <a:tr h="381000">
                <a:tc>
                  <a:txBody>
                    <a:bodyPr/>
                    <a:p>
                      <a:pPr>
                        <a:buNone/>
                      </a:pPr>
                      <a:r>
                        <a:rPr lang="en-US" altLang="zh-CN" sz="2000">
                          <a:latin typeface="Adobe Gothic Std B" panose="020B0800000000000000" charset="-128"/>
                          <a:ea typeface="Adobe Gothic Std B" panose="020B0800000000000000" charset="-128"/>
                          <a:cs typeface="华文中宋" panose="02010600040101010101" charset="-122"/>
                        </a:rPr>
                        <a:t>Qwen_prompt</a:t>
                      </a:r>
                      <a:r>
                        <a:rPr lang="en-US" altLang="zh-CN" sz="2000">
                          <a:latin typeface="华文中宋" panose="02010600040101010101" charset="-122"/>
                          <a:ea typeface="华文中宋" panose="02010600040101010101" charset="-122"/>
                          <a:cs typeface="华文中宋" panose="02010600040101010101" charset="-122"/>
                        </a:rPr>
                        <a:t> </a:t>
                      </a:r>
                      <a:r>
                        <a:rPr lang="zh-CN" altLang="en-US" sz="2000">
                          <a:latin typeface="华文中宋" panose="02010600040101010101" charset="-122"/>
                          <a:ea typeface="华文中宋" panose="02010600040101010101" charset="-122"/>
                          <a:cs typeface="华文中宋" panose="02010600040101010101" charset="-122"/>
                        </a:rPr>
                        <a:t>分批候选</a:t>
                      </a:r>
                      <a:endParaRPr lang="zh-CN" altLang="en-US" sz="2000">
                        <a:latin typeface="华文中宋" panose="02010600040101010101" charset="-122"/>
                        <a:ea typeface="华文中宋" panose="02010600040101010101" charset="-122"/>
                        <a:cs typeface="华文中宋" panose="02010600040101010101" charset="-122"/>
                      </a:endParaRPr>
                    </a:p>
                  </a:txBody>
                  <a:tcPr/>
                </a:tc>
                <a:tc>
                  <a:txBody>
                    <a:bodyPr/>
                    <a:p>
                      <a:pPr>
                        <a:buNone/>
                      </a:pPr>
                      <a:r>
                        <a:rPr lang="en-US" altLang="zh-CN" sz="2400"/>
                        <a:t>124492</a:t>
                      </a:r>
                      <a:endParaRPr lang="en-US" altLang="zh-CN" sz="2400"/>
                    </a:p>
                  </a:txBody>
                  <a:tcPr/>
                </a:tc>
                <a:tc>
                  <a:txBody>
                    <a:bodyPr/>
                    <a:p>
                      <a:pPr>
                        <a:buNone/>
                      </a:pPr>
                      <a:r>
                        <a:rPr lang="en-US" altLang="zh-CN" sz="2400">
                          <a:sym typeface="+mn-ea"/>
                        </a:rPr>
                        <a:t>51.22%</a:t>
                      </a:r>
                      <a:endParaRPr lang="en-US" altLang="zh-CN" sz="2400">
                        <a:sym typeface="+mn-ea"/>
                      </a:endParaRPr>
                    </a:p>
                  </a:txBody>
                  <a:tcPr/>
                </a:tc>
              </a:tr>
              <a:tr h="381000">
                <a:tc>
                  <a:txBody>
                    <a:bodyPr/>
                    <a:p>
                      <a:pPr>
                        <a:buNone/>
                      </a:pPr>
                      <a:r>
                        <a:rPr lang="en-US" altLang="zh-CN" sz="2000">
                          <a:latin typeface="Adobe Gothic Std B" panose="020B0800000000000000" charset="-128"/>
                          <a:ea typeface="Adobe Gothic Std B" panose="020B0800000000000000" charset="-128"/>
                          <a:cs typeface="华文中宋" panose="02010600040101010101" charset="-122"/>
                        </a:rPr>
                        <a:t>Qwen_prompt+RL</a:t>
                      </a:r>
                      <a:r>
                        <a:rPr lang="zh-CN" altLang="en-US" sz="2000">
                          <a:latin typeface="华文中宋" panose="02010600040101010101" charset="-122"/>
                          <a:ea typeface="华文中宋" panose="02010600040101010101" charset="-122"/>
                          <a:cs typeface="华文中宋" panose="02010600040101010101" charset="-122"/>
                        </a:rPr>
                        <a:t>动态输出</a:t>
                      </a:r>
                      <a:endParaRPr lang="zh-CN" altLang="en-US" sz="2000">
                        <a:latin typeface="华文中宋" panose="02010600040101010101" charset="-122"/>
                        <a:ea typeface="华文中宋" panose="02010600040101010101" charset="-122"/>
                        <a:cs typeface="华文中宋" panose="02010600040101010101" charset="-122"/>
                      </a:endParaRPr>
                    </a:p>
                  </a:txBody>
                  <a:tcPr/>
                </a:tc>
                <a:tc>
                  <a:txBody>
                    <a:bodyPr/>
                    <a:p>
                      <a:pPr>
                        <a:buNone/>
                      </a:pPr>
                      <a:r>
                        <a:rPr lang="en-US" altLang="zh-CN" sz="2400"/>
                        <a:t>35869</a:t>
                      </a:r>
                      <a:endParaRPr lang="en-US" altLang="zh-CN" sz="2400"/>
                    </a:p>
                  </a:txBody>
                  <a:tcPr/>
                </a:tc>
                <a:tc>
                  <a:txBody>
                    <a:bodyPr/>
                    <a:p>
                      <a:pPr>
                        <a:buNone/>
                      </a:pPr>
                      <a:r>
                        <a:rPr lang="en-US" altLang="zh-CN" sz="2400"/>
                        <a:t>50.38%</a:t>
                      </a:r>
                      <a:endParaRPr lang="en-US" altLang="zh-CN" sz="2400"/>
                    </a:p>
                  </a:txBody>
                  <a:tcPr/>
                </a:tc>
              </a:tr>
            </a:tbl>
          </a:graphicData>
        </a:graphic>
      </p:graphicFrame>
      <p:sp>
        <p:nvSpPr>
          <p:cNvPr id="6" name="文本框 5"/>
          <p:cNvSpPr txBox="1"/>
          <p:nvPr/>
        </p:nvSpPr>
        <p:spPr>
          <a:xfrm>
            <a:off x="8239125" y="3789045"/>
            <a:ext cx="3185160" cy="284480"/>
          </a:xfrm>
          <a:prstGeom prst="rect">
            <a:avLst/>
          </a:prstGeom>
          <a:noFill/>
        </p:spPr>
        <p:txBody>
          <a:bodyPr wrap="square" rtlCol="0">
            <a:noAutofit/>
          </a:bodyPr>
          <a:p>
            <a:r>
              <a:rPr lang="zh-CN" altLang="en-US" sz="1600">
                <a:solidFill>
                  <a:schemeClr val="bg2">
                    <a:lumMod val="50000"/>
                  </a:schemeClr>
                </a:solidFill>
                <a:latin typeface="华文细黑" panose="02010600040101010101" charset="-122"/>
                <a:ea typeface="华文细黑" panose="02010600040101010101" charset="-122"/>
                <a:cs typeface="华文细黑" panose="02010600040101010101" charset="-122"/>
              </a:rPr>
              <a:t>实验结果为测试集中的</a:t>
            </a:r>
            <a:r>
              <a:rPr lang="en-US" altLang="zh-CN" sz="1600">
                <a:solidFill>
                  <a:schemeClr val="bg2">
                    <a:lumMod val="50000"/>
                  </a:schemeClr>
                </a:solidFill>
                <a:latin typeface="华文细黑" panose="02010600040101010101" charset="-122"/>
                <a:ea typeface="华文细黑" panose="02010600040101010101" charset="-122"/>
                <a:cs typeface="华文细黑" panose="02010600040101010101" charset="-122"/>
              </a:rPr>
              <a:t>150</a:t>
            </a:r>
            <a:r>
              <a:rPr lang="zh-CN" altLang="en-US" sz="1600">
                <a:solidFill>
                  <a:schemeClr val="bg2">
                    <a:lumMod val="50000"/>
                  </a:schemeClr>
                </a:solidFill>
                <a:latin typeface="华文细黑" panose="02010600040101010101" charset="-122"/>
                <a:ea typeface="华文细黑" panose="02010600040101010101" charset="-122"/>
                <a:cs typeface="华文细黑" panose="02010600040101010101" charset="-122"/>
              </a:rPr>
              <a:t>张图片</a:t>
            </a:r>
            <a:endParaRPr lang="zh-CN" altLang="en-US" sz="1600">
              <a:solidFill>
                <a:schemeClr val="bg2">
                  <a:lumMod val="50000"/>
                </a:schemeClr>
              </a:solidFill>
              <a:latin typeface="华文细黑" panose="02010600040101010101" charset="-122"/>
              <a:ea typeface="华文细黑" panose="02010600040101010101" charset="-122"/>
              <a:cs typeface="华文细黑" panose="02010600040101010101" charset="-122"/>
            </a:endParaRPr>
          </a:p>
        </p:txBody>
      </p:sp>
      <p:sp>
        <p:nvSpPr>
          <p:cNvPr id="4" name="Rounded Rectangle 3"/>
          <p:cNvSpPr/>
          <p:nvPr/>
        </p:nvSpPr>
        <p:spPr>
          <a:xfrm>
            <a:off x="479425" y="4626610"/>
            <a:ext cx="3246120" cy="1234440"/>
          </a:xfrm>
          <a:prstGeom prst="roundRect">
            <a:avLst/>
          </a:prstGeom>
          <a:noFill/>
          <a:ln w="13970">
            <a:solidFill>
              <a:srgbClr val="C44848"/>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600" b="1">
                <a:solidFill>
                  <a:srgbClr val="1F2937"/>
                </a:solidFill>
                <a:latin typeface="微软雅黑" panose="020B0503020204020204" charset="-122"/>
              </a:rPr>
              <a:t>固定类别提示词</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候选覆盖不足</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小目标与易混类别容易漏检</a:t>
            </a:r>
            <a:endParaRPr sz="1600" b="1">
              <a:solidFill>
                <a:srgbClr val="1F2937"/>
              </a:solidFill>
              <a:latin typeface="微软雅黑" panose="020B0503020204020204" charset="-122"/>
            </a:endParaRPr>
          </a:p>
        </p:txBody>
      </p:sp>
      <p:sp>
        <p:nvSpPr>
          <p:cNvPr id="7" name="Rounded Rectangle 4"/>
          <p:cNvSpPr/>
          <p:nvPr/>
        </p:nvSpPr>
        <p:spPr>
          <a:xfrm>
            <a:off x="4365625" y="4626610"/>
            <a:ext cx="3246120" cy="1234440"/>
          </a:xfrm>
          <a:prstGeom prst="roundRect">
            <a:avLst/>
          </a:prstGeom>
          <a:noFill/>
          <a:ln w="13970">
            <a:solidFill>
              <a:srgbClr val="C27518"/>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600" b="1">
                <a:solidFill>
                  <a:srgbClr val="1F2937"/>
                </a:solidFill>
                <a:latin typeface="微软雅黑" panose="020B0503020204020204" charset="-122"/>
              </a:rPr>
              <a:t>一次性加入所有扩展</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候选数量膨胀</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误检、重复框和计算成本增加</a:t>
            </a:r>
            <a:endParaRPr sz="1600" b="1">
              <a:solidFill>
                <a:srgbClr val="1F2937"/>
              </a:solidFill>
              <a:latin typeface="微软雅黑" panose="020B0503020204020204" charset="-122"/>
            </a:endParaRPr>
          </a:p>
        </p:txBody>
      </p:sp>
      <p:sp>
        <p:nvSpPr>
          <p:cNvPr id="8" name="Rounded Rectangle 5"/>
          <p:cNvSpPr/>
          <p:nvPr/>
        </p:nvSpPr>
        <p:spPr>
          <a:xfrm>
            <a:off x="8251825" y="4626610"/>
            <a:ext cx="3246120" cy="1234440"/>
          </a:xfrm>
          <a:prstGeom prst="roundRect">
            <a:avLst/>
          </a:prstGeom>
          <a:noFill/>
          <a:ln w="13970">
            <a:solidFill>
              <a:srgbClr val="2A8F5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600" b="1">
                <a:solidFill>
                  <a:srgbClr val="1F2937"/>
                </a:solidFill>
                <a:latin typeface="微软雅黑" panose="020B0503020204020204" charset="-122"/>
              </a:rPr>
              <a:t>自适应候选扩充</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根据当前状态决定</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是否扩充、扩充什么</a:t>
            </a:r>
            <a:endParaRPr sz="1600" b="1">
              <a:solidFill>
                <a:srgbClr val="1F2937"/>
              </a:solidFill>
              <a:latin typeface="微软雅黑" panose="020B0503020204020204" charset="-122"/>
            </a:endParaRPr>
          </a:p>
        </p:txBody>
      </p:sp>
      <p:cxnSp>
        <p:nvCxnSpPr>
          <p:cNvPr id="9" name="Connector 6"/>
          <p:cNvCxnSpPr/>
          <p:nvPr/>
        </p:nvCxnSpPr>
        <p:spPr>
          <a:xfrm>
            <a:off x="3816985" y="5239258"/>
            <a:ext cx="475488" cy="0"/>
          </a:xfrm>
          <a:prstGeom prst="line">
            <a:avLst/>
          </a:prstGeom>
          <a:ln w="21590">
            <a:solidFill>
              <a:srgbClr val="97A2B1"/>
            </a:solidFill>
          </a:ln>
        </p:spPr>
        <p:style>
          <a:lnRef idx="2">
            <a:schemeClr val="accent1"/>
          </a:lnRef>
          <a:fillRef idx="0">
            <a:schemeClr val="accent1"/>
          </a:fillRef>
          <a:effectRef idx="1">
            <a:schemeClr val="accent1"/>
          </a:effectRef>
          <a:fontRef idx="minor">
            <a:schemeClr val="tx1"/>
          </a:fontRef>
        </p:style>
      </p:cxnSp>
      <p:cxnSp>
        <p:nvCxnSpPr>
          <p:cNvPr id="10" name="Connector 7"/>
          <p:cNvCxnSpPr/>
          <p:nvPr/>
        </p:nvCxnSpPr>
        <p:spPr>
          <a:xfrm>
            <a:off x="7703185" y="5239258"/>
            <a:ext cx="475488" cy="0"/>
          </a:xfrm>
          <a:prstGeom prst="line">
            <a:avLst/>
          </a:prstGeom>
          <a:ln w="21590">
            <a:solidFill>
              <a:srgbClr val="97A2B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圆角矩形 3"/>
          <p:cNvSpPr>
            <a:spLocks noGrp="1"/>
          </p:cNvSpPr>
          <p:nvPr>
            <p:custDataLst>
              <p:tags r:id="rId1"/>
            </p:custDataLst>
          </p:nvPr>
        </p:nvSpPr>
        <p:spPr>
          <a:xfrm>
            <a:off x="685800" y="1845310"/>
            <a:ext cx="3238500" cy="3633470"/>
          </a:xfrm>
          <a:prstGeom prst="roundRect">
            <a:avLst>
              <a:gd name="adj" fmla="val 4800"/>
            </a:avLst>
          </a:prstGeom>
          <a:solidFill>
            <a:srgbClr val="FFFFFF"/>
          </a:solidFill>
          <a:ln w="9525">
            <a:solidFill>
              <a:srgbClr val="D7E1EA"/>
            </a:solidFill>
            <a:prstDash val="solid"/>
          </a:ln>
        </p:spPr>
      </p:sp>
      <p:sp>
        <p:nvSpPr>
          <p:cNvPr id="7" name="矩形 6"/>
          <p:cNvSpPr>
            <a:spLocks noGrp="1"/>
          </p:cNvSpPr>
          <p:nvPr>
            <p:custDataLst>
              <p:tags r:id="rId2"/>
            </p:custDataLst>
          </p:nvPr>
        </p:nvSpPr>
        <p:spPr>
          <a:xfrm>
            <a:off x="914400" y="2378710"/>
            <a:ext cx="2857500" cy="1752600"/>
          </a:xfrm>
          <a:prstGeom prst="rect">
            <a:avLst/>
          </a:prstGeom>
          <a:noFill/>
          <a:ln w="0">
            <a:noFill/>
            <a:prstDash val="solid"/>
          </a:ln>
        </p:spPr>
        <p:txBody>
          <a:bodyPr anchor="ctr"/>
          <a:lstStyle/>
          <a:p>
            <a:pPr algn="l">
              <a:buNone/>
              <a:defRPr sz="1200" b="0">
                <a:solidFill>
                  <a:srgbClr val="64748B"/>
                </a:solidFill>
              </a:defRPr>
            </a:pPr>
            <a:r>
              <a:rPr lang="zh-CN" altLang="en-US" sz="1600" b="0">
                <a:solidFill>
                  <a:srgbClr val="64748B"/>
                </a:solidFill>
              </a:rPr>
              <a:t>候选数量、平均分、最高分、分数方差、平均面积、小目标</a:t>
            </a:r>
            <a:r>
              <a:rPr lang="zh-CN" altLang="en-US" sz="1600" b="0">
                <a:solidFill>
                  <a:srgbClr val="64748B"/>
                </a:solidFill>
              </a:rPr>
              <a:t>比例。</a:t>
            </a:r>
            <a:endParaRPr lang="zh-CN" altLang="en-US" sz="1600" b="0">
              <a:solidFill>
                <a:srgbClr val="64748B"/>
              </a:solidFill>
            </a:endParaRPr>
          </a:p>
          <a:p>
            <a:pPr algn="l">
              <a:buNone/>
              <a:defRPr sz="1200" b="0">
                <a:solidFill>
                  <a:srgbClr val="64748B"/>
                </a:solidFill>
              </a:defRPr>
            </a:pPr>
            <a:r>
              <a:rPr lang="zh-CN" altLang="en-US" sz="1600" b="0">
                <a:solidFill>
                  <a:srgbClr val="64748B"/>
                </a:solidFill>
              </a:rPr>
              <a:t>类别侯选数量、最高分、</a:t>
            </a:r>
            <a:r>
              <a:rPr lang="zh-CN" altLang="en-US" sz="1600" b="0">
                <a:solidFill>
                  <a:srgbClr val="64748B"/>
                </a:solidFill>
              </a:rPr>
              <a:t>平均面积。</a:t>
            </a:r>
            <a:endParaRPr lang="zh-CN" altLang="en-US" sz="1600" b="0">
              <a:solidFill>
                <a:srgbClr val="64748B"/>
              </a:solidFill>
            </a:endParaRPr>
          </a:p>
          <a:p>
            <a:pPr algn="l">
              <a:buNone/>
              <a:defRPr sz="1200" b="0">
                <a:solidFill>
                  <a:srgbClr val="64748B"/>
                </a:solidFill>
              </a:defRPr>
            </a:pPr>
            <a:r>
              <a:rPr lang="zh-CN" altLang="en-US" sz="1600" b="0">
                <a:solidFill>
                  <a:srgbClr val="64748B"/>
                </a:solidFill>
              </a:rPr>
              <a:t>当前轮次、</a:t>
            </a:r>
            <a:r>
              <a:rPr lang="zh-CN" altLang="en-US" sz="1600" b="0">
                <a:solidFill>
                  <a:srgbClr val="64748B"/>
                </a:solidFill>
              </a:rPr>
              <a:t>剩余预算。</a:t>
            </a:r>
            <a:endParaRPr lang="zh-CN" altLang="en-US" sz="1600" b="0">
              <a:solidFill>
                <a:srgbClr val="64748B"/>
              </a:solidFill>
            </a:endParaRPr>
          </a:p>
        </p:txBody>
      </p:sp>
      <p:sp>
        <p:nvSpPr>
          <p:cNvPr id="19" name="矩形 18"/>
          <p:cNvSpPr>
            <a:spLocks noGrp="1"/>
          </p:cNvSpPr>
          <p:nvPr/>
        </p:nvSpPr>
        <p:spPr>
          <a:xfrm>
            <a:off x="685800" y="419100"/>
            <a:ext cx="1905000" cy="177800"/>
          </a:xfrm>
          <a:prstGeom prst="rect">
            <a:avLst/>
          </a:prstGeom>
          <a:noFill/>
          <a:ln w="0">
            <a:noFill/>
            <a:prstDash val="solid"/>
          </a:ln>
        </p:spPr>
        <p:txBody>
          <a:bodyPr anchor="ctr"/>
          <a:lstStyle/>
          <a:p>
            <a:pPr algn="l">
              <a:buNone/>
              <a:defRPr sz="975" b="1">
                <a:solidFill>
                  <a:srgbClr val="18A999"/>
                </a:solidFill>
              </a:defRPr>
            </a:pPr>
            <a:r>
              <a:rPr lang="en-US" sz="975" b="1">
                <a:solidFill>
                  <a:srgbClr val="18A999"/>
                </a:solidFill>
                <a:latin typeface="微软雅黑" panose="020B0503020204020204" charset="-122"/>
                <a:ea typeface="微软雅黑" panose="020B0503020204020204" charset="-122"/>
              </a:rPr>
              <a:t>ACTION </a:t>
            </a:r>
            <a:r>
              <a:rPr lang="en-US" sz="975" b="1">
                <a:solidFill>
                  <a:srgbClr val="18A999"/>
                </a:solidFill>
                <a:latin typeface="微软雅黑" panose="020B0503020204020204" charset="-122"/>
                <a:ea typeface="微软雅黑" panose="020B0503020204020204" charset="-122"/>
              </a:rPr>
              <a:t>REWARD</a:t>
            </a:r>
            <a:endParaRPr lang="en-US" sz="975" b="1">
              <a:solidFill>
                <a:srgbClr val="18A999"/>
              </a:solidFill>
              <a:latin typeface="微软雅黑" panose="020B0503020204020204" charset="-122"/>
              <a:ea typeface="微软雅黑" panose="020B0503020204020204" charset="-122"/>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强化学习模块的动作空间和</a:t>
            </a:r>
            <a:r>
              <a:rPr lang="zh-CN" sz="2700" b="1">
                <a:solidFill>
                  <a:srgbClr val="102A43"/>
                </a:solidFill>
              </a:rPr>
              <a:t>奖励函数</a:t>
            </a:r>
            <a:endParaRPr lang="zh-CN"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5" name="矩形 4"/>
          <p:cNvSpPr>
            <a:spLocks noGrp="1"/>
          </p:cNvSpPr>
          <p:nvPr>
            <p:custDataLst>
              <p:tags r:id="rId3"/>
            </p:custDataLst>
          </p:nvPr>
        </p:nvSpPr>
        <p:spPr>
          <a:xfrm>
            <a:off x="685800" y="1845310"/>
            <a:ext cx="83820" cy="3653790"/>
          </a:xfrm>
          <a:prstGeom prst="rect">
            <a:avLst/>
          </a:prstGeom>
          <a:solidFill>
            <a:srgbClr val="F28C28"/>
          </a:solidFill>
          <a:ln w="0">
            <a:noFill/>
            <a:prstDash val="solid"/>
          </a:ln>
        </p:spPr>
      </p:sp>
      <p:sp>
        <p:nvSpPr>
          <p:cNvPr id="6" name="矩形 5"/>
          <p:cNvSpPr>
            <a:spLocks noGrp="1"/>
          </p:cNvSpPr>
          <p:nvPr>
            <p:custDataLst>
              <p:tags r:id="rId4"/>
            </p:custDataLst>
          </p:nvPr>
        </p:nvSpPr>
        <p:spPr>
          <a:xfrm>
            <a:off x="914400" y="2016760"/>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01  </a:t>
            </a:r>
            <a:r>
              <a:rPr lang="en-US" sz="1800" b="1">
                <a:solidFill>
                  <a:srgbClr val="102A43"/>
                </a:solidFill>
                <a:latin typeface="Adobe Gothic Std B" panose="020B0800000000000000" charset="-128"/>
                <a:ea typeface="Adobe Gothic Std B" panose="020B0800000000000000" charset="-128"/>
              </a:rPr>
              <a:t>state</a:t>
            </a:r>
            <a:endParaRPr lang="en-US" sz="1800" b="1">
              <a:solidFill>
                <a:srgbClr val="102A43"/>
              </a:solidFill>
              <a:latin typeface="Adobe Gothic Std B" panose="020B0800000000000000" charset="-128"/>
              <a:ea typeface="Adobe Gothic Std B" panose="020B0800000000000000" charset="-128"/>
            </a:endParaRPr>
          </a:p>
        </p:txBody>
      </p:sp>
      <p:sp>
        <p:nvSpPr>
          <p:cNvPr id="8" name="圆角矩形 7"/>
          <p:cNvSpPr>
            <a:spLocks noGrp="1"/>
          </p:cNvSpPr>
          <p:nvPr>
            <p:custDataLst>
              <p:tags r:id="rId5"/>
            </p:custDataLst>
          </p:nvPr>
        </p:nvSpPr>
        <p:spPr>
          <a:xfrm>
            <a:off x="4476750" y="1845310"/>
            <a:ext cx="3238500" cy="3653790"/>
          </a:xfrm>
          <a:prstGeom prst="roundRect">
            <a:avLst>
              <a:gd name="adj" fmla="val 4800"/>
            </a:avLst>
          </a:prstGeom>
          <a:solidFill>
            <a:srgbClr val="FFFFFF"/>
          </a:solidFill>
          <a:ln w="9525">
            <a:solidFill>
              <a:srgbClr val="D7E1EA"/>
            </a:solidFill>
            <a:prstDash val="solid"/>
          </a:ln>
        </p:spPr>
      </p:sp>
      <p:sp>
        <p:nvSpPr>
          <p:cNvPr id="9" name="矩形 8"/>
          <p:cNvSpPr>
            <a:spLocks noGrp="1"/>
          </p:cNvSpPr>
          <p:nvPr>
            <p:custDataLst>
              <p:tags r:id="rId6"/>
            </p:custDataLst>
          </p:nvPr>
        </p:nvSpPr>
        <p:spPr>
          <a:xfrm>
            <a:off x="4476750" y="1845310"/>
            <a:ext cx="76200" cy="3657600"/>
          </a:xfrm>
          <a:prstGeom prst="rect">
            <a:avLst/>
          </a:prstGeom>
          <a:solidFill>
            <a:srgbClr val="18A999"/>
          </a:solidFill>
          <a:ln w="0">
            <a:noFill/>
            <a:prstDash val="solid"/>
          </a:ln>
        </p:spPr>
      </p:sp>
      <p:sp>
        <p:nvSpPr>
          <p:cNvPr id="10" name="矩形 9"/>
          <p:cNvSpPr>
            <a:spLocks noGrp="1"/>
          </p:cNvSpPr>
          <p:nvPr>
            <p:custDataLst>
              <p:tags r:id="rId7"/>
            </p:custDataLst>
          </p:nvPr>
        </p:nvSpPr>
        <p:spPr>
          <a:xfrm>
            <a:off x="4705350" y="2016760"/>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02  </a:t>
            </a:r>
            <a:r>
              <a:rPr lang="en-US" sz="1800" b="1">
                <a:solidFill>
                  <a:srgbClr val="102A43"/>
                </a:solidFill>
                <a:latin typeface="Adobe Gothic Std B" panose="020B0800000000000000" charset="-128"/>
                <a:ea typeface="Adobe Gothic Std B" panose="020B0800000000000000" charset="-128"/>
              </a:rPr>
              <a:t>action</a:t>
            </a:r>
            <a:endParaRPr lang="en-US" sz="1800" b="1">
              <a:solidFill>
                <a:srgbClr val="102A43"/>
              </a:solidFill>
              <a:latin typeface="Adobe Gothic Std B" panose="020B0800000000000000" charset="-128"/>
              <a:ea typeface="Adobe Gothic Std B" panose="020B0800000000000000" charset="-128"/>
            </a:endParaRPr>
          </a:p>
        </p:txBody>
      </p:sp>
      <p:sp>
        <p:nvSpPr>
          <p:cNvPr id="11" name="矩形 10"/>
          <p:cNvSpPr>
            <a:spLocks noGrp="1"/>
          </p:cNvSpPr>
          <p:nvPr>
            <p:custDataLst>
              <p:tags r:id="rId8"/>
            </p:custDataLst>
          </p:nvPr>
        </p:nvSpPr>
        <p:spPr>
          <a:xfrm>
            <a:off x="4705350" y="2378710"/>
            <a:ext cx="2857500" cy="1752600"/>
          </a:xfrm>
          <a:prstGeom prst="rect">
            <a:avLst/>
          </a:prstGeom>
          <a:noFill/>
          <a:ln w="0">
            <a:noFill/>
            <a:prstDash val="solid"/>
          </a:ln>
        </p:spPr>
        <p:txBody>
          <a:bodyPr anchor="ctr"/>
          <a:lstStyle/>
          <a:p>
            <a:pPr algn="l">
              <a:buNone/>
              <a:defRPr sz="1200" b="0">
                <a:solidFill>
                  <a:srgbClr val="64748B"/>
                </a:solidFill>
              </a:defRPr>
            </a:pPr>
            <a:r>
              <a:rPr lang="zh-CN" sz="1600" b="0">
                <a:solidFill>
                  <a:srgbClr val="64748B"/>
                </a:solidFill>
              </a:rPr>
              <a:t>终止</a:t>
            </a:r>
            <a:r>
              <a:rPr lang="zh-CN" sz="1600" b="0">
                <a:solidFill>
                  <a:srgbClr val="64748B"/>
                </a:solidFill>
              </a:rPr>
              <a:t>指令</a:t>
            </a:r>
            <a:endParaRPr lang="zh-CN" sz="1600" b="0">
              <a:solidFill>
                <a:srgbClr val="64748B"/>
              </a:solidFill>
            </a:endParaRPr>
          </a:p>
          <a:p>
            <a:pPr algn="l">
              <a:buNone/>
              <a:defRPr sz="1200" b="0">
                <a:solidFill>
                  <a:srgbClr val="64748B"/>
                </a:solidFill>
              </a:defRPr>
            </a:pPr>
            <a:r>
              <a:rPr lang="en-US" altLang="zh-CN" sz="1600" b="0">
                <a:solidFill>
                  <a:srgbClr val="64748B"/>
                </a:solidFill>
              </a:rPr>
              <a:t>Qwen</a:t>
            </a:r>
            <a:r>
              <a:rPr lang="zh-CN" altLang="en-US" sz="1600" b="0">
                <a:solidFill>
                  <a:srgbClr val="64748B"/>
                </a:solidFill>
              </a:rPr>
              <a:t>动态生成的</a:t>
            </a:r>
            <a:r>
              <a:rPr lang="en-US" altLang="zh-CN" sz="1600" b="0">
                <a:solidFill>
                  <a:srgbClr val="64748B"/>
                </a:solidFill>
              </a:rPr>
              <a:t>action </a:t>
            </a:r>
            <a:r>
              <a:rPr lang="en-US" altLang="zh-CN" sz="1600" b="0">
                <a:solidFill>
                  <a:srgbClr val="64748B"/>
                </a:solidFill>
              </a:rPr>
              <a:t>pool</a:t>
            </a:r>
            <a:endParaRPr lang="en-US" altLang="zh-CN" sz="1600" b="0">
              <a:solidFill>
                <a:srgbClr val="64748B"/>
              </a:solidFill>
            </a:endParaRPr>
          </a:p>
        </p:txBody>
      </p:sp>
      <p:sp>
        <p:nvSpPr>
          <p:cNvPr id="12" name="圆角矩形 11"/>
          <p:cNvSpPr>
            <a:spLocks noGrp="1"/>
          </p:cNvSpPr>
          <p:nvPr>
            <p:custDataLst>
              <p:tags r:id="rId9"/>
            </p:custDataLst>
          </p:nvPr>
        </p:nvSpPr>
        <p:spPr>
          <a:xfrm>
            <a:off x="8183880" y="1845310"/>
            <a:ext cx="3238500" cy="3653790"/>
          </a:xfrm>
          <a:prstGeom prst="roundRect">
            <a:avLst>
              <a:gd name="adj" fmla="val 4800"/>
            </a:avLst>
          </a:prstGeom>
          <a:solidFill>
            <a:srgbClr val="FFFFFF"/>
          </a:solidFill>
          <a:ln w="9525">
            <a:solidFill>
              <a:srgbClr val="D7E1EA"/>
            </a:solidFill>
            <a:prstDash val="solid"/>
          </a:ln>
        </p:spPr>
      </p:sp>
      <p:sp>
        <p:nvSpPr>
          <p:cNvPr id="13" name="矩形 12"/>
          <p:cNvSpPr>
            <a:spLocks noGrp="1"/>
          </p:cNvSpPr>
          <p:nvPr>
            <p:custDataLst>
              <p:tags r:id="rId10"/>
            </p:custDataLst>
          </p:nvPr>
        </p:nvSpPr>
        <p:spPr>
          <a:xfrm>
            <a:off x="8181975" y="1845310"/>
            <a:ext cx="76200" cy="3653790"/>
          </a:xfrm>
          <a:prstGeom prst="rect">
            <a:avLst/>
          </a:prstGeom>
          <a:solidFill>
            <a:srgbClr val="E85D75"/>
          </a:solidFill>
          <a:ln w="0">
            <a:noFill/>
            <a:prstDash val="solid"/>
          </a:ln>
        </p:spPr>
      </p:sp>
      <p:sp>
        <p:nvSpPr>
          <p:cNvPr id="14" name="矩形 13"/>
          <p:cNvSpPr>
            <a:spLocks noGrp="1"/>
          </p:cNvSpPr>
          <p:nvPr>
            <p:custDataLst>
              <p:tags r:id="rId11"/>
            </p:custDataLst>
          </p:nvPr>
        </p:nvSpPr>
        <p:spPr>
          <a:xfrm>
            <a:off x="8496300" y="2016760"/>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03 </a:t>
            </a:r>
            <a:r>
              <a:rPr sz="1800" b="1">
                <a:solidFill>
                  <a:srgbClr val="102A43"/>
                </a:solidFill>
                <a:latin typeface="Adobe Gothic Std B" panose="020B0800000000000000" charset="-128"/>
                <a:ea typeface="Adobe Gothic Std B" panose="020B0800000000000000" charset="-128"/>
              </a:rPr>
              <a:t> </a:t>
            </a:r>
            <a:r>
              <a:rPr lang="en-US" sz="1800" b="1">
                <a:solidFill>
                  <a:srgbClr val="102A43"/>
                </a:solidFill>
                <a:latin typeface="Adobe Gothic Std B" panose="020B0800000000000000" charset="-128"/>
                <a:ea typeface="Adobe Gothic Std B" panose="020B0800000000000000" charset="-128"/>
              </a:rPr>
              <a:t>reward</a:t>
            </a:r>
            <a:endParaRPr lang="en-US" sz="1800" b="1">
              <a:solidFill>
                <a:srgbClr val="102A43"/>
              </a:solidFill>
              <a:latin typeface="Adobe Gothic Std B" panose="020B0800000000000000" charset="-128"/>
              <a:ea typeface="Adobe Gothic Std B" panose="020B0800000000000000" charset="-128"/>
            </a:endParaRPr>
          </a:p>
        </p:txBody>
      </p:sp>
      <p:sp>
        <p:nvSpPr>
          <p:cNvPr id="15" name="矩形 14"/>
          <p:cNvSpPr>
            <a:spLocks noGrp="1"/>
          </p:cNvSpPr>
          <p:nvPr>
            <p:custDataLst>
              <p:tags r:id="rId12"/>
            </p:custDataLst>
          </p:nvPr>
        </p:nvSpPr>
        <p:spPr>
          <a:xfrm>
            <a:off x="8496300" y="2378710"/>
            <a:ext cx="2857500" cy="1752600"/>
          </a:xfrm>
          <a:prstGeom prst="rect">
            <a:avLst/>
          </a:prstGeom>
          <a:noFill/>
          <a:ln w="0">
            <a:noFill/>
            <a:prstDash val="solid"/>
          </a:ln>
        </p:spPr>
        <p:txBody>
          <a:bodyPr anchor="ctr"/>
          <a:lstStyle/>
          <a:p>
            <a:pPr algn="l">
              <a:buNone/>
              <a:defRPr sz="1200" b="0">
                <a:solidFill>
                  <a:srgbClr val="64748B"/>
                </a:solidFill>
              </a:defRPr>
            </a:pPr>
            <a:r>
              <a:rPr lang="en-US" altLang="zh-CN" sz="1600" b="0">
                <a:solidFill>
                  <a:srgbClr val="64748B"/>
                </a:solidFill>
              </a:rPr>
              <a:t>R =</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0.40 ΔRecall</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+ 0.22 ΔRecall@0.75</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+ 0.45 ΔSmallRecall</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+ 0.15 ΔPrecision</a:t>
            </a:r>
            <a:endParaRPr lang="en-US" altLang="zh-CN" sz="1600" b="0">
              <a:solidFill>
                <a:srgbClr val="64748B"/>
              </a:solidFill>
            </a:endParaRPr>
          </a:p>
          <a:p>
            <a:pPr algn="l">
              <a:buNone/>
              <a:defRPr sz="1200" b="0">
                <a:solidFill>
                  <a:srgbClr val="64748B"/>
                </a:solidFill>
              </a:defRPr>
            </a:pPr>
            <a:r>
              <a:rPr lang="zh-CN" altLang="en-US" sz="1600" b="0">
                <a:solidFill>
                  <a:srgbClr val="64748B"/>
                </a:solidFill>
              </a:rPr>
              <a:t>- 候选数量成本</a:t>
            </a:r>
            <a:endParaRPr lang="zh-CN" altLang="en-US" sz="1600" b="0">
              <a:solidFill>
                <a:srgbClr val="64748B"/>
              </a:solidFill>
            </a:endParaRPr>
          </a:p>
          <a:p>
            <a:pPr algn="l">
              <a:buNone/>
              <a:defRPr sz="1200" b="0">
                <a:solidFill>
                  <a:srgbClr val="64748B"/>
                </a:solidFill>
              </a:defRPr>
            </a:pPr>
            <a:r>
              <a:rPr lang="zh-CN" altLang="en-US" sz="1600" b="0">
                <a:solidFill>
                  <a:srgbClr val="64748B"/>
                </a:solidFill>
              </a:rPr>
              <a:t>- 动作成本</a:t>
            </a:r>
            <a:endParaRPr lang="zh-CN" altLang="en-US" sz="1600" b="0">
              <a:solidFill>
                <a:srgbClr val="64748B"/>
              </a:solidFill>
            </a:endParaRPr>
          </a:p>
          <a:p>
            <a:pPr algn="l">
              <a:buNone/>
              <a:defRPr sz="1200" b="0">
                <a:solidFill>
                  <a:srgbClr val="64748B"/>
                </a:solidFill>
              </a:defRPr>
            </a:pPr>
            <a:r>
              <a:rPr lang="en-US" altLang="zh-CN" sz="1600" b="0">
                <a:solidFill>
                  <a:srgbClr val="64748B"/>
                </a:solidFill>
              </a:rPr>
              <a:t>- STOP </a:t>
            </a:r>
            <a:r>
              <a:rPr lang="zh-CN" altLang="en-US" sz="1600" b="0">
                <a:solidFill>
                  <a:srgbClr val="64748B"/>
                </a:solidFill>
              </a:rPr>
              <a:t>惩罚</a:t>
            </a:r>
            <a:endParaRPr lang="zh-CN" altLang="en-US" sz="1600" b="0">
              <a:solidFill>
                <a:srgbClr val="64748B"/>
              </a:solidFill>
            </a:endParaRPr>
          </a:p>
        </p:txBody>
      </p:sp>
      <p:sp>
        <p:nvSpPr>
          <p:cNvPr id="17" name="矩形 16"/>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8" name="矩形 17"/>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10</a:t>
            </a:r>
            <a:endParaRPr sz="900" b="1">
              <a:solidFill>
                <a:srgbClr val="18A999"/>
              </a:solidFill>
            </a:endParaRPr>
          </a:p>
        </p:txBody>
      </p:sp>
      <p:sp>
        <p:nvSpPr>
          <p:cNvPr id="20" name="矩形 19"/>
          <p:cNvSpPr>
            <a:spLocks noGrp="1"/>
          </p:cNvSpPr>
          <p:nvPr>
            <p:custDataLst>
              <p:tags r:id="rId13"/>
            </p:custDataLst>
          </p:nvPr>
        </p:nvSpPr>
        <p:spPr>
          <a:xfrm>
            <a:off x="1028700" y="5147310"/>
            <a:ext cx="323850" cy="38100"/>
          </a:xfrm>
          <a:prstGeom prst="rect">
            <a:avLst/>
          </a:prstGeom>
          <a:solidFill>
            <a:srgbClr val="F58A29"/>
          </a:solidFill>
          <a:ln w="0">
            <a:solidFill>
              <a:srgbClr val="F58A29"/>
            </a:solidFill>
            <a:prstDash val="solid"/>
          </a:ln>
        </p:spPr>
      </p:sp>
      <p:sp>
        <p:nvSpPr>
          <p:cNvPr id="21" name="矩形 20"/>
          <p:cNvSpPr>
            <a:spLocks noGrp="1"/>
          </p:cNvSpPr>
          <p:nvPr>
            <p:custDataLst>
              <p:tags r:id="rId14"/>
            </p:custDataLst>
          </p:nvPr>
        </p:nvSpPr>
        <p:spPr>
          <a:xfrm>
            <a:off x="839470" y="5185410"/>
            <a:ext cx="2476500" cy="266700"/>
          </a:xfrm>
          <a:prstGeom prst="rect">
            <a:avLst/>
          </a:prstGeom>
          <a:noFill/>
          <a:ln w="0">
            <a:noFill/>
            <a:prstDash val="solid"/>
          </a:ln>
        </p:spPr>
        <p:txBody>
          <a:bodyPr anchor="ctr"/>
          <a:lstStyle/>
          <a:p>
            <a:pPr>
              <a:buNone/>
              <a:defRPr sz="1125" b="1">
                <a:solidFill>
                  <a:srgbClr val="F58A29"/>
                </a:solidFill>
              </a:defRPr>
            </a:pPr>
            <a:r>
              <a:rPr lang="en-US" altLang="zh-CN" sz="1125" b="1">
                <a:solidFill>
                  <a:srgbClr val="F58A29"/>
                </a:solidFill>
              </a:rPr>
              <a:t>     </a:t>
            </a:r>
            <a:r>
              <a:rPr lang="zh-CN" altLang="en-US" sz="1125" b="1">
                <a:solidFill>
                  <a:srgbClr val="F58A29"/>
                </a:solidFill>
              </a:rPr>
              <a:t>全局</a:t>
            </a:r>
            <a:r>
              <a:rPr lang="en-US" altLang="zh-CN" sz="1125" b="1">
                <a:solidFill>
                  <a:srgbClr val="F58A29"/>
                </a:solidFill>
              </a:rPr>
              <a:t>+</a:t>
            </a:r>
            <a:r>
              <a:rPr lang="zh-CN" altLang="en-US" sz="1125" b="1">
                <a:solidFill>
                  <a:srgbClr val="F58A29"/>
                </a:solidFill>
              </a:rPr>
              <a:t>类别</a:t>
            </a:r>
            <a:r>
              <a:rPr lang="zh-CN" altLang="en-US" sz="1125" b="1">
                <a:solidFill>
                  <a:srgbClr val="F58A29"/>
                </a:solidFill>
              </a:rPr>
              <a:t>信息</a:t>
            </a:r>
            <a:endParaRPr lang="zh-CN" altLang="en-US" sz="1125" b="1">
              <a:solidFill>
                <a:srgbClr val="F58A29"/>
              </a:solidFill>
            </a:endParaRPr>
          </a:p>
        </p:txBody>
      </p:sp>
      <p:sp>
        <p:nvSpPr>
          <p:cNvPr id="22" name="矩形 21"/>
          <p:cNvSpPr>
            <a:spLocks noGrp="1"/>
          </p:cNvSpPr>
          <p:nvPr>
            <p:custDataLst>
              <p:tags r:id="rId15"/>
            </p:custDataLst>
          </p:nvPr>
        </p:nvSpPr>
        <p:spPr>
          <a:xfrm>
            <a:off x="4799965" y="5109210"/>
            <a:ext cx="323850" cy="38100"/>
          </a:xfrm>
          <a:prstGeom prst="rect">
            <a:avLst/>
          </a:prstGeom>
          <a:solidFill>
            <a:srgbClr val="1FAF9F"/>
          </a:solidFill>
          <a:ln w="0">
            <a:solidFill>
              <a:srgbClr val="1FAF9F"/>
            </a:solidFill>
            <a:prstDash val="solid"/>
          </a:ln>
        </p:spPr>
      </p:sp>
      <p:sp>
        <p:nvSpPr>
          <p:cNvPr id="23" name="矩形 22"/>
          <p:cNvSpPr>
            <a:spLocks noGrp="1"/>
          </p:cNvSpPr>
          <p:nvPr>
            <p:custDataLst>
              <p:tags r:id="rId16"/>
            </p:custDataLst>
          </p:nvPr>
        </p:nvSpPr>
        <p:spPr>
          <a:xfrm>
            <a:off x="4705350" y="5147310"/>
            <a:ext cx="2476500" cy="266700"/>
          </a:xfrm>
          <a:prstGeom prst="rect">
            <a:avLst/>
          </a:prstGeom>
          <a:noFill/>
          <a:ln w="0">
            <a:noFill/>
            <a:prstDash val="solid"/>
          </a:ln>
        </p:spPr>
        <p:txBody>
          <a:bodyPr anchor="ctr"/>
          <a:lstStyle/>
          <a:p>
            <a:pPr>
              <a:buNone/>
              <a:defRPr sz="1125" b="1">
                <a:solidFill>
                  <a:srgbClr val="1FAF9F"/>
                </a:solidFill>
              </a:defRPr>
            </a:pPr>
            <a:r>
              <a:rPr lang="zh-CN" sz="1125" b="1">
                <a:solidFill>
                  <a:srgbClr val="1FAF9F"/>
                </a:solidFill>
              </a:rPr>
              <a:t>动态生成、提示</a:t>
            </a:r>
            <a:r>
              <a:rPr lang="zh-CN" sz="1125" b="1">
                <a:solidFill>
                  <a:srgbClr val="1FAF9F"/>
                </a:solidFill>
              </a:rPr>
              <a:t>选择</a:t>
            </a:r>
            <a:endParaRPr lang="zh-CN" sz="1125" b="1">
              <a:solidFill>
                <a:srgbClr val="1FAF9F"/>
              </a:solidFill>
            </a:endParaRPr>
          </a:p>
        </p:txBody>
      </p:sp>
      <p:sp>
        <p:nvSpPr>
          <p:cNvPr id="24" name="矩形 23"/>
          <p:cNvSpPr>
            <a:spLocks noGrp="1"/>
          </p:cNvSpPr>
          <p:nvPr>
            <p:custDataLst>
              <p:tags r:id="rId17"/>
            </p:custDataLst>
          </p:nvPr>
        </p:nvSpPr>
        <p:spPr>
          <a:xfrm>
            <a:off x="8448675" y="5071110"/>
            <a:ext cx="323850" cy="38100"/>
          </a:xfrm>
          <a:prstGeom prst="rect">
            <a:avLst/>
          </a:prstGeom>
          <a:solidFill>
            <a:srgbClr val="EF5A78"/>
          </a:solidFill>
          <a:ln w="0">
            <a:solidFill>
              <a:srgbClr val="EF5A78"/>
            </a:solidFill>
            <a:prstDash val="solid"/>
          </a:ln>
        </p:spPr>
      </p:sp>
      <p:sp>
        <p:nvSpPr>
          <p:cNvPr id="25" name="矩形 24"/>
          <p:cNvSpPr>
            <a:spLocks noGrp="1"/>
          </p:cNvSpPr>
          <p:nvPr>
            <p:custDataLst>
              <p:tags r:id="rId18"/>
            </p:custDataLst>
          </p:nvPr>
        </p:nvSpPr>
        <p:spPr>
          <a:xfrm>
            <a:off x="8420100" y="5147310"/>
            <a:ext cx="2476500" cy="266700"/>
          </a:xfrm>
          <a:prstGeom prst="rect">
            <a:avLst/>
          </a:prstGeom>
          <a:noFill/>
          <a:ln w="0">
            <a:noFill/>
            <a:prstDash val="solid"/>
          </a:ln>
        </p:spPr>
        <p:txBody>
          <a:bodyPr anchor="ctr"/>
          <a:lstStyle/>
          <a:p>
            <a:pPr>
              <a:buNone/>
              <a:defRPr sz="1125" b="1">
                <a:solidFill>
                  <a:srgbClr val="EF5A78"/>
                </a:solidFill>
              </a:defRPr>
            </a:pPr>
            <a:r>
              <a:rPr lang="zh-CN" sz="1125" b="1">
                <a:solidFill>
                  <a:srgbClr val="EF5A78"/>
                </a:solidFill>
              </a:rPr>
              <a:t>小目标收益、候选</a:t>
            </a:r>
            <a:r>
              <a:rPr lang="zh-CN" sz="1125" b="1">
                <a:solidFill>
                  <a:srgbClr val="EF5A78"/>
                </a:solidFill>
              </a:rPr>
              <a:t>数量</a:t>
            </a:r>
            <a:endParaRPr lang="zh-CN" sz="1125" b="1">
              <a:solidFill>
                <a:srgbClr val="EF5A78"/>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lang="en-US" sz="975" b="1">
                <a:solidFill>
                  <a:srgbClr val="18A999"/>
                </a:solidFill>
                <a:latin typeface="微软雅黑" panose="020B0503020204020204" charset="-122"/>
                <a:ea typeface="微软雅黑" panose="020B0503020204020204" charset="-122"/>
              </a:rPr>
              <a:t>RESRTORING</a:t>
            </a:r>
            <a:endParaRPr lang="en-US" sz="975" b="1">
              <a:solidFill>
                <a:srgbClr val="18A999"/>
              </a:solidFill>
              <a:latin typeface="微软雅黑" panose="020B0503020204020204" charset="-122"/>
              <a:ea typeface="微软雅黑" panose="020B0503020204020204" charset="-122"/>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融合富元信息重新</a:t>
            </a:r>
            <a:r>
              <a:rPr lang="zh-CN" sz="2700" b="1">
                <a:solidFill>
                  <a:srgbClr val="102A43"/>
                </a:solidFill>
              </a:rPr>
              <a:t>排序</a:t>
            </a:r>
            <a:endParaRPr lang="zh-CN"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17" name="矩形 16"/>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1">
                <a:solidFill>
                  <a:srgbClr val="64748B"/>
                </a:solidFill>
              </a:rPr>
              <a:t>HIT Shenzhen  |  毕业答辩</a:t>
            </a:r>
            <a:endParaRPr sz="825" b="1">
              <a:solidFill>
                <a:srgbClr val="64748B"/>
              </a:solidFill>
            </a:endParaRPr>
          </a:p>
        </p:txBody>
      </p:sp>
      <p:sp>
        <p:nvSpPr>
          <p:cNvPr id="18" name="矩形 17"/>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a:solidFill>
                  <a:srgbClr val="18A999"/>
                </a:solidFill>
              </a:rPr>
              <a:t>11</a:t>
            </a:r>
            <a:endParaRPr sz="900">
              <a:solidFill>
                <a:srgbClr val="18A999"/>
              </a:solidFill>
            </a:endParaRPr>
          </a:p>
        </p:txBody>
      </p:sp>
      <p:cxnSp>
        <p:nvCxnSpPr>
          <p:cNvPr id="21" name="直接箭头连接符 20"/>
          <p:cNvCxnSpPr/>
          <p:nvPr/>
        </p:nvCxnSpPr>
        <p:spPr>
          <a:xfrm flipV="1">
            <a:off x="948690" y="1522095"/>
            <a:ext cx="10295255" cy="20955"/>
          </a:xfrm>
          <a:prstGeom prst="straightConnector1">
            <a:avLst/>
          </a:prstGeom>
          <a:ln>
            <a:solidFill>
              <a:schemeClr val="accent3">
                <a:lumMod val="75000"/>
              </a:schemeClr>
            </a:solidFill>
            <a:headEnd type="oval"/>
            <a:tailEnd type="oval"/>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407670" y="1340485"/>
            <a:ext cx="417195" cy="364490"/>
          </a:xfrm>
          <a:prstGeom prst="rect">
            <a:avLst/>
          </a:prstGeom>
          <a:noFill/>
        </p:spPr>
        <p:txBody>
          <a:bodyPr wrap="square" rtlCol="0">
            <a:noAutofit/>
          </a:bodyPr>
          <a:p>
            <a:r>
              <a:rPr lang="zh-CN" altLang="en-US" b="1"/>
              <a:t>低</a:t>
            </a:r>
            <a:endParaRPr lang="zh-CN" altLang="en-US" b="1"/>
          </a:p>
        </p:txBody>
      </p:sp>
      <p:sp>
        <p:nvSpPr>
          <p:cNvPr id="23" name="文本框 22"/>
          <p:cNvSpPr txBox="1"/>
          <p:nvPr/>
        </p:nvSpPr>
        <p:spPr>
          <a:xfrm>
            <a:off x="11496675" y="1271905"/>
            <a:ext cx="4064000" cy="368300"/>
          </a:xfrm>
          <a:prstGeom prst="rect">
            <a:avLst/>
          </a:prstGeom>
          <a:noFill/>
        </p:spPr>
        <p:txBody>
          <a:bodyPr wrap="square" rtlCol="0">
            <a:spAutoFit/>
          </a:bodyPr>
          <a:p>
            <a:r>
              <a:rPr lang="zh-CN" altLang="en-US" b="1"/>
              <a:t>高</a:t>
            </a:r>
            <a:endParaRPr lang="zh-CN" altLang="en-US" b="1"/>
          </a:p>
        </p:txBody>
      </p:sp>
      <p:sp>
        <p:nvSpPr>
          <p:cNvPr id="24" name="矩形 23"/>
          <p:cNvSpPr/>
          <p:nvPr/>
        </p:nvSpPr>
        <p:spPr>
          <a:xfrm>
            <a:off x="695325" y="1701165"/>
            <a:ext cx="4608195" cy="36779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b="1"/>
          </a:p>
        </p:txBody>
      </p:sp>
      <p:sp>
        <p:nvSpPr>
          <p:cNvPr id="26" name="矩形 25"/>
          <p:cNvSpPr/>
          <p:nvPr/>
        </p:nvSpPr>
        <p:spPr>
          <a:xfrm>
            <a:off x="983615" y="2560955"/>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1</a:t>
            </a:r>
            <a:endParaRPr lang="en-US" altLang="zh-CN" b="1"/>
          </a:p>
        </p:txBody>
      </p:sp>
      <p:sp>
        <p:nvSpPr>
          <p:cNvPr id="27" name="矩形 26"/>
          <p:cNvSpPr/>
          <p:nvPr/>
        </p:nvSpPr>
        <p:spPr>
          <a:xfrm>
            <a:off x="983615" y="3209290"/>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2</a:t>
            </a:r>
            <a:endParaRPr lang="en-US" altLang="zh-CN" b="1"/>
          </a:p>
        </p:txBody>
      </p:sp>
      <p:sp>
        <p:nvSpPr>
          <p:cNvPr id="29" name="矩形 28"/>
          <p:cNvSpPr/>
          <p:nvPr/>
        </p:nvSpPr>
        <p:spPr>
          <a:xfrm>
            <a:off x="983615" y="4581525"/>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n</a:t>
            </a:r>
            <a:endParaRPr lang="en-US" altLang="zh-CN" b="1"/>
          </a:p>
        </p:txBody>
      </p:sp>
      <p:sp>
        <p:nvSpPr>
          <p:cNvPr id="30" name="文本框 29"/>
          <p:cNvSpPr txBox="1"/>
          <p:nvPr/>
        </p:nvSpPr>
        <p:spPr>
          <a:xfrm>
            <a:off x="2192020" y="1915160"/>
            <a:ext cx="1614805" cy="521970"/>
          </a:xfrm>
          <a:prstGeom prst="rect">
            <a:avLst/>
          </a:prstGeom>
          <a:noFill/>
        </p:spPr>
        <p:txBody>
          <a:bodyPr wrap="square" rtlCol="0">
            <a:spAutoFit/>
          </a:bodyPr>
          <a:p>
            <a:r>
              <a:rPr lang="zh-CN" altLang="en-US" sz="2800" b="1">
                <a:solidFill>
                  <a:schemeClr val="bg1"/>
                </a:solidFill>
                <a:latin typeface="黑体" panose="02010609060101010101" charset="-122"/>
                <a:ea typeface="黑体" panose="02010609060101010101" charset="-122"/>
              </a:rPr>
              <a:t>初始状态</a:t>
            </a:r>
            <a:endParaRPr lang="zh-CN" altLang="en-US" sz="2800" b="1">
              <a:solidFill>
                <a:schemeClr val="bg1"/>
              </a:solidFill>
              <a:latin typeface="黑体" panose="02010609060101010101" charset="-122"/>
              <a:ea typeface="黑体" panose="02010609060101010101" charset="-122"/>
            </a:endParaRPr>
          </a:p>
        </p:txBody>
      </p:sp>
      <p:sp>
        <p:nvSpPr>
          <p:cNvPr id="31" name="矩形 30"/>
          <p:cNvSpPr/>
          <p:nvPr/>
        </p:nvSpPr>
        <p:spPr>
          <a:xfrm>
            <a:off x="3143885" y="2560955"/>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候选框</a:t>
            </a:r>
            <a:endParaRPr lang="zh-CN" altLang="en-US" b="1">
              <a:solidFill>
                <a:schemeClr val="tx1"/>
              </a:solidFill>
            </a:endParaRPr>
          </a:p>
        </p:txBody>
      </p:sp>
      <p:sp>
        <p:nvSpPr>
          <p:cNvPr id="32" name="矩形 31"/>
          <p:cNvSpPr/>
          <p:nvPr/>
        </p:nvSpPr>
        <p:spPr>
          <a:xfrm>
            <a:off x="3143885" y="3209290"/>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sym typeface="+mn-ea"/>
              </a:rPr>
              <a:t>候选框</a:t>
            </a:r>
            <a:endParaRPr lang="zh-CN" altLang="en-US" b="1">
              <a:solidFill>
                <a:schemeClr val="tx1"/>
              </a:solidFill>
              <a:sym typeface="+mn-ea"/>
            </a:endParaRPr>
          </a:p>
        </p:txBody>
      </p:sp>
      <p:sp>
        <p:nvSpPr>
          <p:cNvPr id="33" name="矩形 32"/>
          <p:cNvSpPr/>
          <p:nvPr/>
        </p:nvSpPr>
        <p:spPr>
          <a:xfrm>
            <a:off x="3143885" y="4581525"/>
            <a:ext cx="1830070" cy="452755"/>
          </a:xfrm>
          <a:prstGeom prst="rect">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真实框</a:t>
            </a:r>
            <a:endParaRPr lang="zh-CN" altLang="en-US" b="1">
              <a:solidFill>
                <a:schemeClr val="tx1"/>
              </a:solidFill>
            </a:endParaRPr>
          </a:p>
        </p:txBody>
      </p:sp>
      <p:sp>
        <p:nvSpPr>
          <p:cNvPr id="34" name="右箭头 33"/>
          <p:cNvSpPr/>
          <p:nvPr/>
        </p:nvSpPr>
        <p:spPr>
          <a:xfrm>
            <a:off x="5520055" y="2636520"/>
            <a:ext cx="1291590" cy="157289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黑体" panose="02010609060101010101" charset="-122"/>
                <a:ea typeface="黑体" panose="02010609060101010101" charset="-122"/>
              </a:rPr>
              <a:t>排序</a:t>
            </a:r>
            <a:endParaRPr lang="zh-CN" altLang="en-US" sz="2400" b="1">
              <a:latin typeface="黑体" panose="02010609060101010101" charset="-122"/>
              <a:ea typeface="黑体" panose="02010609060101010101" charset="-122"/>
            </a:endParaRPr>
          </a:p>
          <a:p>
            <a:pPr algn="ctr"/>
            <a:r>
              <a:rPr lang="zh-CN" altLang="en-US" sz="2400" b="1">
                <a:latin typeface="黑体" panose="02010609060101010101" charset="-122"/>
                <a:ea typeface="黑体" panose="02010609060101010101" charset="-122"/>
              </a:rPr>
              <a:t>优化</a:t>
            </a:r>
            <a:endParaRPr lang="zh-CN" altLang="en-US" sz="2400" b="1">
              <a:latin typeface="黑体" panose="02010609060101010101" charset="-122"/>
              <a:ea typeface="黑体" panose="02010609060101010101" charset="-122"/>
            </a:endParaRPr>
          </a:p>
        </p:txBody>
      </p:sp>
      <p:cxnSp>
        <p:nvCxnSpPr>
          <p:cNvPr id="35" name="直接连接符 34"/>
          <p:cNvCxnSpPr/>
          <p:nvPr/>
        </p:nvCxnSpPr>
        <p:spPr>
          <a:xfrm>
            <a:off x="2999740" y="3860800"/>
            <a:ext cx="0" cy="648335"/>
          </a:xfrm>
          <a:prstGeom prst="line">
            <a:avLst/>
          </a:prstGeom>
          <a:ln w="57150">
            <a:solidFill>
              <a:schemeClr val="bg1"/>
            </a:solidFill>
            <a:prstDash val="sysDot"/>
          </a:ln>
        </p:spPr>
        <p:style>
          <a:lnRef idx="2">
            <a:schemeClr val="accent1"/>
          </a:lnRef>
          <a:fillRef idx="0">
            <a:srgbClr val="FFFFFF"/>
          </a:fillRef>
          <a:effectRef idx="0">
            <a:srgbClr val="FFFFFF"/>
          </a:effectRef>
          <a:fontRef idx="minor">
            <a:schemeClr val="tx1"/>
          </a:fontRef>
        </p:style>
      </p:cxnSp>
      <p:sp>
        <p:nvSpPr>
          <p:cNvPr id="36" name="矩形 35"/>
          <p:cNvSpPr/>
          <p:nvPr/>
        </p:nvSpPr>
        <p:spPr>
          <a:xfrm>
            <a:off x="6888480" y="1746250"/>
            <a:ext cx="4608195" cy="3632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b="1"/>
          </a:p>
        </p:txBody>
      </p:sp>
      <p:sp>
        <p:nvSpPr>
          <p:cNvPr id="37" name="矩形 36"/>
          <p:cNvSpPr/>
          <p:nvPr/>
        </p:nvSpPr>
        <p:spPr>
          <a:xfrm>
            <a:off x="7176770" y="2606040"/>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1</a:t>
            </a:r>
            <a:endParaRPr lang="en-US" altLang="zh-CN" b="1"/>
          </a:p>
        </p:txBody>
      </p:sp>
      <p:sp>
        <p:nvSpPr>
          <p:cNvPr id="38" name="矩形 37"/>
          <p:cNvSpPr/>
          <p:nvPr/>
        </p:nvSpPr>
        <p:spPr>
          <a:xfrm>
            <a:off x="7176770" y="3254375"/>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2</a:t>
            </a:r>
            <a:endParaRPr lang="en-US" altLang="zh-CN" b="1"/>
          </a:p>
        </p:txBody>
      </p:sp>
      <p:sp>
        <p:nvSpPr>
          <p:cNvPr id="39" name="矩形 38"/>
          <p:cNvSpPr/>
          <p:nvPr/>
        </p:nvSpPr>
        <p:spPr>
          <a:xfrm>
            <a:off x="7176770" y="4626610"/>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n</a:t>
            </a:r>
            <a:endParaRPr lang="en-US" altLang="zh-CN" b="1"/>
          </a:p>
        </p:txBody>
      </p:sp>
      <p:sp>
        <p:nvSpPr>
          <p:cNvPr id="40" name="文本框 39"/>
          <p:cNvSpPr txBox="1"/>
          <p:nvPr/>
        </p:nvSpPr>
        <p:spPr>
          <a:xfrm>
            <a:off x="8183880" y="1933575"/>
            <a:ext cx="2080895" cy="521970"/>
          </a:xfrm>
          <a:prstGeom prst="rect">
            <a:avLst/>
          </a:prstGeom>
          <a:noFill/>
        </p:spPr>
        <p:txBody>
          <a:bodyPr wrap="square" rtlCol="0">
            <a:spAutoFit/>
          </a:bodyPr>
          <a:p>
            <a:r>
              <a:rPr lang="zh-CN" altLang="en-US" sz="2800" b="1">
                <a:solidFill>
                  <a:schemeClr val="bg1"/>
                </a:solidFill>
                <a:latin typeface="黑体" panose="02010609060101010101" charset="-122"/>
                <a:ea typeface="黑体" panose="02010609060101010101" charset="-122"/>
              </a:rPr>
              <a:t>优化后状态</a:t>
            </a:r>
            <a:endParaRPr lang="zh-CN" altLang="en-US" sz="2800" b="1">
              <a:solidFill>
                <a:schemeClr val="bg1"/>
              </a:solidFill>
              <a:latin typeface="黑体" panose="02010609060101010101" charset="-122"/>
              <a:ea typeface="黑体" panose="02010609060101010101" charset="-122"/>
            </a:endParaRPr>
          </a:p>
        </p:txBody>
      </p:sp>
      <p:sp>
        <p:nvSpPr>
          <p:cNvPr id="41" name="矩形 40"/>
          <p:cNvSpPr/>
          <p:nvPr/>
        </p:nvSpPr>
        <p:spPr>
          <a:xfrm>
            <a:off x="9331960" y="3246120"/>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候选框</a:t>
            </a:r>
            <a:endParaRPr lang="zh-CN" altLang="en-US" b="1">
              <a:solidFill>
                <a:schemeClr val="tx1"/>
              </a:solidFill>
            </a:endParaRPr>
          </a:p>
        </p:txBody>
      </p:sp>
      <p:sp>
        <p:nvSpPr>
          <p:cNvPr id="42" name="矩形 41"/>
          <p:cNvSpPr/>
          <p:nvPr/>
        </p:nvSpPr>
        <p:spPr>
          <a:xfrm>
            <a:off x="9331960" y="4626610"/>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sym typeface="+mn-ea"/>
              </a:rPr>
              <a:t>候选框</a:t>
            </a:r>
            <a:endParaRPr lang="zh-CN" altLang="en-US" b="1">
              <a:solidFill>
                <a:schemeClr val="tx1"/>
              </a:solidFill>
              <a:sym typeface="+mn-ea"/>
            </a:endParaRPr>
          </a:p>
        </p:txBody>
      </p:sp>
      <p:cxnSp>
        <p:nvCxnSpPr>
          <p:cNvPr id="44" name="直接连接符 43"/>
          <p:cNvCxnSpPr/>
          <p:nvPr/>
        </p:nvCxnSpPr>
        <p:spPr>
          <a:xfrm>
            <a:off x="9192895" y="3905885"/>
            <a:ext cx="0" cy="648335"/>
          </a:xfrm>
          <a:prstGeom prst="line">
            <a:avLst/>
          </a:prstGeom>
          <a:ln w="57150">
            <a:solidFill>
              <a:schemeClr val="bg1"/>
            </a:solidFill>
            <a:prstDash val="sysDot"/>
          </a:ln>
        </p:spPr>
        <p:style>
          <a:lnRef idx="2">
            <a:schemeClr val="accent1"/>
          </a:lnRef>
          <a:fillRef idx="0">
            <a:srgbClr val="FFFFFF"/>
          </a:fillRef>
          <a:effectRef idx="0">
            <a:srgbClr val="FFFFFF"/>
          </a:effectRef>
          <a:fontRef idx="minor">
            <a:schemeClr val="tx1"/>
          </a:fontRef>
        </p:style>
      </p:cxnSp>
      <p:sp>
        <p:nvSpPr>
          <p:cNvPr id="45" name="矩形 44"/>
          <p:cNvSpPr/>
          <p:nvPr/>
        </p:nvSpPr>
        <p:spPr>
          <a:xfrm>
            <a:off x="9335770" y="2606040"/>
            <a:ext cx="1830070" cy="452755"/>
          </a:xfrm>
          <a:prstGeom prst="rect">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真实框</a:t>
            </a:r>
            <a:endParaRPr lang="zh-CN" altLang="en-US" b="1">
              <a:solidFill>
                <a:schemeClr val="tx1"/>
              </a:solidFill>
            </a:endParaRPr>
          </a:p>
        </p:txBody>
      </p:sp>
      <p:sp>
        <p:nvSpPr>
          <p:cNvPr id="46" name="文本框 45"/>
          <p:cNvSpPr txBox="1"/>
          <p:nvPr/>
        </p:nvSpPr>
        <p:spPr>
          <a:xfrm>
            <a:off x="4007485" y="5937250"/>
            <a:ext cx="4064000" cy="460375"/>
          </a:xfrm>
          <a:prstGeom prst="rect">
            <a:avLst/>
          </a:prstGeom>
          <a:noFill/>
        </p:spPr>
        <p:txBody>
          <a:bodyPr wrap="square" rtlCol="0">
            <a:spAutoFit/>
          </a:bodyPr>
          <a:p>
            <a:r>
              <a:rPr lang="zh-CN" altLang="en-US" sz="2400">
                <a:solidFill>
                  <a:srgbClr val="FF0000"/>
                </a:solidFill>
              </a:rPr>
              <a:t>优化后真实数据的排名提高</a:t>
            </a:r>
            <a:endParaRPr lang="zh-CN" altLang="en-US" sz="2400">
              <a:solidFill>
                <a:srgbClr val="FF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18"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806" y="310515"/>
            <a:ext cx="502920" cy="201930"/>
          </a:xfrm>
          <a:prstGeom prst="rect">
            <a:avLst/>
          </a:prstGeom>
          <a:noFill/>
        </p:spPr>
        <p:txBody>
          <a:bodyPr wrap="square" lIns="27432" tIns="9144" rIns="27432" bIns="9144" anchor="ctr">
            <a:spAutoFit/>
          </a:bodyPr>
          <a:lstStyle/>
          <a:p>
            <a:pPr algn="l">
              <a:spcAft>
                <a:spcPts val="0"/>
              </a:spcAft>
            </a:pPr>
            <a:r>
              <a:rPr sz="1200" b="1">
                <a:solidFill>
                  <a:srgbClr val="2D70AA"/>
                </a:solidFill>
                <a:latin typeface="Noto Sans CJK SC"/>
              </a:rPr>
              <a:t>01</a:t>
            </a:r>
            <a:endParaRPr sz="1200" b="1">
              <a:solidFill>
                <a:srgbClr val="2D70AA"/>
              </a:solidFill>
              <a:latin typeface="Noto Sans CJK SC"/>
            </a:endParaRPr>
          </a:p>
        </p:txBody>
      </p:sp>
      <p:sp>
        <p:nvSpPr>
          <p:cNvPr id="4" name="TextBox 3"/>
          <p:cNvSpPr txBox="1"/>
          <p:nvPr/>
        </p:nvSpPr>
        <p:spPr>
          <a:xfrm>
            <a:off x="933005" y="245555"/>
            <a:ext cx="10744200" cy="386715"/>
          </a:xfrm>
          <a:prstGeom prst="rect">
            <a:avLst/>
          </a:prstGeom>
          <a:noFill/>
        </p:spPr>
        <p:txBody>
          <a:bodyPr wrap="square" lIns="27432" tIns="9144" rIns="27432" bIns="9144" anchor="ctr">
            <a:spAutoFit/>
          </a:bodyPr>
          <a:lstStyle/>
          <a:p>
            <a:pPr algn="l">
              <a:spcAft>
                <a:spcPts val="0"/>
              </a:spcAft>
            </a:pPr>
            <a:r>
              <a:rPr sz="2400" b="1">
                <a:solidFill>
                  <a:srgbClr val="192430"/>
                </a:solidFill>
                <a:latin typeface="Noto Sans CJK SC"/>
              </a:rPr>
              <a:t>RL 动态选择与固定策略对比</a:t>
            </a:r>
            <a:endParaRPr sz="2400" b="1">
              <a:solidFill>
                <a:srgbClr val="192430"/>
              </a:solidFill>
              <a:latin typeface="Noto Sans CJK SC"/>
            </a:endParaRPr>
          </a:p>
        </p:txBody>
      </p:sp>
      <p:sp>
        <p:nvSpPr>
          <p:cNvPr id="5" name="TextBox 4"/>
          <p:cNvSpPr txBox="1"/>
          <p:nvPr/>
        </p:nvSpPr>
        <p:spPr>
          <a:xfrm>
            <a:off x="942150" y="705993"/>
            <a:ext cx="10698480" cy="179070"/>
          </a:xfrm>
          <a:prstGeom prst="rect">
            <a:avLst/>
          </a:prstGeom>
          <a:noFill/>
        </p:spPr>
        <p:txBody>
          <a:bodyPr wrap="square" lIns="27432" tIns="9144" rIns="27432" bIns="9144" anchor="ctr">
            <a:spAutoFit/>
          </a:bodyPr>
          <a:lstStyle/>
          <a:p>
            <a:pPr algn="l">
              <a:spcAft>
                <a:spcPts val="0"/>
              </a:spcAft>
            </a:pPr>
            <a:r>
              <a:rPr sz="1050" b="0">
                <a:solidFill>
                  <a:srgbClr val="5B6875"/>
                </a:solidFill>
                <a:latin typeface="Noto Sans CJK SC"/>
              </a:rPr>
              <a:t>同一评测协议 · Query base、固定动作三轮 RL 与 Qwen 动态动作三轮对比</a:t>
            </a:r>
            <a:endParaRPr sz="1050" b="0">
              <a:solidFill>
                <a:srgbClr val="5B6875"/>
              </a:solidFill>
              <a:latin typeface="Noto Sans CJK SC"/>
            </a:endParaRPr>
          </a:p>
        </p:txBody>
      </p:sp>
      <p:sp>
        <p:nvSpPr>
          <p:cNvPr id="6" name="TextBox 5"/>
          <p:cNvSpPr txBox="1"/>
          <p:nvPr/>
        </p:nvSpPr>
        <p:spPr>
          <a:xfrm>
            <a:off x="11393742" y="6523863"/>
            <a:ext cx="347472" cy="156210"/>
          </a:xfrm>
          <a:prstGeom prst="rect">
            <a:avLst/>
          </a:prstGeom>
          <a:noFill/>
        </p:spPr>
        <p:txBody>
          <a:bodyPr wrap="square" lIns="27432" tIns="9144" rIns="27432" bIns="9144" anchor="ctr">
            <a:spAutoFit/>
          </a:bodyPr>
          <a:lstStyle/>
          <a:p>
            <a:pPr algn="r">
              <a:spcAft>
                <a:spcPts val="0"/>
              </a:spcAft>
            </a:pPr>
            <a:r>
              <a:rPr sz="900" b="0">
                <a:solidFill>
                  <a:srgbClr val="5B6875"/>
                </a:solidFill>
                <a:latin typeface="Noto Sans CJK SC"/>
              </a:rPr>
              <a:t>1</a:t>
            </a:r>
            <a:endParaRPr sz="900" b="0">
              <a:solidFill>
                <a:srgbClr val="5B6875"/>
              </a:solidFill>
              <a:latin typeface="Noto Sans CJK SC"/>
            </a:endParaRPr>
          </a:p>
        </p:txBody>
      </p:sp>
      <p:sp>
        <p:nvSpPr>
          <p:cNvPr id="7" name="Rounded Rectangle 6"/>
          <p:cNvSpPr/>
          <p:nvPr/>
        </p:nvSpPr>
        <p:spPr>
          <a:xfrm>
            <a:off x="503238"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3238"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830"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固定 RL · Acc@0.5</a:t>
            </a:r>
            <a:endParaRPr sz="950" b="0">
              <a:solidFill>
                <a:srgbClr val="5B6875"/>
              </a:solidFill>
              <a:latin typeface="Noto Sans CJK SC"/>
            </a:endParaRPr>
          </a:p>
        </p:txBody>
      </p:sp>
      <p:sp>
        <p:nvSpPr>
          <p:cNvPr id="10" name="TextBox 9"/>
          <p:cNvSpPr txBox="1"/>
          <p:nvPr/>
        </p:nvSpPr>
        <p:spPr>
          <a:xfrm>
            <a:off x="667830" y="1355661"/>
            <a:ext cx="1901952" cy="278765"/>
          </a:xfrm>
          <a:prstGeom prst="rect">
            <a:avLst/>
          </a:prstGeom>
          <a:noFill/>
        </p:spPr>
        <p:txBody>
          <a:bodyPr wrap="square" lIns="27432" tIns="9144" rIns="27432" bIns="9144" anchor="ctr">
            <a:spAutoFit/>
          </a:bodyPr>
          <a:lstStyle/>
          <a:p>
            <a:pPr algn="l">
              <a:spcAft>
                <a:spcPts val="0"/>
              </a:spcAft>
            </a:pPr>
            <a:r>
              <a:rPr sz="1700" b="1">
                <a:solidFill>
                  <a:srgbClr val="2D70AA"/>
                </a:solidFill>
                <a:latin typeface="Noto Sans CJK SC"/>
              </a:rPr>
              <a:t>0.5293</a:t>
            </a:r>
            <a:endParaRPr sz="1700" b="1">
              <a:solidFill>
                <a:srgbClr val="2D70AA"/>
              </a:solidFill>
              <a:latin typeface="Noto Sans CJK SC"/>
            </a:endParaRPr>
          </a:p>
        </p:txBody>
      </p:sp>
      <p:sp>
        <p:nvSpPr>
          <p:cNvPr id="11" name="Rounded Rectangle 10"/>
          <p:cNvSpPr/>
          <p:nvPr/>
        </p:nvSpPr>
        <p:spPr>
          <a:xfrm>
            <a:off x="2770950"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950"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542"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动态 RL · 候选框</a:t>
            </a:r>
            <a:endParaRPr sz="950" b="0">
              <a:solidFill>
                <a:srgbClr val="5B6875"/>
              </a:solidFill>
              <a:latin typeface="Noto Sans CJK SC"/>
            </a:endParaRPr>
          </a:p>
        </p:txBody>
      </p:sp>
      <p:sp>
        <p:nvSpPr>
          <p:cNvPr id="14" name="TextBox 13"/>
          <p:cNvSpPr txBox="1"/>
          <p:nvPr/>
        </p:nvSpPr>
        <p:spPr>
          <a:xfrm>
            <a:off x="2935542" y="1374711"/>
            <a:ext cx="1901952" cy="240665"/>
          </a:xfrm>
          <a:prstGeom prst="rect">
            <a:avLst/>
          </a:prstGeom>
          <a:noFill/>
        </p:spPr>
        <p:txBody>
          <a:bodyPr wrap="square" lIns="27432" tIns="9144" rIns="27432" bIns="9144" anchor="ctr">
            <a:spAutoFit/>
          </a:bodyPr>
          <a:lstStyle/>
          <a:p>
            <a:pPr algn="l">
              <a:spcAft>
                <a:spcPts val="0"/>
              </a:spcAft>
            </a:pPr>
            <a:r>
              <a:rPr sz="1450" b="1">
                <a:solidFill>
                  <a:srgbClr val="17857D"/>
                </a:solidFill>
                <a:latin typeface="Noto Sans CJK SC"/>
              </a:rPr>
              <a:t>35,869 · −12.3%</a:t>
            </a:r>
            <a:endParaRPr sz="1450" b="1">
              <a:solidFill>
                <a:srgbClr val="17857D"/>
              </a:solidFill>
              <a:latin typeface="Noto Sans CJK SC"/>
            </a:endParaRPr>
          </a:p>
        </p:txBody>
      </p:sp>
      <p:sp>
        <p:nvSpPr>
          <p:cNvPr id="15" name="Rounded Rectangle 14"/>
          <p:cNvSpPr/>
          <p:nvPr/>
        </p:nvSpPr>
        <p:spPr>
          <a:xfrm>
            <a:off x="5038662"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38662"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3254"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动态 RL · mAP@0.5</a:t>
            </a:r>
            <a:endParaRPr sz="950" b="0">
              <a:solidFill>
                <a:srgbClr val="5B6875"/>
              </a:solidFill>
              <a:latin typeface="Noto Sans CJK SC"/>
            </a:endParaRPr>
          </a:p>
        </p:txBody>
      </p:sp>
      <p:sp>
        <p:nvSpPr>
          <p:cNvPr id="18" name="TextBox 17"/>
          <p:cNvSpPr txBox="1"/>
          <p:nvPr/>
        </p:nvSpPr>
        <p:spPr>
          <a:xfrm>
            <a:off x="5203254" y="1370901"/>
            <a:ext cx="1901952" cy="248285"/>
          </a:xfrm>
          <a:prstGeom prst="rect">
            <a:avLst/>
          </a:prstGeom>
          <a:noFill/>
        </p:spPr>
        <p:txBody>
          <a:bodyPr wrap="square" lIns="27432" tIns="9144" rIns="27432" bIns="9144" anchor="ctr">
            <a:spAutoFit/>
          </a:bodyPr>
          <a:lstStyle/>
          <a:p>
            <a:pPr algn="l">
              <a:spcAft>
                <a:spcPts val="0"/>
              </a:spcAft>
            </a:pPr>
            <a:r>
              <a:rPr sz="1500" b="1">
                <a:solidFill>
                  <a:srgbClr val="D99124"/>
                </a:solidFill>
                <a:latin typeface="Noto Sans CJK SC"/>
              </a:rPr>
              <a:t>0.1424 · 最高</a:t>
            </a:r>
            <a:endParaRPr sz="1500" b="1">
              <a:solidFill>
                <a:srgbClr val="D99124"/>
              </a:solidFill>
              <a:latin typeface="Noto Sans CJK SC"/>
            </a:endParaRPr>
          </a:p>
        </p:txBody>
      </p:sp>
      <p:sp>
        <p:nvSpPr>
          <p:cNvPr id="19" name="Rectangle 18"/>
          <p:cNvSpPr/>
          <p:nvPr/>
        </p:nvSpPr>
        <p:spPr>
          <a:xfrm>
            <a:off x="503238" y="2011679"/>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254" y="2018919"/>
            <a:ext cx="654710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统一指标对比</a:t>
            </a:r>
            <a:endParaRPr sz="1100" b="1">
              <a:solidFill>
                <a:srgbClr val="192430"/>
              </a:solidFill>
              <a:latin typeface="Noto Sans CJK SC"/>
            </a:endParaRPr>
          </a:p>
        </p:txBody>
      </p:sp>
      <p:sp>
        <p:nvSpPr>
          <p:cNvPr id="21" name="Rounded Rectangle 20"/>
          <p:cNvSpPr/>
          <p:nvPr/>
        </p:nvSpPr>
        <p:spPr>
          <a:xfrm>
            <a:off x="503238" y="2331720"/>
            <a:ext cx="6016752" cy="2011680"/>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3238" y="2331720"/>
            <a:ext cx="166420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525" y="2503805"/>
            <a:ext cx="1627632"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方法</a:t>
            </a:r>
            <a:endParaRPr sz="920" b="1">
              <a:solidFill>
                <a:srgbClr val="FFFFFF"/>
              </a:solidFill>
              <a:latin typeface="Noto Sans CJK SC"/>
            </a:endParaRPr>
          </a:p>
        </p:txBody>
      </p:sp>
      <p:sp>
        <p:nvSpPr>
          <p:cNvPr id="24" name="Rectangle 23"/>
          <p:cNvSpPr/>
          <p:nvPr/>
        </p:nvSpPr>
        <p:spPr>
          <a:xfrm>
            <a:off x="2167446" y="2331720"/>
            <a:ext cx="1143000"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85734" y="2503805"/>
            <a:ext cx="110642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预测框数</a:t>
            </a:r>
            <a:endParaRPr sz="920" b="1">
              <a:solidFill>
                <a:srgbClr val="FFFFFF"/>
              </a:solidFill>
              <a:latin typeface="Noto Sans CJK SC"/>
            </a:endParaRPr>
          </a:p>
        </p:txBody>
      </p:sp>
      <p:sp>
        <p:nvSpPr>
          <p:cNvPr id="26" name="Rectangle 25"/>
          <p:cNvSpPr/>
          <p:nvPr/>
        </p:nvSpPr>
        <p:spPr>
          <a:xfrm>
            <a:off x="3310446" y="2331720"/>
            <a:ext cx="106984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28734" y="2503805"/>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Acc@0.5</a:t>
            </a:r>
            <a:endParaRPr sz="920" b="1">
              <a:solidFill>
                <a:srgbClr val="FFFFFF"/>
              </a:solidFill>
              <a:latin typeface="Noto Sans CJK SC"/>
            </a:endParaRPr>
          </a:p>
        </p:txBody>
      </p:sp>
      <p:sp>
        <p:nvSpPr>
          <p:cNvPr id="28" name="Rectangle 27"/>
          <p:cNvSpPr/>
          <p:nvPr/>
        </p:nvSpPr>
        <p:spPr>
          <a:xfrm>
            <a:off x="4380294" y="2331720"/>
            <a:ext cx="106984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8582" y="2503805"/>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Acc@0.75</a:t>
            </a:r>
            <a:endParaRPr sz="920" b="1">
              <a:solidFill>
                <a:srgbClr val="FFFFFF"/>
              </a:solidFill>
              <a:latin typeface="Noto Sans CJK SC"/>
            </a:endParaRPr>
          </a:p>
        </p:txBody>
      </p:sp>
      <p:sp>
        <p:nvSpPr>
          <p:cNvPr id="30" name="Rectangle 29"/>
          <p:cNvSpPr/>
          <p:nvPr/>
        </p:nvSpPr>
        <p:spPr>
          <a:xfrm>
            <a:off x="5450142" y="2331720"/>
            <a:ext cx="106984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68430" y="2503805"/>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mAP@0.5</a:t>
            </a:r>
            <a:endParaRPr sz="920" b="1">
              <a:solidFill>
                <a:srgbClr val="FFFFFF"/>
              </a:solidFill>
              <a:latin typeface="Noto Sans CJK SC"/>
            </a:endParaRPr>
          </a:p>
        </p:txBody>
      </p:sp>
      <p:sp>
        <p:nvSpPr>
          <p:cNvPr id="32" name="Rectangle 31"/>
          <p:cNvSpPr/>
          <p:nvPr/>
        </p:nvSpPr>
        <p:spPr>
          <a:xfrm>
            <a:off x="503238" y="2834639"/>
            <a:ext cx="166420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9814" y="3002914"/>
            <a:ext cx="1591056" cy="166370"/>
          </a:xfrm>
          <a:prstGeom prst="rect">
            <a:avLst/>
          </a:prstGeom>
          <a:noFill/>
        </p:spPr>
        <p:txBody>
          <a:bodyPr wrap="square" lIns="27432" tIns="9144" rIns="27432" bIns="9144" anchor="ctr">
            <a:spAutoFit/>
          </a:bodyPr>
          <a:lstStyle/>
          <a:p>
            <a:pPr algn="l">
              <a:spcAft>
                <a:spcPts val="0"/>
              </a:spcAft>
            </a:pPr>
            <a:r>
              <a:rPr sz="970" b="0">
                <a:solidFill>
                  <a:srgbClr val="192430"/>
                </a:solidFill>
                <a:latin typeface="Noto Sans CJK SC"/>
              </a:rPr>
              <a:t>Query base</a:t>
            </a:r>
            <a:endParaRPr sz="970" b="0">
              <a:solidFill>
                <a:srgbClr val="192430"/>
              </a:solidFill>
              <a:latin typeface="Noto Sans CJK SC"/>
            </a:endParaRPr>
          </a:p>
        </p:txBody>
      </p:sp>
      <p:sp>
        <p:nvSpPr>
          <p:cNvPr id="34" name="Rectangle 33"/>
          <p:cNvSpPr/>
          <p:nvPr/>
        </p:nvSpPr>
        <p:spPr>
          <a:xfrm>
            <a:off x="2167446" y="2834639"/>
            <a:ext cx="1143000"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04022" y="3002914"/>
            <a:ext cx="1069848"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22,298</a:t>
            </a:r>
            <a:endParaRPr sz="970" b="0">
              <a:solidFill>
                <a:srgbClr val="192430"/>
              </a:solidFill>
              <a:latin typeface="Noto Sans CJK SC"/>
            </a:endParaRPr>
          </a:p>
        </p:txBody>
      </p:sp>
      <p:sp>
        <p:nvSpPr>
          <p:cNvPr id="36" name="Rectangle 35"/>
          <p:cNvSpPr/>
          <p:nvPr/>
        </p:nvSpPr>
        <p:spPr>
          <a:xfrm>
            <a:off x="3310446" y="2834639"/>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47022" y="300291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0.4651</a:t>
            </a:r>
            <a:endParaRPr sz="970" b="0">
              <a:solidFill>
                <a:srgbClr val="192430"/>
              </a:solidFill>
              <a:latin typeface="Noto Sans CJK SC"/>
            </a:endParaRPr>
          </a:p>
        </p:txBody>
      </p:sp>
      <p:sp>
        <p:nvSpPr>
          <p:cNvPr id="38" name="Rectangle 37"/>
          <p:cNvSpPr/>
          <p:nvPr/>
        </p:nvSpPr>
        <p:spPr>
          <a:xfrm>
            <a:off x="4380294" y="2834639"/>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16870" y="300291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0.3131</a:t>
            </a:r>
            <a:endParaRPr sz="970" b="0">
              <a:solidFill>
                <a:srgbClr val="192430"/>
              </a:solidFill>
              <a:latin typeface="Noto Sans CJK SC"/>
            </a:endParaRPr>
          </a:p>
        </p:txBody>
      </p:sp>
      <p:sp>
        <p:nvSpPr>
          <p:cNvPr id="40" name="Rectangle 39"/>
          <p:cNvSpPr/>
          <p:nvPr/>
        </p:nvSpPr>
        <p:spPr>
          <a:xfrm>
            <a:off x="5450142" y="2834639"/>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718" y="300291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0.1343</a:t>
            </a:r>
            <a:endParaRPr sz="970" b="0">
              <a:solidFill>
                <a:srgbClr val="192430"/>
              </a:solidFill>
              <a:latin typeface="Noto Sans CJK SC"/>
            </a:endParaRPr>
          </a:p>
        </p:txBody>
      </p:sp>
      <p:sp>
        <p:nvSpPr>
          <p:cNvPr id="42" name="Rectangle 41"/>
          <p:cNvSpPr/>
          <p:nvPr/>
        </p:nvSpPr>
        <p:spPr>
          <a:xfrm>
            <a:off x="503238" y="3337560"/>
            <a:ext cx="166420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814" y="3505834"/>
            <a:ext cx="1591056" cy="166370"/>
          </a:xfrm>
          <a:prstGeom prst="rect">
            <a:avLst/>
          </a:prstGeom>
          <a:noFill/>
        </p:spPr>
        <p:txBody>
          <a:bodyPr wrap="square" lIns="27432" tIns="9144" rIns="27432" bIns="9144" anchor="ctr">
            <a:spAutoFit/>
          </a:bodyPr>
          <a:lstStyle/>
          <a:p>
            <a:pPr algn="l">
              <a:spcAft>
                <a:spcPts val="0"/>
              </a:spcAft>
            </a:pPr>
            <a:r>
              <a:rPr sz="970" b="1">
                <a:solidFill>
                  <a:srgbClr val="2D70AA"/>
                </a:solidFill>
                <a:latin typeface="Noto Sans CJK SC"/>
              </a:rPr>
              <a:t>固定动作三轮 RL</a:t>
            </a:r>
            <a:endParaRPr sz="970" b="1">
              <a:solidFill>
                <a:srgbClr val="2D70AA"/>
              </a:solidFill>
              <a:latin typeface="Noto Sans CJK SC"/>
            </a:endParaRPr>
          </a:p>
        </p:txBody>
      </p:sp>
      <p:sp>
        <p:nvSpPr>
          <p:cNvPr id="44" name="Rectangle 43"/>
          <p:cNvSpPr/>
          <p:nvPr/>
        </p:nvSpPr>
        <p:spPr>
          <a:xfrm>
            <a:off x="2167446" y="3337560"/>
            <a:ext cx="1143000"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04022" y="3505834"/>
            <a:ext cx="1069848"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40,904</a:t>
            </a:r>
            <a:endParaRPr sz="970" b="1">
              <a:solidFill>
                <a:srgbClr val="192430"/>
              </a:solidFill>
              <a:latin typeface="Noto Sans CJK SC"/>
            </a:endParaRPr>
          </a:p>
        </p:txBody>
      </p:sp>
      <p:sp>
        <p:nvSpPr>
          <p:cNvPr id="46" name="Rectangle 45"/>
          <p:cNvSpPr/>
          <p:nvPr/>
        </p:nvSpPr>
        <p:spPr>
          <a:xfrm>
            <a:off x="3310446" y="3337560"/>
            <a:ext cx="106984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47022" y="3505834"/>
            <a:ext cx="996695"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0.5293</a:t>
            </a:r>
            <a:endParaRPr sz="970" b="1">
              <a:solidFill>
                <a:srgbClr val="192430"/>
              </a:solidFill>
              <a:latin typeface="Noto Sans CJK SC"/>
            </a:endParaRPr>
          </a:p>
        </p:txBody>
      </p:sp>
      <p:sp>
        <p:nvSpPr>
          <p:cNvPr id="48" name="Rectangle 47"/>
          <p:cNvSpPr/>
          <p:nvPr/>
        </p:nvSpPr>
        <p:spPr>
          <a:xfrm>
            <a:off x="4380294" y="3337560"/>
            <a:ext cx="106984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16870" y="3505834"/>
            <a:ext cx="996695"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0.3310</a:t>
            </a:r>
            <a:endParaRPr sz="970" b="1">
              <a:solidFill>
                <a:srgbClr val="192430"/>
              </a:solidFill>
              <a:latin typeface="Noto Sans CJK SC"/>
            </a:endParaRPr>
          </a:p>
        </p:txBody>
      </p:sp>
      <p:sp>
        <p:nvSpPr>
          <p:cNvPr id="50" name="Rectangle 49"/>
          <p:cNvSpPr/>
          <p:nvPr/>
        </p:nvSpPr>
        <p:spPr>
          <a:xfrm>
            <a:off x="5450142" y="3337560"/>
            <a:ext cx="106984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718" y="3505834"/>
            <a:ext cx="996695" cy="166370"/>
          </a:xfrm>
          <a:prstGeom prst="rect">
            <a:avLst/>
          </a:prstGeom>
          <a:noFill/>
        </p:spPr>
        <p:txBody>
          <a:bodyPr wrap="square" lIns="27432" tIns="9144" rIns="27432" bIns="9144" anchor="ctr">
            <a:spAutoFit/>
          </a:bodyPr>
          <a:lstStyle/>
          <a:p>
            <a:pPr algn="ctr">
              <a:spcAft>
                <a:spcPts val="0"/>
              </a:spcAft>
            </a:pPr>
            <a:r>
              <a:rPr sz="970" b="1">
                <a:solidFill>
                  <a:srgbClr val="2D70AA"/>
                </a:solidFill>
                <a:latin typeface="Noto Sans CJK SC"/>
              </a:rPr>
              <a:t>0.1397</a:t>
            </a:r>
            <a:endParaRPr sz="970" b="1">
              <a:solidFill>
                <a:srgbClr val="2D70AA"/>
              </a:solidFill>
              <a:latin typeface="Noto Sans CJK SC"/>
            </a:endParaRPr>
          </a:p>
        </p:txBody>
      </p:sp>
      <p:sp>
        <p:nvSpPr>
          <p:cNvPr id="52" name="Rectangle 51"/>
          <p:cNvSpPr/>
          <p:nvPr/>
        </p:nvSpPr>
        <p:spPr>
          <a:xfrm>
            <a:off x="503238" y="3840480"/>
            <a:ext cx="1664208" cy="502920"/>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9814" y="4008755"/>
            <a:ext cx="1591056" cy="166370"/>
          </a:xfrm>
          <a:prstGeom prst="rect">
            <a:avLst/>
          </a:prstGeom>
          <a:noFill/>
        </p:spPr>
        <p:txBody>
          <a:bodyPr wrap="square" lIns="27432" tIns="9144" rIns="27432" bIns="9144" anchor="ctr">
            <a:spAutoFit/>
          </a:bodyPr>
          <a:lstStyle/>
          <a:p>
            <a:pPr algn="l">
              <a:spcAft>
                <a:spcPts val="0"/>
              </a:spcAft>
            </a:pPr>
            <a:r>
              <a:rPr sz="970" b="1">
                <a:solidFill>
                  <a:srgbClr val="2D70AA"/>
                </a:solidFill>
                <a:latin typeface="Noto Sans CJK SC"/>
              </a:rPr>
              <a:t>Qwen 动态动作三轮</a:t>
            </a:r>
            <a:endParaRPr sz="970" b="1">
              <a:solidFill>
                <a:srgbClr val="2D70AA"/>
              </a:solidFill>
              <a:latin typeface="Noto Sans CJK SC"/>
            </a:endParaRPr>
          </a:p>
        </p:txBody>
      </p:sp>
      <p:sp>
        <p:nvSpPr>
          <p:cNvPr id="54" name="Rectangle 53"/>
          <p:cNvSpPr/>
          <p:nvPr/>
        </p:nvSpPr>
        <p:spPr>
          <a:xfrm>
            <a:off x="2167446" y="3840480"/>
            <a:ext cx="1143000" cy="502920"/>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04022" y="4008755"/>
            <a:ext cx="1069848"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35,869</a:t>
            </a:r>
            <a:endParaRPr sz="970" b="1">
              <a:solidFill>
                <a:srgbClr val="192430"/>
              </a:solidFill>
              <a:latin typeface="Noto Sans CJK SC"/>
            </a:endParaRPr>
          </a:p>
        </p:txBody>
      </p:sp>
      <p:sp>
        <p:nvSpPr>
          <p:cNvPr id="56" name="Rectangle 55"/>
          <p:cNvSpPr/>
          <p:nvPr/>
        </p:nvSpPr>
        <p:spPr>
          <a:xfrm>
            <a:off x="3310446" y="3840480"/>
            <a:ext cx="1069848" cy="502920"/>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47022" y="4008755"/>
            <a:ext cx="996695"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0.5004</a:t>
            </a:r>
            <a:endParaRPr sz="970" b="1">
              <a:solidFill>
                <a:srgbClr val="192430"/>
              </a:solidFill>
              <a:latin typeface="Noto Sans CJK SC"/>
            </a:endParaRPr>
          </a:p>
        </p:txBody>
      </p:sp>
      <p:sp>
        <p:nvSpPr>
          <p:cNvPr id="58" name="Rectangle 57"/>
          <p:cNvSpPr/>
          <p:nvPr/>
        </p:nvSpPr>
        <p:spPr>
          <a:xfrm>
            <a:off x="4380294" y="3840480"/>
            <a:ext cx="1069848" cy="502920"/>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16870" y="4008755"/>
            <a:ext cx="996695"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0.3248</a:t>
            </a:r>
            <a:endParaRPr sz="970" b="1">
              <a:solidFill>
                <a:srgbClr val="192430"/>
              </a:solidFill>
              <a:latin typeface="Noto Sans CJK SC"/>
            </a:endParaRPr>
          </a:p>
        </p:txBody>
      </p:sp>
      <p:sp>
        <p:nvSpPr>
          <p:cNvPr id="60" name="Rectangle 59"/>
          <p:cNvSpPr/>
          <p:nvPr/>
        </p:nvSpPr>
        <p:spPr>
          <a:xfrm>
            <a:off x="5450142" y="3840480"/>
            <a:ext cx="1069848" cy="502920"/>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718" y="4008755"/>
            <a:ext cx="996695" cy="166370"/>
          </a:xfrm>
          <a:prstGeom prst="rect">
            <a:avLst/>
          </a:prstGeom>
          <a:noFill/>
        </p:spPr>
        <p:txBody>
          <a:bodyPr wrap="square" lIns="27432" tIns="9144" rIns="27432" bIns="9144" anchor="ctr">
            <a:spAutoFit/>
          </a:bodyPr>
          <a:lstStyle/>
          <a:p>
            <a:pPr algn="ctr">
              <a:spcAft>
                <a:spcPts val="0"/>
              </a:spcAft>
            </a:pPr>
            <a:r>
              <a:rPr sz="970" b="1">
                <a:solidFill>
                  <a:srgbClr val="2D70AA"/>
                </a:solidFill>
                <a:latin typeface="Noto Sans CJK SC"/>
              </a:rPr>
              <a:t>0.1424</a:t>
            </a:r>
            <a:endParaRPr sz="970" b="1">
              <a:solidFill>
                <a:srgbClr val="2D70AA"/>
              </a:solidFill>
              <a:latin typeface="Noto Sans CJK SC"/>
            </a:endParaRPr>
          </a:p>
        </p:txBody>
      </p:sp>
      <p:sp>
        <p:nvSpPr>
          <p:cNvPr id="62" name="Rounded Rectangle 61"/>
          <p:cNvSpPr/>
          <p:nvPr/>
        </p:nvSpPr>
        <p:spPr>
          <a:xfrm>
            <a:off x="7397814" y="1078992"/>
            <a:ext cx="4288536" cy="3255264"/>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26414" y="1252346"/>
            <a:ext cx="3831336" cy="201930"/>
          </a:xfrm>
          <a:prstGeom prst="rect">
            <a:avLst/>
          </a:prstGeom>
          <a:noFill/>
        </p:spPr>
        <p:txBody>
          <a:bodyPr wrap="square" lIns="27432" tIns="9144" rIns="27432" bIns="9144" anchor="ctr">
            <a:spAutoFit/>
          </a:bodyPr>
          <a:lstStyle/>
          <a:p>
            <a:pPr algn="l">
              <a:spcAft>
                <a:spcPts val="0"/>
              </a:spcAft>
            </a:pPr>
            <a:r>
              <a:rPr sz="1200" b="1">
                <a:solidFill>
                  <a:srgbClr val="192430"/>
                </a:solidFill>
                <a:latin typeface="Noto Sans CJK SC"/>
              </a:rPr>
              <a:t>Acc@0.5</a:t>
            </a:r>
            <a:endParaRPr sz="1200" b="1">
              <a:solidFill>
                <a:srgbClr val="192430"/>
              </a:solidFill>
              <a:latin typeface="Noto Sans CJK SC"/>
            </a:endParaRPr>
          </a:p>
        </p:txBody>
      </p:sp>
      <p:sp>
        <p:nvSpPr>
          <p:cNvPr id="64" name="TextBox 63"/>
          <p:cNvSpPr txBox="1"/>
          <p:nvPr/>
        </p:nvSpPr>
        <p:spPr>
          <a:xfrm>
            <a:off x="7525830" y="1869478"/>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Query base</a:t>
            </a:r>
            <a:endParaRPr sz="930" b="0">
              <a:solidFill>
                <a:srgbClr val="5B6875"/>
              </a:solidFill>
              <a:latin typeface="Noto Sans CJK SC"/>
            </a:endParaRPr>
          </a:p>
        </p:txBody>
      </p:sp>
      <p:sp>
        <p:nvSpPr>
          <p:cNvPr id="65" name="Rectangle 64"/>
          <p:cNvSpPr/>
          <p:nvPr/>
        </p:nvSpPr>
        <p:spPr>
          <a:xfrm>
            <a:off x="8851710" y="1789663"/>
            <a:ext cx="1606980" cy="346252"/>
          </a:xfrm>
          <a:prstGeom prst="rect">
            <a:avLst/>
          </a:prstGeom>
          <a:solidFill>
            <a:srgbClr val="B5BEC7"/>
          </a:solidFill>
          <a:ln w="10160">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522697" y="1870431"/>
            <a:ext cx="658368" cy="158750"/>
          </a:xfrm>
          <a:prstGeom prst="rect">
            <a:avLst/>
          </a:prstGeom>
          <a:noFill/>
        </p:spPr>
        <p:txBody>
          <a:bodyPr wrap="square" lIns="27432" tIns="9144" rIns="27432" bIns="9144" anchor="ctr">
            <a:spAutoFit/>
          </a:bodyPr>
          <a:lstStyle/>
          <a:p>
            <a:pPr algn="l">
              <a:spcAft>
                <a:spcPts val="0"/>
              </a:spcAft>
            </a:pPr>
            <a:r>
              <a:rPr sz="920" b="1">
                <a:solidFill>
                  <a:srgbClr val="B5BEC7"/>
                </a:solidFill>
                <a:latin typeface="Noto Sans CJK SC"/>
              </a:rPr>
              <a:t>0.4651</a:t>
            </a:r>
            <a:endParaRPr sz="920" b="1">
              <a:solidFill>
                <a:srgbClr val="B5BEC7"/>
              </a:solidFill>
              <a:latin typeface="Noto Sans CJK SC"/>
            </a:endParaRPr>
          </a:p>
        </p:txBody>
      </p:sp>
      <p:sp>
        <p:nvSpPr>
          <p:cNvPr id="67" name="TextBox 66"/>
          <p:cNvSpPr txBox="1"/>
          <p:nvPr/>
        </p:nvSpPr>
        <p:spPr>
          <a:xfrm>
            <a:off x="7525830" y="2735110"/>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固定动作 RL</a:t>
            </a:r>
            <a:endParaRPr sz="930" b="0">
              <a:solidFill>
                <a:srgbClr val="5B6875"/>
              </a:solidFill>
              <a:latin typeface="Noto Sans CJK SC"/>
            </a:endParaRPr>
          </a:p>
        </p:txBody>
      </p:sp>
      <p:sp>
        <p:nvSpPr>
          <p:cNvPr id="68" name="Rectangle 67"/>
          <p:cNvSpPr/>
          <p:nvPr/>
        </p:nvSpPr>
        <p:spPr>
          <a:xfrm>
            <a:off x="8851710" y="2655295"/>
            <a:ext cx="1828800" cy="34625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744518" y="2736063"/>
            <a:ext cx="658368" cy="158750"/>
          </a:xfrm>
          <a:prstGeom prst="rect">
            <a:avLst/>
          </a:prstGeom>
          <a:noFill/>
        </p:spPr>
        <p:txBody>
          <a:bodyPr wrap="square" lIns="27432" tIns="9144" rIns="27432" bIns="9144" anchor="ctr">
            <a:spAutoFit/>
          </a:bodyPr>
          <a:lstStyle/>
          <a:p>
            <a:pPr algn="l">
              <a:spcAft>
                <a:spcPts val="0"/>
              </a:spcAft>
            </a:pPr>
            <a:r>
              <a:rPr sz="920" b="1">
                <a:solidFill>
                  <a:srgbClr val="2D70AA"/>
                </a:solidFill>
                <a:latin typeface="Noto Sans CJK SC"/>
              </a:rPr>
              <a:t>0.5293</a:t>
            </a:r>
            <a:endParaRPr sz="920" b="1">
              <a:solidFill>
                <a:srgbClr val="2D70AA"/>
              </a:solidFill>
              <a:latin typeface="Noto Sans CJK SC"/>
            </a:endParaRPr>
          </a:p>
        </p:txBody>
      </p:sp>
      <p:sp>
        <p:nvSpPr>
          <p:cNvPr id="70" name="TextBox 69"/>
          <p:cNvSpPr txBox="1"/>
          <p:nvPr/>
        </p:nvSpPr>
        <p:spPr>
          <a:xfrm>
            <a:off x="7525830" y="3600741"/>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Qwen 动态 RL</a:t>
            </a:r>
            <a:endParaRPr sz="930" b="0">
              <a:solidFill>
                <a:srgbClr val="5B6875"/>
              </a:solidFill>
              <a:latin typeface="Noto Sans CJK SC"/>
            </a:endParaRPr>
          </a:p>
        </p:txBody>
      </p:sp>
      <p:sp>
        <p:nvSpPr>
          <p:cNvPr id="71" name="Rectangle 70"/>
          <p:cNvSpPr/>
          <p:nvPr/>
        </p:nvSpPr>
        <p:spPr>
          <a:xfrm>
            <a:off x="8851710" y="3520927"/>
            <a:ext cx="1728946" cy="346252"/>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644664" y="3601694"/>
            <a:ext cx="658368" cy="158750"/>
          </a:xfrm>
          <a:prstGeom prst="rect">
            <a:avLst/>
          </a:prstGeom>
          <a:noFill/>
        </p:spPr>
        <p:txBody>
          <a:bodyPr wrap="square" lIns="27432" tIns="9144" rIns="27432" bIns="9144" anchor="ctr">
            <a:spAutoFit/>
          </a:bodyPr>
          <a:lstStyle/>
          <a:p>
            <a:pPr algn="l">
              <a:spcAft>
                <a:spcPts val="0"/>
              </a:spcAft>
            </a:pPr>
            <a:r>
              <a:rPr sz="920" b="1">
                <a:solidFill>
                  <a:srgbClr val="17857D"/>
                </a:solidFill>
                <a:latin typeface="Noto Sans CJK SC"/>
              </a:rPr>
              <a:t>0.5004</a:t>
            </a:r>
            <a:endParaRPr sz="920" b="1">
              <a:solidFill>
                <a:srgbClr val="17857D"/>
              </a:solidFill>
              <a:latin typeface="Noto Sans CJK SC"/>
            </a:endParaRPr>
          </a:p>
        </p:txBody>
      </p:sp>
      <p:sp>
        <p:nvSpPr>
          <p:cNvPr id="73" name="Rounded Rectangle 72"/>
          <p:cNvSpPr/>
          <p:nvPr/>
        </p:nvSpPr>
        <p:spPr>
          <a:xfrm>
            <a:off x="503238" y="4553712"/>
            <a:ext cx="11183112" cy="129844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50126" y="4773168"/>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8142" y="4780407"/>
            <a:ext cx="170078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结论</a:t>
            </a:r>
            <a:endParaRPr sz="1100" b="1">
              <a:solidFill>
                <a:srgbClr val="192430"/>
              </a:solidFill>
              <a:latin typeface="Noto Sans CJK SC"/>
            </a:endParaRPr>
          </a:p>
        </p:txBody>
      </p:sp>
      <p:sp>
        <p:nvSpPr>
          <p:cNvPr id="76" name="TextBox 75"/>
          <p:cNvSpPr txBox="1"/>
          <p:nvPr/>
        </p:nvSpPr>
        <p:spPr>
          <a:xfrm>
            <a:off x="1874837" y="4730623"/>
            <a:ext cx="9372600" cy="222250"/>
          </a:xfrm>
          <a:prstGeom prst="rect">
            <a:avLst/>
          </a:prstGeom>
          <a:noFill/>
        </p:spPr>
        <p:txBody>
          <a:bodyPr wrap="square" lIns="45720" tIns="9144" rIns="45720" bIns="9144" anchor="ctr">
            <a:spAutoFit/>
          </a:bodyPr>
          <a:lstStyle/>
          <a:p>
            <a:pPr algn="l"/>
            <a:r>
              <a:rPr sz="1330" b="1">
                <a:solidFill>
                  <a:srgbClr val="2D70AA"/>
                </a:solidFill>
                <a:latin typeface="Noto Sans CJK SC"/>
              </a:rPr>
              <a:t>固定动作 RL</a:t>
            </a:r>
            <a:r>
              <a:rPr sz="1330" b="0">
                <a:solidFill>
                  <a:srgbClr val="192430"/>
                </a:solidFill>
                <a:latin typeface="Noto Sans CJK SC"/>
              </a:rPr>
              <a:t> 召回更强；</a:t>
            </a:r>
            <a:r>
              <a:rPr sz="1330" b="1">
                <a:solidFill>
                  <a:srgbClr val="17857D"/>
                </a:solidFill>
                <a:latin typeface="Noto Sans CJK SC"/>
              </a:rPr>
              <a:t>Qwen 动态 RL</a:t>
            </a:r>
            <a:r>
              <a:rPr sz="1330" b="0">
                <a:solidFill>
                  <a:srgbClr val="192430"/>
                </a:solidFill>
                <a:latin typeface="Noto Sans CJK SC"/>
              </a:rPr>
              <a:t> 候选减少约 12.3%，并取得最高 mAP。</a:t>
            </a:r>
            <a:endParaRPr sz="1330" b="0">
              <a:solidFill>
                <a:srgbClr val="192430"/>
              </a:solidFill>
              <a:latin typeface="Noto Sans CJK SC"/>
            </a:endParaRPr>
          </a:p>
        </p:txBody>
      </p:sp>
      <p:sp>
        <p:nvSpPr>
          <p:cNvPr id="77" name="TextBox 76"/>
          <p:cNvSpPr txBox="1"/>
          <p:nvPr/>
        </p:nvSpPr>
        <p:spPr>
          <a:xfrm>
            <a:off x="1874837" y="5207953"/>
            <a:ext cx="9372600" cy="191135"/>
          </a:xfrm>
          <a:prstGeom prst="rect">
            <a:avLst/>
          </a:prstGeom>
          <a:noFill/>
        </p:spPr>
        <p:txBody>
          <a:bodyPr wrap="square" lIns="27432" tIns="9144" rIns="27432" bIns="9144" anchor="ctr">
            <a:spAutoFit/>
          </a:bodyPr>
          <a:lstStyle/>
          <a:p>
            <a:pPr algn="l">
              <a:spcAft>
                <a:spcPts val="0"/>
              </a:spcAft>
            </a:pPr>
            <a:r>
              <a:rPr sz="1130" b="0">
                <a:solidFill>
                  <a:srgbClr val="5B6875"/>
                </a:solidFill>
                <a:latin typeface="Noto Sans CJK SC"/>
              </a:rPr>
              <a:t>动态 prompt pool 使 RL 从“固定类别 ID 选择”扩展为“状态—动作匹配”，但当前不存在所有指标均占优的单一策略。</a:t>
            </a:r>
            <a:endParaRPr sz="1130" b="0">
              <a:solidFill>
                <a:srgbClr val="5B6875"/>
              </a:solidFill>
              <a:latin typeface="Noto Sans CJK SC"/>
            </a:endParaRPr>
          </a:p>
        </p:txBody>
      </p:sp>
      <p:sp>
        <p:nvSpPr>
          <p:cNvPr id="78" name="TextBox 77"/>
          <p:cNvSpPr txBox="1"/>
          <p:nvPr/>
        </p:nvSpPr>
        <p:spPr>
          <a:xfrm>
            <a:off x="530670" y="6202553"/>
            <a:ext cx="10789920" cy="158750"/>
          </a:xfrm>
          <a:prstGeom prst="rect">
            <a:avLst/>
          </a:prstGeom>
          <a:noFill/>
        </p:spPr>
        <p:txBody>
          <a:bodyPr wrap="square" lIns="27432" tIns="9144" rIns="27432" bIns="9144" anchor="ctr">
            <a:spAutoFit/>
          </a:bodyPr>
          <a:lstStyle/>
          <a:p>
            <a:pPr algn="l">
              <a:spcAft>
                <a:spcPts val="0"/>
              </a:spcAft>
            </a:pPr>
            <a:r>
              <a:rPr sz="920" b="0">
                <a:solidFill>
                  <a:srgbClr val="5B6875"/>
                </a:solidFill>
                <a:latin typeface="Noto Sans CJK SC"/>
              </a:rPr>
              <a:t>数据来自原始两页 PPT，数值与口径保持不变。</a:t>
            </a:r>
            <a:endParaRPr sz="920" b="0">
              <a:solidFill>
                <a:srgbClr val="5B6875"/>
              </a:solidFill>
              <a:latin typeface="Noto Sans CJK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18"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806" y="310515"/>
            <a:ext cx="502920" cy="201930"/>
          </a:xfrm>
          <a:prstGeom prst="rect">
            <a:avLst/>
          </a:prstGeom>
          <a:noFill/>
        </p:spPr>
        <p:txBody>
          <a:bodyPr wrap="square" lIns="27432" tIns="9144" rIns="27432" bIns="9144" anchor="ctr">
            <a:spAutoFit/>
          </a:bodyPr>
          <a:lstStyle/>
          <a:p>
            <a:pPr algn="l">
              <a:spcAft>
                <a:spcPts val="0"/>
              </a:spcAft>
            </a:pPr>
            <a:r>
              <a:rPr sz="1200" b="1">
                <a:solidFill>
                  <a:srgbClr val="2D70AA"/>
                </a:solidFill>
                <a:latin typeface="Noto Sans CJK SC"/>
              </a:rPr>
              <a:t>02</a:t>
            </a:r>
            <a:endParaRPr sz="1200" b="1">
              <a:solidFill>
                <a:srgbClr val="2D70AA"/>
              </a:solidFill>
              <a:latin typeface="Noto Sans CJK SC"/>
            </a:endParaRPr>
          </a:p>
        </p:txBody>
      </p:sp>
      <p:sp>
        <p:nvSpPr>
          <p:cNvPr id="4" name="TextBox 3"/>
          <p:cNvSpPr txBox="1"/>
          <p:nvPr/>
        </p:nvSpPr>
        <p:spPr>
          <a:xfrm>
            <a:off x="933005" y="245555"/>
            <a:ext cx="10744200" cy="386715"/>
          </a:xfrm>
          <a:prstGeom prst="rect">
            <a:avLst/>
          </a:prstGeom>
          <a:noFill/>
        </p:spPr>
        <p:txBody>
          <a:bodyPr wrap="square" lIns="27432" tIns="9144" rIns="27432" bIns="9144" anchor="ctr">
            <a:spAutoFit/>
          </a:bodyPr>
          <a:lstStyle/>
          <a:p>
            <a:pPr algn="l">
              <a:spcAft>
                <a:spcPts val="0"/>
              </a:spcAft>
            </a:pPr>
            <a:r>
              <a:rPr sz="2400" b="1">
                <a:solidFill>
                  <a:srgbClr val="192430"/>
                </a:solidFill>
                <a:latin typeface="Noto Sans CJK SC"/>
              </a:rPr>
              <a:t>固定候选集上的排序优化</a:t>
            </a:r>
            <a:endParaRPr sz="2400" b="1">
              <a:solidFill>
                <a:srgbClr val="192430"/>
              </a:solidFill>
              <a:latin typeface="Noto Sans CJK SC"/>
            </a:endParaRPr>
          </a:p>
        </p:txBody>
      </p:sp>
      <p:sp>
        <p:nvSpPr>
          <p:cNvPr id="5" name="TextBox 4"/>
          <p:cNvSpPr txBox="1"/>
          <p:nvPr/>
        </p:nvSpPr>
        <p:spPr>
          <a:xfrm>
            <a:off x="942150" y="705993"/>
            <a:ext cx="10698480" cy="179070"/>
          </a:xfrm>
          <a:prstGeom prst="rect">
            <a:avLst/>
          </a:prstGeom>
          <a:noFill/>
        </p:spPr>
        <p:txBody>
          <a:bodyPr wrap="square" lIns="27432" tIns="9144" rIns="27432" bIns="9144" anchor="ctr">
            <a:spAutoFit/>
          </a:bodyPr>
          <a:lstStyle/>
          <a:p>
            <a:pPr algn="l">
              <a:spcAft>
                <a:spcPts val="0"/>
              </a:spcAft>
            </a:pPr>
            <a:r>
              <a:rPr sz="1050" b="0">
                <a:solidFill>
                  <a:srgbClr val="5B6875"/>
                </a:solidFill>
                <a:latin typeface="Noto Sans CJK SC"/>
              </a:rPr>
              <a:t>三种方法读取同一份 52,872 个 metadata 候选框 · 规则组仅筛选 · 排序器仅重标定分数</a:t>
            </a:r>
            <a:endParaRPr sz="1050" b="0">
              <a:solidFill>
                <a:srgbClr val="5B6875"/>
              </a:solidFill>
              <a:latin typeface="Noto Sans CJK SC"/>
            </a:endParaRPr>
          </a:p>
        </p:txBody>
      </p:sp>
      <p:sp>
        <p:nvSpPr>
          <p:cNvPr id="6" name="TextBox 5"/>
          <p:cNvSpPr txBox="1"/>
          <p:nvPr/>
        </p:nvSpPr>
        <p:spPr>
          <a:xfrm>
            <a:off x="11393742" y="6523863"/>
            <a:ext cx="347472" cy="156210"/>
          </a:xfrm>
          <a:prstGeom prst="rect">
            <a:avLst/>
          </a:prstGeom>
          <a:noFill/>
        </p:spPr>
        <p:txBody>
          <a:bodyPr wrap="square" lIns="27432" tIns="9144" rIns="27432" bIns="9144" anchor="ctr">
            <a:spAutoFit/>
          </a:bodyPr>
          <a:lstStyle/>
          <a:p>
            <a:pPr algn="r">
              <a:spcAft>
                <a:spcPts val="0"/>
              </a:spcAft>
            </a:pPr>
            <a:r>
              <a:rPr sz="900" b="0">
                <a:solidFill>
                  <a:srgbClr val="5B6875"/>
                </a:solidFill>
                <a:latin typeface="Noto Sans CJK SC"/>
              </a:rPr>
              <a:t>2</a:t>
            </a:r>
            <a:endParaRPr sz="900" b="0">
              <a:solidFill>
                <a:srgbClr val="5B6875"/>
              </a:solidFill>
              <a:latin typeface="Noto Sans CJK SC"/>
            </a:endParaRPr>
          </a:p>
        </p:txBody>
      </p:sp>
      <p:sp>
        <p:nvSpPr>
          <p:cNvPr id="7" name="Rounded Rectangle 6"/>
          <p:cNvSpPr/>
          <p:nvPr/>
        </p:nvSpPr>
        <p:spPr>
          <a:xfrm>
            <a:off x="503238"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3238"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830"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排序器 · mAP@0.5</a:t>
            </a:r>
            <a:endParaRPr sz="950" b="0">
              <a:solidFill>
                <a:srgbClr val="5B6875"/>
              </a:solidFill>
              <a:latin typeface="Noto Sans CJK SC"/>
            </a:endParaRPr>
          </a:p>
        </p:txBody>
      </p:sp>
      <p:sp>
        <p:nvSpPr>
          <p:cNvPr id="10" name="TextBox 9"/>
          <p:cNvSpPr txBox="1"/>
          <p:nvPr/>
        </p:nvSpPr>
        <p:spPr>
          <a:xfrm>
            <a:off x="667830" y="1355661"/>
            <a:ext cx="1901952" cy="278765"/>
          </a:xfrm>
          <a:prstGeom prst="rect">
            <a:avLst/>
          </a:prstGeom>
          <a:noFill/>
        </p:spPr>
        <p:txBody>
          <a:bodyPr wrap="square" lIns="27432" tIns="9144" rIns="27432" bIns="9144" anchor="ctr">
            <a:spAutoFit/>
          </a:bodyPr>
          <a:lstStyle/>
          <a:p>
            <a:pPr algn="l">
              <a:spcAft>
                <a:spcPts val="0"/>
              </a:spcAft>
            </a:pPr>
            <a:r>
              <a:rPr sz="1700" b="1">
                <a:solidFill>
                  <a:srgbClr val="2D70AA"/>
                </a:solidFill>
                <a:latin typeface="Noto Sans CJK SC"/>
              </a:rPr>
              <a:t>0.1690</a:t>
            </a:r>
            <a:endParaRPr sz="1700" b="1">
              <a:solidFill>
                <a:srgbClr val="2D70AA"/>
              </a:solidFill>
              <a:latin typeface="Noto Sans CJK SC"/>
            </a:endParaRPr>
          </a:p>
        </p:txBody>
      </p:sp>
      <p:sp>
        <p:nvSpPr>
          <p:cNvPr id="11" name="Rounded Rectangle 10"/>
          <p:cNvSpPr/>
          <p:nvPr/>
        </p:nvSpPr>
        <p:spPr>
          <a:xfrm>
            <a:off x="2770950"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950"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542"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相对融合前提升</a:t>
            </a:r>
            <a:endParaRPr sz="950" b="0">
              <a:solidFill>
                <a:srgbClr val="5B6875"/>
              </a:solidFill>
              <a:latin typeface="Noto Sans CJK SC"/>
            </a:endParaRPr>
          </a:p>
        </p:txBody>
      </p:sp>
      <p:sp>
        <p:nvSpPr>
          <p:cNvPr id="14" name="TextBox 13"/>
          <p:cNvSpPr txBox="1"/>
          <p:nvPr/>
        </p:nvSpPr>
        <p:spPr>
          <a:xfrm>
            <a:off x="2935542" y="1355661"/>
            <a:ext cx="1901952" cy="278765"/>
          </a:xfrm>
          <a:prstGeom prst="rect">
            <a:avLst/>
          </a:prstGeom>
          <a:noFill/>
        </p:spPr>
        <p:txBody>
          <a:bodyPr wrap="square" lIns="27432" tIns="9144" rIns="27432" bIns="9144" anchor="ctr">
            <a:spAutoFit/>
          </a:bodyPr>
          <a:lstStyle/>
          <a:p>
            <a:pPr algn="l">
              <a:spcAft>
                <a:spcPts val="0"/>
              </a:spcAft>
            </a:pPr>
            <a:r>
              <a:rPr sz="1700" b="1">
                <a:solidFill>
                  <a:srgbClr val="17857D"/>
                </a:solidFill>
                <a:latin typeface="Noto Sans CJK SC"/>
              </a:rPr>
              <a:t>+0.0226</a:t>
            </a:r>
            <a:endParaRPr sz="1700" b="1">
              <a:solidFill>
                <a:srgbClr val="17857D"/>
              </a:solidFill>
              <a:latin typeface="Noto Sans CJK SC"/>
            </a:endParaRPr>
          </a:p>
        </p:txBody>
      </p:sp>
      <p:sp>
        <p:nvSpPr>
          <p:cNvPr id="15" name="Rounded Rectangle 14"/>
          <p:cNvSpPr/>
          <p:nvPr/>
        </p:nvSpPr>
        <p:spPr>
          <a:xfrm>
            <a:off x="5038662"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38662"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3254"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候选数 / Acc@0.5</a:t>
            </a:r>
            <a:endParaRPr sz="950" b="0">
              <a:solidFill>
                <a:srgbClr val="5B6875"/>
              </a:solidFill>
              <a:latin typeface="Noto Sans CJK SC"/>
            </a:endParaRPr>
          </a:p>
        </p:txBody>
      </p:sp>
      <p:sp>
        <p:nvSpPr>
          <p:cNvPr id="18" name="TextBox 17"/>
          <p:cNvSpPr txBox="1"/>
          <p:nvPr/>
        </p:nvSpPr>
        <p:spPr>
          <a:xfrm>
            <a:off x="5203254" y="1370901"/>
            <a:ext cx="1901952" cy="248285"/>
          </a:xfrm>
          <a:prstGeom prst="rect">
            <a:avLst/>
          </a:prstGeom>
          <a:noFill/>
        </p:spPr>
        <p:txBody>
          <a:bodyPr wrap="square" lIns="27432" tIns="9144" rIns="27432" bIns="9144" anchor="ctr">
            <a:spAutoFit/>
          </a:bodyPr>
          <a:lstStyle/>
          <a:p>
            <a:pPr algn="l">
              <a:spcAft>
                <a:spcPts val="0"/>
              </a:spcAft>
            </a:pPr>
            <a:r>
              <a:rPr sz="1500" b="1">
                <a:solidFill>
                  <a:srgbClr val="D99124"/>
                </a:solidFill>
                <a:latin typeface="Noto Sans CJK SC"/>
              </a:rPr>
              <a:t>保持不变</a:t>
            </a:r>
            <a:endParaRPr sz="1500" b="1">
              <a:solidFill>
                <a:srgbClr val="D99124"/>
              </a:solidFill>
              <a:latin typeface="Noto Sans CJK SC"/>
            </a:endParaRPr>
          </a:p>
        </p:txBody>
      </p:sp>
      <p:sp>
        <p:nvSpPr>
          <p:cNvPr id="19" name="Rectangle 18"/>
          <p:cNvSpPr/>
          <p:nvPr/>
        </p:nvSpPr>
        <p:spPr>
          <a:xfrm>
            <a:off x="503238" y="2011679"/>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254" y="2018919"/>
            <a:ext cx="654710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固定候选集控制变量</a:t>
            </a:r>
            <a:endParaRPr sz="1100" b="1">
              <a:solidFill>
                <a:srgbClr val="192430"/>
              </a:solidFill>
              <a:latin typeface="Noto Sans CJK SC"/>
            </a:endParaRPr>
          </a:p>
        </p:txBody>
      </p:sp>
      <p:sp>
        <p:nvSpPr>
          <p:cNvPr id="21" name="Rounded Rectangle 20"/>
          <p:cNvSpPr/>
          <p:nvPr/>
        </p:nvSpPr>
        <p:spPr>
          <a:xfrm>
            <a:off x="503238" y="2331720"/>
            <a:ext cx="6016752" cy="2011680"/>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3238" y="2331720"/>
            <a:ext cx="166420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525" y="2503805"/>
            <a:ext cx="1627632"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方法</a:t>
            </a:r>
            <a:endParaRPr sz="920" b="1">
              <a:solidFill>
                <a:srgbClr val="FFFFFF"/>
              </a:solidFill>
              <a:latin typeface="Noto Sans CJK SC"/>
            </a:endParaRPr>
          </a:p>
        </p:txBody>
      </p:sp>
      <p:sp>
        <p:nvSpPr>
          <p:cNvPr id="24" name="Rectangle 23"/>
          <p:cNvSpPr/>
          <p:nvPr/>
        </p:nvSpPr>
        <p:spPr>
          <a:xfrm>
            <a:off x="2167446" y="2331720"/>
            <a:ext cx="1143000"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85734" y="2503805"/>
            <a:ext cx="110642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预测框数</a:t>
            </a:r>
            <a:endParaRPr sz="920" b="1">
              <a:solidFill>
                <a:srgbClr val="FFFFFF"/>
              </a:solidFill>
              <a:latin typeface="Noto Sans CJK SC"/>
            </a:endParaRPr>
          </a:p>
        </p:txBody>
      </p:sp>
      <p:sp>
        <p:nvSpPr>
          <p:cNvPr id="26" name="Rectangle 25"/>
          <p:cNvSpPr/>
          <p:nvPr/>
        </p:nvSpPr>
        <p:spPr>
          <a:xfrm>
            <a:off x="3310446" y="2331720"/>
            <a:ext cx="106984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28734" y="2503805"/>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Acc@0.5</a:t>
            </a:r>
            <a:endParaRPr sz="920" b="1">
              <a:solidFill>
                <a:srgbClr val="FFFFFF"/>
              </a:solidFill>
              <a:latin typeface="Noto Sans CJK SC"/>
            </a:endParaRPr>
          </a:p>
        </p:txBody>
      </p:sp>
      <p:sp>
        <p:nvSpPr>
          <p:cNvPr id="28" name="Rectangle 27"/>
          <p:cNvSpPr/>
          <p:nvPr/>
        </p:nvSpPr>
        <p:spPr>
          <a:xfrm>
            <a:off x="4380294" y="2331720"/>
            <a:ext cx="106984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8582" y="2503805"/>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Acc@0.75</a:t>
            </a:r>
            <a:endParaRPr sz="920" b="1">
              <a:solidFill>
                <a:srgbClr val="FFFFFF"/>
              </a:solidFill>
              <a:latin typeface="Noto Sans CJK SC"/>
            </a:endParaRPr>
          </a:p>
        </p:txBody>
      </p:sp>
      <p:sp>
        <p:nvSpPr>
          <p:cNvPr id="30" name="Rectangle 29"/>
          <p:cNvSpPr/>
          <p:nvPr/>
        </p:nvSpPr>
        <p:spPr>
          <a:xfrm>
            <a:off x="5450142" y="2331720"/>
            <a:ext cx="1069848" cy="502920"/>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68430" y="2503805"/>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mAP@0.5</a:t>
            </a:r>
            <a:endParaRPr sz="920" b="1">
              <a:solidFill>
                <a:srgbClr val="FFFFFF"/>
              </a:solidFill>
              <a:latin typeface="Noto Sans CJK SC"/>
            </a:endParaRPr>
          </a:p>
        </p:txBody>
      </p:sp>
      <p:sp>
        <p:nvSpPr>
          <p:cNvPr id="32" name="Rectangle 31"/>
          <p:cNvSpPr/>
          <p:nvPr/>
        </p:nvSpPr>
        <p:spPr>
          <a:xfrm>
            <a:off x="503238" y="2834639"/>
            <a:ext cx="166420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9814" y="3002914"/>
            <a:ext cx="1591056" cy="166370"/>
          </a:xfrm>
          <a:prstGeom prst="rect">
            <a:avLst/>
          </a:prstGeom>
          <a:noFill/>
        </p:spPr>
        <p:txBody>
          <a:bodyPr wrap="square" lIns="27432" tIns="9144" rIns="27432" bIns="9144" anchor="ctr">
            <a:spAutoFit/>
          </a:bodyPr>
          <a:lstStyle/>
          <a:p>
            <a:pPr algn="l">
              <a:spcAft>
                <a:spcPts val="0"/>
              </a:spcAft>
            </a:pPr>
            <a:r>
              <a:rPr sz="970" b="0">
                <a:solidFill>
                  <a:srgbClr val="192430"/>
                </a:solidFill>
                <a:latin typeface="Noto Sans CJK SC"/>
              </a:rPr>
              <a:t>富元信息融合前</a:t>
            </a:r>
            <a:endParaRPr sz="970" b="0">
              <a:solidFill>
                <a:srgbClr val="192430"/>
              </a:solidFill>
              <a:latin typeface="Noto Sans CJK SC"/>
            </a:endParaRPr>
          </a:p>
        </p:txBody>
      </p:sp>
      <p:sp>
        <p:nvSpPr>
          <p:cNvPr id="34" name="Rectangle 33"/>
          <p:cNvSpPr/>
          <p:nvPr/>
        </p:nvSpPr>
        <p:spPr>
          <a:xfrm>
            <a:off x="2167446" y="2834639"/>
            <a:ext cx="1143000"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04022" y="3002914"/>
            <a:ext cx="1069848"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52,872</a:t>
            </a:r>
            <a:endParaRPr sz="970" b="0">
              <a:solidFill>
                <a:srgbClr val="192430"/>
              </a:solidFill>
              <a:latin typeface="Noto Sans CJK SC"/>
            </a:endParaRPr>
          </a:p>
        </p:txBody>
      </p:sp>
      <p:sp>
        <p:nvSpPr>
          <p:cNvPr id="36" name="Rectangle 35"/>
          <p:cNvSpPr/>
          <p:nvPr/>
        </p:nvSpPr>
        <p:spPr>
          <a:xfrm>
            <a:off x="3310446" y="2834639"/>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47022" y="300291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0.5374</a:t>
            </a:r>
            <a:endParaRPr sz="970" b="0">
              <a:solidFill>
                <a:srgbClr val="192430"/>
              </a:solidFill>
              <a:latin typeface="Noto Sans CJK SC"/>
            </a:endParaRPr>
          </a:p>
        </p:txBody>
      </p:sp>
      <p:sp>
        <p:nvSpPr>
          <p:cNvPr id="38" name="Rectangle 37"/>
          <p:cNvSpPr/>
          <p:nvPr/>
        </p:nvSpPr>
        <p:spPr>
          <a:xfrm>
            <a:off x="4380294" y="2834639"/>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16870" y="300291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0.3463</a:t>
            </a:r>
            <a:endParaRPr sz="970" b="0">
              <a:solidFill>
                <a:srgbClr val="192430"/>
              </a:solidFill>
              <a:latin typeface="Noto Sans CJK SC"/>
            </a:endParaRPr>
          </a:p>
        </p:txBody>
      </p:sp>
      <p:sp>
        <p:nvSpPr>
          <p:cNvPr id="40" name="Rectangle 39"/>
          <p:cNvSpPr/>
          <p:nvPr/>
        </p:nvSpPr>
        <p:spPr>
          <a:xfrm>
            <a:off x="5450142" y="2834639"/>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718" y="300291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0.1464</a:t>
            </a:r>
            <a:endParaRPr sz="970" b="0">
              <a:solidFill>
                <a:srgbClr val="192430"/>
              </a:solidFill>
              <a:latin typeface="Noto Sans CJK SC"/>
            </a:endParaRPr>
          </a:p>
        </p:txBody>
      </p:sp>
      <p:sp>
        <p:nvSpPr>
          <p:cNvPr id="42" name="Rectangle 41"/>
          <p:cNvSpPr/>
          <p:nvPr/>
        </p:nvSpPr>
        <p:spPr>
          <a:xfrm>
            <a:off x="503238" y="3337560"/>
            <a:ext cx="166420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814" y="3505834"/>
            <a:ext cx="1591056" cy="166370"/>
          </a:xfrm>
          <a:prstGeom prst="rect">
            <a:avLst/>
          </a:prstGeom>
          <a:noFill/>
        </p:spPr>
        <p:txBody>
          <a:bodyPr wrap="square" lIns="27432" tIns="9144" rIns="27432" bIns="9144" anchor="ctr">
            <a:spAutoFit/>
          </a:bodyPr>
          <a:lstStyle/>
          <a:p>
            <a:pPr algn="l">
              <a:spcAft>
                <a:spcPts val="0"/>
              </a:spcAft>
            </a:pPr>
            <a:r>
              <a:rPr sz="970" b="0">
                <a:solidFill>
                  <a:srgbClr val="192430"/>
                </a:solidFill>
                <a:latin typeface="Noto Sans CJK SC"/>
              </a:rPr>
              <a:t>规则筛选对照</a:t>
            </a:r>
            <a:endParaRPr sz="970" b="0">
              <a:solidFill>
                <a:srgbClr val="192430"/>
              </a:solidFill>
              <a:latin typeface="Noto Sans CJK SC"/>
            </a:endParaRPr>
          </a:p>
        </p:txBody>
      </p:sp>
      <p:sp>
        <p:nvSpPr>
          <p:cNvPr id="44" name="Rectangle 43"/>
          <p:cNvSpPr/>
          <p:nvPr/>
        </p:nvSpPr>
        <p:spPr>
          <a:xfrm>
            <a:off x="2167446" y="3337560"/>
            <a:ext cx="1143000"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04022" y="3505834"/>
            <a:ext cx="1069848"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9,586</a:t>
            </a:r>
            <a:endParaRPr sz="970" b="0">
              <a:solidFill>
                <a:srgbClr val="192430"/>
              </a:solidFill>
              <a:latin typeface="Noto Sans CJK SC"/>
            </a:endParaRPr>
          </a:p>
        </p:txBody>
      </p:sp>
      <p:sp>
        <p:nvSpPr>
          <p:cNvPr id="46" name="Rectangle 45"/>
          <p:cNvSpPr/>
          <p:nvPr/>
        </p:nvSpPr>
        <p:spPr>
          <a:xfrm>
            <a:off x="3310446" y="3337560"/>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47022" y="350583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0.3193</a:t>
            </a:r>
            <a:endParaRPr sz="970" b="0">
              <a:solidFill>
                <a:srgbClr val="192430"/>
              </a:solidFill>
              <a:latin typeface="Noto Sans CJK SC"/>
            </a:endParaRPr>
          </a:p>
        </p:txBody>
      </p:sp>
      <p:sp>
        <p:nvSpPr>
          <p:cNvPr id="48" name="Rectangle 47"/>
          <p:cNvSpPr/>
          <p:nvPr/>
        </p:nvSpPr>
        <p:spPr>
          <a:xfrm>
            <a:off x="4380294" y="3337560"/>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16870" y="350583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0.2491</a:t>
            </a:r>
            <a:endParaRPr sz="970" b="0">
              <a:solidFill>
                <a:srgbClr val="192430"/>
              </a:solidFill>
              <a:latin typeface="Noto Sans CJK SC"/>
            </a:endParaRPr>
          </a:p>
        </p:txBody>
      </p:sp>
      <p:sp>
        <p:nvSpPr>
          <p:cNvPr id="50" name="Rectangle 49"/>
          <p:cNvSpPr/>
          <p:nvPr/>
        </p:nvSpPr>
        <p:spPr>
          <a:xfrm>
            <a:off x="5450142" y="3337560"/>
            <a:ext cx="1069848" cy="502920"/>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718" y="3505834"/>
            <a:ext cx="996695" cy="166370"/>
          </a:xfrm>
          <a:prstGeom prst="rect">
            <a:avLst/>
          </a:prstGeom>
          <a:noFill/>
        </p:spPr>
        <p:txBody>
          <a:bodyPr wrap="square" lIns="27432" tIns="9144" rIns="27432" bIns="9144" anchor="ctr">
            <a:spAutoFit/>
          </a:bodyPr>
          <a:lstStyle/>
          <a:p>
            <a:pPr algn="ctr">
              <a:spcAft>
                <a:spcPts val="0"/>
              </a:spcAft>
            </a:pPr>
            <a:r>
              <a:rPr sz="970" b="0">
                <a:solidFill>
                  <a:srgbClr val="192430"/>
                </a:solidFill>
                <a:latin typeface="Noto Sans CJK SC"/>
              </a:rPr>
              <a:t>0.1187</a:t>
            </a:r>
            <a:endParaRPr sz="970" b="0">
              <a:solidFill>
                <a:srgbClr val="192430"/>
              </a:solidFill>
              <a:latin typeface="Noto Sans CJK SC"/>
            </a:endParaRPr>
          </a:p>
        </p:txBody>
      </p:sp>
      <p:sp>
        <p:nvSpPr>
          <p:cNvPr id="52" name="Rectangle 51"/>
          <p:cNvSpPr/>
          <p:nvPr/>
        </p:nvSpPr>
        <p:spPr>
          <a:xfrm>
            <a:off x="503238" y="3840480"/>
            <a:ext cx="166420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9814" y="4008755"/>
            <a:ext cx="1591056" cy="166370"/>
          </a:xfrm>
          <a:prstGeom prst="rect">
            <a:avLst/>
          </a:prstGeom>
          <a:noFill/>
        </p:spPr>
        <p:txBody>
          <a:bodyPr wrap="square" lIns="27432" tIns="9144" rIns="27432" bIns="9144" anchor="ctr">
            <a:spAutoFit/>
          </a:bodyPr>
          <a:lstStyle/>
          <a:p>
            <a:pPr algn="l">
              <a:spcAft>
                <a:spcPts val="0"/>
              </a:spcAft>
            </a:pPr>
            <a:r>
              <a:rPr sz="970" b="1">
                <a:solidFill>
                  <a:srgbClr val="2D70AA"/>
                </a:solidFill>
                <a:latin typeface="Noto Sans CJK SC"/>
              </a:rPr>
              <a:t>排序器校准</a:t>
            </a:r>
            <a:endParaRPr sz="970" b="1">
              <a:solidFill>
                <a:srgbClr val="2D70AA"/>
              </a:solidFill>
              <a:latin typeface="Noto Sans CJK SC"/>
            </a:endParaRPr>
          </a:p>
        </p:txBody>
      </p:sp>
      <p:sp>
        <p:nvSpPr>
          <p:cNvPr id="54" name="Rectangle 53"/>
          <p:cNvSpPr/>
          <p:nvPr/>
        </p:nvSpPr>
        <p:spPr>
          <a:xfrm>
            <a:off x="2167446" y="3840480"/>
            <a:ext cx="1143000"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04022" y="4008755"/>
            <a:ext cx="1069848"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52,872</a:t>
            </a:r>
            <a:endParaRPr sz="970" b="1">
              <a:solidFill>
                <a:srgbClr val="192430"/>
              </a:solidFill>
              <a:latin typeface="Noto Sans CJK SC"/>
            </a:endParaRPr>
          </a:p>
        </p:txBody>
      </p:sp>
      <p:sp>
        <p:nvSpPr>
          <p:cNvPr id="56" name="Rectangle 55"/>
          <p:cNvSpPr/>
          <p:nvPr/>
        </p:nvSpPr>
        <p:spPr>
          <a:xfrm>
            <a:off x="3310446" y="3840480"/>
            <a:ext cx="106984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47022" y="4008755"/>
            <a:ext cx="996695"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0.5374</a:t>
            </a:r>
            <a:endParaRPr sz="970" b="1">
              <a:solidFill>
                <a:srgbClr val="192430"/>
              </a:solidFill>
              <a:latin typeface="Noto Sans CJK SC"/>
            </a:endParaRPr>
          </a:p>
        </p:txBody>
      </p:sp>
      <p:sp>
        <p:nvSpPr>
          <p:cNvPr id="58" name="Rectangle 57"/>
          <p:cNvSpPr/>
          <p:nvPr/>
        </p:nvSpPr>
        <p:spPr>
          <a:xfrm>
            <a:off x="4380294" y="3840480"/>
            <a:ext cx="106984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16870" y="4008755"/>
            <a:ext cx="996695" cy="166370"/>
          </a:xfrm>
          <a:prstGeom prst="rect">
            <a:avLst/>
          </a:prstGeom>
          <a:noFill/>
        </p:spPr>
        <p:txBody>
          <a:bodyPr wrap="square" lIns="27432" tIns="9144" rIns="27432" bIns="9144" anchor="ctr">
            <a:spAutoFit/>
          </a:bodyPr>
          <a:lstStyle/>
          <a:p>
            <a:pPr algn="ctr">
              <a:spcAft>
                <a:spcPts val="0"/>
              </a:spcAft>
            </a:pPr>
            <a:r>
              <a:rPr sz="970" b="1">
                <a:solidFill>
                  <a:srgbClr val="192430"/>
                </a:solidFill>
                <a:latin typeface="Noto Sans CJK SC"/>
              </a:rPr>
              <a:t>0.3491</a:t>
            </a:r>
            <a:endParaRPr sz="970" b="1">
              <a:solidFill>
                <a:srgbClr val="192430"/>
              </a:solidFill>
              <a:latin typeface="Noto Sans CJK SC"/>
            </a:endParaRPr>
          </a:p>
        </p:txBody>
      </p:sp>
      <p:sp>
        <p:nvSpPr>
          <p:cNvPr id="60" name="Rectangle 59"/>
          <p:cNvSpPr/>
          <p:nvPr/>
        </p:nvSpPr>
        <p:spPr>
          <a:xfrm>
            <a:off x="5450142" y="3840480"/>
            <a:ext cx="1069848" cy="502920"/>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718" y="4008755"/>
            <a:ext cx="996695" cy="166370"/>
          </a:xfrm>
          <a:prstGeom prst="rect">
            <a:avLst/>
          </a:prstGeom>
          <a:noFill/>
        </p:spPr>
        <p:txBody>
          <a:bodyPr wrap="square" lIns="27432" tIns="9144" rIns="27432" bIns="9144" anchor="ctr">
            <a:spAutoFit/>
          </a:bodyPr>
          <a:lstStyle/>
          <a:p>
            <a:pPr algn="ctr">
              <a:spcAft>
                <a:spcPts val="0"/>
              </a:spcAft>
            </a:pPr>
            <a:r>
              <a:rPr sz="970" b="1">
                <a:solidFill>
                  <a:srgbClr val="2D70AA"/>
                </a:solidFill>
                <a:latin typeface="Noto Sans CJK SC"/>
              </a:rPr>
              <a:t>0.1690</a:t>
            </a:r>
            <a:endParaRPr sz="970" b="1">
              <a:solidFill>
                <a:srgbClr val="2D70AA"/>
              </a:solidFill>
              <a:latin typeface="Noto Sans CJK SC"/>
            </a:endParaRPr>
          </a:p>
        </p:txBody>
      </p:sp>
      <p:sp>
        <p:nvSpPr>
          <p:cNvPr id="62" name="Rounded Rectangle 61"/>
          <p:cNvSpPr/>
          <p:nvPr/>
        </p:nvSpPr>
        <p:spPr>
          <a:xfrm>
            <a:off x="7397814" y="1078992"/>
            <a:ext cx="4288536" cy="3255264"/>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26414" y="1252346"/>
            <a:ext cx="3831336" cy="201930"/>
          </a:xfrm>
          <a:prstGeom prst="rect">
            <a:avLst/>
          </a:prstGeom>
          <a:noFill/>
        </p:spPr>
        <p:txBody>
          <a:bodyPr wrap="square" lIns="27432" tIns="9144" rIns="27432" bIns="9144" anchor="ctr">
            <a:spAutoFit/>
          </a:bodyPr>
          <a:lstStyle/>
          <a:p>
            <a:pPr algn="l">
              <a:spcAft>
                <a:spcPts val="0"/>
              </a:spcAft>
            </a:pPr>
            <a:r>
              <a:rPr sz="1200" b="1">
                <a:solidFill>
                  <a:srgbClr val="192430"/>
                </a:solidFill>
                <a:latin typeface="Noto Sans CJK SC"/>
              </a:rPr>
              <a:t>mAP@0.5</a:t>
            </a:r>
            <a:endParaRPr sz="1200" b="1">
              <a:solidFill>
                <a:srgbClr val="192430"/>
              </a:solidFill>
              <a:latin typeface="Noto Sans CJK SC"/>
            </a:endParaRPr>
          </a:p>
        </p:txBody>
      </p:sp>
      <p:sp>
        <p:nvSpPr>
          <p:cNvPr id="64" name="TextBox 63"/>
          <p:cNvSpPr txBox="1"/>
          <p:nvPr/>
        </p:nvSpPr>
        <p:spPr>
          <a:xfrm>
            <a:off x="7525830" y="1869478"/>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融合前</a:t>
            </a:r>
            <a:endParaRPr sz="930" b="0">
              <a:solidFill>
                <a:srgbClr val="5B6875"/>
              </a:solidFill>
              <a:latin typeface="Noto Sans CJK SC"/>
            </a:endParaRPr>
          </a:p>
        </p:txBody>
      </p:sp>
      <p:sp>
        <p:nvSpPr>
          <p:cNvPr id="65" name="Rectangle 64"/>
          <p:cNvSpPr/>
          <p:nvPr/>
        </p:nvSpPr>
        <p:spPr>
          <a:xfrm>
            <a:off x="8851710" y="1789663"/>
            <a:ext cx="1584238" cy="346252"/>
          </a:xfrm>
          <a:prstGeom prst="rect">
            <a:avLst/>
          </a:prstGeom>
          <a:solidFill>
            <a:srgbClr val="B5BEC7"/>
          </a:solidFill>
          <a:ln w="10160">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499956" y="1870431"/>
            <a:ext cx="658368" cy="158750"/>
          </a:xfrm>
          <a:prstGeom prst="rect">
            <a:avLst/>
          </a:prstGeom>
          <a:noFill/>
        </p:spPr>
        <p:txBody>
          <a:bodyPr wrap="square" lIns="27432" tIns="9144" rIns="27432" bIns="9144" anchor="ctr">
            <a:spAutoFit/>
          </a:bodyPr>
          <a:lstStyle/>
          <a:p>
            <a:pPr algn="l">
              <a:spcAft>
                <a:spcPts val="0"/>
              </a:spcAft>
            </a:pPr>
            <a:r>
              <a:rPr sz="920" b="1">
                <a:solidFill>
                  <a:srgbClr val="B5BEC7"/>
                </a:solidFill>
                <a:latin typeface="Noto Sans CJK SC"/>
              </a:rPr>
              <a:t>0.1464</a:t>
            </a:r>
            <a:endParaRPr sz="920" b="1">
              <a:solidFill>
                <a:srgbClr val="B5BEC7"/>
              </a:solidFill>
              <a:latin typeface="Noto Sans CJK SC"/>
            </a:endParaRPr>
          </a:p>
        </p:txBody>
      </p:sp>
      <p:sp>
        <p:nvSpPr>
          <p:cNvPr id="67" name="TextBox 66"/>
          <p:cNvSpPr txBox="1"/>
          <p:nvPr/>
        </p:nvSpPr>
        <p:spPr>
          <a:xfrm>
            <a:off x="7525830" y="2735110"/>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规则筛选</a:t>
            </a:r>
            <a:endParaRPr sz="930" b="0">
              <a:solidFill>
                <a:srgbClr val="5B6875"/>
              </a:solidFill>
              <a:latin typeface="Noto Sans CJK SC"/>
            </a:endParaRPr>
          </a:p>
        </p:txBody>
      </p:sp>
      <p:sp>
        <p:nvSpPr>
          <p:cNvPr id="68" name="Rectangle 67"/>
          <p:cNvSpPr/>
          <p:nvPr/>
        </p:nvSpPr>
        <p:spPr>
          <a:xfrm>
            <a:off x="8851710" y="2655295"/>
            <a:ext cx="1284488" cy="346252"/>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200206" y="2736063"/>
            <a:ext cx="658368" cy="158750"/>
          </a:xfrm>
          <a:prstGeom prst="rect">
            <a:avLst/>
          </a:prstGeom>
          <a:noFill/>
        </p:spPr>
        <p:txBody>
          <a:bodyPr wrap="square" lIns="27432" tIns="9144" rIns="27432" bIns="9144" anchor="ctr">
            <a:spAutoFit/>
          </a:bodyPr>
          <a:lstStyle/>
          <a:p>
            <a:pPr algn="l">
              <a:spcAft>
                <a:spcPts val="0"/>
              </a:spcAft>
            </a:pPr>
            <a:r>
              <a:rPr sz="920" b="1">
                <a:solidFill>
                  <a:srgbClr val="D99124"/>
                </a:solidFill>
                <a:latin typeface="Noto Sans CJK SC"/>
              </a:rPr>
              <a:t>0.1187</a:t>
            </a:r>
            <a:endParaRPr sz="920" b="1">
              <a:solidFill>
                <a:srgbClr val="D99124"/>
              </a:solidFill>
              <a:latin typeface="Noto Sans CJK SC"/>
            </a:endParaRPr>
          </a:p>
        </p:txBody>
      </p:sp>
      <p:sp>
        <p:nvSpPr>
          <p:cNvPr id="70" name="TextBox 69"/>
          <p:cNvSpPr txBox="1"/>
          <p:nvPr/>
        </p:nvSpPr>
        <p:spPr>
          <a:xfrm>
            <a:off x="7525830" y="3600741"/>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排序器校准</a:t>
            </a:r>
            <a:endParaRPr sz="930" b="0">
              <a:solidFill>
                <a:srgbClr val="5B6875"/>
              </a:solidFill>
              <a:latin typeface="Noto Sans CJK SC"/>
            </a:endParaRPr>
          </a:p>
        </p:txBody>
      </p:sp>
      <p:sp>
        <p:nvSpPr>
          <p:cNvPr id="71" name="Rectangle 70"/>
          <p:cNvSpPr/>
          <p:nvPr/>
        </p:nvSpPr>
        <p:spPr>
          <a:xfrm>
            <a:off x="8851710" y="3520927"/>
            <a:ext cx="1828800" cy="34625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744518" y="3601694"/>
            <a:ext cx="658368" cy="158750"/>
          </a:xfrm>
          <a:prstGeom prst="rect">
            <a:avLst/>
          </a:prstGeom>
          <a:noFill/>
        </p:spPr>
        <p:txBody>
          <a:bodyPr wrap="square" lIns="27432" tIns="9144" rIns="27432" bIns="9144" anchor="ctr">
            <a:spAutoFit/>
          </a:bodyPr>
          <a:lstStyle/>
          <a:p>
            <a:pPr algn="l">
              <a:spcAft>
                <a:spcPts val="0"/>
              </a:spcAft>
            </a:pPr>
            <a:r>
              <a:rPr sz="920" b="1">
                <a:solidFill>
                  <a:srgbClr val="2D70AA"/>
                </a:solidFill>
                <a:latin typeface="Noto Sans CJK SC"/>
              </a:rPr>
              <a:t>0.1690</a:t>
            </a:r>
            <a:endParaRPr sz="920" b="1">
              <a:solidFill>
                <a:srgbClr val="2D70AA"/>
              </a:solidFill>
              <a:latin typeface="Noto Sans CJK SC"/>
            </a:endParaRPr>
          </a:p>
        </p:txBody>
      </p:sp>
      <p:sp>
        <p:nvSpPr>
          <p:cNvPr id="73" name="Rounded Rectangle 72"/>
          <p:cNvSpPr/>
          <p:nvPr/>
        </p:nvSpPr>
        <p:spPr>
          <a:xfrm>
            <a:off x="503238" y="4553712"/>
            <a:ext cx="11183112" cy="129844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50126" y="4773168"/>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8142" y="4780407"/>
            <a:ext cx="170078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结论</a:t>
            </a:r>
            <a:endParaRPr sz="1100" b="1">
              <a:solidFill>
                <a:srgbClr val="192430"/>
              </a:solidFill>
              <a:latin typeface="Noto Sans CJK SC"/>
            </a:endParaRPr>
          </a:p>
        </p:txBody>
      </p:sp>
      <p:sp>
        <p:nvSpPr>
          <p:cNvPr id="76" name="TextBox 75"/>
          <p:cNvSpPr txBox="1"/>
          <p:nvPr/>
        </p:nvSpPr>
        <p:spPr>
          <a:xfrm>
            <a:off x="1874837" y="4730623"/>
            <a:ext cx="9372600" cy="222250"/>
          </a:xfrm>
          <a:prstGeom prst="rect">
            <a:avLst/>
          </a:prstGeom>
          <a:noFill/>
        </p:spPr>
        <p:txBody>
          <a:bodyPr wrap="square" lIns="45720" tIns="9144" rIns="45720" bIns="9144" anchor="ctr">
            <a:spAutoFit/>
          </a:bodyPr>
          <a:lstStyle/>
          <a:p>
            <a:pPr algn="l"/>
            <a:r>
              <a:rPr sz="1330" b="1">
                <a:solidFill>
                  <a:srgbClr val="192430"/>
                </a:solidFill>
                <a:latin typeface="Noto Sans CJK SC"/>
              </a:rPr>
              <a:t>候选框数量和 Acc@0.5 不变</a:t>
            </a:r>
            <a:r>
              <a:rPr sz="1330" b="0">
                <a:solidFill>
                  <a:srgbClr val="192430"/>
                </a:solidFill>
                <a:latin typeface="Noto Sans CJK SC"/>
              </a:rPr>
              <a:t>，mAP@0.5 从 </a:t>
            </a:r>
            <a:r>
              <a:rPr sz="1330" b="1">
                <a:solidFill>
                  <a:srgbClr val="5B6875"/>
                </a:solidFill>
                <a:latin typeface="Noto Sans CJK SC"/>
              </a:rPr>
              <a:t>0.1464</a:t>
            </a:r>
            <a:r>
              <a:rPr sz="1330" b="0">
                <a:solidFill>
                  <a:srgbClr val="192430"/>
                </a:solidFill>
                <a:latin typeface="Noto Sans CJK SC"/>
              </a:rPr>
              <a:t> 提升至 </a:t>
            </a:r>
            <a:r>
              <a:rPr sz="1330" b="1">
                <a:solidFill>
                  <a:srgbClr val="2D70AA"/>
                </a:solidFill>
                <a:latin typeface="Noto Sans CJK SC"/>
              </a:rPr>
              <a:t>0.1690</a:t>
            </a:r>
            <a:r>
              <a:rPr sz="1330" b="0">
                <a:solidFill>
                  <a:srgbClr val="192430"/>
                </a:solidFill>
                <a:latin typeface="Noto Sans CJK SC"/>
              </a:rPr>
              <a:t>。</a:t>
            </a:r>
            <a:endParaRPr sz="1330" b="0">
              <a:solidFill>
                <a:srgbClr val="192430"/>
              </a:solidFill>
              <a:latin typeface="Noto Sans CJK SC"/>
            </a:endParaRPr>
          </a:p>
        </p:txBody>
      </p:sp>
      <p:sp>
        <p:nvSpPr>
          <p:cNvPr id="77" name="TextBox 76"/>
          <p:cNvSpPr txBox="1"/>
          <p:nvPr/>
        </p:nvSpPr>
        <p:spPr>
          <a:xfrm>
            <a:off x="1874837" y="5207953"/>
            <a:ext cx="9372600" cy="191135"/>
          </a:xfrm>
          <a:prstGeom prst="rect">
            <a:avLst/>
          </a:prstGeom>
          <a:noFill/>
        </p:spPr>
        <p:txBody>
          <a:bodyPr wrap="square" lIns="27432" tIns="9144" rIns="27432" bIns="9144" anchor="ctr">
            <a:spAutoFit/>
          </a:bodyPr>
          <a:lstStyle/>
          <a:p>
            <a:pPr algn="l">
              <a:spcAft>
                <a:spcPts val="0"/>
              </a:spcAft>
            </a:pPr>
            <a:r>
              <a:rPr sz="1130" b="0">
                <a:solidFill>
                  <a:srgbClr val="5B6875"/>
                </a:solidFill>
                <a:latin typeface="Noto Sans CJK SC"/>
              </a:rPr>
              <a:t>提升来自候选置信度校准与排序，而不是增加候选框；规则硬筛选会同时损失候选覆盖与排序质量。</a:t>
            </a:r>
            <a:endParaRPr sz="1130" b="0">
              <a:solidFill>
                <a:srgbClr val="5B6875"/>
              </a:solidFill>
              <a:latin typeface="Noto Sans CJK SC"/>
            </a:endParaRPr>
          </a:p>
        </p:txBody>
      </p:sp>
      <p:sp>
        <p:nvSpPr>
          <p:cNvPr id="78" name="TextBox 77"/>
          <p:cNvSpPr txBox="1"/>
          <p:nvPr/>
        </p:nvSpPr>
        <p:spPr>
          <a:xfrm>
            <a:off x="530670" y="6202553"/>
            <a:ext cx="10789920" cy="158750"/>
          </a:xfrm>
          <a:prstGeom prst="rect">
            <a:avLst/>
          </a:prstGeom>
          <a:noFill/>
        </p:spPr>
        <p:txBody>
          <a:bodyPr wrap="square" lIns="27432" tIns="9144" rIns="27432" bIns="9144" anchor="ctr">
            <a:spAutoFit/>
          </a:bodyPr>
          <a:lstStyle/>
          <a:p>
            <a:pPr algn="l">
              <a:spcAft>
                <a:spcPts val="0"/>
              </a:spcAft>
            </a:pPr>
            <a:r>
              <a:rPr sz="920" b="0">
                <a:solidFill>
                  <a:srgbClr val="5B6875"/>
                </a:solidFill>
                <a:latin typeface="Noto Sans CJK SC"/>
              </a:rPr>
              <a:t>Exp38 将候选来源、query 匹配和小目标先验纳入最终排序。</a:t>
            </a:r>
            <a:endParaRPr sz="920" b="0">
              <a:solidFill>
                <a:srgbClr val="5B6875"/>
              </a:solidFill>
              <a:latin typeface="Noto Sans CJK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18"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806" y="310515"/>
            <a:ext cx="502920" cy="201930"/>
          </a:xfrm>
          <a:prstGeom prst="rect">
            <a:avLst/>
          </a:prstGeom>
          <a:noFill/>
        </p:spPr>
        <p:txBody>
          <a:bodyPr wrap="square" lIns="27432" tIns="9144" rIns="27432" bIns="9144" anchor="ctr">
            <a:spAutoFit/>
          </a:bodyPr>
          <a:lstStyle/>
          <a:p>
            <a:pPr algn="l">
              <a:spcAft>
                <a:spcPts val="0"/>
              </a:spcAft>
            </a:pPr>
            <a:r>
              <a:rPr sz="1200" b="1">
                <a:solidFill>
                  <a:srgbClr val="2D70AA"/>
                </a:solidFill>
                <a:latin typeface="Noto Sans CJK SC"/>
              </a:rPr>
              <a:t>0</a:t>
            </a:r>
            <a:r>
              <a:rPr lang="en-US" sz="1200" b="1">
                <a:solidFill>
                  <a:srgbClr val="2D70AA"/>
                </a:solidFill>
                <a:latin typeface="Noto Sans CJK SC"/>
              </a:rPr>
              <a:t>3</a:t>
            </a:r>
            <a:endParaRPr lang="en-US" sz="1200" b="1">
              <a:solidFill>
                <a:srgbClr val="2D70AA"/>
              </a:solidFill>
              <a:latin typeface="Noto Sans CJK SC"/>
            </a:endParaRPr>
          </a:p>
        </p:txBody>
      </p:sp>
      <p:sp>
        <p:nvSpPr>
          <p:cNvPr id="4" name="TextBox 3"/>
          <p:cNvSpPr txBox="1"/>
          <p:nvPr/>
        </p:nvSpPr>
        <p:spPr>
          <a:xfrm>
            <a:off x="933005" y="245555"/>
            <a:ext cx="10744200" cy="386715"/>
          </a:xfrm>
          <a:prstGeom prst="rect">
            <a:avLst/>
          </a:prstGeom>
          <a:noFill/>
        </p:spPr>
        <p:txBody>
          <a:bodyPr wrap="square" lIns="27432" tIns="9144" rIns="27432" bIns="9144" anchor="ctr">
            <a:spAutoFit/>
          </a:bodyPr>
          <a:lstStyle/>
          <a:p>
            <a:pPr algn="l">
              <a:spcAft>
                <a:spcPts val="0"/>
              </a:spcAft>
            </a:pPr>
            <a:r>
              <a:rPr sz="2400" b="1">
                <a:solidFill>
                  <a:srgbClr val="192430"/>
                </a:solidFill>
                <a:latin typeface="Noto Sans CJK SC"/>
              </a:rPr>
              <a:t>RL 闭环轮数消融</a:t>
            </a:r>
            <a:endParaRPr sz="2400" b="1">
              <a:solidFill>
                <a:srgbClr val="192430"/>
              </a:solidFill>
              <a:latin typeface="Noto Sans CJK SC"/>
            </a:endParaRPr>
          </a:p>
        </p:txBody>
      </p:sp>
      <p:sp>
        <p:nvSpPr>
          <p:cNvPr id="5" name="TextBox 4"/>
          <p:cNvSpPr txBox="1"/>
          <p:nvPr/>
        </p:nvSpPr>
        <p:spPr>
          <a:xfrm>
            <a:off x="942150" y="705993"/>
            <a:ext cx="10698480" cy="179070"/>
          </a:xfrm>
          <a:prstGeom prst="rect">
            <a:avLst/>
          </a:prstGeom>
          <a:noFill/>
        </p:spPr>
        <p:txBody>
          <a:bodyPr wrap="square" lIns="27432" tIns="9144" rIns="27432" bIns="9144" anchor="ctr">
            <a:spAutoFit/>
          </a:bodyPr>
          <a:lstStyle/>
          <a:p>
            <a:pPr algn="l">
              <a:spcAft>
                <a:spcPts val="0"/>
              </a:spcAft>
            </a:pPr>
            <a:r>
              <a:rPr sz="1050" b="0">
                <a:solidFill>
                  <a:srgbClr val="5B6875"/>
                </a:solidFill>
                <a:latin typeface="Noto Sans CJK SC"/>
              </a:rPr>
              <a:t>固定同一策略与候选流程 · VisDrone test：150 张 / 7,973 GT · 仅改变总推理轮数</a:t>
            </a:r>
            <a:endParaRPr sz="1050" b="0">
              <a:solidFill>
                <a:srgbClr val="5B6875"/>
              </a:solidFill>
              <a:latin typeface="Noto Sans CJK SC"/>
            </a:endParaRPr>
          </a:p>
        </p:txBody>
      </p:sp>
      <p:sp>
        <p:nvSpPr>
          <p:cNvPr id="6" name="TextBox 5"/>
          <p:cNvSpPr txBox="1"/>
          <p:nvPr/>
        </p:nvSpPr>
        <p:spPr>
          <a:xfrm>
            <a:off x="11393742" y="6523863"/>
            <a:ext cx="347472" cy="156210"/>
          </a:xfrm>
          <a:prstGeom prst="rect">
            <a:avLst/>
          </a:prstGeom>
          <a:noFill/>
        </p:spPr>
        <p:txBody>
          <a:bodyPr wrap="square" lIns="27432" tIns="9144" rIns="27432" bIns="9144" anchor="ctr">
            <a:spAutoFit/>
          </a:bodyPr>
          <a:lstStyle/>
          <a:p>
            <a:pPr algn="r">
              <a:spcAft>
                <a:spcPts val="0"/>
              </a:spcAft>
            </a:pPr>
            <a:r>
              <a:rPr sz="900" b="0">
                <a:solidFill>
                  <a:srgbClr val="5B6875"/>
                </a:solidFill>
                <a:latin typeface="Noto Sans CJK SC"/>
              </a:rPr>
              <a:t>1</a:t>
            </a:r>
            <a:endParaRPr sz="900" b="0">
              <a:solidFill>
                <a:srgbClr val="5B6875"/>
              </a:solidFill>
              <a:latin typeface="Noto Sans CJK SC"/>
            </a:endParaRPr>
          </a:p>
        </p:txBody>
      </p:sp>
      <p:sp>
        <p:nvSpPr>
          <p:cNvPr id="7" name="Rounded Rectangle 6"/>
          <p:cNvSpPr/>
          <p:nvPr/>
        </p:nvSpPr>
        <p:spPr>
          <a:xfrm>
            <a:off x="503238" y="1078992"/>
            <a:ext cx="19202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3238"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830" y="1170813"/>
            <a:ext cx="16733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最高 Acc@0.5</a:t>
            </a:r>
            <a:endParaRPr sz="950" b="0">
              <a:solidFill>
                <a:srgbClr val="5B6875"/>
              </a:solidFill>
              <a:latin typeface="Noto Sans CJK SC"/>
            </a:endParaRPr>
          </a:p>
        </p:txBody>
      </p:sp>
      <p:sp>
        <p:nvSpPr>
          <p:cNvPr id="10" name="TextBox 9"/>
          <p:cNvSpPr txBox="1"/>
          <p:nvPr/>
        </p:nvSpPr>
        <p:spPr>
          <a:xfrm>
            <a:off x="667830" y="1355661"/>
            <a:ext cx="1673352" cy="278765"/>
          </a:xfrm>
          <a:prstGeom prst="rect">
            <a:avLst/>
          </a:prstGeom>
          <a:noFill/>
        </p:spPr>
        <p:txBody>
          <a:bodyPr wrap="square" lIns="27432" tIns="9144" rIns="27432" bIns="9144" anchor="ctr">
            <a:spAutoFit/>
          </a:bodyPr>
          <a:lstStyle/>
          <a:p>
            <a:pPr algn="l">
              <a:spcAft>
                <a:spcPts val="0"/>
              </a:spcAft>
            </a:pPr>
            <a:r>
              <a:rPr sz="1700" b="1">
                <a:solidFill>
                  <a:srgbClr val="2D70AA"/>
                </a:solidFill>
                <a:latin typeface="Noto Sans CJK SC"/>
              </a:rPr>
              <a:t>0.5357 · 4轮</a:t>
            </a:r>
            <a:endParaRPr sz="1700" b="1">
              <a:solidFill>
                <a:srgbClr val="2D70AA"/>
              </a:solidFill>
              <a:latin typeface="Noto Sans CJK SC"/>
            </a:endParaRPr>
          </a:p>
        </p:txBody>
      </p:sp>
      <p:sp>
        <p:nvSpPr>
          <p:cNvPr id="11" name="Rounded Rectangle 10"/>
          <p:cNvSpPr/>
          <p:nvPr/>
        </p:nvSpPr>
        <p:spPr>
          <a:xfrm>
            <a:off x="2542350" y="1078992"/>
            <a:ext cx="19202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2350"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06942" y="1170813"/>
            <a:ext cx="16733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最高 mAP@0.5</a:t>
            </a:r>
            <a:endParaRPr sz="950" b="0">
              <a:solidFill>
                <a:srgbClr val="5B6875"/>
              </a:solidFill>
              <a:latin typeface="Noto Sans CJK SC"/>
            </a:endParaRPr>
          </a:p>
        </p:txBody>
      </p:sp>
      <p:sp>
        <p:nvSpPr>
          <p:cNvPr id="14" name="TextBox 13"/>
          <p:cNvSpPr txBox="1"/>
          <p:nvPr/>
        </p:nvSpPr>
        <p:spPr>
          <a:xfrm>
            <a:off x="2706942" y="1355661"/>
            <a:ext cx="1673352" cy="278765"/>
          </a:xfrm>
          <a:prstGeom prst="rect">
            <a:avLst/>
          </a:prstGeom>
          <a:noFill/>
        </p:spPr>
        <p:txBody>
          <a:bodyPr wrap="square" lIns="27432" tIns="9144" rIns="27432" bIns="9144" anchor="ctr">
            <a:spAutoFit/>
          </a:bodyPr>
          <a:lstStyle/>
          <a:p>
            <a:pPr algn="l">
              <a:spcAft>
                <a:spcPts val="0"/>
              </a:spcAft>
            </a:pPr>
            <a:r>
              <a:rPr sz="1700" b="1">
                <a:solidFill>
                  <a:srgbClr val="17857D"/>
                </a:solidFill>
                <a:latin typeface="Noto Sans CJK SC"/>
              </a:rPr>
              <a:t>0.1402 · 4轮</a:t>
            </a:r>
            <a:endParaRPr sz="1700" b="1">
              <a:solidFill>
                <a:srgbClr val="17857D"/>
              </a:solidFill>
              <a:latin typeface="Noto Sans CJK SC"/>
            </a:endParaRPr>
          </a:p>
        </p:txBody>
      </p:sp>
      <p:sp>
        <p:nvSpPr>
          <p:cNvPr id="15" name="Rounded Rectangle 14"/>
          <p:cNvSpPr/>
          <p:nvPr/>
        </p:nvSpPr>
        <p:spPr>
          <a:xfrm>
            <a:off x="4581462" y="1078992"/>
            <a:ext cx="19202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81462"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46053" y="1170813"/>
            <a:ext cx="16733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均衡设置</a:t>
            </a:r>
            <a:endParaRPr sz="950" b="0">
              <a:solidFill>
                <a:srgbClr val="5B6875"/>
              </a:solidFill>
              <a:latin typeface="Noto Sans CJK SC"/>
            </a:endParaRPr>
          </a:p>
        </p:txBody>
      </p:sp>
      <p:sp>
        <p:nvSpPr>
          <p:cNvPr id="18" name="TextBox 17"/>
          <p:cNvSpPr txBox="1"/>
          <p:nvPr/>
        </p:nvSpPr>
        <p:spPr>
          <a:xfrm>
            <a:off x="4746053" y="1374711"/>
            <a:ext cx="1673352" cy="240665"/>
          </a:xfrm>
          <a:prstGeom prst="rect">
            <a:avLst/>
          </a:prstGeom>
          <a:noFill/>
        </p:spPr>
        <p:txBody>
          <a:bodyPr wrap="square" lIns="27432" tIns="9144" rIns="27432" bIns="9144" anchor="ctr">
            <a:spAutoFit/>
          </a:bodyPr>
          <a:lstStyle/>
          <a:p>
            <a:pPr algn="l">
              <a:spcAft>
                <a:spcPts val="0"/>
              </a:spcAft>
            </a:pPr>
            <a:r>
              <a:rPr sz="1450" b="1">
                <a:solidFill>
                  <a:srgbClr val="D99124"/>
                </a:solidFill>
                <a:latin typeface="Noto Sans CJK SC"/>
              </a:rPr>
              <a:t>3轮 · 93ms/图</a:t>
            </a:r>
            <a:endParaRPr sz="1450" b="1">
              <a:solidFill>
                <a:srgbClr val="D99124"/>
              </a:solidFill>
              <a:latin typeface="Noto Sans CJK SC"/>
            </a:endParaRPr>
          </a:p>
        </p:txBody>
      </p:sp>
      <p:sp>
        <p:nvSpPr>
          <p:cNvPr id="19" name="Rounded Rectangle 18"/>
          <p:cNvSpPr/>
          <p:nvPr/>
        </p:nvSpPr>
        <p:spPr>
          <a:xfrm>
            <a:off x="6721158" y="1078992"/>
            <a:ext cx="4965192" cy="3026664"/>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758" y="1252346"/>
            <a:ext cx="4507992" cy="201930"/>
          </a:xfrm>
          <a:prstGeom prst="rect">
            <a:avLst/>
          </a:prstGeom>
          <a:noFill/>
        </p:spPr>
        <p:txBody>
          <a:bodyPr wrap="square" lIns="27432" tIns="9144" rIns="27432" bIns="9144" anchor="ctr">
            <a:spAutoFit/>
          </a:bodyPr>
          <a:lstStyle/>
          <a:p>
            <a:pPr algn="l">
              <a:spcAft>
                <a:spcPts val="0"/>
              </a:spcAft>
            </a:pPr>
            <a:r>
              <a:rPr sz="1200" b="1">
                <a:solidFill>
                  <a:srgbClr val="192430"/>
                </a:solidFill>
                <a:latin typeface="Noto Sans CJK SC"/>
              </a:rPr>
              <a:t>轮数增加带来的收益与时延</a:t>
            </a:r>
            <a:endParaRPr sz="1200" b="1">
              <a:solidFill>
                <a:srgbClr val="192430"/>
              </a:solidFill>
              <a:latin typeface="Noto Sans CJK SC"/>
            </a:endParaRPr>
          </a:p>
        </p:txBody>
      </p:sp>
      <p:sp>
        <p:nvSpPr>
          <p:cNvPr id="21" name="Rectangle 20"/>
          <p:cNvSpPr/>
          <p:nvPr/>
        </p:nvSpPr>
        <p:spPr>
          <a:xfrm>
            <a:off x="7288086" y="1737360"/>
            <a:ext cx="4096511" cy="5486"/>
          </a:xfrm>
          <a:prstGeom prst="rect">
            <a:avLst/>
          </a:prstGeom>
          <a:solidFill>
            <a:srgbClr val="DADFE5"/>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88086" y="2395728"/>
            <a:ext cx="4096511" cy="5486"/>
          </a:xfrm>
          <a:prstGeom prst="rect">
            <a:avLst/>
          </a:prstGeom>
          <a:solidFill>
            <a:srgbClr val="DADFE5"/>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8086" y="3054096"/>
            <a:ext cx="4096511" cy="5486"/>
          </a:xfrm>
          <a:prstGeom prst="rect">
            <a:avLst/>
          </a:prstGeom>
          <a:solidFill>
            <a:srgbClr val="DADFE5"/>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88086" y="3712464"/>
            <a:ext cx="4096511" cy="5486"/>
          </a:xfrm>
          <a:prstGeom prst="rect">
            <a:avLst/>
          </a:prstGeom>
          <a:solidFill>
            <a:srgbClr val="DADFE5"/>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6918" y="3831717"/>
            <a:ext cx="402336" cy="163830"/>
          </a:xfrm>
          <a:prstGeom prst="rect">
            <a:avLst/>
          </a:prstGeom>
          <a:noFill/>
        </p:spPr>
        <p:txBody>
          <a:bodyPr wrap="square" lIns="27432" tIns="9144" rIns="27432" bIns="9144" anchor="ctr">
            <a:spAutoFit/>
          </a:bodyPr>
          <a:lstStyle/>
          <a:p>
            <a:pPr algn="ctr">
              <a:spcAft>
                <a:spcPts val="0"/>
              </a:spcAft>
            </a:pPr>
            <a:r>
              <a:rPr sz="950" b="0">
                <a:solidFill>
                  <a:srgbClr val="5B6875"/>
                </a:solidFill>
                <a:latin typeface="Noto Sans CJK SC"/>
              </a:rPr>
              <a:t>2轮</a:t>
            </a:r>
            <a:endParaRPr sz="950" b="0">
              <a:solidFill>
                <a:srgbClr val="5B6875"/>
              </a:solidFill>
              <a:latin typeface="Noto Sans CJK SC"/>
            </a:endParaRPr>
          </a:p>
        </p:txBody>
      </p:sp>
      <p:sp>
        <p:nvSpPr>
          <p:cNvPr id="26" name="TextBox 25"/>
          <p:cNvSpPr txBox="1"/>
          <p:nvPr/>
        </p:nvSpPr>
        <p:spPr>
          <a:xfrm>
            <a:off x="9135173" y="3831717"/>
            <a:ext cx="402336" cy="163830"/>
          </a:xfrm>
          <a:prstGeom prst="rect">
            <a:avLst/>
          </a:prstGeom>
          <a:noFill/>
        </p:spPr>
        <p:txBody>
          <a:bodyPr wrap="square" lIns="27432" tIns="9144" rIns="27432" bIns="9144" anchor="ctr">
            <a:spAutoFit/>
          </a:bodyPr>
          <a:lstStyle/>
          <a:p>
            <a:pPr algn="ctr">
              <a:spcAft>
                <a:spcPts val="0"/>
              </a:spcAft>
            </a:pPr>
            <a:r>
              <a:rPr sz="950" b="0">
                <a:solidFill>
                  <a:srgbClr val="5B6875"/>
                </a:solidFill>
                <a:latin typeface="Noto Sans CJK SC"/>
              </a:rPr>
              <a:t>3轮</a:t>
            </a:r>
            <a:endParaRPr sz="950" b="0">
              <a:solidFill>
                <a:srgbClr val="5B6875"/>
              </a:solidFill>
              <a:latin typeface="Noto Sans CJK SC"/>
            </a:endParaRPr>
          </a:p>
        </p:txBody>
      </p:sp>
      <p:sp>
        <p:nvSpPr>
          <p:cNvPr id="27" name="TextBox 26"/>
          <p:cNvSpPr txBox="1"/>
          <p:nvPr/>
        </p:nvSpPr>
        <p:spPr>
          <a:xfrm>
            <a:off x="11183429" y="3831717"/>
            <a:ext cx="402336" cy="163830"/>
          </a:xfrm>
          <a:prstGeom prst="rect">
            <a:avLst/>
          </a:prstGeom>
          <a:noFill/>
        </p:spPr>
        <p:txBody>
          <a:bodyPr wrap="square" lIns="27432" tIns="9144" rIns="27432" bIns="9144" anchor="ctr">
            <a:spAutoFit/>
          </a:bodyPr>
          <a:lstStyle/>
          <a:p>
            <a:pPr algn="ctr">
              <a:spcAft>
                <a:spcPts val="0"/>
              </a:spcAft>
            </a:pPr>
            <a:r>
              <a:rPr sz="950" b="0">
                <a:solidFill>
                  <a:srgbClr val="5B6875"/>
                </a:solidFill>
                <a:latin typeface="Noto Sans CJK SC"/>
              </a:rPr>
              <a:t>4轮</a:t>
            </a:r>
            <a:endParaRPr sz="950" b="0">
              <a:solidFill>
                <a:srgbClr val="5B6875"/>
              </a:solidFill>
              <a:latin typeface="Noto Sans CJK SC"/>
            </a:endParaRPr>
          </a:p>
        </p:txBody>
      </p:sp>
      <p:cxnSp>
        <p:nvCxnSpPr>
          <p:cNvPr id="28" name="Connector 27"/>
          <p:cNvCxnSpPr/>
          <p:nvPr/>
        </p:nvCxnSpPr>
        <p:spPr>
          <a:xfrm flipV="1">
            <a:off x="7288086" y="2461954"/>
            <a:ext cx="2048256" cy="899899"/>
          </a:xfrm>
          <a:prstGeom prst="line">
            <a:avLst/>
          </a:prstGeom>
          <a:ln w="3175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336342" y="2087970"/>
            <a:ext cx="2048256" cy="373984"/>
          </a:xfrm>
          <a:prstGeom prst="line">
            <a:avLst/>
          </a:prstGeom>
          <a:ln w="31750">
            <a:solidFill>
              <a:srgbClr val="2D70A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7228649" y="3302417"/>
            <a:ext cx="118872" cy="118872"/>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58901" y="3078770"/>
            <a:ext cx="658368" cy="163830"/>
          </a:xfrm>
          <a:prstGeom prst="rect">
            <a:avLst/>
          </a:prstGeom>
          <a:noFill/>
        </p:spPr>
        <p:txBody>
          <a:bodyPr wrap="square" lIns="27432" tIns="9144" rIns="27432" bIns="9144" anchor="ctr">
            <a:spAutoFit/>
          </a:bodyPr>
          <a:lstStyle/>
          <a:p>
            <a:pPr algn="ctr">
              <a:spcAft>
                <a:spcPts val="0"/>
              </a:spcAft>
            </a:pPr>
            <a:r>
              <a:rPr sz="950" b="1">
                <a:solidFill>
                  <a:srgbClr val="2D70AA"/>
                </a:solidFill>
                <a:latin typeface="Noto Sans CJK SC"/>
              </a:rPr>
              <a:t>0.5139</a:t>
            </a:r>
            <a:endParaRPr sz="950" b="1">
              <a:solidFill>
                <a:srgbClr val="2D70AA"/>
              </a:solidFill>
              <a:latin typeface="Noto Sans CJK SC"/>
            </a:endParaRPr>
          </a:p>
        </p:txBody>
      </p:sp>
      <p:sp>
        <p:nvSpPr>
          <p:cNvPr id="32" name="Oval 31"/>
          <p:cNvSpPr/>
          <p:nvPr/>
        </p:nvSpPr>
        <p:spPr>
          <a:xfrm>
            <a:off x="9276906" y="2402518"/>
            <a:ext cx="118872" cy="118872"/>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07158" y="2178871"/>
            <a:ext cx="658368" cy="163830"/>
          </a:xfrm>
          <a:prstGeom prst="rect">
            <a:avLst/>
          </a:prstGeom>
          <a:noFill/>
        </p:spPr>
        <p:txBody>
          <a:bodyPr wrap="square" lIns="27432" tIns="9144" rIns="27432" bIns="9144" anchor="ctr">
            <a:spAutoFit/>
          </a:bodyPr>
          <a:lstStyle/>
          <a:p>
            <a:pPr algn="ctr">
              <a:spcAft>
                <a:spcPts val="0"/>
              </a:spcAft>
            </a:pPr>
            <a:r>
              <a:rPr sz="950" b="1">
                <a:solidFill>
                  <a:srgbClr val="2D70AA"/>
                </a:solidFill>
                <a:latin typeface="Noto Sans CJK SC"/>
              </a:rPr>
              <a:t>0.5293</a:t>
            </a:r>
            <a:endParaRPr sz="950" b="1">
              <a:solidFill>
                <a:srgbClr val="2D70AA"/>
              </a:solidFill>
              <a:latin typeface="Noto Sans CJK SC"/>
            </a:endParaRPr>
          </a:p>
        </p:txBody>
      </p:sp>
      <p:sp>
        <p:nvSpPr>
          <p:cNvPr id="34" name="Oval 33"/>
          <p:cNvSpPr/>
          <p:nvPr/>
        </p:nvSpPr>
        <p:spPr>
          <a:xfrm>
            <a:off x="11325162" y="2028534"/>
            <a:ext cx="118872" cy="118872"/>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055414" y="1804887"/>
            <a:ext cx="658368" cy="163830"/>
          </a:xfrm>
          <a:prstGeom prst="rect">
            <a:avLst/>
          </a:prstGeom>
          <a:noFill/>
        </p:spPr>
        <p:txBody>
          <a:bodyPr wrap="square" lIns="27432" tIns="9144" rIns="27432" bIns="9144" anchor="ctr">
            <a:spAutoFit/>
          </a:bodyPr>
          <a:lstStyle/>
          <a:p>
            <a:pPr algn="ctr">
              <a:spcAft>
                <a:spcPts val="0"/>
              </a:spcAft>
            </a:pPr>
            <a:r>
              <a:rPr sz="950" b="1">
                <a:solidFill>
                  <a:srgbClr val="2D70AA"/>
                </a:solidFill>
                <a:latin typeface="Noto Sans CJK SC"/>
              </a:rPr>
              <a:t>0.5357</a:t>
            </a:r>
            <a:endParaRPr sz="950" b="1">
              <a:solidFill>
                <a:srgbClr val="2D70AA"/>
              </a:solidFill>
              <a:latin typeface="Noto Sans CJK SC"/>
            </a:endParaRPr>
          </a:p>
        </p:txBody>
      </p:sp>
      <p:cxnSp>
        <p:nvCxnSpPr>
          <p:cNvPr id="36" name="Connector 35"/>
          <p:cNvCxnSpPr/>
          <p:nvPr/>
        </p:nvCxnSpPr>
        <p:spPr>
          <a:xfrm flipV="1">
            <a:off x="7288086" y="2613533"/>
            <a:ext cx="2048256" cy="801922"/>
          </a:xfrm>
          <a:prstGeom prst="line">
            <a:avLst/>
          </a:prstGeom>
          <a:ln w="31750">
            <a:solidFill>
              <a:srgbClr val="D9912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9336342" y="2034368"/>
            <a:ext cx="2048256" cy="579165"/>
          </a:xfrm>
          <a:prstGeom prst="line">
            <a:avLst/>
          </a:prstGeom>
          <a:ln w="31750">
            <a:solidFill>
              <a:srgbClr val="D99124"/>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228649" y="3356019"/>
            <a:ext cx="118872" cy="118872"/>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58901" y="3552996"/>
            <a:ext cx="658368" cy="163830"/>
          </a:xfrm>
          <a:prstGeom prst="rect">
            <a:avLst/>
          </a:prstGeom>
          <a:noFill/>
        </p:spPr>
        <p:txBody>
          <a:bodyPr wrap="square" lIns="27432" tIns="9144" rIns="27432" bIns="9144" anchor="ctr">
            <a:spAutoFit/>
          </a:bodyPr>
          <a:lstStyle/>
          <a:p>
            <a:pPr algn="ctr">
              <a:spcAft>
                <a:spcPts val="0"/>
              </a:spcAft>
            </a:pPr>
            <a:r>
              <a:rPr sz="950" b="1">
                <a:solidFill>
                  <a:srgbClr val="D99124"/>
                </a:solidFill>
                <a:latin typeface="Noto Sans CJK SC"/>
              </a:rPr>
              <a:t>11.27s</a:t>
            </a:r>
            <a:endParaRPr sz="950" b="1">
              <a:solidFill>
                <a:srgbClr val="D99124"/>
              </a:solidFill>
              <a:latin typeface="Noto Sans CJK SC"/>
            </a:endParaRPr>
          </a:p>
        </p:txBody>
      </p:sp>
      <p:sp>
        <p:nvSpPr>
          <p:cNvPr id="40" name="Oval 39"/>
          <p:cNvSpPr/>
          <p:nvPr/>
        </p:nvSpPr>
        <p:spPr>
          <a:xfrm>
            <a:off x="9276906" y="2554097"/>
            <a:ext cx="118872" cy="118872"/>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07158" y="2751074"/>
            <a:ext cx="658368" cy="163830"/>
          </a:xfrm>
          <a:prstGeom prst="rect">
            <a:avLst/>
          </a:prstGeom>
          <a:noFill/>
        </p:spPr>
        <p:txBody>
          <a:bodyPr wrap="square" lIns="27432" tIns="9144" rIns="27432" bIns="9144" anchor="ctr">
            <a:spAutoFit/>
          </a:bodyPr>
          <a:lstStyle/>
          <a:p>
            <a:pPr algn="ctr">
              <a:spcAft>
                <a:spcPts val="0"/>
              </a:spcAft>
            </a:pPr>
            <a:r>
              <a:rPr sz="950" b="1">
                <a:solidFill>
                  <a:srgbClr val="D99124"/>
                </a:solidFill>
                <a:latin typeface="Noto Sans CJK SC"/>
              </a:rPr>
              <a:t>13.97s</a:t>
            </a:r>
            <a:endParaRPr sz="950" b="1">
              <a:solidFill>
                <a:srgbClr val="D99124"/>
              </a:solidFill>
              <a:latin typeface="Noto Sans CJK SC"/>
            </a:endParaRPr>
          </a:p>
        </p:txBody>
      </p:sp>
      <p:sp>
        <p:nvSpPr>
          <p:cNvPr id="42" name="Oval 41"/>
          <p:cNvSpPr/>
          <p:nvPr/>
        </p:nvSpPr>
        <p:spPr>
          <a:xfrm>
            <a:off x="11325162" y="1974932"/>
            <a:ext cx="118872" cy="118872"/>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055414" y="2171909"/>
            <a:ext cx="658368" cy="163830"/>
          </a:xfrm>
          <a:prstGeom prst="rect">
            <a:avLst/>
          </a:prstGeom>
          <a:noFill/>
        </p:spPr>
        <p:txBody>
          <a:bodyPr wrap="square" lIns="27432" tIns="9144" rIns="27432" bIns="9144" anchor="ctr">
            <a:spAutoFit/>
          </a:bodyPr>
          <a:lstStyle/>
          <a:p>
            <a:pPr algn="ctr">
              <a:spcAft>
                <a:spcPts val="0"/>
              </a:spcAft>
            </a:pPr>
            <a:r>
              <a:rPr sz="950" b="1">
                <a:solidFill>
                  <a:srgbClr val="D99124"/>
                </a:solidFill>
                <a:latin typeface="Noto Sans CJK SC"/>
              </a:rPr>
              <a:t>15.92s</a:t>
            </a:r>
            <a:endParaRPr sz="950" b="1">
              <a:solidFill>
                <a:srgbClr val="D99124"/>
              </a:solidFill>
              <a:latin typeface="Noto Sans CJK SC"/>
            </a:endParaRPr>
          </a:p>
        </p:txBody>
      </p:sp>
      <p:sp>
        <p:nvSpPr>
          <p:cNvPr id="44" name="TextBox 43"/>
          <p:cNvSpPr txBox="1"/>
          <p:nvPr/>
        </p:nvSpPr>
        <p:spPr>
          <a:xfrm>
            <a:off x="9354630" y="1253108"/>
            <a:ext cx="2011680" cy="163830"/>
          </a:xfrm>
          <a:prstGeom prst="rect">
            <a:avLst/>
          </a:prstGeom>
          <a:noFill/>
        </p:spPr>
        <p:txBody>
          <a:bodyPr wrap="square" lIns="45720" tIns="9144" rIns="45720" bIns="9144" anchor="ctr">
            <a:spAutoFit/>
          </a:bodyPr>
          <a:lstStyle/>
          <a:p>
            <a:pPr algn="ctr"/>
            <a:r>
              <a:rPr sz="950" b="1">
                <a:solidFill>
                  <a:srgbClr val="2D70AA"/>
                </a:solidFill>
                <a:latin typeface="Noto Sans CJK SC"/>
              </a:rPr>
              <a:t>● </a:t>
            </a:r>
            <a:r>
              <a:rPr sz="950" b="0">
                <a:solidFill>
                  <a:srgbClr val="5B6875"/>
                </a:solidFill>
                <a:latin typeface="Noto Sans CJK SC"/>
              </a:rPr>
              <a:t>Acc@0.5</a:t>
            </a:r>
            <a:r>
              <a:rPr sz="950" b="1">
                <a:solidFill>
                  <a:srgbClr val="D99124"/>
                </a:solidFill>
                <a:latin typeface="Noto Sans CJK SC"/>
              </a:rPr>
              <a:t>    ● </a:t>
            </a:r>
            <a:r>
              <a:rPr sz="950" b="0">
                <a:solidFill>
                  <a:srgbClr val="5B6875"/>
                </a:solidFill>
                <a:latin typeface="Noto Sans CJK SC"/>
              </a:rPr>
              <a:t>闭环时间</a:t>
            </a:r>
            <a:endParaRPr sz="950" b="0">
              <a:solidFill>
                <a:srgbClr val="5B6875"/>
              </a:solidFill>
              <a:latin typeface="Noto Sans CJK SC"/>
            </a:endParaRPr>
          </a:p>
        </p:txBody>
      </p:sp>
      <p:sp>
        <p:nvSpPr>
          <p:cNvPr id="45" name="Rectangle 44"/>
          <p:cNvSpPr/>
          <p:nvPr/>
        </p:nvSpPr>
        <p:spPr>
          <a:xfrm>
            <a:off x="503238" y="2011679"/>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1254" y="2018919"/>
            <a:ext cx="586130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同口径复跑结果</a:t>
            </a:r>
            <a:endParaRPr sz="1100" b="1">
              <a:solidFill>
                <a:srgbClr val="192430"/>
              </a:solidFill>
              <a:latin typeface="Noto Sans CJK SC"/>
            </a:endParaRPr>
          </a:p>
        </p:txBody>
      </p:sp>
      <p:sp>
        <p:nvSpPr>
          <p:cNvPr id="47" name="Rounded Rectangle 46"/>
          <p:cNvSpPr/>
          <p:nvPr/>
        </p:nvSpPr>
        <p:spPr>
          <a:xfrm>
            <a:off x="503238" y="2331720"/>
            <a:ext cx="5623560" cy="1682496"/>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3238" y="2331720"/>
            <a:ext cx="685800" cy="42062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1526" y="2462657"/>
            <a:ext cx="64922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轮数</a:t>
            </a:r>
            <a:endParaRPr sz="920" b="1">
              <a:solidFill>
                <a:srgbClr val="FFFFFF"/>
              </a:solidFill>
              <a:latin typeface="Noto Sans CJK SC"/>
            </a:endParaRPr>
          </a:p>
        </p:txBody>
      </p:sp>
      <p:sp>
        <p:nvSpPr>
          <p:cNvPr id="50" name="Rectangle 49"/>
          <p:cNvSpPr/>
          <p:nvPr/>
        </p:nvSpPr>
        <p:spPr>
          <a:xfrm>
            <a:off x="1189038" y="2331720"/>
            <a:ext cx="1005840" cy="42062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07326" y="2462657"/>
            <a:ext cx="96926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候选框</a:t>
            </a:r>
            <a:endParaRPr sz="920" b="1">
              <a:solidFill>
                <a:srgbClr val="FFFFFF"/>
              </a:solidFill>
              <a:latin typeface="Noto Sans CJK SC"/>
            </a:endParaRPr>
          </a:p>
        </p:txBody>
      </p:sp>
      <p:sp>
        <p:nvSpPr>
          <p:cNvPr id="52" name="Rectangle 51"/>
          <p:cNvSpPr/>
          <p:nvPr/>
        </p:nvSpPr>
        <p:spPr>
          <a:xfrm>
            <a:off x="2194878" y="2331720"/>
            <a:ext cx="960120" cy="42062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13166" y="2462657"/>
            <a:ext cx="92354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TP@0.5</a:t>
            </a:r>
            <a:endParaRPr sz="920" b="1">
              <a:solidFill>
                <a:srgbClr val="FFFFFF"/>
              </a:solidFill>
              <a:latin typeface="Noto Sans CJK SC"/>
            </a:endParaRPr>
          </a:p>
        </p:txBody>
      </p:sp>
      <p:sp>
        <p:nvSpPr>
          <p:cNvPr id="54" name="Rectangle 53"/>
          <p:cNvSpPr/>
          <p:nvPr/>
        </p:nvSpPr>
        <p:spPr>
          <a:xfrm>
            <a:off x="3154998" y="2331720"/>
            <a:ext cx="960120" cy="42062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173286" y="2462657"/>
            <a:ext cx="92354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Acc@0.5</a:t>
            </a:r>
            <a:endParaRPr sz="920" b="1">
              <a:solidFill>
                <a:srgbClr val="FFFFFF"/>
              </a:solidFill>
              <a:latin typeface="Noto Sans CJK SC"/>
            </a:endParaRPr>
          </a:p>
        </p:txBody>
      </p:sp>
      <p:sp>
        <p:nvSpPr>
          <p:cNvPr id="56" name="Rectangle 55"/>
          <p:cNvSpPr/>
          <p:nvPr/>
        </p:nvSpPr>
        <p:spPr>
          <a:xfrm>
            <a:off x="4115118" y="2331720"/>
            <a:ext cx="960120" cy="42062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33405" y="2462657"/>
            <a:ext cx="92354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mAP@0.5</a:t>
            </a:r>
            <a:endParaRPr sz="920" b="1">
              <a:solidFill>
                <a:srgbClr val="FFFFFF"/>
              </a:solidFill>
              <a:latin typeface="Noto Sans CJK SC"/>
            </a:endParaRPr>
          </a:p>
        </p:txBody>
      </p:sp>
      <p:sp>
        <p:nvSpPr>
          <p:cNvPr id="58" name="Rectangle 57"/>
          <p:cNvSpPr/>
          <p:nvPr/>
        </p:nvSpPr>
        <p:spPr>
          <a:xfrm>
            <a:off x="5075238" y="2331720"/>
            <a:ext cx="1051560" cy="42062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93525" y="2462657"/>
            <a:ext cx="1014983"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单图时间</a:t>
            </a:r>
            <a:endParaRPr sz="920" b="1">
              <a:solidFill>
                <a:srgbClr val="FFFFFF"/>
              </a:solidFill>
              <a:latin typeface="Noto Sans CJK SC"/>
            </a:endParaRPr>
          </a:p>
        </p:txBody>
      </p:sp>
      <p:sp>
        <p:nvSpPr>
          <p:cNvPr id="60" name="Rectangle 59"/>
          <p:cNvSpPr/>
          <p:nvPr/>
        </p:nvSpPr>
        <p:spPr>
          <a:xfrm>
            <a:off x="503238" y="2752344"/>
            <a:ext cx="685800" cy="42062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9814" y="2880105"/>
            <a:ext cx="612648" cy="165100"/>
          </a:xfrm>
          <a:prstGeom prst="rect">
            <a:avLst/>
          </a:prstGeom>
          <a:noFill/>
        </p:spPr>
        <p:txBody>
          <a:bodyPr wrap="square" lIns="27432" tIns="9144" rIns="27432" bIns="9144" anchor="ctr">
            <a:spAutoFit/>
          </a:bodyPr>
          <a:lstStyle/>
          <a:p>
            <a:pPr algn="l">
              <a:spcAft>
                <a:spcPts val="0"/>
              </a:spcAft>
            </a:pPr>
            <a:r>
              <a:rPr sz="960" b="0">
                <a:solidFill>
                  <a:srgbClr val="192430"/>
                </a:solidFill>
                <a:latin typeface="Noto Sans CJK SC"/>
              </a:rPr>
              <a:t>2</a:t>
            </a:r>
            <a:endParaRPr sz="960" b="0">
              <a:solidFill>
                <a:srgbClr val="192430"/>
              </a:solidFill>
              <a:latin typeface="Noto Sans CJK SC"/>
            </a:endParaRPr>
          </a:p>
        </p:txBody>
      </p:sp>
      <p:sp>
        <p:nvSpPr>
          <p:cNvPr id="62" name="Rectangle 61"/>
          <p:cNvSpPr/>
          <p:nvPr/>
        </p:nvSpPr>
        <p:spPr>
          <a:xfrm>
            <a:off x="1189038" y="2752344"/>
            <a:ext cx="1005840" cy="42062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225614" y="2880105"/>
            <a:ext cx="932688" cy="165100"/>
          </a:xfrm>
          <a:prstGeom prst="rect">
            <a:avLst/>
          </a:prstGeom>
          <a:noFill/>
        </p:spPr>
        <p:txBody>
          <a:bodyPr wrap="square" lIns="27432" tIns="9144" rIns="27432" bIns="9144" anchor="ctr">
            <a:spAutoFit/>
          </a:bodyPr>
          <a:lstStyle/>
          <a:p>
            <a:pPr algn="ctr">
              <a:spcAft>
                <a:spcPts val="0"/>
              </a:spcAft>
            </a:pPr>
            <a:r>
              <a:rPr sz="960" b="0">
                <a:solidFill>
                  <a:srgbClr val="192430"/>
                </a:solidFill>
                <a:latin typeface="Noto Sans CJK SC"/>
              </a:rPr>
              <a:t>37,487</a:t>
            </a:r>
            <a:endParaRPr sz="960" b="0">
              <a:solidFill>
                <a:srgbClr val="192430"/>
              </a:solidFill>
              <a:latin typeface="Noto Sans CJK SC"/>
            </a:endParaRPr>
          </a:p>
        </p:txBody>
      </p:sp>
      <p:sp>
        <p:nvSpPr>
          <p:cNvPr id="64" name="Rectangle 63"/>
          <p:cNvSpPr/>
          <p:nvPr/>
        </p:nvSpPr>
        <p:spPr>
          <a:xfrm>
            <a:off x="2194878" y="2752344"/>
            <a:ext cx="960120" cy="42062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231454" y="2880105"/>
            <a:ext cx="886968" cy="165100"/>
          </a:xfrm>
          <a:prstGeom prst="rect">
            <a:avLst/>
          </a:prstGeom>
          <a:noFill/>
        </p:spPr>
        <p:txBody>
          <a:bodyPr wrap="square" lIns="27432" tIns="9144" rIns="27432" bIns="9144" anchor="ctr">
            <a:spAutoFit/>
          </a:bodyPr>
          <a:lstStyle/>
          <a:p>
            <a:pPr algn="ctr">
              <a:spcAft>
                <a:spcPts val="0"/>
              </a:spcAft>
            </a:pPr>
            <a:r>
              <a:rPr sz="960" b="0">
                <a:solidFill>
                  <a:srgbClr val="192430"/>
                </a:solidFill>
                <a:latin typeface="Noto Sans CJK SC"/>
              </a:rPr>
              <a:t>4,097</a:t>
            </a:r>
            <a:endParaRPr sz="960" b="0">
              <a:solidFill>
                <a:srgbClr val="192430"/>
              </a:solidFill>
              <a:latin typeface="Noto Sans CJK SC"/>
            </a:endParaRPr>
          </a:p>
        </p:txBody>
      </p:sp>
      <p:sp>
        <p:nvSpPr>
          <p:cNvPr id="66" name="Rectangle 65"/>
          <p:cNvSpPr/>
          <p:nvPr/>
        </p:nvSpPr>
        <p:spPr>
          <a:xfrm>
            <a:off x="3154998" y="2752344"/>
            <a:ext cx="960120" cy="42062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191574" y="2880105"/>
            <a:ext cx="886968" cy="165100"/>
          </a:xfrm>
          <a:prstGeom prst="rect">
            <a:avLst/>
          </a:prstGeom>
          <a:noFill/>
        </p:spPr>
        <p:txBody>
          <a:bodyPr wrap="square" lIns="27432" tIns="9144" rIns="27432" bIns="9144" anchor="ctr">
            <a:spAutoFit/>
          </a:bodyPr>
          <a:lstStyle/>
          <a:p>
            <a:pPr algn="ctr">
              <a:spcAft>
                <a:spcPts val="0"/>
              </a:spcAft>
            </a:pPr>
            <a:r>
              <a:rPr sz="960" b="0">
                <a:solidFill>
                  <a:srgbClr val="192430"/>
                </a:solidFill>
                <a:latin typeface="Noto Sans CJK SC"/>
              </a:rPr>
              <a:t>0.5139</a:t>
            </a:r>
            <a:endParaRPr sz="960" b="0">
              <a:solidFill>
                <a:srgbClr val="192430"/>
              </a:solidFill>
              <a:latin typeface="Noto Sans CJK SC"/>
            </a:endParaRPr>
          </a:p>
        </p:txBody>
      </p:sp>
      <p:sp>
        <p:nvSpPr>
          <p:cNvPr id="68" name="Rectangle 67"/>
          <p:cNvSpPr/>
          <p:nvPr/>
        </p:nvSpPr>
        <p:spPr>
          <a:xfrm>
            <a:off x="4115118" y="2752344"/>
            <a:ext cx="960120" cy="42062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151694" y="2880105"/>
            <a:ext cx="886968" cy="165100"/>
          </a:xfrm>
          <a:prstGeom prst="rect">
            <a:avLst/>
          </a:prstGeom>
          <a:noFill/>
        </p:spPr>
        <p:txBody>
          <a:bodyPr wrap="square" lIns="27432" tIns="9144" rIns="27432" bIns="9144" anchor="ctr">
            <a:spAutoFit/>
          </a:bodyPr>
          <a:lstStyle/>
          <a:p>
            <a:pPr algn="ctr">
              <a:spcAft>
                <a:spcPts val="0"/>
              </a:spcAft>
            </a:pPr>
            <a:r>
              <a:rPr sz="960" b="0">
                <a:solidFill>
                  <a:srgbClr val="192430"/>
                </a:solidFill>
                <a:latin typeface="Noto Sans CJK SC"/>
              </a:rPr>
              <a:t>0.1386</a:t>
            </a:r>
            <a:endParaRPr sz="960" b="0">
              <a:solidFill>
                <a:srgbClr val="192430"/>
              </a:solidFill>
              <a:latin typeface="Noto Sans CJK SC"/>
            </a:endParaRPr>
          </a:p>
        </p:txBody>
      </p:sp>
      <p:sp>
        <p:nvSpPr>
          <p:cNvPr id="70" name="Rectangle 69"/>
          <p:cNvSpPr/>
          <p:nvPr/>
        </p:nvSpPr>
        <p:spPr>
          <a:xfrm>
            <a:off x="5075238" y="2752344"/>
            <a:ext cx="1051560" cy="42062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111814" y="2880105"/>
            <a:ext cx="978407" cy="165100"/>
          </a:xfrm>
          <a:prstGeom prst="rect">
            <a:avLst/>
          </a:prstGeom>
          <a:noFill/>
        </p:spPr>
        <p:txBody>
          <a:bodyPr wrap="square" lIns="27432" tIns="9144" rIns="27432" bIns="9144" anchor="ctr">
            <a:spAutoFit/>
          </a:bodyPr>
          <a:lstStyle/>
          <a:p>
            <a:pPr algn="ctr">
              <a:spcAft>
                <a:spcPts val="0"/>
              </a:spcAft>
            </a:pPr>
            <a:r>
              <a:rPr sz="960" b="0">
                <a:solidFill>
                  <a:srgbClr val="192430"/>
                </a:solidFill>
                <a:latin typeface="Noto Sans CJK SC"/>
              </a:rPr>
              <a:t>75.11 ms</a:t>
            </a:r>
            <a:endParaRPr sz="960" b="0">
              <a:solidFill>
                <a:srgbClr val="192430"/>
              </a:solidFill>
              <a:latin typeface="Noto Sans CJK SC"/>
            </a:endParaRPr>
          </a:p>
        </p:txBody>
      </p:sp>
      <p:sp>
        <p:nvSpPr>
          <p:cNvPr id="72" name="Rectangle 71"/>
          <p:cNvSpPr/>
          <p:nvPr/>
        </p:nvSpPr>
        <p:spPr>
          <a:xfrm>
            <a:off x="503238" y="3172968"/>
            <a:ext cx="685800" cy="42062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30289" y="3282314"/>
            <a:ext cx="612648" cy="165100"/>
          </a:xfrm>
          <a:prstGeom prst="rect">
            <a:avLst/>
          </a:prstGeom>
          <a:noFill/>
        </p:spPr>
        <p:txBody>
          <a:bodyPr wrap="square" lIns="27432" tIns="9144" rIns="27432" bIns="9144" anchor="ctr">
            <a:spAutoFit/>
          </a:bodyPr>
          <a:lstStyle/>
          <a:p>
            <a:pPr algn="l">
              <a:spcAft>
                <a:spcPts val="0"/>
              </a:spcAft>
            </a:pPr>
            <a:r>
              <a:rPr sz="960" b="1">
                <a:solidFill>
                  <a:srgbClr val="2D70AA"/>
                </a:solidFill>
                <a:latin typeface="Noto Sans CJK SC"/>
              </a:rPr>
              <a:t>3</a:t>
            </a:r>
            <a:endParaRPr sz="960" b="1">
              <a:solidFill>
                <a:srgbClr val="2D70AA"/>
              </a:solidFill>
              <a:latin typeface="Noto Sans CJK SC"/>
            </a:endParaRPr>
          </a:p>
        </p:txBody>
      </p:sp>
      <p:sp>
        <p:nvSpPr>
          <p:cNvPr id="74" name="Rectangle 73"/>
          <p:cNvSpPr/>
          <p:nvPr/>
        </p:nvSpPr>
        <p:spPr>
          <a:xfrm>
            <a:off x="1189038" y="3172968"/>
            <a:ext cx="1005840" cy="42062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225614" y="3300729"/>
            <a:ext cx="93268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40,904</a:t>
            </a:r>
            <a:endParaRPr sz="960" b="1">
              <a:solidFill>
                <a:srgbClr val="192430"/>
              </a:solidFill>
              <a:latin typeface="Noto Sans CJK SC"/>
            </a:endParaRPr>
          </a:p>
        </p:txBody>
      </p:sp>
      <p:sp>
        <p:nvSpPr>
          <p:cNvPr id="76" name="Rectangle 75"/>
          <p:cNvSpPr/>
          <p:nvPr/>
        </p:nvSpPr>
        <p:spPr>
          <a:xfrm>
            <a:off x="2194878" y="3172968"/>
            <a:ext cx="960120" cy="42062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231454" y="3300729"/>
            <a:ext cx="88696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4,220</a:t>
            </a:r>
            <a:endParaRPr sz="960" b="1">
              <a:solidFill>
                <a:srgbClr val="192430"/>
              </a:solidFill>
              <a:latin typeface="Noto Sans CJK SC"/>
            </a:endParaRPr>
          </a:p>
        </p:txBody>
      </p:sp>
      <p:sp>
        <p:nvSpPr>
          <p:cNvPr id="78" name="Rectangle 77"/>
          <p:cNvSpPr/>
          <p:nvPr/>
        </p:nvSpPr>
        <p:spPr>
          <a:xfrm>
            <a:off x="3154998" y="3172968"/>
            <a:ext cx="960120" cy="42062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191574" y="3300729"/>
            <a:ext cx="88696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0.5293</a:t>
            </a:r>
            <a:endParaRPr sz="960" b="1">
              <a:solidFill>
                <a:srgbClr val="192430"/>
              </a:solidFill>
              <a:latin typeface="Noto Sans CJK SC"/>
            </a:endParaRPr>
          </a:p>
        </p:txBody>
      </p:sp>
      <p:sp>
        <p:nvSpPr>
          <p:cNvPr id="80" name="Rectangle 79"/>
          <p:cNvSpPr/>
          <p:nvPr/>
        </p:nvSpPr>
        <p:spPr>
          <a:xfrm>
            <a:off x="4115118" y="3172968"/>
            <a:ext cx="960120" cy="42062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151694" y="3300729"/>
            <a:ext cx="88696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0.1397</a:t>
            </a:r>
            <a:endParaRPr sz="960" b="1">
              <a:solidFill>
                <a:srgbClr val="192430"/>
              </a:solidFill>
              <a:latin typeface="Noto Sans CJK SC"/>
            </a:endParaRPr>
          </a:p>
        </p:txBody>
      </p:sp>
      <p:sp>
        <p:nvSpPr>
          <p:cNvPr id="82" name="Rectangle 81"/>
          <p:cNvSpPr/>
          <p:nvPr/>
        </p:nvSpPr>
        <p:spPr>
          <a:xfrm>
            <a:off x="5075238" y="3172968"/>
            <a:ext cx="1051560" cy="42062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111814" y="3300729"/>
            <a:ext cx="978407" cy="165100"/>
          </a:xfrm>
          <a:prstGeom prst="rect">
            <a:avLst/>
          </a:prstGeom>
          <a:noFill/>
        </p:spPr>
        <p:txBody>
          <a:bodyPr wrap="square" lIns="27432" tIns="9144" rIns="27432" bIns="9144" anchor="ctr">
            <a:spAutoFit/>
          </a:bodyPr>
          <a:lstStyle/>
          <a:p>
            <a:pPr algn="ctr">
              <a:spcAft>
                <a:spcPts val="0"/>
              </a:spcAft>
            </a:pPr>
            <a:r>
              <a:rPr sz="960" b="1">
                <a:solidFill>
                  <a:srgbClr val="2D70AA"/>
                </a:solidFill>
                <a:latin typeface="Noto Sans CJK SC"/>
              </a:rPr>
              <a:t>93.16 ms</a:t>
            </a:r>
            <a:endParaRPr sz="960" b="1">
              <a:solidFill>
                <a:srgbClr val="2D70AA"/>
              </a:solidFill>
              <a:latin typeface="Noto Sans CJK SC"/>
            </a:endParaRPr>
          </a:p>
        </p:txBody>
      </p:sp>
      <p:sp>
        <p:nvSpPr>
          <p:cNvPr id="84" name="Rectangle 83"/>
          <p:cNvSpPr/>
          <p:nvPr/>
        </p:nvSpPr>
        <p:spPr>
          <a:xfrm>
            <a:off x="503238" y="3593591"/>
            <a:ext cx="685800" cy="42062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39814" y="3721353"/>
            <a:ext cx="612648" cy="165100"/>
          </a:xfrm>
          <a:prstGeom prst="rect">
            <a:avLst/>
          </a:prstGeom>
          <a:noFill/>
        </p:spPr>
        <p:txBody>
          <a:bodyPr wrap="square" lIns="27432" tIns="9144" rIns="27432" bIns="9144" anchor="ctr">
            <a:spAutoFit/>
          </a:bodyPr>
          <a:lstStyle/>
          <a:p>
            <a:pPr algn="l">
              <a:spcAft>
                <a:spcPts val="0"/>
              </a:spcAft>
            </a:pPr>
            <a:r>
              <a:rPr sz="960" b="1">
                <a:solidFill>
                  <a:srgbClr val="2D70AA"/>
                </a:solidFill>
                <a:latin typeface="Noto Sans CJK SC"/>
              </a:rPr>
              <a:t>4</a:t>
            </a:r>
            <a:endParaRPr sz="960" b="1">
              <a:solidFill>
                <a:srgbClr val="2D70AA"/>
              </a:solidFill>
              <a:latin typeface="Noto Sans CJK SC"/>
            </a:endParaRPr>
          </a:p>
        </p:txBody>
      </p:sp>
      <p:sp>
        <p:nvSpPr>
          <p:cNvPr id="86" name="Rectangle 85"/>
          <p:cNvSpPr/>
          <p:nvPr/>
        </p:nvSpPr>
        <p:spPr>
          <a:xfrm>
            <a:off x="1189038" y="3593591"/>
            <a:ext cx="1005840" cy="42062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225614" y="3721353"/>
            <a:ext cx="93268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42,229</a:t>
            </a:r>
            <a:endParaRPr sz="960" b="1">
              <a:solidFill>
                <a:srgbClr val="192430"/>
              </a:solidFill>
              <a:latin typeface="Noto Sans CJK SC"/>
            </a:endParaRPr>
          </a:p>
        </p:txBody>
      </p:sp>
      <p:sp>
        <p:nvSpPr>
          <p:cNvPr id="88" name="Rectangle 87"/>
          <p:cNvSpPr/>
          <p:nvPr/>
        </p:nvSpPr>
        <p:spPr>
          <a:xfrm>
            <a:off x="2194878" y="3593591"/>
            <a:ext cx="960120" cy="42062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231454" y="3721353"/>
            <a:ext cx="88696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4,271</a:t>
            </a:r>
            <a:endParaRPr sz="960" b="1">
              <a:solidFill>
                <a:srgbClr val="192430"/>
              </a:solidFill>
              <a:latin typeface="Noto Sans CJK SC"/>
            </a:endParaRPr>
          </a:p>
        </p:txBody>
      </p:sp>
      <p:sp>
        <p:nvSpPr>
          <p:cNvPr id="90" name="Rectangle 89"/>
          <p:cNvSpPr/>
          <p:nvPr/>
        </p:nvSpPr>
        <p:spPr>
          <a:xfrm>
            <a:off x="3154998" y="3593591"/>
            <a:ext cx="960120" cy="42062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191574" y="3721353"/>
            <a:ext cx="88696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0.5357</a:t>
            </a:r>
            <a:endParaRPr sz="960" b="1">
              <a:solidFill>
                <a:srgbClr val="192430"/>
              </a:solidFill>
              <a:latin typeface="Noto Sans CJK SC"/>
            </a:endParaRPr>
          </a:p>
        </p:txBody>
      </p:sp>
      <p:sp>
        <p:nvSpPr>
          <p:cNvPr id="92" name="Rectangle 91"/>
          <p:cNvSpPr/>
          <p:nvPr/>
        </p:nvSpPr>
        <p:spPr>
          <a:xfrm>
            <a:off x="4115118" y="3593591"/>
            <a:ext cx="960120" cy="42062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151694" y="3721353"/>
            <a:ext cx="886968" cy="165100"/>
          </a:xfrm>
          <a:prstGeom prst="rect">
            <a:avLst/>
          </a:prstGeom>
          <a:noFill/>
        </p:spPr>
        <p:txBody>
          <a:bodyPr wrap="square" lIns="27432" tIns="9144" rIns="27432" bIns="9144" anchor="ctr">
            <a:spAutoFit/>
          </a:bodyPr>
          <a:lstStyle/>
          <a:p>
            <a:pPr algn="ctr">
              <a:spcAft>
                <a:spcPts val="0"/>
              </a:spcAft>
            </a:pPr>
            <a:r>
              <a:rPr sz="960" b="1">
                <a:solidFill>
                  <a:srgbClr val="192430"/>
                </a:solidFill>
                <a:latin typeface="Noto Sans CJK SC"/>
              </a:rPr>
              <a:t>0.1402</a:t>
            </a:r>
            <a:endParaRPr sz="960" b="1">
              <a:solidFill>
                <a:srgbClr val="192430"/>
              </a:solidFill>
              <a:latin typeface="Noto Sans CJK SC"/>
            </a:endParaRPr>
          </a:p>
        </p:txBody>
      </p:sp>
      <p:sp>
        <p:nvSpPr>
          <p:cNvPr id="94" name="Rectangle 93"/>
          <p:cNvSpPr/>
          <p:nvPr/>
        </p:nvSpPr>
        <p:spPr>
          <a:xfrm>
            <a:off x="5075238" y="3593591"/>
            <a:ext cx="1051560" cy="42062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111814" y="3721353"/>
            <a:ext cx="978407" cy="165100"/>
          </a:xfrm>
          <a:prstGeom prst="rect">
            <a:avLst/>
          </a:prstGeom>
          <a:noFill/>
        </p:spPr>
        <p:txBody>
          <a:bodyPr wrap="square" lIns="27432" tIns="9144" rIns="27432" bIns="9144" anchor="ctr">
            <a:spAutoFit/>
          </a:bodyPr>
          <a:lstStyle/>
          <a:p>
            <a:pPr algn="ctr">
              <a:spcAft>
                <a:spcPts val="0"/>
              </a:spcAft>
            </a:pPr>
            <a:r>
              <a:rPr sz="960" b="1">
                <a:solidFill>
                  <a:srgbClr val="2D70AA"/>
                </a:solidFill>
                <a:latin typeface="Noto Sans CJK SC"/>
              </a:rPr>
              <a:t>106.11 ms</a:t>
            </a:r>
            <a:endParaRPr sz="960" b="1">
              <a:solidFill>
                <a:srgbClr val="2D70AA"/>
              </a:solidFill>
              <a:latin typeface="Noto Sans CJK SC"/>
            </a:endParaRPr>
          </a:p>
        </p:txBody>
      </p:sp>
      <p:sp>
        <p:nvSpPr>
          <p:cNvPr id="96" name="Rounded Rectangle 95"/>
          <p:cNvSpPr/>
          <p:nvPr/>
        </p:nvSpPr>
        <p:spPr>
          <a:xfrm>
            <a:off x="503238" y="4224528"/>
            <a:ext cx="11183112" cy="1554480"/>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50126" y="4471416"/>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78142" y="4478655"/>
            <a:ext cx="279806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结论</a:t>
            </a:r>
            <a:endParaRPr sz="1100" b="1">
              <a:solidFill>
                <a:srgbClr val="192430"/>
              </a:solidFill>
              <a:latin typeface="Noto Sans CJK SC"/>
            </a:endParaRPr>
          </a:p>
        </p:txBody>
      </p:sp>
      <p:sp>
        <p:nvSpPr>
          <p:cNvPr id="99" name="TextBox 98"/>
          <p:cNvSpPr txBox="1"/>
          <p:nvPr/>
        </p:nvSpPr>
        <p:spPr>
          <a:xfrm>
            <a:off x="804990" y="4795330"/>
            <a:ext cx="10607040" cy="248285"/>
          </a:xfrm>
          <a:prstGeom prst="rect">
            <a:avLst/>
          </a:prstGeom>
          <a:noFill/>
        </p:spPr>
        <p:txBody>
          <a:bodyPr wrap="square" lIns="45720" tIns="9144" rIns="45720" bIns="9144" anchor="ctr">
            <a:spAutoFit/>
          </a:bodyPr>
          <a:lstStyle/>
          <a:p>
            <a:pPr algn="l"/>
            <a:r>
              <a:rPr sz="1500" b="1">
                <a:solidFill>
                  <a:srgbClr val="2D70AA"/>
                </a:solidFill>
                <a:latin typeface="Noto Sans CJK SC"/>
              </a:rPr>
              <a:t>4轮</a:t>
            </a:r>
            <a:r>
              <a:rPr sz="1500" b="0">
                <a:solidFill>
                  <a:srgbClr val="192430"/>
                </a:solidFill>
                <a:latin typeface="Noto Sans CJK SC"/>
              </a:rPr>
              <a:t>取得最高指标，但 3→4 轮仅新增 </a:t>
            </a:r>
            <a:r>
              <a:rPr sz="1500" b="1">
                <a:solidFill>
                  <a:srgbClr val="2D70AA"/>
                </a:solidFill>
                <a:latin typeface="Noto Sans CJK SC"/>
              </a:rPr>
              <a:t>51 TP</a:t>
            </a:r>
            <a:r>
              <a:rPr sz="1500" b="0">
                <a:solidFill>
                  <a:srgbClr val="192430"/>
                </a:solidFill>
                <a:latin typeface="Noto Sans CJK SC"/>
              </a:rPr>
              <a:t>、mAP +0.00052，同时增加 </a:t>
            </a:r>
            <a:r>
              <a:rPr sz="1500" b="1">
                <a:solidFill>
                  <a:srgbClr val="D99124"/>
                </a:solidFill>
                <a:latin typeface="Noto Sans CJK SC"/>
              </a:rPr>
              <a:t>1.94 s</a:t>
            </a:r>
            <a:r>
              <a:rPr sz="1500" b="0">
                <a:solidFill>
                  <a:srgbClr val="192430"/>
                </a:solidFill>
                <a:latin typeface="Noto Sans CJK SC"/>
              </a:rPr>
              <a:t> 推理时间。</a:t>
            </a:r>
            <a:endParaRPr sz="1500" b="0">
              <a:solidFill>
                <a:srgbClr val="192430"/>
              </a:solidFill>
              <a:latin typeface="Noto Sans CJK SC"/>
            </a:endParaRPr>
          </a:p>
        </p:txBody>
      </p:sp>
      <p:sp>
        <p:nvSpPr>
          <p:cNvPr id="100" name="TextBox 99"/>
          <p:cNvSpPr txBox="1"/>
          <p:nvPr/>
        </p:nvSpPr>
        <p:spPr>
          <a:xfrm>
            <a:off x="804990" y="5231194"/>
            <a:ext cx="10561320" cy="217805"/>
          </a:xfrm>
          <a:prstGeom prst="rect">
            <a:avLst/>
          </a:prstGeom>
          <a:noFill/>
        </p:spPr>
        <p:txBody>
          <a:bodyPr wrap="square" lIns="27432" tIns="9144" rIns="27432" bIns="9144" anchor="ctr">
            <a:spAutoFit/>
          </a:bodyPr>
          <a:lstStyle/>
          <a:p>
            <a:pPr algn="l">
              <a:spcAft>
                <a:spcPts val="0"/>
              </a:spcAft>
            </a:pPr>
            <a:r>
              <a:rPr sz="1300" b="0">
                <a:solidFill>
                  <a:srgbClr val="5B6875"/>
                </a:solidFill>
                <a:latin typeface="Noto Sans CJK SC"/>
              </a:rPr>
              <a:t>最高召回/评分优先：4轮；综合候选规模与推理效率：3轮更均衡。</a:t>
            </a:r>
            <a:endParaRPr sz="1300" b="0">
              <a:solidFill>
                <a:srgbClr val="5B6875"/>
              </a:solidFill>
              <a:latin typeface="Noto Sans CJK SC"/>
            </a:endParaRPr>
          </a:p>
        </p:txBody>
      </p:sp>
      <p:sp>
        <p:nvSpPr>
          <p:cNvPr id="101" name="TextBox 100"/>
          <p:cNvSpPr txBox="1"/>
          <p:nvPr/>
        </p:nvSpPr>
        <p:spPr>
          <a:xfrm>
            <a:off x="530670" y="6202553"/>
            <a:ext cx="10789920" cy="158750"/>
          </a:xfrm>
          <a:prstGeom prst="rect">
            <a:avLst/>
          </a:prstGeom>
          <a:noFill/>
        </p:spPr>
        <p:txBody>
          <a:bodyPr wrap="square" lIns="27432" tIns="9144" rIns="27432" bIns="9144" anchor="ctr">
            <a:spAutoFit/>
          </a:bodyPr>
          <a:lstStyle/>
          <a:p>
            <a:pPr algn="l">
              <a:spcAft>
                <a:spcPts val="0"/>
              </a:spcAft>
            </a:pPr>
            <a:r>
              <a:rPr sz="920" b="0">
                <a:solidFill>
                  <a:srgbClr val="5B6875"/>
                </a:solidFill>
                <a:latin typeface="Noto Sans CJK SC"/>
              </a:rPr>
              <a:t>注：4轮沿用三轮训练策略，属于固定策略下的推理轮数消融。</a:t>
            </a:r>
            <a:endParaRPr sz="920" b="0">
              <a:solidFill>
                <a:srgbClr val="5B6875"/>
              </a:solidFill>
              <a:latin typeface="Noto Sans CJK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18"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806" y="310515"/>
            <a:ext cx="502920" cy="201930"/>
          </a:xfrm>
          <a:prstGeom prst="rect">
            <a:avLst/>
          </a:prstGeom>
          <a:noFill/>
        </p:spPr>
        <p:txBody>
          <a:bodyPr wrap="square" lIns="27432" tIns="9144" rIns="27432" bIns="9144" anchor="ctr">
            <a:spAutoFit/>
          </a:bodyPr>
          <a:lstStyle/>
          <a:p>
            <a:pPr algn="l">
              <a:spcAft>
                <a:spcPts val="0"/>
              </a:spcAft>
            </a:pPr>
            <a:r>
              <a:rPr sz="1200" b="1">
                <a:solidFill>
                  <a:srgbClr val="2D70AA"/>
                </a:solidFill>
                <a:latin typeface="Noto Sans CJK SC"/>
              </a:rPr>
              <a:t>0</a:t>
            </a:r>
            <a:r>
              <a:rPr lang="en-US" sz="1200" b="1">
                <a:solidFill>
                  <a:srgbClr val="2D70AA"/>
                </a:solidFill>
                <a:latin typeface="Noto Sans CJK SC"/>
              </a:rPr>
              <a:t>4</a:t>
            </a:r>
            <a:endParaRPr lang="en-US" sz="1200" b="1">
              <a:solidFill>
                <a:srgbClr val="2D70AA"/>
              </a:solidFill>
              <a:latin typeface="Noto Sans CJK SC"/>
            </a:endParaRPr>
          </a:p>
        </p:txBody>
      </p:sp>
      <p:sp>
        <p:nvSpPr>
          <p:cNvPr id="4" name="TextBox 3"/>
          <p:cNvSpPr txBox="1"/>
          <p:nvPr/>
        </p:nvSpPr>
        <p:spPr>
          <a:xfrm>
            <a:off x="933005" y="245555"/>
            <a:ext cx="10744200" cy="386715"/>
          </a:xfrm>
          <a:prstGeom prst="rect">
            <a:avLst/>
          </a:prstGeom>
          <a:noFill/>
        </p:spPr>
        <p:txBody>
          <a:bodyPr wrap="square" lIns="27432" tIns="9144" rIns="27432" bIns="9144" anchor="ctr">
            <a:spAutoFit/>
          </a:bodyPr>
          <a:lstStyle/>
          <a:p>
            <a:pPr algn="l">
              <a:spcAft>
                <a:spcPts val="0"/>
              </a:spcAft>
            </a:pPr>
            <a:r>
              <a:rPr sz="2400" b="1">
                <a:solidFill>
                  <a:srgbClr val="192430"/>
                </a:solidFill>
                <a:latin typeface="Noto Sans CJK SC"/>
              </a:rPr>
              <a:t>RL 动作策略消融</a:t>
            </a:r>
            <a:endParaRPr sz="2400" b="1">
              <a:solidFill>
                <a:srgbClr val="192430"/>
              </a:solidFill>
              <a:latin typeface="Noto Sans CJK SC"/>
            </a:endParaRPr>
          </a:p>
        </p:txBody>
      </p:sp>
      <p:sp>
        <p:nvSpPr>
          <p:cNvPr id="5" name="TextBox 4"/>
          <p:cNvSpPr txBox="1"/>
          <p:nvPr/>
        </p:nvSpPr>
        <p:spPr>
          <a:xfrm>
            <a:off x="942150" y="705993"/>
            <a:ext cx="10698480" cy="179070"/>
          </a:xfrm>
          <a:prstGeom prst="rect">
            <a:avLst/>
          </a:prstGeom>
          <a:noFill/>
        </p:spPr>
        <p:txBody>
          <a:bodyPr wrap="square" lIns="27432" tIns="9144" rIns="27432" bIns="9144" anchor="ctr">
            <a:spAutoFit/>
          </a:bodyPr>
          <a:lstStyle/>
          <a:p>
            <a:pPr algn="l">
              <a:spcAft>
                <a:spcPts val="0"/>
              </a:spcAft>
            </a:pPr>
            <a:r>
              <a:rPr sz="1050" b="0">
                <a:solidFill>
                  <a:srgbClr val="5B6875"/>
                </a:solidFill>
                <a:latin typeface="Noto Sans CJK SC"/>
              </a:rPr>
              <a:t>相同初始候选、去重、Exp38 重评分与评测逻辑 · Random action 为 5 seeds 均值</a:t>
            </a:r>
            <a:endParaRPr sz="1050" b="0">
              <a:solidFill>
                <a:srgbClr val="5B6875"/>
              </a:solidFill>
              <a:latin typeface="Noto Sans CJK SC"/>
            </a:endParaRPr>
          </a:p>
        </p:txBody>
      </p:sp>
      <p:sp>
        <p:nvSpPr>
          <p:cNvPr id="6" name="TextBox 5"/>
          <p:cNvSpPr txBox="1"/>
          <p:nvPr/>
        </p:nvSpPr>
        <p:spPr>
          <a:xfrm>
            <a:off x="11393742" y="6523863"/>
            <a:ext cx="347472" cy="156210"/>
          </a:xfrm>
          <a:prstGeom prst="rect">
            <a:avLst/>
          </a:prstGeom>
          <a:noFill/>
        </p:spPr>
        <p:txBody>
          <a:bodyPr wrap="square" lIns="27432" tIns="9144" rIns="27432" bIns="9144" anchor="ctr">
            <a:spAutoFit/>
          </a:bodyPr>
          <a:lstStyle/>
          <a:p>
            <a:pPr algn="r">
              <a:spcAft>
                <a:spcPts val="0"/>
              </a:spcAft>
            </a:pPr>
            <a:r>
              <a:rPr sz="900" b="0">
                <a:solidFill>
                  <a:srgbClr val="5B6875"/>
                </a:solidFill>
                <a:latin typeface="Noto Sans CJK SC"/>
              </a:rPr>
              <a:t>2</a:t>
            </a:r>
            <a:endParaRPr sz="900" b="0">
              <a:solidFill>
                <a:srgbClr val="5B6875"/>
              </a:solidFill>
              <a:latin typeface="Noto Sans CJK SC"/>
            </a:endParaRPr>
          </a:p>
        </p:txBody>
      </p:sp>
      <p:sp>
        <p:nvSpPr>
          <p:cNvPr id="7" name="Rounded Rectangle 6"/>
          <p:cNvSpPr/>
          <p:nvPr/>
        </p:nvSpPr>
        <p:spPr>
          <a:xfrm>
            <a:off x="503238" y="1078992"/>
            <a:ext cx="210312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3238"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830" y="1170813"/>
            <a:ext cx="1856231"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Fixed RL vs Random</a:t>
            </a:r>
            <a:endParaRPr sz="950" b="0">
              <a:solidFill>
                <a:srgbClr val="5B6875"/>
              </a:solidFill>
              <a:latin typeface="Noto Sans CJK SC"/>
            </a:endParaRPr>
          </a:p>
        </p:txBody>
      </p:sp>
      <p:sp>
        <p:nvSpPr>
          <p:cNvPr id="10" name="TextBox 9"/>
          <p:cNvSpPr txBox="1"/>
          <p:nvPr/>
        </p:nvSpPr>
        <p:spPr>
          <a:xfrm>
            <a:off x="667830" y="1355661"/>
            <a:ext cx="1856231" cy="278765"/>
          </a:xfrm>
          <a:prstGeom prst="rect">
            <a:avLst/>
          </a:prstGeom>
          <a:noFill/>
        </p:spPr>
        <p:txBody>
          <a:bodyPr wrap="square" lIns="27432" tIns="9144" rIns="27432" bIns="9144" anchor="ctr">
            <a:spAutoFit/>
          </a:bodyPr>
          <a:lstStyle/>
          <a:p>
            <a:pPr algn="l">
              <a:spcAft>
                <a:spcPts val="0"/>
              </a:spcAft>
            </a:pPr>
            <a:r>
              <a:rPr sz="1700" b="1">
                <a:solidFill>
                  <a:srgbClr val="2D70AA"/>
                </a:solidFill>
                <a:latin typeface="Noto Sans CJK SC"/>
              </a:rPr>
              <a:t>Acc +4.01 pp</a:t>
            </a:r>
            <a:endParaRPr sz="1700" b="1">
              <a:solidFill>
                <a:srgbClr val="2D70AA"/>
              </a:solidFill>
              <a:latin typeface="Noto Sans CJK SC"/>
            </a:endParaRPr>
          </a:p>
        </p:txBody>
      </p:sp>
      <p:sp>
        <p:nvSpPr>
          <p:cNvPr id="11" name="Rounded Rectangle 10"/>
          <p:cNvSpPr/>
          <p:nvPr/>
        </p:nvSpPr>
        <p:spPr>
          <a:xfrm>
            <a:off x="2725230" y="1078992"/>
            <a:ext cx="210312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25230"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822" y="1170813"/>
            <a:ext cx="1856231"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小目标最终召回</a:t>
            </a:r>
            <a:endParaRPr sz="950" b="0">
              <a:solidFill>
                <a:srgbClr val="5B6875"/>
              </a:solidFill>
              <a:latin typeface="Noto Sans CJK SC"/>
            </a:endParaRPr>
          </a:p>
        </p:txBody>
      </p:sp>
      <p:sp>
        <p:nvSpPr>
          <p:cNvPr id="14" name="TextBox 13"/>
          <p:cNvSpPr txBox="1"/>
          <p:nvPr/>
        </p:nvSpPr>
        <p:spPr>
          <a:xfrm>
            <a:off x="2889822" y="1355661"/>
            <a:ext cx="1856231" cy="278765"/>
          </a:xfrm>
          <a:prstGeom prst="rect">
            <a:avLst/>
          </a:prstGeom>
          <a:noFill/>
        </p:spPr>
        <p:txBody>
          <a:bodyPr wrap="square" lIns="27432" tIns="9144" rIns="27432" bIns="9144" anchor="ctr">
            <a:spAutoFit/>
          </a:bodyPr>
          <a:lstStyle/>
          <a:p>
            <a:pPr algn="l">
              <a:spcAft>
                <a:spcPts val="0"/>
              </a:spcAft>
            </a:pPr>
            <a:r>
              <a:rPr sz="1700" b="1">
                <a:solidFill>
                  <a:srgbClr val="17857D"/>
                </a:solidFill>
                <a:latin typeface="Noto Sans CJK SC"/>
              </a:rPr>
              <a:t>+5.75 pp</a:t>
            </a:r>
            <a:endParaRPr sz="1700" b="1">
              <a:solidFill>
                <a:srgbClr val="17857D"/>
              </a:solidFill>
              <a:latin typeface="Noto Sans CJK SC"/>
            </a:endParaRPr>
          </a:p>
        </p:txBody>
      </p:sp>
      <p:sp>
        <p:nvSpPr>
          <p:cNvPr id="15" name="Rounded Rectangle 14"/>
          <p:cNvSpPr/>
          <p:nvPr/>
        </p:nvSpPr>
        <p:spPr>
          <a:xfrm>
            <a:off x="4947222" y="1078992"/>
            <a:ext cx="210312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47222"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11814" y="1170813"/>
            <a:ext cx="1856231"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相对穷举动作预算</a:t>
            </a:r>
            <a:endParaRPr sz="950" b="0">
              <a:solidFill>
                <a:srgbClr val="5B6875"/>
              </a:solidFill>
              <a:latin typeface="Noto Sans CJK SC"/>
            </a:endParaRPr>
          </a:p>
        </p:txBody>
      </p:sp>
      <p:sp>
        <p:nvSpPr>
          <p:cNvPr id="18" name="TextBox 17"/>
          <p:cNvSpPr txBox="1"/>
          <p:nvPr/>
        </p:nvSpPr>
        <p:spPr>
          <a:xfrm>
            <a:off x="5111814" y="1355661"/>
            <a:ext cx="1856231" cy="278765"/>
          </a:xfrm>
          <a:prstGeom prst="rect">
            <a:avLst/>
          </a:prstGeom>
          <a:noFill/>
        </p:spPr>
        <p:txBody>
          <a:bodyPr wrap="square" lIns="27432" tIns="9144" rIns="27432" bIns="9144" anchor="ctr">
            <a:spAutoFit/>
          </a:bodyPr>
          <a:lstStyle/>
          <a:p>
            <a:pPr algn="l">
              <a:spcAft>
                <a:spcPts val="0"/>
              </a:spcAft>
            </a:pPr>
            <a:r>
              <a:rPr sz="1700" b="1">
                <a:solidFill>
                  <a:srgbClr val="D99124"/>
                </a:solidFill>
                <a:latin typeface="Noto Sans CJK SC"/>
              </a:rPr>
              <a:t>仅 1 / 8.13</a:t>
            </a:r>
            <a:endParaRPr sz="1700" b="1">
              <a:solidFill>
                <a:srgbClr val="D99124"/>
              </a:solidFill>
              <a:latin typeface="Noto Sans CJK SC"/>
            </a:endParaRPr>
          </a:p>
        </p:txBody>
      </p:sp>
      <p:sp>
        <p:nvSpPr>
          <p:cNvPr id="19" name="Rounded Rectangle 18"/>
          <p:cNvSpPr/>
          <p:nvPr/>
        </p:nvSpPr>
        <p:spPr>
          <a:xfrm>
            <a:off x="7260654" y="1078992"/>
            <a:ext cx="4425696" cy="3410712"/>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9254" y="1252346"/>
            <a:ext cx="3968496" cy="201930"/>
          </a:xfrm>
          <a:prstGeom prst="rect">
            <a:avLst/>
          </a:prstGeom>
          <a:noFill/>
        </p:spPr>
        <p:txBody>
          <a:bodyPr wrap="square" lIns="27432" tIns="9144" rIns="27432" bIns="9144" anchor="ctr">
            <a:spAutoFit/>
          </a:bodyPr>
          <a:lstStyle/>
          <a:p>
            <a:pPr algn="l">
              <a:spcAft>
                <a:spcPts val="0"/>
              </a:spcAft>
            </a:pPr>
            <a:r>
              <a:rPr sz="1200" b="1">
                <a:solidFill>
                  <a:srgbClr val="192430"/>
                </a:solidFill>
                <a:latin typeface="Noto Sans CJK SC"/>
              </a:rPr>
              <a:t>Acc@0.5 对比</a:t>
            </a:r>
            <a:endParaRPr sz="1200" b="1">
              <a:solidFill>
                <a:srgbClr val="192430"/>
              </a:solidFill>
              <a:latin typeface="Noto Sans CJK SC"/>
            </a:endParaRPr>
          </a:p>
        </p:txBody>
      </p:sp>
      <p:sp>
        <p:nvSpPr>
          <p:cNvPr id="21" name="TextBox 20"/>
          <p:cNvSpPr txBox="1"/>
          <p:nvPr/>
        </p:nvSpPr>
        <p:spPr>
          <a:xfrm>
            <a:off x="7388670" y="1696542"/>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No expansion</a:t>
            </a:r>
            <a:endParaRPr sz="930" b="0">
              <a:solidFill>
                <a:srgbClr val="5B6875"/>
              </a:solidFill>
              <a:latin typeface="Noto Sans CJK SC"/>
            </a:endParaRPr>
          </a:p>
        </p:txBody>
      </p:sp>
      <p:sp>
        <p:nvSpPr>
          <p:cNvPr id="22" name="Rectangle 21"/>
          <p:cNvSpPr/>
          <p:nvPr/>
        </p:nvSpPr>
        <p:spPr>
          <a:xfrm>
            <a:off x="8714550" y="1692005"/>
            <a:ext cx="1583550" cy="183489"/>
          </a:xfrm>
          <a:prstGeom prst="rect">
            <a:avLst/>
          </a:prstGeom>
          <a:solidFill>
            <a:srgbClr val="B5BEC7"/>
          </a:solidFill>
          <a:ln w="10160">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62108" y="1697494"/>
            <a:ext cx="658368" cy="158750"/>
          </a:xfrm>
          <a:prstGeom prst="rect">
            <a:avLst/>
          </a:prstGeom>
          <a:noFill/>
        </p:spPr>
        <p:txBody>
          <a:bodyPr wrap="square" lIns="27432" tIns="9144" rIns="27432" bIns="9144" anchor="ctr">
            <a:spAutoFit/>
          </a:bodyPr>
          <a:lstStyle/>
          <a:p>
            <a:pPr algn="l">
              <a:spcAft>
                <a:spcPts val="0"/>
              </a:spcAft>
            </a:pPr>
            <a:r>
              <a:rPr sz="920" b="1">
                <a:solidFill>
                  <a:srgbClr val="B5BEC7"/>
                </a:solidFill>
                <a:latin typeface="Noto Sans CJK SC"/>
              </a:rPr>
              <a:t>0.4651</a:t>
            </a:r>
            <a:endParaRPr sz="920" b="1">
              <a:solidFill>
                <a:srgbClr val="B5BEC7"/>
              </a:solidFill>
              <a:latin typeface="Noto Sans CJK SC"/>
            </a:endParaRPr>
          </a:p>
        </p:txBody>
      </p:sp>
      <p:sp>
        <p:nvSpPr>
          <p:cNvPr id="24" name="TextBox 23"/>
          <p:cNvSpPr txBox="1"/>
          <p:nvPr/>
        </p:nvSpPr>
        <p:spPr>
          <a:xfrm>
            <a:off x="7388670" y="2155265"/>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Random</a:t>
            </a:r>
            <a:endParaRPr sz="930" b="0">
              <a:solidFill>
                <a:srgbClr val="5B6875"/>
              </a:solidFill>
              <a:latin typeface="Noto Sans CJK SC"/>
            </a:endParaRPr>
          </a:p>
        </p:txBody>
      </p:sp>
      <p:sp>
        <p:nvSpPr>
          <p:cNvPr id="25" name="Rectangle 24"/>
          <p:cNvSpPr/>
          <p:nvPr/>
        </p:nvSpPr>
        <p:spPr>
          <a:xfrm>
            <a:off x="8714550" y="2150729"/>
            <a:ext cx="1665605" cy="183489"/>
          </a:xfrm>
          <a:prstGeom prst="rect">
            <a:avLst/>
          </a:prstGeom>
          <a:solidFill>
            <a:srgbClr val="B5BEC7"/>
          </a:solidFill>
          <a:ln w="10160">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44163" y="2156218"/>
            <a:ext cx="658368" cy="158750"/>
          </a:xfrm>
          <a:prstGeom prst="rect">
            <a:avLst/>
          </a:prstGeom>
          <a:noFill/>
        </p:spPr>
        <p:txBody>
          <a:bodyPr wrap="square" lIns="27432" tIns="9144" rIns="27432" bIns="9144" anchor="ctr">
            <a:spAutoFit/>
          </a:bodyPr>
          <a:lstStyle/>
          <a:p>
            <a:pPr algn="l">
              <a:spcAft>
                <a:spcPts val="0"/>
              </a:spcAft>
            </a:pPr>
            <a:r>
              <a:rPr sz="920" b="1">
                <a:solidFill>
                  <a:srgbClr val="B5BEC7"/>
                </a:solidFill>
                <a:latin typeface="Noto Sans CJK SC"/>
              </a:rPr>
              <a:t>0.4892</a:t>
            </a:r>
            <a:endParaRPr sz="920" b="1">
              <a:solidFill>
                <a:srgbClr val="B5BEC7"/>
              </a:solidFill>
              <a:latin typeface="Noto Sans CJK SC"/>
            </a:endParaRPr>
          </a:p>
        </p:txBody>
      </p:sp>
      <p:sp>
        <p:nvSpPr>
          <p:cNvPr id="27" name="TextBox 26"/>
          <p:cNvSpPr txBox="1"/>
          <p:nvPr/>
        </p:nvSpPr>
        <p:spPr>
          <a:xfrm>
            <a:off x="7388670" y="2613990"/>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Prompt-rank</a:t>
            </a:r>
            <a:endParaRPr sz="930" b="0">
              <a:solidFill>
                <a:srgbClr val="5B6875"/>
              </a:solidFill>
              <a:latin typeface="Noto Sans CJK SC"/>
            </a:endParaRPr>
          </a:p>
        </p:txBody>
      </p:sp>
      <p:sp>
        <p:nvSpPr>
          <p:cNvPr id="28" name="Rectangle 27"/>
          <p:cNvSpPr/>
          <p:nvPr/>
        </p:nvSpPr>
        <p:spPr>
          <a:xfrm>
            <a:off x="8714550" y="2609453"/>
            <a:ext cx="1733019" cy="183489"/>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1577" y="2614943"/>
            <a:ext cx="658368" cy="158750"/>
          </a:xfrm>
          <a:prstGeom prst="rect">
            <a:avLst/>
          </a:prstGeom>
          <a:noFill/>
        </p:spPr>
        <p:txBody>
          <a:bodyPr wrap="square" lIns="27432" tIns="9144" rIns="27432" bIns="9144" anchor="ctr">
            <a:spAutoFit/>
          </a:bodyPr>
          <a:lstStyle/>
          <a:p>
            <a:pPr algn="l">
              <a:spcAft>
                <a:spcPts val="0"/>
              </a:spcAft>
            </a:pPr>
            <a:r>
              <a:rPr sz="920" b="1">
                <a:solidFill>
                  <a:srgbClr val="17857D"/>
                </a:solidFill>
                <a:latin typeface="Noto Sans CJK SC"/>
              </a:rPr>
              <a:t>0.5090</a:t>
            </a:r>
            <a:endParaRPr sz="920" b="1">
              <a:solidFill>
                <a:srgbClr val="17857D"/>
              </a:solidFill>
              <a:latin typeface="Noto Sans CJK SC"/>
            </a:endParaRPr>
          </a:p>
        </p:txBody>
      </p:sp>
      <p:sp>
        <p:nvSpPr>
          <p:cNvPr id="30" name="TextBox 29"/>
          <p:cNvSpPr txBox="1"/>
          <p:nvPr/>
        </p:nvSpPr>
        <p:spPr>
          <a:xfrm>
            <a:off x="7388670" y="3072714"/>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Fixed RL</a:t>
            </a:r>
            <a:endParaRPr sz="930" b="0">
              <a:solidFill>
                <a:srgbClr val="5B6875"/>
              </a:solidFill>
              <a:latin typeface="Noto Sans CJK SC"/>
            </a:endParaRPr>
          </a:p>
        </p:txBody>
      </p:sp>
      <p:sp>
        <p:nvSpPr>
          <p:cNvPr id="31" name="Rectangle 30"/>
          <p:cNvSpPr/>
          <p:nvPr/>
        </p:nvSpPr>
        <p:spPr>
          <a:xfrm>
            <a:off x="8714550" y="3068177"/>
            <a:ext cx="1802136" cy="183489"/>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80694" y="3073667"/>
            <a:ext cx="658368" cy="158750"/>
          </a:xfrm>
          <a:prstGeom prst="rect">
            <a:avLst/>
          </a:prstGeom>
          <a:noFill/>
        </p:spPr>
        <p:txBody>
          <a:bodyPr wrap="square" lIns="27432" tIns="9144" rIns="27432" bIns="9144" anchor="ctr">
            <a:spAutoFit/>
          </a:bodyPr>
          <a:lstStyle/>
          <a:p>
            <a:pPr algn="l">
              <a:spcAft>
                <a:spcPts val="0"/>
              </a:spcAft>
            </a:pPr>
            <a:r>
              <a:rPr sz="920" b="1">
                <a:solidFill>
                  <a:srgbClr val="2D70AA"/>
                </a:solidFill>
                <a:latin typeface="Noto Sans CJK SC"/>
              </a:rPr>
              <a:t>0.5293</a:t>
            </a:r>
            <a:endParaRPr sz="920" b="1">
              <a:solidFill>
                <a:srgbClr val="2D70AA"/>
              </a:solidFill>
              <a:latin typeface="Noto Sans CJK SC"/>
            </a:endParaRPr>
          </a:p>
        </p:txBody>
      </p:sp>
      <p:sp>
        <p:nvSpPr>
          <p:cNvPr id="33" name="TextBox 32"/>
          <p:cNvSpPr txBox="1"/>
          <p:nvPr/>
        </p:nvSpPr>
        <p:spPr>
          <a:xfrm>
            <a:off x="7388670" y="3531437"/>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Qwen dynamic</a:t>
            </a:r>
            <a:endParaRPr sz="930" b="0">
              <a:solidFill>
                <a:srgbClr val="5B6875"/>
              </a:solidFill>
              <a:latin typeface="Noto Sans CJK SC"/>
            </a:endParaRPr>
          </a:p>
        </p:txBody>
      </p:sp>
      <p:sp>
        <p:nvSpPr>
          <p:cNvPr id="34" name="Rectangle 33"/>
          <p:cNvSpPr/>
          <p:nvPr/>
        </p:nvSpPr>
        <p:spPr>
          <a:xfrm>
            <a:off x="8714550" y="3526901"/>
            <a:ext cx="1703738" cy="183489"/>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82296" y="3532390"/>
            <a:ext cx="658368" cy="158750"/>
          </a:xfrm>
          <a:prstGeom prst="rect">
            <a:avLst/>
          </a:prstGeom>
          <a:noFill/>
        </p:spPr>
        <p:txBody>
          <a:bodyPr wrap="square" lIns="27432" tIns="9144" rIns="27432" bIns="9144" anchor="ctr">
            <a:spAutoFit/>
          </a:bodyPr>
          <a:lstStyle/>
          <a:p>
            <a:pPr algn="l">
              <a:spcAft>
                <a:spcPts val="0"/>
              </a:spcAft>
            </a:pPr>
            <a:r>
              <a:rPr sz="920" b="1">
                <a:solidFill>
                  <a:srgbClr val="D99124"/>
                </a:solidFill>
                <a:latin typeface="Noto Sans CJK SC"/>
              </a:rPr>
              <a:t>0.5004</a:t>
            </a:r>
            <a:endParaRPr sz="920" b="1">
              <a:solidFill>
                <a:srgbClr val="D99124"/>
              </a:solidFill>
              <a:latin typeface="Noto Sans CJK SC"/>
            </a:endParaRPr>
          </a:p>
        </p:txBody>
      </p:sp>
      <p:sp>
        <p:nvSpPr>
          <p:cNvPr id="36" name="TextBox 35"/>
          <p:cNvSpPr txBox="1"/>
          <p:nvPr/>
        </p:nvSpPr>
        <p:spPr>
          <a:xfrm>
            <a:off x="7388670" y="3990162"/>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All expansion</a:t>
            </a:r>
            <a:endParaRPr sz="930" b="0">
              <a:solidFill>
                <a:srgbClr val="5B6875"/>
              </a:solidFill>
              <a:latin typeface="Noto Sans CJK SC"/>
            </a:endParaRPr>
          </a:p>
        </p:txBody>
      </p:sp>
      <p:sp>
        <p:nvSpPr>
          <p:cNvPr id="37" name="Rectangle 36"/>
          <p:cNvSpPr/>
          <p:nvPr/>
        </p:nvSpPr>
        <p:spPr>
          <a:xfrm>
            <a:off x="8714550" y="3985625"/>
            <a:ext cx="1951264" cy="183489"/>
          </a:xfrm>
          <a:prstGeom prst="rect">
            <a:avLst/>
          </a:prstGeom>
          <a:solidFill>
            <a:srgbClr val="C65049"/>
          </a:solidFill>
          <a:ln w="10160">
            <a:solidFill>
              <a:srgbClr val="C6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729822" y="3991115"/>
            <a:ext cx="658368" cy="158750"/>
          </a:xfrm>
          <a:prstGeom prst="rect">
            <a:avLst/>
          </a:prstGeom>
          <a:noFill/>
        </p:spPr>
        <p:txBody>
          <a:bodyPr wrap="square" lIns="27432" tIns="9144" rIns="27432" bIns="9144" anchor="ctr">
            <a:spAutoFit/>
          </a:bodyPr>
          <a:lstStyle/>
          <a:p>
            <a:pPr algn="l">
              <a:spcAft>
                <a:spcPts val="0"/>
              </a:spcAft>
            </a:pPr>
            <a:r>
              <a:rPr sz="920" b="1">
                <a:solidFill>
                  <a:srgbClr val="C65049"/>
                </a:solidFill>
                <a:latin typeface="Noto Sans CJK SC"/>
              </a:rPr>
              <a:t>0.5731</a:t>
            </a:r>
            <a:endParaRPr sz="920" b="1">
              <a:solidFill>
                <a:srgbClr val="C65049"/>
              </a:solidFill>
              <a:latin typeface="Noto Sans CJK SC"/>
            </a:endParaRPr>
          </a:p>
        </p:txBody>
      </p:sp>
      <p:sp>
        <p:nvSpPr>
          <p:cNvPr id="39" name="Rectangle 38"/>
          <p:cNvSpPr/>
          <p:nvPr/>
        </p:nvSpPr>
        <p:spPr>
          <a:xfrm>
            <a:off x="503238" y="2011679"/>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1254" y="2018919"/>
            <a:ext cx="640994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准确率、排序质量与资源开销</a:t>
            </a:r>
            <a:endParaRPr sz="1100" b="1">
              <a:solidFill>
                <a:srgbClr val="192430"/>
              </a:solidFill>
              <a:latin typeface="Noto Sans CJK SC"/>
            </a:endParaRPr>
          </a:p>
        </p:txBody>
      </p:sp>
      <p:sp>
        <p:nvSpPr>
          <p:cNvPr id="41" name="Rounded Rectangle 40"/>
          <p:cNvSpPr/>
          <p:nvPr/>
        </p:nvSpPr>
        <p:spPr>
          <a:xfrm>
            <a:off x="503238" y="2331720"/>
            <a:ext cx="6355079" cy="2496312"/>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3238" y="2331720"/>
            <a:ext cx="1417320" cy="35661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526" y="2430653"/>
            <a:ext cx="138074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方法</a:t>
            </a:r>
            <a:endParaRPr sz="920" b="1">
              <a:solidFill>
                <a:srgbClr val="FFFFFF"/>
              </a:solidFill>
              <a:latin typeface="Noto Sans CJK SC"/>
            </a:endParaRPr>
          </a:p>
        </p:txBody>
      </p:sp>
      <p:sp>
        <p:nvSpPr>
          <p:cNvPr id="44" name="Rectangle 43"/>
          <p:cNvSpPr/>
          <p:nvPr/>
        </p:nvSpPr>
        <p:spPr>
          <a:xfrm>
            <a:off x="1920558" y="2331720"/>
            <a:ext cx="1024128" cy="35661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38846" y="2430653"/>
            <a:ext cx="987552"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预测框</a:t>
            </a:r>
            <a:endParaRPr sz="920" b="1">
              <a:solidFill>
                <a:srgbClr val="FFFFFF"/>
              </a:solidFill>
              <a:latin typeface="Noto Sans CJK SC"/>
            </a:endParaRPr>
          </a:p>
        </p:txBody>
      </p:sp>
      <p:sp>
        <p:nvSpPr>
          <p:cNvPr id="46" name="Rectangle 45"/>
          <p:cNvSpPr/>
          <p:nvPr/>
        </p:nvSpPr>
        <p:spPr>
          <a:xfrm>
            <a:off x="2944686" y="2331720"/>
            <a:ext cx="932688" cy="35661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62974" y="2430653"/>
            <a:ext cx="896112"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Acc@0.5</a:t>
            </a:r>
            <a:endParaRPr sz="920" b="1">
              <a:solidFill>
                <a:srgbClr val="FFFFFF"/>
              </a:solidFill>
              <a:latin typeface="Noto Sans CJK SC"/>
            </a:endParaRPr>
          </a:p>
        </p:txBody>
      </p:sp>
      <p:sp>
        <p:nvSpPr>
          <p:cNvPr id="48" name="Rectangle 47"/>
          <p:cNvSpPr/>
          <p:nvPr/>
        </p:nvSpPr>
        <p:spPr>
          <a:xfrm>
            <a:off x="3877374" y="2331720"/>
            <a:ext cx="932688" cy="35661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95662" y="2430653"/>
            <a:ext cx="896112"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mAP@0.5</a:t>
            </a:r>
            <a:endParaRPr sz="920" b="1">
              <a:solidFill>
                <a:srgbClr val="FFFFFF"/>
              </a:solidFill>
              <a:latin typeface="Noto Sans CJK SC"/>
            </a:endParaRPr>
          </a:p>
        </p:txBody>
      </p:sp>
      <p:sp>
        <p:nvSpPr>
          <p:cNvPr id="50" name="Rectangle 49"/>
          <p:cNvSpPr/>
          <p:nvPr/>
        </p:nvSpPr>
        <p:spPr>
          <a:xfrm>
            <a:off x="4810062" y="2331720"/>
            <a:ext cx="969264" cy="35661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828349" y="2430653"/>
            <a:ext cx="932688"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动作/图</a:t>
            </a:r>
            <a:endParaRPr sz="920" b="1">
              <a:solidFill>
                <a:srgbClr val="FFFFFF"/>
              </a:solidFill>
              <a:latin typeface="Noto Sans CJK SC"/>
            </a:endParaRPr>
          </a:p>
        </p:txBody>
      </p:sp>
      <p:sp>
        <p:nvSpPr>
          <p:cNvPr id="52" name="Rectangle 51"/>
          <p:cNvSpPr/>
          <p:nvPr/>
        </p:nvSpPr>
        <p:spPr>
          <a:xfrm>
            <a:off x="5779326" y="2331720"/>
            <a:ext cx="1078992" cy="35661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97614" y="2430653"/>
            <a:ext cx="1042415"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小目标Recall</a:t>
            </a:r>
            <a:endParaRPr sz="920" b="1">
              <a:solidFill>
                <a:srgbClr val="FFFFFF"/>
              </a:solidFill>
              <a:latin typeface="Noto Sans CJK SC"/>
            </a:endParaRPr>
          </a:p>
        </p:txBody>
      </p:sp>
      <p:sp>
        <p:nvSpPr>
          <p:cNvPr id="54" name="Rectangle 53"/>
          <p:cNvSpPr/>
          <p:nvPr/>
        </p:nvSpPr>
        <p:spPr>
          <a:xfrm>
            <a:off x="503238" y="2688336"/>
            <a:ext cx="1417320"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9814" y="2791078"/>
            <a:ext cx="1344168" cy="151130"/>
          </a:xfrm>
          <a:prstGeom prst="rect">
            <a:avLst/>
          </a:prstGeom>
          <a:noFill/>
        </p:spPr>
        <p:txBody>
          <a:bodyPr wrap="square" lIns="27432" tIns="9144" rIns="27432" bIns="9144" anchor="ctr">
            <a:spAutoFit/>
          </a:bodyPr>
          <a:lstStyle/>
          <a:p>
            <a:pPr algn="l">
              <a:spcAft>
                <a:spcPts val="0"/>
              </a:spcAft>
            </a:pPr>
            <a:r>
              <a:rPr sz="870" b="0">
                <a:solidFill>
                  <a:srgbClr val="192430"/>
                </a:solidFill>
                <a:latin typeface="Noto Sans CJK SC"/>
              </a:rPr>
              <a:t>No expansion</a:t>
            </a:r>
            <a:endParaRPr sz="870" b="0">
              <a:solidFill>
                <a:srgbClr val="192430"/>
              </a:solidFill>
              <a:latin typeface="Noto Sans CJK SC"/>
            </a:endParaRPr>
          </a:p>
        </p:txBody>
      </p:sp>
      <p:sp>
        <p:nvSpPr>
          <p:cNvPr id="56" name="Rectangle 55"/>
          <p:cNvSpPr/>
          <p:nvPr/>
        </p:nvSpPr>
        <p:spPr>
          <a:xfrm>
            <a:off x="1920558" y="2688336"/>
            <a:ext cx="102412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57133" y="2791078"/>
            <a:ext cx="95097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22,298</a:t>
            </a:r>
            <a:endParaRPr sz="870" b="0">
              <a:solidFill>
                <a:srgbClr val="192430"/>
              </a:solidFill>
              <a:latin typeface="Noto Sans CJK SC"/>
            </a:endParaRPr>
          </a:p>
        </p:txBody>
      </p:sp>
      <p:sp>
        <p:nvSpPr>
          <p:cNvPr id="58" name="Rectangle 57"/>
          <p:cNvSpPr/>
          <p:nvPr/>
        </p:nvSpPr>
        <p:spPr>
          <a:xfrm>
            <a:off x="2944686" y="2688336"/>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81262" y="2791078"/>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0.4651</a:t>
            </a:r>
            <a:endParaRPr sz="870" b="0">
              <a:solidFill>
                <a:srgbClr val="192430"/>
              </a:solidFill>
              <a:latin typeface="Noto Sans CJK SC"/>
            </a:endParaRPr>
          </a:p>
        </p:txBody>
      </p:sp>
      <p:sp>
        <p:nvSpPr>
          <p:cNvPr id="60" name="Rectangle 59"/>
          <p:cNvSpPr/>
          <p:nvPr/>
        </p:nvSpPr>
        <p:spPr>
          <a:xfrm>
            <a:off x="3877374" y="2688336"/>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913950" y="2791078"/>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0.1343</a:t>
            </a:r>
            <a:endParaRPr sz="870" b="0">
              <a:solidFill>
                <a:srgbClr val="192430"/>
              </a:solidFill>
              <a:latin typeface="Noto Sans CJK SC"/>
            </a:endParaRPr>
          </a:p>
        </p:txBody>
      </p:sp>
      <p:sp>
        <p:nvSpPr>
          <p:cNvPr id="62" name="Rectangle 61"/>
          <p:cNvSpPr/>
          <p:nvPr/>
        </p:nvSpPr>
        <p:spPr>
          <a:xfrm>
            <a:off x="4810062" y="2688336"/>
            <a:ext cx="969264"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46638" y="2791078"/>
            <a:ext cx="896112"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0.000</a:t>
            </a:r>
            <a:endParaRPr sz="870" b="0">
              <a:solidFill>
                <a:srgbClr val="192430"/>
              </a:solidFill>
              <a:latin typeface="Noto Sans CJK SC"/>
            </a:endParaRPr>
          </a:p>
        </p:txBody>
      </p:sp>
      <p:sp>
        <p:nvSpPr>
          <p:cNvPr id="64" name="Rectangle 63"/>
          <p:cNvSpPr/>
          <p:nvPr/>
        </p:nvSpPr>
        <p:spPr>
          <a:xfrm>
            <a:off x="5779326" y="2688336"/>
            <a:ext cx="1078992"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15902" y="2791078"/>
            <a:ext cx="1005839"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0.3291</a:t>
            </a:r>
            <a:endParaRPr sz="870" b="0">
              <a:solidFill>
                <a:srgbClr val="192430"/>
              </a:solidFill>
              <a:latin typeface="Noto Sans CJK SC"/>
            </a:endParaRPr>
          </a:p>
        </p:txBody>
      </p:sp>
      <p:sp>
        <p:nvSpPr>
          <p:cNvPr id="66" name="Rectangle 65"/>
          <p:cNvSpPr/>
          <p:nvPr/>
        </p:nvSpPr>
        <p:spPr>
          <a:xfrm>
            <a:off x="503238" y="3044952"/>
            <a:ext cx="1417320"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9814" y="3147695"/>
            <a:ext cx="1344168" cy="151130"/>
          </a:xfrm>
          <a:prstGeom prst="rect">
            <a:avLst/>
          </a:prstGeom>
          <a:noFill/>
        </p:spPr>
        <p:txBody>
          <a:bodyPr wrap="square" lIns="27432" tIns="9144" rIns="27432" bIns="9144" anchor="ctr">
            <a:spAutoFit/>
          </a:bodyPr>
          <a:lstStyle/>
          <a:p>
            <a:pPr algn="l">
              <a:spcAft>
                <a:spcPts val="0"/>
              </a:spcAft>
            </a:pPr>
            <a:r>
              <a:rPr sz="870" b="0">
                <a:solidFill>
                  <a:srgbClr val="192430"/>
                </a:solidFill>
                <a:latin typeface="Noto Sans CJK SC"/>
              </a:rPr>
              <a:t>All expansion</a:t>
            </a:r>
            <a:endParaRPr sz="870" b="0">
              <a:solidFill>
                <a:srgbClr val="192430"/>
              </a:solidFill>
              <a:latin typeface="Noto Sans CJK SC"/>
            </a:endParaRPr>
          </a:p>
        </p:txBody>
      </p:sp>
      <p:sp>
        <p:nvSpPr>
          <p:cNvPr id="68" name="Rectangle 67"/>
          <p:cNvSpPr/>
          <p:nvPr/>
        </p:nvSpPr>
        <p:spPr>
          <a:xfrm>
            <a:off x="1920558" y="3044952"/>
            <a:ext cx="102412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957133" y="3147695"/>
            <a:ext cx="95097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68,771</a:t>
            </a:r>
            <a:endParaRPr sz="870" b="0">
              <a:solidFill>
                <a:srgbClr val="192430"/>
              </a:solidFill>
              <a:latin typeface="Noto Sans CJK SC"/>
            </a:endParaRPr>
          </a:p>
        </p:txBody>
      </p:sp>
      <p:sp>
        <p:nvSpPr>
          <p:cNvPr id="70" name="Rectangle 69"/>
          <p:cNvSpPr/>
          <p:nvPr/>
        </p:nvSpPr>
        <p:spPr>
          <a:xfrm>
            <a:off x="2944686" y="3044952"/>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981262" y="3147695"/>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0.5731</a:t>
            </a:r>
            <a:endParaRPr sz="870" b="0">
              <a:solidFill>
                <a:srgbClr val="192430"/>
              </a:solidFill>
              <a:latin typeface="Noto Sans CJK SC"/>
            </a:endParaRPr>
          </a:p>
        </p:txBody>
      </p:sp>
      <p:sp>
        <p:nvSpPr>
          <p:cNvPr id="72" name="Rectangle 71"/>
          <p:cNvSpPr/>
          <p:nvPr/>
        </p:nvSpPr>
        <p:spPr>
          <a:xfrm>
            <a:off x="3877374" y="3044952"/>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913950" y="3147695"/>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0.1510</a:t>
            </a:r>
            <a:endParaRPr sz="870" b="0">
              <a:solidFill>
                <a:srgbClr val="192430"/>
              </a:solidFill>
              <a:latin typeface="Noto Sans CJK SC"/>
            </a:endParaRPr>
          </a:p>
        </p:txBody>
      </p:sp>
      <p:sp>
        <p:nvSpPr>
          <p:cNvPr id="74" name="Rectangle 73"/>
          <p:cNvSpPr/>
          <p:nvPr/>
        </p:nvSpPr>
        <p:spPr>
          <a:xfrm>
            <a:off x="4810062" y="3044952"/>
            <a:ext cx="969264"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846638" y="3147695"/>
            <a:ext cx="896112"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11.000</a:t>
            </a:r>
            <a:endParaRPr sz="870" b="0">
              <a:solidFill>
                <a:srgbClr val="192430"/>
              </a:solidFill>
              <a:latin typeface="Noto Sans CJK SC"/>
            </a:endParaRPr>
          </a:p>
        </p:txBody>
      </p:sp>
      <p:sp>
        <p:nvSpPr>
          <p:cNvPr id="76" name="Rectangle 75"/>
          <p:cNvSpPr/>
          <p:nvPr/>
        </p:nvSpPr>
        <p:spPr>
          <a:xfrm>
            <a:off x="5779326" y="3044952"/>
            <a:ext cx="1078992"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815902" y="3147695"/>
            <a:ext cx="1005839"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0.4593</a:t>
            </a:r>
            <a:endParaRPr sz="870" b="0">
              <a:solidFill>
                <a:srgbClr val="192430"/>
              </a:solidFill>
              <a:latin typeface="Noto Sans CJK SC"/>
            </a:endParaRPr>
          </a:p>
        </p:txBody>
      </p:sp>
      <p:sp>
        <p:nvSpPr>
          <p:cNvPr id="78" name="Rectangle 77"/>
          <p:cNvSpPr/>
          <p:nvPr/>
        </p:nvSpPr>
        <p:spPr>
          <a:xfrm>
            <a:off x="503238" y="3401568"/>
            <a:ext cx="1417320"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39814" y="3504310"/>
            <a:ext cx="1344168" cy="151130"/>
          </a:xfrm>
          <a:prstGeom prst="rect">
            <a:avLst/>
          </a:prstGeom>
          <a:noFill/>
        </p:spPr>
        <p:txBody>
          <a:bodyPr wrap="square" lIns="27432" tIns="9144" rIns="27432" bIns="9144" anchor="ctr">
            <a:spAutoFit/>
          </a:bodyPr>
          <a:lstStyle/>
          <a:p>
            <a:pPr algn="l">
              <a:spcAft>
                <a:spcPts val="0"/>
              </a:spcAft>
            </a:pPr>
            <a:r>
              <a:rPr sz="870" b="0">
                <a:solidFill>
                  <a:srgbClr val="192430"/>
                </a:solidFill>
                <a:latin typeface="Noto Sans CJK SC"/>
              </a:rPr>
              <a:t>Random (5 seeds)</a:t>
            </a:r>
            <a:endParaRPr sz="870" b="0">
              <a:solidFill>
                <a:srgbClr val="192430"/>
              </a:solidFill>
              <a:latin typeface="Noto Sans CJK SC"/>
            </a:endParaRPr>
          </a:p>
        </p:txBody>
      </p:sp>
      <p:sp>
        <p:nvSpPr>
          <p:cNvPr id="80" name="Rectangle 79"/>
          <p:cNvSpPr/>
          <p:nvPr/>
        </p:nvSpPr>
        <p:spPr>
          <a:xfrm>
            <a:off x="1920558" y="3401568"/>
            <a:ext cx="102412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957133" y="3504310"/>
            <a:ext cx="95097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30,227</a:t>
            </a:r>
            <a:endParaRPr sz="870" b="0">
              <a:solidFill>
                <a:srgbClr val="192430"/>
              </a:solidFill>
              <a:latin typeface="Noto Sans CJK SC"/>
            </a:endParaRPr>
          </a:p>
        </p:txBody>
      </p:sp>
      <p:sp>
        <p:nvSpPr>
          <p:cNvPr id="82" name="Rectangle 81"/>
          <p:cNvSpPr/>
          <p:nvPr/>
        </p:nvSpPr>
        <p:spPr>
          <a:xfrm>
            <a:off x="2944686" y="3401568"/>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981262" y="3504310"/>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0.4892</a:t>
            </a:r>
            <a:endParaRPr sz="870" b="0">
              <a:solidFill>
                <a:srgbClr val="192430"/>
              </a:solidFill>
              <a:latin typeface="Noto Sans CJK SC"/>
            </a:endParaRPr>
          </a:p>
        </p:txBody>
      </p:sp>
      <p:sp>
        <p:nvSpPr>
          <p:cNvPr id="84" name="Rectangle 83"/>
          <p:cNvSpPr/>
          <p:nvPr/>
        </p:nvSpPr>
        <p:spPr>
          <a:xfrm>
            <a:off x="3877374" y="3401568"/>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913950" y="3504310"/>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0.1377</a:t>
            </a:r>
            <a:endParaRPr sz="870" b="0">
              <a:solidFill>
                <a:srgbClr val="192430"/>
              </a:solidFill>
              <a:latin typeface="Noto Sans CJK SC"/>
            </a:endParaRPr>
          </a:p>
        </p:txBody>
      </p:sp>
      <p:sp>
        <p:nvSpPr>
          <p:cNvPr id="86" name="Rectangle 85"/>
          <p:cNvSpPr/>
          <p:nvPr/>
        </p:nvSpPr>
        <p:spPr>
          <a:xfrm>
            <a:off x="4810062" y="3401568"/>
            <a:ext cx="969264"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846638" y="3504310"/>
            <a:ext cx="896112"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1.353</a:t>
            </a:r>
            <a:endParaRPr sz="870" b="0">
              <a:solidFill>
                <a:srgbClr val="192430"/>
              </a:solidFill>
              <a:latin typeface="Noto Sans CJK SC"/>
            </a:endParaRPr>
          </a:p>
        </p:txBody>
      </p:sp>
      <p:sp>
        <p:nvSpPr>
          <p:cNvPr id="88" name="Rectangle 87"/>
          <p:cNvSpPr/>
          <p:nvPr/>
        </p:nvSpPr>
        <p:spPr>
          <a:xfrm>
            <a:off x="5779326" y="3401568"/>
            <a:ext cx="1078992"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815902" y="3504310"/>
            <a:ext cx="1005839"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0.3584</a:t>
            </a:r>
            <a:endParaRPr sz="870" b="0">
              <a:solidFill>
                <a:srgbClr val="192430"/>
              </a:solidFill>
              <a:latin typeface="Noto Sans CJK SC"/>
            </a:endParaRPr>
          </a:p>
        </p:txBody>
      </p:sp>
      <p:sp>
        <p:nvSpPr>
          <p:cNvPr id="90" name="Rectangle 89"/>
          <p:cNvSpPr/>
          <p:nvPr/>
        </p:nvSpPr>
        <p:spPr>
          <a:xfrm>
            <a:off x="503238" y="3758183"/>
            <a:ext cx="1417320"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39814" y="3860926"/>
            <a:ext cx="1344168" cy="151130"/>
          </a:xfrm>
          <a:prstGeom prst="rect">
            <a:avLst/>
          </a:prstGeom>
          <a:noFill/>
        </p:spPr>
        <p:txBody>
          <a:bodyPr wrap="square" lIns="27432" tIns="9144" rIns="27432" bIns="9144" anchor="ctr">
            <a:spAutoFit/>
          </a:bodyPr>
          <a:lstStyle/>
          <a:p>
            <a:pPr algn="l">
              <a:spcAft>
                <a:spcPts val="0"/>
              </a:spcAft>
            </a:pPr>
            <a:r>
              <a:rPr sz="870" b="0">
                <a:solidFill>
                  <a:srgbClr val="192430"/>
                </a:solidFill>
                <a:latin typeface="Noto Sans CJK SC"/>
              </a:rPr>
              <a:t>Prompt-rank</a:t>
            </a:r>
            <a:endParaRPr sz="870" b="0">
              <a:solidFill>
                <a:srgbClr val="192430"/>
              </a:solidFill>
              <a:latin typeface="Noto Sans CJK SC"/>
            </a:endParaRPr>
          </a:p>
        </p:txBody>
      </p:sp>
      <p:sp>
        <p:nvSpPr>
          <p:cNvPr id="92" name="Rectangle 91"/>
          <p:cNvSpPr/>
          <p:nvPr/>
        </p:nvSpPr>
        <p:spPr>
          <a:xfrm>
            <a:off x="1920558" y="3758183"/>
            <a:ext cx="102412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957133" y="3860926"/>
            <a:ext cx="95097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41,969</a:t>
            </a:r>
            <a:endParaRPr sz="870" b="0">
              <a:solidFill>
                <a:srgbClr val="192430"/>
              </a:solidFill>
              <a:latin typeface="Noto Sans CJK SC"/>
            </a:endParaRPr>
          </a:p>
        </p:txBody>
      </p:sp>
      <p:sp>
        <p:nvSpPr>
          <p:cNvPr id="94" name="Rectangle 93"/>
          <p:cNvSpPr/>
          <p:nvPr/>
        </p:nvSpPr>
        <p:spPr>
          <a:xfrm>
            <a:off x="2944686" y="3758183"/>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981262" y="3860926"/>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0.5090</a:t>
            </a:r>
            <a:endParaRPr sz="870" b="0">
              <a:solidFill>
                <a:srgbClr val="192430"/>
              </a:solidFill>
              <a:latin typeface="Noto Sans CJK SC"/>
            </a:endParaRPr>
          </a:p>
        </p:txBody>
      </p:sp>
      <p:sp>
        <p:nvSpPr>
          <p:cNvPr id="96" name="Rectangle 95"/>
          <p:cNvSpPr/>
          <p:nvPr/>
        </p:nvSpPr>
        <p:spPr>
          <a:xfrm>
            <a:off x="3877374" y="3758183"/>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913950" y="3860926"/>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0.1440</a:t>
            </a:r>
            <a:endParaRPr sz="870" b="0">
              <a:solidFill>
                <a:srgbClr val="192430"/>
              </a:solidFill>
              <a:latin typeface="Noto Sans CJK SC"/>
            </a:endParaRPr>
          </a:p>
        </p:txBody>
      </p:sp>
      <p:sp>
        <p:nvSpPr>
          <p:cNvPr id="98" name="Rectangle 97"/>
          <p:cNvSpPr/>
          <p:nvPr/>
        </p:nvSpPr>
        <p:spPr>
          <a:xfrm>
            <a:off x="4810062" y="3758183"/>
            <a:ext cx="969264"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846638" y="3860926"/>
            <a:ext cx="896112"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1.087</a:t>
            </a:r>
            <a:endParaRPr sz="870" b="0">
              <a:solidFill>
                <a:srgbClr val="192430"/>
              </a:solidFill>
              <a:latin typeface="Noto Sans CJK SC"/>
            </a:endParaRPr>
          </a:p>
        </p:txBody>
      </p:sp>
      <p:sp>
        <p:nvSpPr>
          <p:cNvPr id="100" name="Rectangle 99"/>
          <p:cNvSpPr/>
          <p:nvPr/>
        </p:nvSpPr>
        <p:spPr>
          <a:xfrm>
            <a:off x="5779326" y="3758183"/>
            <a:ext cx="1078992"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815902" y="3860926"/>
            <a:ext cx="1005839"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0.3840</a:t>
            </a:r>
            <a:endParaRPr sz="870" b="0">
              <a:solidFill>
                <a:srgbClr val="192430"/>
              </a:solidFill>
              <a:latin typeface="Noto Sans CJK SC"/>
            </a:endParaRPr>
          </a:p>
        </p:txBody>
      </p:sp>
      <p:sp>
        <p:nvSpPr>
          <p:cNvPr id="102" name="Rectangle 101"/>
          <p:cNvSpPr/>
          <p:nvPr/>
        </p:nvSpPr>
        <p:spPr>
          <a:xfrm>
            <a:off x="503238" y="4114800"/>
            <a:ext cx="1417320" cy="35661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39814" y="4217543"/>
            <a:ext cx="1344168" cy="151130"/>
          </a:xfrm>
          <a:prstGeom prst="rect">
            <a:avLst/>
          </a:prstGeom>
          <a:noFill/>
        </p:spPr>
        <p:txBody>
          <a:bodyPr wrap="square" lIns="27432" tIns="9144" rIns="27432" bIns="9144" anchor="ctr">
            <a:spAutoFit/>
          </a:bodyPr>
          <a:lstStyle/>
          <a:p>
            <a:pPr algn="l">
              <a:spcAft>
                <a:spcPts val="0"/>
              </a:spcAft>
            </a:pPr>
            <a:r>
              <a:rPr sz="870" b="1">
                <a:solidFill>
                  <a:srgbClr val="2D70AA"/>
                </a:solidFill>
                <a:latin typeface="Noto Sans CJK SC"/>
              </a:rPr>
              <a:t>Fixed-action RL</a:t>
            </a:r>
            <a:endParaRPr sz="870" b="1">
              <a:solidFill>
                <a:srgbClr val="2D70AA"/>
              </a:solidFill>
              <a:latin typeface="Noto Sans CJK SC"/>
            </a:endParaRPr>
          </a:p>
        </p:txBody>
      </p:sp>
      <p:sp>
        <p:nvSpPr>
          <p:cNvPr id="104" name="Rectangle 103"/>
          <p:cNvSpPr/>
          <p:nvPr/>
        </p:nvSpPr>
        <p:spPr>
          <a:xfrm>
            <a:off x="1920558" y="4114800"/>
            <a:ext cx="1024128" cy="35661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957133" y="4217543"/>
            <a:ext cx="950976" cy="151130"/>
          </a:xfrm>
          <a:prstGeom prst="rect">
            <a:avLst/>
          </a:prstGeom>
          <a:noFill/>
        </p:spPr>
        <p:txBody>
          <a:bodyPr wrap="square" lIns="27432" tIns="9144" rIns="27432" bIns="9144" anchor="ctr">
            <a:spAutoFit/>
          </a:bodyPr>
          <a:lstStyle/>
          <a:p>
            <a:pPr algn="ctr">
              <a:spcAft>
                <a:spcPts val="0"/>
              </a:spcAft>
            </a:pPr>
            <a:r>
              <a:rPr sz="870" b="1">
                <a:solidFill>
                  <a:srgbClr val="192430"/>
                </a:solidFill>
                <a:latin typeface="Noto Sans CJK SC"/>
              </a:rPr>
              <a:t>40,904</a:t>
            </a:r>
            <a:endParaRPr sz="870" b="1">
              <a:solidFill>
                <a:srgbClr val="192430"/>
              </a:solidFill>
              <a:latin typeface="Noto Sans CJK SC"/>
            </a:endParaRPr>
          </a:p>
        </p:txBody>
      </p:sp>
      <p:sp>
        <p:nvSpPr>
          <p:cNvPr id="106" name="Rectangle 105"/>
          <p:cNvSpPr/>
          <p:nvPr/>
        </p:nvSpPr>
        <p:spPr>
          <a:xfrm>
            <a:off x="2944686" y="4114800"/>
            <a:ext cx="932688" cy="35661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981262" y="4217543"/>
            <a:ext cx="859536" cy="151130"/>
          </a:xfrm>
          <a:prstGeom prst="rect">
            <a:avLst/>
          </a:prstGeom>
          <a:noFill/>
        </p:spPr>
        <p:txBody>
          <a:bodyPr wrap="square" lIns="27432" tIns="9144" rIns="27432" bIns="9144" anchor="ctr">
            <a:spAutoFit/>
          </a:bodyPr>
          <a:lstStyle/>
          <a:p>
            <a:pPr algn="ctr">
              <a:spcAft>
                <a:spcPts val="0"/>
              </a:spcAft>
            </a:pPr>
            <a:r>
              <a:rPr sz="870" b="1">
                <a:solidFill>
                  <a:srgbClr val="192430"/>
                </a:solidFill>
                <a:latin typeface="Noto Sans CJK SC"/>
              </a:rPr>
              <a:t>0.5293</a:t>
            </a:r>
            <a:endParaRPr sz="870" b="1">
              <a:solidFill>
                <a:srgbClr val="192430"/>
              </a:solidFill>
              <a:latin typeface="Noto Sans CJK SC"/>
            </a:endParaRPr>
          </a:p>
        </p:txBody>
      </p:sp>
      <p:sp>
        <p:nvSpPr>
          <p:cNvPr id="108" name="Rectangle 107"/>
          <p:cNvSpPr/>
          <p:nvPr/>
        </p:nvSpPr>
        <p:spPr>
          <a:xfrm>
            <a:off x="3877374" y="4114800"/>
            <a:ext cx="932688" cy="35661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913950" y="4217543"/>
            <a:ext cx="859536" cy="151130"/>
          </a:xfrm>
          <a:prstGeom prst="rect">
            <a:avLst/>
          </a:prstGeom>
          <a:noFill/>
        </p:spPr>
        <p:txBody>
          <a:bodyPr wrap="square" lIns="27432" tIns="9144" rIns="27432" bIns="9144" anchor="ctr">
            <a:spAutoFit/>
          </a:bodyPr>
          <a:lstStyle/>
          <a:p>
            <a:pPr algn="ctr">
              <a:spcAft>
                <a:spcPts val="0"/>
              </a:spcAft>
            </a:pPr>
            <a:r>
              <a:rPr sz="870" b="1">
                <a:solidFill>
                  <a:srgbClr val="192430"/>
                </a:solidFill>
                <a:latin typeface="Noto Sans CJK SC"/>
              </a:rPr>
              <a:t>0.1397</a:t>
            </a:r>
            <a:endParaRPr sz="870" b="1">
              <a:solidFill>
                <a:srgbClr val="192430"/>
              </a:solidFill>
              <a:latin typeface="Noto Sans CJK SC"/>
            </a:endParaRPr>
          </a:p>
        </p:txBody>
      </p:sp>
      <p:sp>
        <p:nvSpPr>
          <p:cNvPr id="110" name="Rectangle 109"/>
          <p:cNvSpPr/>
          <p:nvPr/>
        </p:nvSpPr>
        <p:spPr>
          <a:xfrm>
            <a:off x="4810062" y="4114800"/>
            <a:ext cx="969264" cy="35661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846638" y="4217543"/>
            <a:ext cx="896112" cy="151130"/>
          </a:xfrm>
          <a:prstGeom prst="rect">
            <a:avLst/>
          </a:prstGeom>
          <a:noFill/>
        </p:spPr>
        <p:txBody>
          <a:bodyPr wrap="square" lIns="27432" tIns="9144" rIns="27432" bIns="9144" anchor="ctr">
            <a:spAutoFit/>
          </a:bodyPr>
          <a:lstStyle/>
          <a:p>
            <a:pPr algn="ctr">
              <a:spcAft>
                <a:spcPts val="0"/>
              </a:spcAft>
            </a:pPr>
            <a:r>
              <a:rPr sz="870" b="1">
                <a:solidFill>
                  <a:srgbClr val="192430"/>
                </a:solidFill>
                <a:latin typeface="Noto Sans CJK SC"/>
              </a:rPr>
              <a:t>1.353</a:t>
            </a:r>
            <a:endParaRPr sz="870" b="1">
              <a:solidFill>
                <a:srgbClr val="192430"/>
              </a:solidFill>
              <a:latin typeface="Noto Sans CJK SC"/>
            </a:endParaRPr>
          </a:p>
        </p:txBody>
      </p:sp>
      <p:sp>
        <p:nvSpPr>
          <p:cNvPr id="112" name="Rectangle 111"/>
          <p:cNvSpPr/>
          <p:nvPr/>
        </p:nvSpPr>
        <p:spPr>
          <a:xfrm>
            <a:off x="5779326" y="4114800"/>
            <a:ext cx="1078992" cy="35661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815902" y="4217543"/>
            <a:ext cx="1005839" cy="151130"/>
          </a:xfrm>
          <a:prstGeom prst="rect">
            <a:avLst/>
          </a:prstGeom>
          <a:noFill/>
        </p:spPr>
        <p:txBody>
          <a:bodyPr wrap="square" lIns="27432" tIns="9144" rIns="27432" bIns="9144" anchor="ctr">
            <a:spAutoFit/>
          </a:bodyPr>
          <a:lstStyle/>
          <a:p>
            <a:pPr algn="ctr">
              <a:spcAft>
                <a:spcPts val="0"/>
              </a:spcAft>
            </a:pPr>
            <a:r>
              <a:rPr sz="870" b="1">
                <a:solidFill>
                  <a:srgbClr val="2D70AA"/>
                </a:solidFill>
                <a:latin typeface="Noto Sans CJK SC"/>
              </a:rPr>
              <a:t>0.4159</a:t>
            </a:r>
            <a:endParaRPr sz="870" b="1">
              <a:solidFill>
                <a:srgbClr val="2D70AA"/>
              </a:solidFill>
              <a:latin typeface="Noto Sans CJK SC"/>
            </a:endParaRPr>
          </a:p>
        </p:txBody>
      </p:sp>
      <p:sp>
        <p:nvSpPr>
          <p:cNvPr id="114" name="Rectangle 113"/>
          <p:cNvSpPr/>
          <p:nvPr/>
        </p:nvSpPr>
        <p:spPr>
          <a:xfrm>
            <a:off x="503238" y="4471416"/>
            <a:ext cx="1417320"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39814" y="4574158"/>
            <a:ext cx="1344168" cy="151130"/>
          </a:xfrm>
          <a:prstGeom prst="rect">
            <a:avLst/>
          </a:prstGeom>
          <a:noFill/>
        </p:spPr>
        <p:txBody>
          <a:bodyPr wrap="square" lIns="27432" tIns="9144" rIns="27432" bIns="9144" anchor="ctr">
            <a:spAutoFit/>
          </a:bodyPr>
          <a:lstStyle/>
          <a:p>
            <a:pPr algn="l">
              <a:spcAft>
                <a:spcPts val="0"/>
              </a:spcAft>
            </a:pPr>
            <a:r>
              <a:rPr sz="870" b="0">
                <a:solidFill>
                  <a:srgbClr val="192430"/>
                </a:solidFill>
                <a:latin typeface="Noto Sans CJK SC"/>
              </a:rPr>
              <a:t>Qwen dynamic</a:t>
            </a:r>
            <a:endParaRPr sz="870" b="0">
              <a:solidFill>
                <a:srgbClr val="192430"/>
              </a:solidFill>
              <a:latin typeface="Noto Sans CJK SC"/>
            </a:endParaRPr>
          </a:p>
        </p:txBody>
      </p:sp>
      <p:sp>
        <p:nvSpPr>
          <p:cNvPr id="116" name="Rectangle 115"/>
          <p:cNvSpPr/>
          <p:nvPr/>
        </p:nvSpPr>
        <p:spPr>
          <a:xfrm>
            <a:off x="1920558" y="4471416"/>
            <a:ext cx="102412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957133" y="4574158"/>
            <a:ext cx="95097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35,869</a:t>
            </a:r>
            <a:endParaRPr sz="870" b="0">
              <a:solidFill>
                <a:srgbClr val="192430"/>
              </a:solidFill>
              <a:latin typeface="Noto Sans CJK SC"/>
            </a:endParaRPr>
          </a:p>
        </p:txBody>
      </p:sp>
      <p:sp>
        <p:nvSpPr>
          <p:cNvPr id="118" name="Rectangle 117"/>
          <p:cNvSpPr/>
          <p:nvPr/>
        </p:nvSpPr>
        <p:spPr>
          <a:xfrm>
            <a:off x="2944686" y="4471416"/>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981262" y="4574158"/>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0.5004</a:t>
            </a:r>
            <a:endParaRPr sz="870" b="0">
              <a:solidFill>
                <a:srgbClr val="192430"/>
              </a:solidFill>
              <a:latin typeface="Noto Sans CJK SC"/>
            </a:endParaRPr>
          </a:p>
        </p:txBody>
      </p:sp>
      <p:sp>
        <p:nvSpPr>
          <p:cNvPr id="120" name="Rectangle 119"/>
          <p:cNvSpPr/>
          <p:nvPr/>
        </p:nvSpPr>
        <p:spPr>
          <a:xfrm>
            <a:off x="3877374" y="4471416"/>
            <a:ext cx="932688"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913950" y="4574158"/>
            <a:ext cx="859536"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0.1424</a:t>
            </a:r>
            <a:endParaRPr sz="870" b="0">
              <a:solidFill>
                <a:srgbClr val="192430"/>
              </a:solidFill>
              <a:latin typeface="Noto Sans CJK SC"/>
            </a:endParaRPr>
          </a:p>
        </p:txBody>
      </p:sp>
      <p:sp>
        <p:nvSpPr>
          <p:cNvPr id="122" name="Rectangle 121"/>
          <p:cNvSpPr/>
          <p:nvPr/>
        </p:nvSpPr>
        <p:spPr>
          <a:xfrm>
            <a:off x="4810062" y="4471416"/>
            <a:ext cx="969264"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846638" y="4574158"/>
            <a:ext cx="896112"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0.953</a:t>
            </a:r>
            <a:endParaRPr sz="870" b="0">
              <a:solidFill>
                <a:srgbClr val="192430"/>
              </a:solidFill>
              <a:latin typeface="Noto Sans CJK SC"/>
            </a:endParaRPr>
          </a:p>
        </p:txBody>
      </p:sp>
      <p:sp>
        <p:nvSpPr>
          <p:cNvPr id="124" name="Rectangle 123"/>
          <p:cNvSpPr/>
          <p:nvPr/>
        </p:nvSpPr>
        <p:spPr>
          <a:xfrm>
            <a:off x="5779326" y="4471416"/>
            <a:ext cx="1078992" cy="35661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815902" y="4574158"/>
            <a:ext cx="1005839" cy="151130"/>
          </a:xfrm>
          <a:prstGeom prst="rect">
            <a:avLst/>
          </a:prstGeom>
          <a:noFill/>
        </p:spPr>
        <p:txBody>
          <a:bodyPr wrap="square" lIns="27432" tIns="9144" rIns="27432" bIns="9144" anchor="ctr">
            <a:spAutoFit/>
          </a:bodyPr>
          <a:lstStyle/>
          <a:p>
            <a:pPr algn="ctr">
              <a:spcAft>
                <a:spcPts val="0"/>
              </a:spcAft>
            </a:pPr>
            <a:r>
              <a:rPr sz="870" b="0">
                <a:solidFill>
                  <a:srgbClr val="192430"/>
                </a:solidFill>
                <a:latin typeface="Noto Sans CJK SC"/>
              </a:rPr>
              <a:t>0.3732</a:t>
            </a:r>
            <a:endParaRPr sz="870" b="0">
              <a:solidFill>
                <a:srgbClr val="192430"/>
              </a:solidFill>
              <a:latin typeface="Noto Sans CJK SC"/>
            </a:endParaRPr>
          </a:p>
        </p:txBody>
      </p:sp>
      <p:sp>
        <p:nvSpPr>
          <p:cNvPr id="126" name="Rounded Rectangle 125"/>
          <p:cNvSpPr/>
          <p:nvPr/>
        </p:nvSpPr>
        <p:spPr>
          <a:xfrm>
            <a:off x="503238" y="4974336"/>
            <a:ext cx="11183112" cy="960120"/>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750126" y="5175504"/>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78142" y="5182743"/>
            <a:ext cx="170078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结论</a:t>
            </a:r>
            <a:endParaRPr sz="1100" b="1">
              <a:solidFill>
                <a:srgbClr val="192430"/>
              </a:solidFill>
              <a:latin typeface="Noto Sans CJK SC"/>
            </a:endParaRPr>
          </a:p>
        </p:txBody>
      </p:sp>
      <p:sp>
        <p:nvSpPr>
          <p:cNvPr id="129" name="TextBox 128"/>
          <p:cNvSpPr txBox="1"/>
          <p:nvPr/>
        </p:nvSpPr>
        <p:spPr>
          <a:xfrm>
            <a:off x="1874837" y="5156772"/>
            <a:ext cx="9464040" cy="220345"/>
          </a:xfrm>
          <a:prstGeom prst="rect">
            <a:avLst/>
          </a:prstGeom>
          <a:noFill/>
        </p:spPr>
        <p:txBody>
          <a:bodyPr wrap="square" lIns="45720" tIns="9144" rIns="45720" bIns="9144" anchor="ctr">
            <a:spAutoFit/>
          </a:bodyPr>
          <a:lstStyle/>
          <a:p>
            <a:pPr algn="l"/>
            <a:r>
              <a:rPr sz="1320" b="1">
                <a:solidFill>
                  <a:srgbClr val="2D70AA"/>
                </a:solidFill>
                <a:latin typeface="Noto Sans CJK SC"/>
              </a:rPr>
              <a:t>Fixed-action RL</a:t>
            </a:r>
            <a:r>
              <a:rPr sz="1320" b="0">
                <a:solidFill>
                  <a:srgbClr val="192430"/>
                </a:solidFill>
                <a:latin typeface="Noto Sans CJK SC"/>
              </a:rPr>
              <a:t> 在相同动作预算下显著优于随机策略，证明收益来自</a:t>
            </a:r>
            <a:r>
              <a:rPr sz="1320" b="1">
                <a:solidFill>
                  <a:srgbClr val="17857D"/>
                </a:solidFill>
                <a:latin typeface="Noto Sans CJK SC"/>
              </a:rPr>
              <a:t>有效的动作选择</a:t>
            </a:r>
            <a:r>
              <a:rPr sz="1320" b="0">
                <a:solidFill>
                  <a:srgbClr val="192430"/>
                </a:solidFill>
                <a:latin typeface="Noto Sans CJK SC"/>
              </a:rPr>
              <a:t>。</a:t>
            </a:r>
            <a:endParaRPr sz="1320" b="0">
              <a:solidFill>
                <a:srgbClr val="192430"/>
              </a:solidFill>
              <a:latin typeface="Noto Sans CJK SC"/>
            </a:endParaRPr>
          </a:p>
        </p:txBody>
      </p:sp>
      <p:sp>
        <p:nvSpPr>
          <p:cNvPr id="130" name="TextBox 129"/>
          <p:cNvSpPr txBox="1"/>
          <p:nvPr/>
        </p:nvSpPr>
        <p:spPr>
          <a:xfrm>
            <a:off x="1874837" y="5508117"/>
            <a:ext cx="9464040" cy="194310"/>
          </a:xfrm>
          <a:prstGeom prst="rect">
            <a:avLst/>
          </a:prstGeom>
          <a:noFill/>
        </p:spPr>
        <p:txBody>
          <a:bodyPr wrap="square" lIns="27432" tIns="9144" rIns="27432" bIns="9144" anchor="ctr">
            <a:spAutoFit/>
          </a:bodyPr>
          <a:lstStyle/>
          <a:p>
            <a:pPr algn="l">
              <a:spcAft>
                <a:spcPts val="0"/>
              </a:spcAft>
            </a:pPr>
            <a:r>
              <a:rPr sz="1150" b="0">
                <a:solidFill>
                  <a:srgbClr val="5B6875"/>
                </a:solidFill>
                <a:latin typeface="Noto Sans CJK SC"/>
              </a:rPr>
              <a:t>All expansion 绝对指标最高但开销最大；动态策略更省候选，固定策略在召回上更强。</a:t>
            </a:r>
            <a:endParaRPr sz="1150" b="0">
              <a:solidFill>
                <a:srgbClr val="5B6875"/>
              </a:solidFill>
              <a:latin typeface="Noto Sans CJK SC"/>
            </a:endParaRPr>
          </a:p>
        </p:txBody>
      </p:sp>
      <p:sp>
        <p:nvSpPr>
          <p:cNvPr id="131" name="TextBox 130"/>
          <p:cNvSpPr txBox="1"/>
          <p:nvPr/>
        </p:nvSpPr>
        <p:spPr>
          <a:xfrm>
            <a:off x="530670" y="6202553"/>
            <a:ext cx="10789920" cy="158750"/>
          </a:xfrm>
          <a:prstGeom prst="rect">
            <a:avLst/>
          </a:prstGeom>
          <a:noFill/>
        </p:spPr>
        <p:txBody>
          <a:bodyPr wrap="square" lIns="27432" tIns="9144" rIns="27432" bIns="9144" anchor="ctr">
            <a:spAutoFit/>
          </a:bodyPr>
          <a:lstStyle/>
          <a:p>
            <a:pPr algn="l">
              <a:spcAft>
                <a:spcPts val="0"/>
              </a:spcAft>
            </a:pPr>
            <a:r>
              <a:rPr sz="920" b="0">
                <a:solidFill>
                  <a:srgbClr val="5B6875"/>
                </a:solidFill>
                <a:latin typeface="Noto Sans CJK SC"/>
              </a:rPr>
              <a:t>Small-object：面积 ≤ 32×32，class-aware 一对一匹配，IoU ≥ 0.5。</a:t>
            </a:r>
            <a:endParaRPr sz="920" b="0">
              <a:solidFill>
                <a:srgbClr val="5B6875"/>
              </a:solidFill>
              <a:latin typeface="Noto Sans CJK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18"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806" y="310515"/>
            <a:ext cx="502920" cy="201930"/>
          </a:xfrm>
          <a:prstGeom prst="rect">
            <a:avLst/>
          </a:prstGeom>
          <a:noFill/>
        </p:spPr>
        <p:txBody>
          <a:bodyPr wrap="square" lIns="27432" tIns="9144" rIns="27432" bIns="9144" anchor="ctr">
            <a:spAutoFit/>
          </a:bodyPr>
          <a:lstStyle/>
          <a:p>
            <a:pPr algn="l">
              <a:spcAft>
                <a:spcPts val="0"/>
              </a:spcAft>
            </a:pPr>
            <a:r>
              <a:rPr sz="1200" b="1">
                <a:solidFill>
                  <a:srgbClr val="2D70AA"/>
                </a:solidFill>
                <a:latin typeface="Noto Sans CJK SC"/>
              </a:rPr>
              <a:t>0</a:t>
            </a:r>
            <a:r>
              <a:rPr lang="en-US" sz="1200" b="1">
                <a:solidFill>
                  <a:srgbClr val="2D70AA"/>
                </a:solidFill>
                <a:latin typeface="Noto Sans CJK SC"/>
              </a:rPr>
              <a:t>5</a:t>
            </a:r>
            <a:endParaRPr lang="en-US" sz="1200" b="1">
              <a:solidFill>
                <a:srgbClr val="2D70AA"/>
              </a:solidFill>
              <a:latin typeface="Noto Sans CJK SC"/>
            </a:endParaRPr>
          </a:p>
        </p:txBody>
      </p:sp>
      <p:sp>
        <p:nvSpPr>
          <p:cNvPr id="4" name="TextBox 3"/>
          <p:cNvSpPr txBox="1"/>
          <p:nvPr/>
        </p:nvSpPr>
        <p:spPr>
          <a:xfrm>
            <a:off x="933005" y="245555"/>
            <a:ext cx="10744200" cy="386715"/>
          </a:xfrm>
          <a:prstGeom prst="rect">
            <a:avLst/>
          </a:prstGeom>
          <a:noFill/>
        </p:spPr>
        <p:txBody>
          <a:bodyPr wrap="square" lIns="27432" tIns="9144" rIns="27432" bIns="9144" anchor="ctr">
            <a:spAutoFit/>
          </a:bodyPr>
          <a:lstStyle/>
          <a:p>
            <a:pPr algn="l">
              <a:spcAft>
                <a:spcPts val="0"/>
              </a:spcAft>
            </a:pPr>
            <a:r>
              <a:rPr lang="zh-CN" sz="2400" b="1">
                <a:solidFill>
                  <a:srgbClr val="192430"/>
                </a:solidFill>
                <a:latin typeface="Noto Sans CJK SC"/>
              </a:rPr>
              <a:t>排序器</a:t>
            </a:r>
            <a:r>
              <a:rPr sz="2400" b="1">
                <a:solidFill>
                  <a:srgbClr val="192430"/>
                </a:solidFill>
                <a:latin typeface="Noto Sans CJK SC"/>
              </a:rPr>
              <a:t>元数据特征消融</a:t>
            </a:r>
            <a:endParaRPr sz="2400" b="1">
              <a:solidFill>
                <a:srgbClr val="192430"/>
              </a:solidFill>
              <a:latin typeface="Noto Sans CJK SC"/>
            </a:endParaRPr>
          </a:p>
        </p:txBody>
      </p:sp>
      <p:sp>
        <p:nvSpPr>
          <p:cNvPr id="5" name="TextBox 4"/>
          <p:cNvSpPr txBox="1"/>
          <p:nvPr/>
        </p:nvSpPr>
        <p:spPr>
          <a:xfrm>
            <a:off x="942150" y="705993"/>
            <a:ext cx="10698480" cy="179070"/>
          </a:xfrm>
          <a:prstGeom prst="rect">
            <a:avLst/>
          </a:prstGeom>
          <a:noFill/>
        </p:spPr>
        <p:txBody>
          <a:bodyPr wrap="square" lIns="27432" tIns="9144" rIns="27432" bIns="9144" anchor="ctr">
            <a:spAutoFit/>
          </a:bodyPr>
          <a:lstStyle/>
          <a:p>
            <a:pPr algn="l">
              <a:spcAft>
                <a:spcPts val="0"/>
              </a:spcAft>
            </a:pPr>
            <a:r>
              <a:rPr sz="1050" b="0">
                <a:solidFill>
                  <a:srgbClr val="5B6875"/>
                </a:solidFill>
                <a:latin typeface="Noto Sans CJK SC"/>
              </a:rPr>
              <a:t>固定 52,872 个候选框与 19,649 参数 · 3 seeds · alpha 仅由 val holdout 选择</a:t>
            </a:r>
            <a:endParaRPr sz="1050" b="0">
              <a:solidFill>
                <a:srgbClr val="5B6875"/>
              </a:solidFill>
              <a:latin typeface="Noto Sans CJK SC"/>
            </a:endParaRPr>
          </a:p>
        </p:txBody>
      </p:sp>
      <p:sp>
        <p:nvSpPr>
          <p:cNvPr id="6" name="TextBox 5"/>
          <p:cNvSpPr txBox="1"/>
          <p:nvPr/>
        </p:nvSpPr>
        <p:spPr>
          <a:xfrm>
            <a:off x="11393742" y="6523863"/>
            <a:ext cx="347472" cy="156210"/>
          </a:xfrm>
          <a:prstGeom prst="rect">
            <a:avLst/>
          </a:prstGeom>
          <a:noFill/>
        </p:spPr>
        <p:txBody>
          <a:bodyPr wrap="square" lIns="27432" tIns="9144" rIns="27432" bIns="9144" anchor="ctr">
            <a:spAutoFit/>
          </a:bodyPr>
          <a:lstStyle/>
          <a:p>
            <a:pPr algn="r">
              <a:spcAft>
                <a:spcPts val="0"/>
              </a:spcAft>
            </a:pPr>
            <a:r>
              <a:rPr sz="900" b="0">
                <a:solidFill>
                  <a:srgbClr val="5B6875"/>
                </a:solidFill>
                <a:latin typeface="Noto Sans CJK SC"/>
              </a:rPr>
              <a:t>3</a:t>
            </a:r>
            <a:endParaRPr sz="900" b="0">
              <a:solidFill>
                <a:srgbClr val="5B6875"/>
              </a:solidFill>
              <a:latin typeface="Noto Sans CJK SC"/>
            </a:endParaRPr>
          </a:p>
        </p:txBody>
      </p:sp>
      <p:sp>
        <p:nvSpPr>
          <p:cNvPr id="7" name="Rounded Rectangle 6"/>
          <p:cNvSpPr/>
          <p:nvPr/>
        </p:nvSpPr>
        <p:spPr>
          <a:xfrm>
            <a:off x="503238"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3238"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830"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Full vs Raw mAP</a:t>
            </a:r>
            <a:endParaRPr sz="950" b="0">
              <a:solidFill>
                <a:srgbClr val="5B6875"/>
              </a:solidFill>
              <a:latin typeface="Noto Sans CJK SC"/>
            </a:endParaRPr>
          </a:p>
        </p:txBody>
      </p:sp>
      <p:sp>
        <p:nvSpPr>
          <p:cNvPr id="10" name="TextBox 9"/>
          <p:cNvSpPr txBox="1"/>
          <p:nvPr/>
        </p:nvSpPr>
        <p:spPr>
          <a:xfrm>
            <a:off x="667830" y="1355661"/>
            <a:ext cx="1901952" cy="278765"/>
          </a:xfrm>
          <a:prstGeom prst="rect">
            <a:avLst/>
          </a:prstGeom>
          <a:noFill/>
        </p:spPr>
        <p:txBody>
          <a:bodyPr wrap="square" lIns="27432" tIns="9144" rIns="27432" bIns="9144" anchor="ctr">
            <a:spAutoFit/>
          </a:bodyPr>
          <a:lstStyle/>
          <a:p>
            <a:pPr algn="l">
              <a:spcAft>
                <a:spcPts val="0"/>
              </a:spcAft>
            </a:pPr>
            <a:r>
              <a:rPr sz="1700" b="1">
                <a:solidFill>
                  <a:srgbClr val="2D70AA"/>
                </a:solidFill>
                <a:latin typeface="Noto Sans CJK SC"/>
              </a:rPr>
              <a:t>+0.0212</a:t>
            </a:r>
            <a:endParaRPr sz="1700" b="1">
              <a:solidFill>
                <a:srgbClr val="2D70AA"/>
              </a:solidFill>
              <a:latin typeface="Noto Sans CJK SC"/>
            </a:endParaRPr>
          </a:p>
        </p:txBody>
      </p:sp>
      <p:sp>
        <p:nvSpPr>
          <p:cNvPr id="11" name="Rounded Rectangle 10"/>
          <p:cNvSpPr/>
          <p:nvPr/>
        </p:nvSpPr>
        <p:spPr>
          <a:xfrm>
            <a:off x="2770950"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950"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542"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相对提升</a:t>
            </a:r>
            <a:endParaRPr sz="950" b="0">
              <a:solidFill>
                <a:srgbClr val="5B6875"/>
              </a:solidFill>
              <a:latin typeface="Noto Sans CJK SC"/>
            </a:endParaRPr>
          </a:p>
        </p:txBody>
      </p:sp>
      <p:sp>
        <p:nvSpPr>
          <p:cNvPr id="14" name="TextBox 13"/>
          <p:cNvSpPr txBox="1"/>
          <p:nvPr/>
        </p:nvSpPr>
        <p:spPr>
          <a:xfrm>
            <a:off x="2935542" y="1355661"/>
            <a:ext cx="1901952" cy="278765"/>
          </a:xfrm>
          <a:prstGeom prst="rect">
            <a:avLst/>
          </a:prstGeom>
          <a:noFill/>
        </p:spPr>
        <p:txBody>
          <a:bodyPr wrap="square" lIns="27432" tIns="9144" rIns="27432" bIns="9144" anchor="ctr">
            <a:spAutoFit/>
          </a:bodyPr>
          <a:lstStyle/>
          <a:p>
            <a:pPr algn="l">
              <a:spcAft>
                <a:spcPts val="0"/>
              </a:spcAft>
            </a:pPr>
            <a:r>
              <a:rPr sz="1700" b="1">
                <a:solidFill>
                  <a:srgbClr val="17857D"/>
                </a:solidFill>
                <a:latin typeface="Noto Sans CJK SC"/>
              </a:rPr>
              <a:t>+14.5%</a:t>
            </a:r>
            <a:endParaRPr sz="1700" b="1">
              <a:solidFill>
                <a:srgbClr val="17857D"/>
              </a:solidFill>
              <a:latin typeface="Noto Sans CJK SC"/>
            </a:endParaRPr>
          </a:p>
        </p:txBody>
      </p:sp>
      <p:sp>
        <p:nvSpPr>
          <p:cNvPr id="15" name="Rounded Rectangle 14"/>
          <p:cNvSpPr/>
          <p:nvPr/>
        </p:nvSpPr>
        <p:spPr>
          <a:xfrm>
            <a:off x="5038662"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38662"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3254" y="1170813"/>
            <a:ext cx="1901952" cy="163830"/>
          </a:xfrm>
          <a:prstGeom prst="rect">
            <a:avLst/>
          </a:prstGeom>
          <a:noFill/>
        </p:spPr>
        <p:txBody>
          <a:bodyPr wrap="square" lIns="27432" tIns="9144" rIns="27432" bIns="9144" anchor="ctr">
            <a:spAutoFit/>
          </a:bodyPr>
          <a:lstStyle/>
          <a:p>
            <a:pPr algn="l">
              <a:spcAft>
                <a:spcPts val="0"/>
              </a:spcAft>
            </a:pPr>
            <a:r>
              <a:rPr sz="950" b="0">
                <a:solidFill>
                  <a:srgbClr val="5B6875"/>
                </a:solidFill>
                <a:latin typeface="Noto Sans CJK SC"/>
              </a:rPr>
              <a:t>最大单步贡献</a:t>
            </a:r>
            <a:endParaRPr sz="950" b="0">
              <a:solidFill>
                <a:srgbClr val="5B6875"/>
              </a:solidFill>
              <a:latin typeface="Noto Sans CJK SC"/>
            </a:endParaRPr>
          </a:p>
        </p:txBody>
      </p:sp>
      <p:sp>
        <p:nvSpPr>
          <p:cNvPr id="18" name="TextBox 17"/>
          <p:cNvSpPr txBox="1"/>
          <p:nvPr/>
        </p:nvSpPr>
        <p:spPr>
          <a:xfrm>
            <a:off x="5203254" y="1355661"/>
            <a:ext cx="1901952" cy="278765"/>
          </a:xfrm>
          <a:prstGeom prst="rect">
            <a:avLst/>
          </a:prstGeom>
          <a:noFill/>
        </p:spPr>
        <p:txBody>
          <a:bodyPr wrap="square" lIns="27432" tIns="9144" rIns="27432" bIns="9144" anchor="ctr">
            <a:spAutoFit/>
          </a:bodyPr>
          <a:lstStyle/>
          <a:p>
            <a:pPr algn="l">
              <a:spcAft>
                <a:spcPts val="0"/>
              </a:spcAft>
            </a:pPr>
            <a:r>
              <a:rPr sz="1700" b="1">
                <a:solidFill>
                  <a:srgbClr val="D99124"/>
                </a:solidFill>
                <a:latin typeface="Noto Sans CJK SC"/>
              </a:rPr>
              <a:t>+source · +0.0150</a:t>
            </a:r>
            <a:endParaRPr sz="1700" b="1">
              <a:solidFill>
                <a:srgbClr val="D99124"/>
              </a:solidFill>
              <a:latin typeface="Noto Sans CJK SC"/>
            </a:endParaRPr>
          </a:p>
        </p:txBody>
      </p:sp>
      <p:sp>
        <p:nvSpPr>
          <p:cNvPr id="19" name="Rounded Rectangle 18"/>
          <p:cNvSpPr/>
          <p:nvPr/>
        </p:nvSpPr>
        <p:spPr>
          <a:xfrm>
            <a:off x="7397814" y="1078992"/>
            <a:ext cx="4288536" cy="3877056"/>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414" y="1252346"/>
            <a:ext cx="3831336" cy="201930"/>
          </a:xfrm>
          <a:prstGeom prst="rect">
            <a:avLst/>
          </a:prstGeom>
          <a:noFill/>
        </p:spPr>
        <p:txBody>
          <a:bodyPr wrap="square" lIns="27432" tIns="9144" rIns="27432" bIns="9144" anchor="ctr">
            <a:spAutoFit/>
          </a:bodyPr>
          <a:lstStyle/>
          <a:p>
            <a:pPr algn="l">
              <a:spcAft>
                <a:spcPts val="0"/>
              </a:spcAft>
            </a:pPr>
            <a:r>
              <a:rPr sz="1200" b="1">
                <a:solidFill>
                  <a:srgbClr val="192430"/>
                </a:solidFill>
                <a:latin typeface="Noto Sans CJK SC"/>
              </a:rPr>
              <a:t>mAP@0.5 逐步累积</a:t>
            </a:r>
            <a:endParaRPr sz="1200" b="1">
              <a:solidFill>
                <a:srgbClr val="192430"/>
              </a:solidFill>
              <a:latin typeface="Noto Sans CJK SC"/>
            </a:endParaRPr>
          </a:p>
        </p:txBody>
      </p:sp>
      <p:sp>
        <p:nvSpPr>
          <p:cNvPr id="21" name="TextBox 20"/>
          <p:cNvSpPr txBox="1"/>
          <p:nvPr/>
        </p:nvSpPr>
        <p:spPr>
          <a:xfrm>
            <a:off x="7525830" y="1729574"/>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Raw score</a:t>
            </a:r>
            <a:endParaRPr sz="930" b="0">
              <a:solidFill>
                <a:srgbClr val="5B6875"/>
              </a:solidFill>
              <a:latin typeface="Noto Sans CJK SC"/>
            </a:endParaRPr>
          </a:p>
        </p:txBody>
      </p:sp>
      <p:sp>
        <p:nvSpPr>
          <p:cNvPr id="22" name="Rectangle 21"/>
          <p:cNvSpPr/>
          <p:nvPr/>
        </p:nvSpPr>
        <p:spPr>
          <a:xfrm>
            <a:off x="8851710" y="1710659"/>
            <a:ext cx="1596519" cy="214579"/>
          </a:xfrm>
          <a:prstGeom prst="rect">
            <a:avLst/>
          </a:prstGeom>
          <a:solidFill>
            <a:srgbClr val="B5BEC7"/>
          </a:solidFill>
          <a:ln w="10160">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2237" y="1730527"/>
            <a:ext cx="658368" cy="158750"/>
          </a:xfrm>
          <a:prstGeom prst="rect">
            <a:avLst/>
          </a:prstGeom>
          <a:noFill/>
        </p:spPr>
        <p:txBody>
          <a:bodyPr wrap="square" lIns="27432" tIns="9144" rIns="27432" bIns="9144" anchor="ctr">
            <a:spAutoFit/>
          </a:bodyPr>
          <a:lstStyle/>
          <a:p>
            <a:pPr algn="l">
              <a:spcAft>
                <a:spcPts val="0"/>
              </a:spcAft>
            </a:pPr>
            <a:r>
              <a:rPr sz="920" b="1">
                <a:solidFill>
                  <a:srgbClr val="B5BEC7"/>
                </a:solidFill>
                <a:latin typeface="Noto Sans CJK SC"/>
              </a:rPr>
              <a:t>0.1464</a:t>
            </a:r>
            <a:endParaRPr sz="920" b="1">
              <a:solidFill>
                <a:srgbClr val="B5BEC7"/>
              </a:solidFill>
              <a:latin typeface="Noto Sans CJK SC"/>
            </a:endParaRPr>
          </a:p>
        </p:txBody>
      </p:sp>
      <p:sp>
        <p:nvSpPr>
          <p:cNvPr id="24" name="TextBox 23"/>
          <p:cNvSpPr txBox="1"/>
          <p:nvPr/>
        </p:nvSpPr>
        <p:spPr>
          <a:xfrm>
            <a:off x="7525830" y="2266023"/>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 geometry</a:t>
            </a:r>
            <a:endParaRPr sz="930" b="0">
              <a:solidFill>
                <a:srgbClr val="5B6875"/>
              </a:solidFill>
              <a:latin typeface="Noto Sans CJK SC"/>
            </a:endParaRPr>
          </a:p>
        </p:txBody>
      </p:sp>
      <p:sp>
        <p:nvSpPr>
          <p:cNvPr id="25" name="Rectangle 24"/>
          <p:cNvSpPr/>
          <p:nvPr/>
        </p:nvSpPr>
        <p:spPr>
          <a:xfrm>
            <a:off x="8851710" y="2247107"/>
            <a:ext cx="1640140" cy="214579"/>
          </a:xfrm>
          <a:prstGeom prst="rect">
            <a:avLst/>
          </a:prstGeom>
          <a:solidFill>
            <a:srgbClr val="B5BEC7"/>
          </a:solidFill>
          <a:ln w="10160">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55858" y="2266975"/>
            <a:ext cx="658368" cy="158750"/>
          </a:xfrm>
          <a:prstGeom prst="rect">
            <a:avLst/>
          </a:prstGeom>
          <a:noFill/>
        </p:spPr>
        <p:txBody>
          <a:bodyPr wrap="square" lIns="27432" tIns="9144" rIns="27432" bIns="9144" anchor="ctr">
            <a:spAutoFit/>
          </a:bodyPr>
          <a:lstStyle/>
          <a:p>
            <a:pPr algn="l">
              <a:spcAft>
                <a:spcPts val="0"/>
              </a:spcAft>
            </a:pPr>
            <a:r>
              <a:rPr sz="920" b="1">
                <a:solidFill>
                  <a:srgbClr val="B5BEC7"/>
                </a:solidFill>
                <a:latin typeface="Noto Sans CJK SC"/>
              </a:rPr>
              <a:t>0.1504</a:t>
            </a:r>
            <a:endParaRPr sz="920" b="1">
              <a:solidFill>
                <a:srgbClr val="B5BEC7"/>
              </a:solidFill>
              <a:latin typeface="Noto Sans CJK SC"/>
            </a:endParaRPr>
          </a:p>
        </p:txBody>
      </p:sp>
      <p:sp>
        <p:nvSpPr>
          <p:cNvPr id="27" name="TextBox 26"/>
          <p:cNvSpPr txBox="1"/>
          <p:nvPr/>
        </p:nvSpPr>
        <p:spPr>
          <a:xfrm>
            <a:off x="7525830" y="2802471"/>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 query</a:t>
            </a:r>
            <a:endParaRPr sz="930" b="0">
              <a:solidFill>
                <a:srgbClr val="5B6875"/>
              </a:solidFill>
              <a:latin typeface="Noto Sans CJK SC"/>
            </a:endParaRPr>
          </a:p>
        </p:txBody>
      </p:sp>
      <p:sp>
        <p:nvSpPr>
          <p:cNvPr id="28" name="Rectangle 27"/>
          <p:cNvSpPr/>
          <p:nvPr/>
        </p:nvSpPr>
        <p:spPr>
          <a:xfrm>
            <a:off x="8851710" y="2783555"/>
            <a:ext cx="1651045" cy="214579"/>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66763" y="2803423"/>
            <a:ext cx="658368" cy="158750"/>
          </a:xfrm>
          <a:prstGeom prst="rect">
            <a:avLst/>
          </a:prstGeom>
          <a:noFill/>
        </p:spPr>
        <p:txBody>
          <a:bodyPr wrap="square" lIns="27432" tIns="9144" rIns="27432" bIns="9144" anchor="ctr">
            <a:spAutoFit/>
          </a:bodyPr>
          <a:lstStyle/>
          <a:p>
            <a:pPr algn="l">
              <a:spcAft>
                <a:spcPts val="0"/>
              </a:spcAft>
            </a:pPr>
            <a:r>
              <a:rPr sz="920" b="1">
                <a:solidFill>
                  <a:srgbClr val="17857D"/>
                </a:solidFill>
                <a:latin typeface="Noto Sans CJK SC"/>
              </a:rPr>
              <a:t>0.1514</a:t>
            </a:r>
            <a:endParaRPr sz="920" b="1">
              <a:solidFill>
                <a:srgbClr val="17857D"/>
              </a:solidFill>
              <a:latin typeface="Noto Sans CJK SC"/>
            </a:endParaRPr>
          </a:p>
        </p:txBody>
      </p:sp>
      <p:sp>
        <p:nvSpPr>
          <p:cNvPr id="30" name="TextBox 29"/>
          <p:cNvSpPr txBox="1"/>
          <p:nvPr/>
        </p:nvSpPr>
        <p:spPr>
          <a:xfrm>
            <a:off x="7525830" y="3338919"/>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 source</a:t>
            </a:r>
            <a:endParaRPr sz="930" b="0">
              <a:solidFill>
                <a:srgbClr val="5B6875"/>
              </a:solidFill>
              <a:latin typeface="Noto Sans CJK SC"/>
            </a:endParaRPr>
          </a:p>
        </p:txBody>
      </p:sp>
      <p:sp>
        <p:nvSpPr>
          <p:cNvPr id="31" name="Rectangle 30"/>
          <p:cNvSpPr/>
          <p:nvPr/>
        </p:nvSpPr>
        <p:spPr>
          <a:xfrm>
            <a:off x="8851710" y="3320003"/>
            <a:ext cx="1814623" cy="214579"/>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30341" y="3339871"/>
            <a:ext cx="658368" cy="158750"/>
          </a:xfrm>
          <a:prstGeom prst="rect">
            <a:avLst/>
          </a:prstGeom>
          <a:noFill/>
        </p:spPr>
        <p:txBody>
          <a:bodyPr wrap="square" lIns="27432" tIns="9144" rIns="27432" bIns="9144" anchor="ctr">
            <a:spAutoFit/>
          </a:bodyPr>
          <a:lstStyle/>
          <a:p>
            <a:pPr algn="l">
              <a:spcAft>
                <a:spcPts val="0"/>
              </a:spcAft>
            </a:pPr>
            <a:r>
              <a:rPr sz="920" b="1">
                <a:solidFill>
                  <a:srgbClr val="D99124"/>
                </a:solidFill>
                <a:latin typeface="Noto Sans CJK SC"/>
              </a:rPr>
              <a:t>0.1664</a:t>
            </a:r>
            <a:endParaRPr sz="920" b="1">
              <a:solidFill>
                <a:srgbClr val="D99124"/>
              </a:solidFill>
              <a:latin typeface="Noto Sans CJK SC"/>
            </a:endParaRPr>
          </a:p>
        </p:txBody>
      </p:sp>
      <p:sp>
        <p:nvSpPr>
          <p:cNvPr id="33" name="TextBox 32"/>
          <p:cNvSpPr txBox="1"/>
          <p:nvPr/>
        </p:nvSpPr>
        <p:spPr>
          <a:xfrm>
            <a:off x="7525830" y="3875366"/>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 small prior</a:t>
            </a:r>
            <a:endParaRPr sz="930" b="0">
              <a:solidFill>
                <a:srgbClr val="5B6875"/>
              </a:solidFill>
              <a:latin typeface="Noto Sans CJK SC"/>
            </a:endParaRPr>
          </a:p>
        </p:txBody>
      </p:sp>
      <p:sp>
        <p:nvSpPr>
          <p:cNvPr id="34" name="Rectangle 33"/>
          <p:cNvSpPr/>
          <p:nvPr/>
        </p:nvSpPr>
        <p:spPr>
          <a:xfrm>
            <a:off x="8851710" y="3856451"/>
            <a:ext cx="1785179" cy="214579"/>
          </a:xfrm>
          <a:prstGeom prst="rect">
            <a:avLst/>
          </a:prstGeom>
          <a:solidFill>
            <a:srgbClr val="C65049"/>
          </a:solidFill>
          <a:ln w="10160">
            <a:solidFill>
              <a:srgbClr val="C650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00897" y="3876319"/>
            <a:ext cx="658368" cy="158750"/>
          </a:xfrm>
          <a:prstGeom prst="rect">
            <a:avLst/>
          </a:prstGeom>
          <a:noFill/>
        </p:spPr>
        <p:txBody>
          <a:bodyPr wrap="square" lIns="27432" tIns="9144" rIns="27432" bIns="9144" anchor="ctr">
            <a:spAutoFit/>
          </a:bodyPr>
          <a:lstStyle/>
          <a:p>
            <a:pPr algn="l">
              <a:spcAft>
                <a:spcPts val="0"/>
              </a:spcAft>
            </a:pPr>
            <a:r>
              <a:rPr sz="920" b="1">
                <a:solidFill>
                  <a:srgbClr val="C65049"/>
                </a:solidFill>
                <a:latin typeface="Noto Sans CJK SC"/>
              </a:rPr>
              <a:t>0.1637</a:t>
            </a:r>
            <a:endParaRPr sz="920" b="1">
              <a:solidFill>
                <a:srgbClr val="C65049"/>
              </a:solidFill>
              <a:latin typeface="Noto Sans CJK SC"/>
            </a:endParaRPr>
          </a:p>
        </p:txBody>
      </p:sp>
      <p:sp>
        <p:nvSpPr>
          <p:cNvPr id="36" name="TextBox 35"/>
          <p:cNvSpPr txBox="1"/>
          <p:nvPr/>
        </p:nvSpPr>
        <p:spPr>
          <a:xfrm>
            <a:off x="7525830" y="4411815"/>
            <a:ext cx="1234440" cy="160655"/>
          </a:xfrm>
          <a:prstGeom prst="rect">
            <a:avLst/>
          </a:prstGeom>
          <a:noFill/>
        </p:spPr>
        <p:txBody>
          <a:bodyPr wrap="square" lIns="27432" tIns="9144" rIns="27432" bIns="9144" anchor="ctr">
            <a:spAutoFit/>
          </a:bodyPr>
          <a:lstStyle/>
          <a:p>
            <a:pPr algn="r">
              <a:spcAft>
                <a:spcPts val="0"/>
              </a:spcAft>
            </a:pPr>
            <a:r>
              <a:rPr sz="930" b="0">
                <a:solidFill>
                  <a:srgbClr val="5B6875"/>
                </a:solidFill>
                <a:latin typeface="Noto Sans CJK SC"/>
              </a:rPr>
              <a:t>Full Exp38</a:t>
            </a:r>
            <a:endParaRPr sz="930" b="0">
              <a:solidFill>
                <a:srgbClr val="5B6875"/>
              </a:solidFill>
              <a:latin typeface="Noto Sans CJK SC"/>
            </a:endParaRPr>
          </a:p>
        </p:txBody>
      </p:sp>
      <p:sp>
        <p:nvSpPr>
          <p:cNvPr id="37" name="Rectangle 36"/>
          <p:cNvSpPr/>
          <p:nvPr/>
        </p:nvSpPr>
        <p:spPr>
          <a:xfrm>
            <a:off x="8851710" y="4392899"/>
            <a:ext cx="1828800" cy="214579"/>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744518" y="4412767"/>
            <a:ext cx="658368" cy="158750"/>
          </a:xfrm>
          <a:prstGeom prst="rect">
            <a:avLst/>
          </a:prstGeom>
          <a:noFill/>
        </p:spPr>
        <p:txBody>
          <a:bodyPr wrap="square" lIns="27432" tIns="9144" rIns="27432" bIns="9144" anchor="ctr">
            <a:spAutoFit/>
          </a:bodyPr>
          <a:lstStyle/>
          <a:p>
            <a:pPr algn="l">
              <a:spcAft>
                <a:spcPts val="0"/>
              </a:spcAft>
            </a:pPr>
            <a:r>
              <a:rPr sz="920" b="1">
                <a:solidFill>
                  <a:srgbClr val="2D70AA"/>
                </a:solidFill>
                <a:latin typeface="Noto Sans CJK SC"/>
              </a:rPr>
              <a:t>0.1677</a:t>
            </a:r>
            <a:endParaRPr sz="920" b="1">
              <a:solidFill>
                <a:srgbClr val="2D70AA"/>
              </a:solidFill>
              <a:latin typeface="Noto Sans CJK SC"/>
            </a:endParaRPr>
          </a:p>
        </p:txBody>
      </p:sp>
      <p:sp>
        <p:nvSpPr>
          <p:cNvPr id="39" name="Rectangle 38"/>
          <p:cNvSpPr/>
          <p:nvPr/>
        </p:nvSpPr>
        <p:spPr>
          <a:xfrm>
            <a:off x="503238" y="2011679"/>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1254" y="2018919"/>
            <a:ext cx="654710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逐步累积特征结果</a:t>
            </a:r>
            <a:endParaRPr sz="1100" b="1">
              <a:solidFill>
                <a:srgbClr val="192430"/>
              </a:solidFill>
              <a:latin typeface="Noto Sans CJK SC"/>
            </a:endParaRPr>
          </a:p>
        </p:txBody>
      </p:sp>
      <p:sp>
        <p:nvSpPr>
          <p:cNvPr id="41" name="Rounded Rectangle 40"/>
          <p:cNvSpPr/>
          <p:nvPr/>
        </p:nvSpPr>
        <p:spPr>
          <a:xfrm>
            <a:off x="503238" y="2331720"/>
            <a:ext cx="6446520" cy="2624327"/>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3238" y="2331720"/>
            <a:ext cx="1389888" cy="37490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526" y="2439797"/>
            <a:ext cx="1353312"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配置</a:t>
            </a:r>
            <a:endParaRPr sz="920" b="1">
              <a:solidFill>
                <a:srgbClr val="FFFFFF"/>
              </a:solidFill>
              <a:latin typeface="Noto Sans CJK SC"/>
            </a:endParaRPr>
          </a:p>
        </p:txBody>
      </p:sp>
      <p:sp>
        <p:nvSpPr>
          <p:cNvPr id="44" name="Rectangle 43"/>
          <p:cNvSpPr/>
          <p:nvPr/>
        </p:nvSpPr>
        <p:spPr>
          <a:xfrm>
            <a:off x="1893126" y="2331720"/>
            <a:ext cx="731520" cy="37490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11414" y="2439797"/>
            <a:ext cx="694944"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维数</a:t>
            </a:r>
            <a:endParaRPr sz="920" b="1">
              <a:solidFill>
                <a:srgbClr val="FFFFFF"/>
              </a:solidFill>
              <a:latin typeface="Noto Sans CJK SC"/>
            </a:endParaRPr>
          </a:p>
        </p:txBody>
      </p:sp>
      <p:sp>
        <p:nvSpPr>
          <p:cNvPr id="46" name="Rectangle 45"/>
          <p:cNvSpPr/>
          <p:nvPr/>
        </p:nvSpPr>
        <p:spPr>
          <a:xfrm>
            <a:off x="2624646" y="2331720"/>
            <a:ext cx="1069848" cy="37490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42934" y="2439797"/>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Acc@0.5</a:t>
            </a:r>
            <a:endParaRPr sz="920" b="1">
              <a:solidFill>
                <a:srgbClr val="FFFFFF"/>
              </a:solidFill>
              <a:latin typeface="Noto Sans CJK SC"/>
            </a:endParaRPr>
          </a:p>
        </p:txBody>
      </p:sp>
      <p:sp>
        <p:nvSpPr>
          <p:cNvPr id="48" name="Rectangle 47"/>
          <p:cNvSpPr/>
          <p:nvPr/>
        </p:nvSpPr>
        <p:spPr>
          <a:xfrm>
            <a:off x="3694494" y="2331720"/>
            <a:ext cx="1069848" cy="37490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12781" y="2439797"/>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Acc@0.75</a:t>
            </a:r>
            <a:endParaRPr sz="920" b="1">
              <a:solidFill>
                <a:srgbClr val="FFFFFF"/>
              </a:solidFill>
              <a:latin typeface="Noto Sans CJK SC"/>
            </a:endParaRPr>
          </a:p>
        </p:txBody>
      </p:sp>
      <p:sp>
        <p:nvSpPr>
          <p:cNvPr id="50" name="Rectangle 49"/>
          <p:cNvSpPr/>
          <p:nvPr/>
        </p:nvSpPr>
        <p:spPr>
          <a:xfrm>
            <a:off x="4764342" y="2331720"/>
            <a:ext cx="1069848" cy="37490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82630" y="2439797"/>
            <a:ext cx="1033271"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mAP@0.5</a:t>
            </a:r>
            <a:endParaRPr sz="920" b="1">
              <a:solidFill>
                <a:srgbClr val="FFFFFF"/>
              </a:solidFill>
              <a:latin typeface="Noto Sans CJK SC"/>
            </a:endParaRPr>
          </a:p>
        </p:txBody>
      </p:sp>
      <p:sp>
        <p:nvSpPr>
          <p:cNvPr id="52" name="Rectangle 51"/>
          <p:cNvSpPr/>
          <p:nvPr/>
        </p:nvSpPr>
        <p:spPr>
          <a:xfrm>
            <a:off x="5834190" y="2331720"/>
            <a:ext cx="1115568" cy="37490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2477" y="2439797"/>
            <a:ext cx="1078992" cy="158750"/>
          </a:xfrm>
          <a:prstGeom prst="rect">
            <a:avLst/>
          </a:prstGeom>
          <a:noFill/>
        </p:spPr>
        <p:txBody>
          <a:bodyPr wrap="square" lIns="27432" tIns="9144" rIns="27432" bIns="9144" anchor="ctr">
            <a:spAutoFit/>
          </a:bodyPr>
          <a:lstStyle/>
          <a:p>
            <a:pPr algn="ctr">
              <a:spcAft>
                <a:spcPts val="0"/>
              </a:spcAft>
            </a:pPr>
            <a:r>
              <a:rPr sz="920" b="1">
                <a:solidFill>
                  <a:srgbClr val="FFFFFF"/>
                </a:solidFill>
                <a:latin typeface="Noto Sans CJK SC"/>
              </a:rPr>
              <a:t>逐步增量</a:t>
            </a:r>
            <a:endParaRPr sz="920" b="1">
              <a:solidFill>
                <a:srgbClr val="FFFFFF"/>
              </a:solidFill>
              <a:latin typeface="Noto Sans CJK SC"/>
            </a:endParaRPr>
          </a:p>
        </p:txBody>
      </p:sp>
      <p:sp>
        <p:nvSpPr>
          <p:cNvPr id="54" name="Rectangle 53"/>
          <p:cNvSpPr/>
          <p:nvPr/>
        </p:nvSpPr>
        <p:spPr>
          <a:xfrm>
            <a:off x="503238" y="2706624"/>
            <a:ext cx="138988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9814" y="2815971"/>
            <a:ext cx="1316736" cy="156210"/>
          </a:xfrm>
          <a:prstGeom prst="rect">
            <a:avLst/>
          </a:prstGeom>
          <a:noFill/>
        </p:spPr>
        <p:txBody>
          <a:bodyPr wrap="square" lIns="27432" tIns="9144" rIns="27432" bIns="9144" anchor="ctr">
            <a:spAutoFit/>
          </a:bodyPr>
          <a:lstStyle/>
          <a:p>
            <a:pPr algn="l">
              <a:spcAft>
                <a:spcPts val="0"/>
              </a:spcAft>
            </a:pPr>
            <a:r>
              <a:rPr sz="900" b="0">
                <a:solidFill>
                  <a:srgbClr val="192430"/>
                </a:solidFill>
                <a:latin typeface="Noto Sans CJK SC"/>
              </a:rPr>
              <a:t>Raw score</a:t>
            </a:r>
            <a:endParaRPr sz="900" b="0">
              <a:solidFill>
                <a:srgbClr val="192430"/>
              </a:solidFill>
              <a:latin typeface="Noto Sans CJK SC"/>
            </a:endParaRPr>
          </a:p>
        </p:txBody>
      </p:sp>
      <p:sp>
        <p:nvSpPr>
          <p:cNvPr id="56" name="Rectangle 55"/>
          <p:cNvSpPr/>
          <p:nvPr/>
        </p:nvSpPr>
        <p:spPr>
          <a:xfrm>
            <a:off x="1893126" y="2706624"/>
            <a:ext cx="731520"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29702" y="2815971"/>
            <a:ext cx="658368"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1</a:t>
            </a:r>
            <a:endParaRPr sz="900" b="0">
              <a:solidFill>
                <a:srgbClr val="192430"/>
              </a:solidFill>
              <a:latin typeface="Noto Sans CJK SC"/>
            </a:endParaRPr>
          </a:p>
        </p:txBody>
      </p:sp>
      <p:sp>
        <p:nvSpPr>
          <p:cNvPr id="58" name="Rectangle 57"/>
          <p:cNvSpPr/>
          <p:nvPr/>
        </p:nvSpPr>
        <p:spPr>
          <a:xfrm>
            <a:off x="2624646" y="2706624"/>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61222" y="2815971"/>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0.5374</a:t>
            </a:r>
            <a:endParaRPr sz="900" b="0">
              <a:solidFill>
                <a:srgbClr val="192430"/>
              </a:solidFill>
              <a:latin typeface="Noto Sans CJK SC"/>
            </a:endParaRPr>
          </a:p>
        </p:txBody>
      </p:sp>
      <p:sp>
        <p:nvSpPr>
          <p:cNvPr id="60" name="Rectangle 59"/>
          <p:cNvSpPr/>
          <p:nvPr/>
        </p:nvSpPr>
        <p:spPr>
          <a:xfrm>
            <a:off x="3694494" y="2706624"/>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31070" y="2815971"/>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0.3463</a:t>
            </a:r>
            <a:endParaRPr sz="900" b="0">
              <a:solidFill>
                <a:srgbClr val="192430"/>
              </a:solidFill>
              <a:latin typeface="Noto Sans CJK SC"/>
            </a:endParaRPr>
          </a:p>
        </p:txBody>
      </p:sp>
      <p:sp>
        <p:nvSpPr>
          <p:cNvPr id="62" name="Rectangle 61"/>
          <p:cNvSpPr/>
          <p:nvPr/>
        </p:nvSpPr>
        <p:spPr>
          <a:xfrm>
            <a:off x="4764342" y="2706624"/>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00918" y="2815971"/>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0.1464</a:t>
            </a:r>
            <a:endParaRPr sz="900" b="0">
              <a:solidFill>
                <a:srgbClr val="192430"/>
              </a:solidFill>
              <a:latin typeface="Noto Sans CJK SC"/>
            </a:endParaRPr>
          </a:p>
        </p:txBody>
      </p:sp>
      <p:sp>
        <p:nvSpPr>
          <p:cNvPr id="64" name="Rectangle 63"/>
          <p:cNvSpPr/>
          <p:nvPr/>
        </p:nvSpPr>
        <p:spPr>
          <a:xfrm>
            <a:off x="5834190" y="2706624"/>
            <a:ext cx="111556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70766" y="2815971"/>
            <a:ext cx="104241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+0.0000</a:t>
            </a:r>
            <a:endParaRPr sz="900" b="0">
              <a:solidFill>
                <a:srgbClr val="192430"/>
              </a:solidFill>
              <a:latin typeface="Noto Sans CJK SC"/>
            </a:endParaRPr>
          </a:p>
        </p:txBody>
      </p:sp>
      <p:sp>
        <p:nvSpPr>
          <p:cNvPr id="66" name="Rectangle 65"/>
          <p:cNvSpPr/>
          <p:nvPr/>
        </p:nvSpPr>
        <p:spPr>
          <a:xfrm>
            <a:off x="503238" y="3081527"/>
            <a:ext cx="138988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9814" y="3190874"/>
            <a:ext cx="1316736" cy="156210"/>
          </a:xfrm>
          <a:prstGeom prst="rect">
            <a:avLst/>
          </a:prstGeom>
          <a:noFill/>
        </p:spPr>
        <p:txBody>
          <a:bodyPr wrap="square" lIns="27432" tIns="9144" rIns="27432" bIns="9144" anchor="ctr">
            <a:spAutoFit/>
          </a:bodyPr>
          <a:lstStyle/>
          <a:p>
            <a:pPr algn="l">
              <a:spcAft>
                <a:spcPts val="0"/>
              </a:spcAft>
            </a:pPr>
            <a:r>
              <a:rPr sz="900" b="0">
                <a:solidFill>
                  <a:srgbClr val="192430"/>
                </a:solidFill>
                <a:latin typeface="Noto Sans CJK SC"/>
              </a:rPr>
              <a:t>+ geometry</a:t>
            </a:r>
            <a:endParaRPr sz="900" b="0">
              <a:solidFill>
                <a:srgbClr val="192430"/>
              </a:solidFill>
              <a:latin typeface="Noto Sans CJK SC"/>
            </a:endParaRPr>
          </a:p>
        </p:txBody>
      </p:sp>
      <p:sp>
        <p:nvSpPr>
          <p:cNvPr id="68" name="Rectangle 67"/>
          <p:cNvSpPr/>
          <p:nvPr/>
        </p:nvSpPr>
        <p:spPr>
          <a:xfrm>
            <a:off x="1893126" y="3081527"/>
            <a:ext cx="731520"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929702" y="3190874"/>
            <a:ext cx="658368"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9</a:t>
            </a:r>
            <a:endParaRPr sz="900" b="0">
              <a:solidFill>
                <a:srgbClr val="192430"/>
              </a:solidFill>
              <a:latin typeface="Noto Sans CJK SC"/>
            </a:endParaRPr>
          </a:p>
        </p:txBody>
      </p:sp>
      <p:sp>
        <p:nvSpPr>
          <p:cNvPr id="70" name="Rectangle 69"/>
          <p:cNvSpPr/>
          <p:nvPr/>
        </p:nvSpPr>
        <p:spPr>
          <a:xfrm>
            <a:off x="2624646" y="3081527"/>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61222" y="3190874"/>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0.5374</a:t>
            </a:r>
            <a:endParaRPr sz="900" b="0">
              <a:solidFill>
                <a:srgbClr val="192430"/>
              </a:solidFill>
              <a:latin typeface="Noto Sans CJK SC"/>
            </a:endParaRPr>
          </a:p>
        </p:txBody>
      </p:sp>
      <p:sp>
        <p:nvSpPr>
          <p:cNvPr id="72" name="Rectangle 71"/>
          <p:cNvSpPr/>
          <p:nvPr/>
        </p:nvSpPr>
        <p:spPr>
          <a:xfrm>
            <a:off x="3694494" y="3081527"/>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31070" y="3190874"/>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0.3463</a:t>
            </a:r>
            <a:endParaRPr sz="900" b="0">
              <a:solidFill>
                <a:srgbClr val="192430"/>
              </a:solidFill>
              <a:latin typeface="Noto Sans CJK SC"/>
            </a:endParaRPr>
          </a:p>
        </p:txBody>
      </p:sp>
      <p:sp>
        <p:nvSpPr>
          <p:cNvPr id="74" name="Rectangle 73"/>
          <p:cNvSpPr/>
          <p:nvPr/>
        </p:nvSpPr>
        <p:spPr>
          <a:xfrm>
            <a:off x="4764342" y="3081527"/>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800918" y="3190874"/>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0.1504</a:t>
            </a:r>
            <a:endParaRPr sz="900" b="0">
              <a:solidFill>
                <a:srgbClr val="192430"/>
              </a:solidFill>
              <a:latin typeface="Noto Sans CJK SC"/>
            </a:endParaRPr>
          </a:p>
        </p:txBody>
      </p:sp>
      <p:sp>
        <p:nvSpPr>
          <p:cNvPr id="76" name="Rectangle 75"/>
          <p:cNvSpPr/>
          <p:nvPr/>
        </p:nvSpPr>
        <p:spPr>
          <a:xfrm>
            <a:off x="5834190" y="3081527"/>
            <a:ext cx="111556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870766" y="3190874"/>
            <a:ext cx="104241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+0.0040</a:t>
            </a:r>
            <a:endParaRPr sz="900" b="0">
              <a:solidFill>
                <a:srgbClr val="192430"/>
              </a:solidFill>
              <a:latin typeface="Noto Sans CJK SC"/>
            </a:endParaRPr>
          </a:p>
        </p:txBody>
      </p:sp>
      <p:sp>
        <p:nvSpPr>
          <p:cNvPr id="78" name="Rectangle 77"/>
          <p:cNvSpPr/>
          <p:nvPr/>
        </p:nvSpPr>
        <p:spPr>
          <a:xfrm>
            <a:off x="503238" y="3456432"/>
            <a:ext cx="138988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39814" y="3565778"/>
            <a:ext cx="1316736" cy="156210"/>
          </a:xfrm>
          <a:prstGeom prst="rect">
            <a:avLst/>
          </a:prstGeom>
          <a:noFill/>
        </p:spPr>
        <p:txBody>
          <a:bodyPr wrap="square" lIns="27432" tIns="9144" rIns="27432" bIns="9144" anchor="ctr">
            <a:spAutoFit/>
          </a:bodyPr>
          <a:lstStyle/>
          <a:p>
            <a:pPr algn="l">
              <a:spcAft>
                <a:spcPts val="0"/>
              </a:spcAft>
            </a:pPr>
            <a:r>
              <a:rPr sz="900" b="0">
                <a:solidFill>
                  <a:srgbClr val="192430"/>
                </a:solidFill>
                <a:latin typeface="Noto Sans CJK SC"/>
              </a:rPr>
              <a:t>+ query</a:t>
            </a:r>
            <a:endParaRPr sz="900" b="0">
              <a:solidFill>
                <a:srgbClr val="192430"/>
              </a:solidFill>
              <a:latin typeface="Noto Sans CJK SC"/>
            </a:endParaRPr>
          </a:p>
        </p:txBody>
      </p:sp>
      <p:sp>
        <p:nvSpPr>
          <p:cNvPr id="80" name="Rectangle 79"/>
          <p:cNvSpPr/>
          <p:nvPr/>
        </p:nvSpPr>
        <p:spPr>
          <a:xfrm>
            <a:off x="1893126" y="3456432"/>
            <a:ext cx="731520"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929702" y="3565778"/>
            <a:ext cx="658368"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10</a:t>
            </a:r>
            <a:endParaRPr sz="900" b="0">
              <a:solidFill>
                <a:srgbClr val="192430"/>
              </a:solidFill>
              <a:latin typeface="Noto Sans CJK SC"/>
            </a:endParaRPr>
          </a:p>
        </p:txBody>
      </p:sp>
      <p:sp>
        <p:nvSpPr>
          <p:cNvPr id="82" name="Rectangle 81"/>
          <p:cNvSpPr/>
          <p:nvPr/>
        </p:nvSpPr>
        <p:spPr>
          <a:xfrm>
            <a:off x="2624646" y="3456432"/>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61222" y="3565778"/>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0.5374</a:t>
            </a:r>
            <a:endParaRPr sz="900" b="0">
              <a:solidFill>
                <a:srgbClr val="192430"/>
              </a:solidFill>
              <a:latin typeface="Noto Sans CJK SC"/>
            </a:endParaRPr>
          </a:p>
        </p:txBody>
      </p:sp>
      <p:sp>
        <p:nvSpPr>
          <p:cNvPr id="84" name="Rectangle 83"/>
          <p:cNvSpPr/>
          <p:nvPr/>
        </p:nvSpPr>
        <p:spPr>
          <a:xfrm>
            <a:off x="3694494" y="3456432"/>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731070" y="3565778"/>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0.3461</a:t>
            </a:r>
            <a:endParaRPr sz="900" b="0">
              <a:solidFill>
                <a:srgbClr val="192430"/>
              </a:solidFill>
              <a:latin typeface="Noto Sans CJK SC"/>
            </a:endParaRPr>
          </a:p>
        </p:txBody>
      </p:sp>
      <p:sp>
        <p:nvSpPr>
          <p:cNvPr id="86" name="Rectangle 85"/>
          <p:cNvSpPr/>
          <p:nvPr/>
        </p:nvSpPr>
        <p:spPr>
          <a:xfrm>
            <a:off x="4764342" y="3456432"/>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800918" y="3565778"/>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0.1514</a:t>
            </a:r>
            <a:endParaRPr sz="900" b="0">
              <a:solidFill>
                <a:srgbClr val="192430"/>
              </a:solidFill>
              <a:latin typeface="Noto Sans CJK SC"/>
            </a:endParaRPr>
          </a:p>
        </p:txBody>
      </p:sp>
      <p:sp>
        <p:nvSpPr>
          <p:cNvPr id="88" name="Rectangle 87"/>
          <p:cNvSpPr/>
          <p:nvPr/>
        </p:nvSpPr>
        <p:spPr>
          <a:xfrm>
            <a:off x="5834190" y="3456432"/>
            <a:ext cx="111556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870766" y="3565778"/>
            <a:ext cx="104241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+0.0010</a:t>
            </a:r>
            <a:endParaRPr sz="900" b="0">
              <a:solidFill>
                <a:srgbClr val="192430"/>
              </a:solidFill>
              <a:latin typeface="Noto Sans CJK SC"/>
            </a:endParaRPr>
          </a:p>
        </p:txBody>
      </p:sp>
      <p:sp>
        <p:nvSpPr>
          <p:cNvPr id="90" name="Rectangle 89"/>
          <p:cNvSpPr/>
          <p:nvPr/>
        </p:nvSpPr>
        <p:spPr>
          <a:xfrm>
            <a:off x="503238" y="3831335"/>
            <a:ext cx="1389888" cy="37490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39814" y="3940682"/>
            <a:ext cx="1316736" cy="156210"/>
          </a:xfrm>
          <a:prstGeom prst="rect">
            <a:avLst/>
          </a:prstGeom>
          <a:noFill/>
        </p:spPr>
        <p:txBody>
          <a:bodyPr wrap="square" lIns="27432" tIns="9144" rIns="27432" bIns="9144" anchor="ctr">
            <a:spAutoFit/>
          </a:bodyPr>
          <a:lstStyle/>
          <a:p>
            <a:pPr algn="l">
              <a:spcAft>
                <a:spcPts val="0"/>
              </a:spcAft>
            </a:pPr>
            <a:r>
              <a:rPr sz="900" b="1">
                <a:solidFill>
                  <a:srgbClr val="2D70AA"/>
                </a:solidFill>
                <a:latin typeface="Noto Sans CJK SC"/>
              </a:rPr>
              <a:t>+ source</a:t>
            </a:r>
            <a:endParaRPr sz="900" b="1">
              <a:solidFill>
                <a:srgbClr val="2D70AA"/>
              </a:solidFill>
              <a:latin typeface="Noto Sans CJK SC"/>
            </a:endParaRPr>
          </a:p>
        </p:txBody>
      </p:sp>
      <p:sp>
        <p:nvSpPr>
          <p:cNvPr id="92" name="Rectangle 91"/>
          <p:cNvSpPr/>
          <p:nvPr/>
        </p:nvSpPr>
        <p:spPr>
          <a:xfrm>
            <a:off x="1893126" y="3831335"/>
            <a:ext cx="731520" cy="37490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929702" y="3940682"/>
            <a:ext cx="658368"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36</a:t>
            </a:r>
            <a:endParaRPr sz="900" b="1">
              <a:solidFill>
                <a:srgbClr val="192430"/>
              </a:solidFill>
              <a:latin typeface="Noto Sans CJK SC"/>
            </a:endParaRPr>
          </a:p>
        </p:txBody>
      </p:sp>
      <p:sp>
        <p:nvSpPr>
          <p:cNvPr id="94" name="Rectangle 93"/>
          <p:cNvSpPr/>
          <p:nvPr/>
        </p:nvSpPr>
        <p:spPr>
          <a:xfrm>
            <a:off x="2624646" y="3831335"/>
            <a:ext cx="1069848" cy="37490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61222" y="3940682"/>
            <a:ext cx="996695"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0.5374</a:t>
            </a:r>
            <a:endParaRPr sz="900" b="1">
              <a:solidFill>
                <a:srgbClr val="192430"/>
              </a:solidFill>
              <a:latin typeface="Noto Sans CJK SC"/>
            </a:endParaRPr>
          </a:p>
        </p:txBody>
      </p:sp>
      <p:sp>
        <p:nvSpPr>
          <p:cNvPr id="96" name="Rectangle 95"/>
          <p:cNvSpPr/>
          <p:nvPr/>
        </p:nvSpPr>
        <p:spPr>
          <a:xfrm>
            <a:off x="3694494" y="3831335"/>
            <a:ext cx="1069848" cy="37490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731070" y="3940682"/>
            <a:ext cx="996695"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0.3483</a:t>
            </a:r>
            <a:endParaRPr sz="900" b="1">
              <a:solidFill>
                <a:srgbClr val="192430"/>
              </a:solidFill>
              <a:latin typeface="Noto Sans CJK SC"/>
            </a:endParaRPr>
          </a:p>
        </p:txBody>
      </p:sp>
      <p:sp>
        <p:nvSpPr>
          <p:cNvPr id="98" name="Rectangle 97"/>
          <p:cNvSpPr/>
          <p:nvPr/>
        </p:nvSpPr>
        <p:spPr>
          <a:xfrm>
            <a:off x="4764342" y="3831335"/>
            <a:ext cx="1069848" cy="37490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800918" y="3940682"/>
            <a:ext cx="996695"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0.1664</a:t>
            </a:r>
            <a:endParaRPr sz="900" b="1">
              <a:solidFill>
                <a:srgbClr val="192430"/>
              </a:solidFill>
              <a:latin typeface="Noto Sans CJK SC"/>
            </a:endParaRPr>
          </a:p>
        </p:txBody>
      </p:sp>
      <p:sp>
        <p:nvSpPr>
          <p:cNvPr id="100" name="Rectangle 99"/>
          <p:cNvSpPr/>
          <p:nvPr/>
        </p:nvSpPr>
        <p:spPr>
          <a:xfrm>
            <a:off x="5834190" y="3831335"/>
            <a:ext cx="1115568" cy="374904"/>
          </a:xfrm>
          <a:prstGeom prst="rect">
            <a:avLst/>
          </a:prstGeom>
          <a:solidFill>
            <a:srgbClr val="FBEED3"/>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870766" y="3940682"/>
            <a:ext cx="1042415" cy="156210"/>
          </a:xfrm>
          <a:prstGeom prst="rect">
            <a:avLst/>
          </a:prstGeom>
          <a:noFill/>
        </p:spPr>
        <p:txBody>
          <a:bodyPr wrap="square" lIns="27432" tIns="9144" rIns="27432" bIns="9144" anchor="ctr">
            <a:spAutoFit/>
          </a:bodyPr>
          <a:lstStyle/>
          <a:p>
            <a:pPr algn="ctr">
              <a:spcAft>
                <a:spcPts val="0"/>
              </a:spcAft>
            </a:pPr>
            <a:r>
              <a:rPr sz="900" b="1">
                <a:solidFill>
                  <a:srgbClr val="2D70AA"/>
                </a:solidFill>
                <a:latin typeface="Noto Sans CJK SC"/>
              </a:rPr>
              <a:t>+0.0150</a:t>
            </a:r>
            <a:endParaRPr sz="900" b="1">
              <a:solidFill>
                <a:srgbClr val="2D70AA"/>
              </a:solidFill>
              <a:latin typeface="Noto Sans CJK SC"/>
            </a:endParaRPr>
          </a:p>
        </p:txBody>
      </p:sp>
      <p:sp>
        <p:nvSpPr>
          <p:cNvPr id="102" name="Rectangle 101"/>
          <p:cNvSpPr/>
          <p:nvPr/>
        </p:nvSpPr>
        <p:spPr>
          <a:xfrm>
            <a:off x="503238" y="4206240"/>
            <a:ext cx="138988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39814" y="4315586"/>
            <a:ext cx="1316736" cy="156210"/>
          </a:xfrm>
          <a:prstGeom prst="rect">
            <a:avLst/>
          </a:prstGeom>
          <a:noFill/>
        </p:spPr>
        <p:txBody>
          <a:bodyPr wrap="square" lIns="27432" tIns="9144" rIns="27432" bIns="9144" anchor="ctr">
            <a:spAutoFit/>
          </a:bodyPr>
          <a:lstStyle/>
          <a:p>
            <a:pPr algn="l">
              <a:spcAft>
                <a:spcPts val="0"/>
              </a:spcAft>
            </a:pPr>
            <a:r>
              <a:rPr sz="900" b="0">
                <a:solidFill>
                  <a:srgbClr val="192430"/>
                </a:solidFill>
                <a:latin typeface="Noto Sans CJK SC"/>
              </a:rPr>
              <a:t>+ small prior</a:t>
            </a:r>
            <a:endParaRPr sz="900" b="0">
              <a:solidFill>
                <a:srgbClr val="192430"/>
              </a:solidFill>
              <a:latin typeface="Noto Sans CJK SC"/>
            </a:endParaRPr>
          </a:p>
        </p:txBody>
      </p:sp>
      <p:sp>
        <p:nvSpPr>
          <p:cNvPr id="104" name="Rectangle 103"/>
          <p:cNvSpPr/>
          <p:nvPr/>
        </p:nvSpPr>
        <p:spPr>
          <a:xfrm>
            <a:off x="1893126" y="4206240"/>
            <a:ext cx="731520"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929702" y="4315586"/>
            <a:ext cx="658368"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59</a:t>
            </a:r>
            <a:endParaRPr sz="900" b="0">
              <a:solidFill>
                <a:srgbClr val="192430"/>
              </a:solidFill>
              <a:latin typeface="Noto Sans CJK SC"/>
            </a:endParaRPr>
          </a:p>
        </p:txBody>
      </p:sp>
      <p:sp>
        <p:nvSpPr>
          <p:cNvPr id="106" name="Rectangle 105"/>
          <p:cNvSpPr/>
          <p:nvPr/>
        </p:nvSpPr>
        <p:spPr>
          <a:xfrm>
            <a:off x="2624646" y="4206240"/>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661222" y="4315586"/>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0.5374</a:t>
            </a:r>
            <a:endParaRPr sz="900" b="0">
              <a:solidFill>
                <a:srgbClr val="192430"/>
              </a:solidFill>
              <a:latin typeface="Noto Sans CJK SC"/>
            </a:endParaRPr>
          </a:p>
        </p:txBody>
      </p:sp>
      <p:sp>
        <p:nvSpPr>
          <p:cNvPr id="108" name="Rectangle 107"/>
          <p:cNvSpPr/>
          <p:nvPr/>
        </p:nvSpPr>
        <p:spPr>
          <a:xfrm>
            <a:off x="3694494" y="4206240"/>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731070" y="4315586"/>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0.3482</a:t>
            </a:r>
            <a:endParaRPr sz="900" b="0">
              <a:solidFill>
                <a:srgbClr val="192430"/>
              </a:solidFill>
              <a:latin typeface="Noto Sans CJK SC"/>
            </a:endParaRPr>
          </a:p>
        </p:txBody>
      </p:sp>
      <p:sp>
        <p:nvSpPr>
          <p:cNvPr id="110" name="Rectangle 109"/>
          <p:cNvSpPr/>
          <p:nvPr/>
        </p:nvSpPr>
        <p:spPr>
          <a:xfrm>
            <a:off x="4764342" y="4206240"/>
            <a:ext cx="106984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800918" y="4315586"/>
            <a:ext cx="99669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0.1637</a:t>
            </a:r>
            <a:endParaRPr sz="900" b="0">
              <a:solidFill>
                <a:srgbClr val="192430"/>
              </a:solidFill>
              <a:latin typeface="Noto Sans CJK SC"/>
            </a:endParaRPr>
          </a:p>
        </p:txBody>
      </p:sp>
      <p:sp>
        <p:nvSpPr>
          <p:cNvPr id="112" name="Rectangle 111"/>
          <p:cNvSpPr/>
          <p:nvPr/>
        </p:nvSpPr>
        <p:spPr>
          <a:xfrm>
            <a:off x="5834190" y="4206240"/>
            <a:ext cx="1115568" cy="374904"/>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870766" y="4315586"/>
            <a:ext cx="1042415" cy="156210"/>
          </a:xfrm>
          <a:prstGeom prst="rect">
            <a:avLst/>
          </a:prstGeom>
          <a:noFill/>
        </p:spPr>
        <p:txBody>
          <a:bodyPr wrap="square" lIns="27432" tIns="9144" rIns="27432" bIns="9144" anchor="ctr">
            <a:spAutoFit/>
          </a:bodyPr>
          <a:lstStyle/>
          <a:p>
            <a:pPr algn="ctr">
              <a:spcAft>
                <a:spcPts val="0"/>
              </a:spcAft>
            </a:pPr>
            <a:r>
              <a:rPr sz="900" b="0">
                <a:solidFill>
                  <a:srgbClr val="192430"/>
                </a:solidFill>
                <a:latin typeface="Noto Sans CJK SC"/>
              </a:rPr>
              <a:t>−0.0027</a:t>
            </a:r>
            <a:endParaRPr sz="900" b="0">
              <a:solidFill>
                <a:srgbClr val="192430"/>
              </a:solidFill>
              <a:latin typeface="Noto Sans CJK SC"/>
            </a:endParaRPr>
          </a:p>
        </p:txBody>
      </p:sp>
      <p:sp>
        <p:nvSpPr>
          <p:cNvPr id="114" name="Rectangle 113"/>
          <p:cNvSpPr/>
          <p:nvPr/>
        </p:nvSpPr>
        <p:spPr>
          <a:xfrm>
            <a:off x="503238" y="4581144"/>
            <a:ext cx="1389888" cy="37490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39814" y="4690491"/>
            <a:ext cx="1316736" cy="156210"/>
          </a:xfrm>
          <a:prstGeom prst="rect">
            <a:avLst/>
          </a:prstGeom>
          <a:noFill/>
        </p:spPr>
        <p:txBody>
          <a:bodyPr wrap="square" lIns="27432" tIns="9144" rIns="27432" bIns="9144" anchor="ctr">
            <a:spAutoFit/>
          </a:bodyPr>
          <a:lstStyle/>
          <a:p>
            <a:pPr algn="l">
              <a:spcAft>
                <a:spcPts val="0"/>
              </a:spcAft>
            </a:pPr>
            <a:r>
              <a:rPr sz="900" b="1">
                <a:solidFill>
                  <a:srgbClr val="2D70AA"/>
                </a:solidFill>
                <a:latin typeface="Noto Sans CJK SC"/>
              </a:rPr>
              <a:t>Full Exp38</a:t>
            </a:r>
            <a:endParaRPr sz="900" b="1">
              <a:solidFill>
                <a:srgbClr val="2D70AA"/>
              </a:solidFill>
              <a:latin typeface="Noto Sans CJK SC"/>
            </a:endParaRPr>
          </a:p>
        </p:txBody>
      </p:sp>
      <p:sp>
        <p:nvSpPr>
          <p:cNvPr id="116" name="Rectangle 115"/>
          <p:cNvSpPr/>
          <p:nvPr/>
        </p:nvSpPr>
        <p:spPr>
          <a:xfrm>
            <a:off x="1893126" y="4581144"/>
            <a:ext cx="731520" cy="37490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929702" y="4690491"/>
            <a:ext cx="658368"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68</a:t>
            </a:r>
            <a:endParaRPr sz="900" b="1">
              <a:solidFill>
                <a:srgbClr val="192430"/>
              </a:solidFill>
              <a:latin typeface="Noto Sans CJK SC"/>
            </a:endParaRPr>
          </a:p>
        </p:txBody>
      </p:sp>
      <p:sp>
        <p:nvSpPr>
          <p:cNvPr id="118" name="Rectangle 117"/>
          <p:cNvSpPr/>
          <p:nvPr/>
        </p:nvSpPr>
        <p:spPr>
          <a:xfrm>
            <a:off x="2624646" y="4581144"/>
            <a:ext cx="1069848" cy="37490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1222" y="4690491"/>
            <a:ext cx="996695"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0.5374</a:t>
            </a:r>
            <a:endParaRPr sz="900" b="1">
              <a:solidFill>
                <a:srgbClr val="192430"/>
              </a:solidFill>
              <a:latin typeface="Noto Sans CJK SC"/>
            </a:endParaRPr>
          </a:p>
        </p:txBody>
      </p:sp>
      <p:sp>
        <p:nvSpPr>
          <p:cNvPr id="120" name="Rectangle 119"/>
          <p:cNvSpPr/>
          <p:nvPr/>
        </p:nvSpPr>
        <p:spPr>
          <a:xfrm>
            <a:off x="3694494" y="4581144"/>
            <a:ext cx="1069848" cy="37490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731070" y="4690491"/>
            <a:ext cx="996695"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0.3490</a:t>
            </a:r>
            <a:endParaRPr sz="900" b="1">
              <a:solidFill>
                <a:srgbClr val="192430"/>
              </a:solidFill>
              <a:latin typeface="Noto Sans CJK SC"/>
            </a:endParaRPr>
          </a:p>
        </p:txBody>
      </p:sp>
      <p:sp>
        <p:nvSpPr>
          <p:cNvPr id="122" name="Rectangle 121"/>
          <p:cNvSpPr/>
          <p:nvPr/>
        </p:nvSpPr>
        <p:spPr>
          <a:xfrm>
            <a:off x="4764342" y="4581144"/>
            <a:ext cx="1069848" cy="37490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800918" y="4690491"/>
            <a:ext cx="996695" cy="156210"/>
          </a:xfrm>
          <a:prstGeom prst="rect">
            <a:avLst/>
          </a:prstGeom>
          <a:noFill/>
        </p:spPr>
        <p:txBody>
          <a:bodyPr wrap="square" lIns="27432" tIns="9144" rIns="27432" bIns="9144" anchor="ctr">
            <a:spAutoFit/>
          </a:bodyPr>
          <a:lstStyle/>
          <a:p>
            <a:pPr algn="ctr">
              <a:spcAft>
                <a:spcPts val="0"/>
              </a:spcAft>
            </a:pPr>
            <a:r>
              <a:rPr sz="900" b="1">
                <a:solidFill>
                  <a:srgbClr val="192430"/>
                </a:solidFill>
                <a:latin typeface="Noto Sans CJK SC"/>
              </a:rPr>
              <a:t>0.1677</a:t>
            </a:r>
            <a:endParaRPr sz="900" b="1">
              <a:solidFill>
                <a:srgbClr val="192430"/>
              </a:solidFill>
              <a:latin typeface="Noto Sans CJK SC"/>
            </a:endParaRPr>
          </a:p>
        </p:txBody>
      </p:sp>
      <p:sp>
        <p:nvSpPr>
          <p:cNvPr id="124" name="Rectangle 123"/>
          <p:cNvSpPr/>
          <p:nvPr/>
        </p:nvSpPr>
        <p:spPr>
          <a:xfrm>
            <a:off x="5834190" y="4581144"/>
            <a:ext cx="1115568" cy="374904"/>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870766" y="4690491"/>
            <a:ext cx="1042415" cy="156210"/>
          </a:xfrm>
          <a:prstGeom prst="rect">
            <a:avLst/>
          </a:prstGeom>
          <a:noFill/>
        </p:spPr>
        <p:txBody>
          <a:bodyPr wrap="square" lIns="27432" tIns="9144" rIns="27432" bIns="9144" anchor="ctr">
            <a:spAutoFit/>
          </a:bodyPr>
          <a:lstStyle/>
          <a:p>
            <a:pPr algn="ctr">
              <a:spcAft>
                <a:spcPts val="0"/>
              </a:spcAft>
            </a:pPr>
            <a:r>
              <a:rPr sz="900" b="1">
                <a:solidFill>
                  <a:srgbClr val="2D70AA"/>
                </a:solidFill>
                <a:latin typeface="Noto Sans CJK SC"/>
              </a:rPr>
              <a:t>+0.0040</a:t>
            </a:r>
            <a:endParaRPr sz="900" b="1">
              <a:solidFill>
                <a:srgbClr val="2D70AA"/>
              </a:solidFill>
              <a:latin typeface="Noto Sans CJK SC"/>
            </a:endParaRPr>
          </a:p>
        </p:txBody>
      </p:sp>
      <p:sp>
        <p:nvSpPr>
          <p:cNvPr id="126" name="Rounded Rectangle 125"/>
          <p:cNvSpPr/>
          <p:nvPr/>
        </p:nvSpPr>
        <p:spPr>
          <a:xfrm>
            <a:off x="503238" y="5056632"/>
            <a:ext cx="11183112" cy="896112"/>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750126" y="5248656"/>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78142" y="5255895"/>
            <a:ext cx="1700784" cy="186690"/>
          </a:xfrm>
          <a:prstGeom prst="rect">
            <a:avLst/>
          </a:prstGeom>
          <a:noFill/>
        </p:spPr>
        <p:txBody>
          <a:bodyPr wrap="square" lIns="27432" tIns="9144" rIns="27432" bIns="9144" anchor="ctr">
            <a:spAutoFit/>
          </a:bodyPr>
          <a:lstStyle/>
          <a:p>
            <a:pPr algn="l">
              <a:spcAft>
                <a:spcPts val="0"/>
              </a:spcAft>
            </a:pPr>
            <a:r>
              <a:rPr sz="1100" b="1">
                <a:solidFill>
                  <a:srgbClr val="192430"/>
                </a:solidFill>
                <a:latin typeface="Noto Sans CJK SC"/>
              </a:rPr>
              <a:t>结论</a:t>
            </a:r>
            <a:endParaRPr sz="1100" b="1">
              <a:solidFill>
                <a:srgbClr val="192430"/>
              </a:solidFill>
              <a:latin typeface="Noto Sans CJK SC"/>
            </a:endParaRPr>
          </a:p>
        </p:txBody>
      </p:sp>
      <p:sp>
        <p:nvSpPr>
          <p:cNvPr id="129" name="TextBox 128"/>
          <p:cNvSpPr txBox="1"/>
          <p:nvPr/>
        </p:nvSpPr>
        <p:spPr>
          <a:xfrm>
            <a:off x="1874837" y="5203762"/>
            <a:ext cx="9464040" cy="217805"/>
          </a:xfrm>
          <a:prstGeom prst="rect">
            <a:avLst/>
          </a:prstGeom>
          <a:noFill/>
        </p:spPr>
        <p:txBody>
          <a:bodyPr wrap="square" lIns="45720" tIns="9144" rIns="45720" bIns="9144" anchor="ctr">
            <a:spAutoFit/>
          </a:bodyPr>
          <a:lstStyle/>
          <a:p>
            <a:pPr algn="l"/>
            <a:r>
              <a:rPr sz="1300" b="1">
                <a:solidFill>
                  <a:srgbClr val="192430"/>
                </a:solidFill>
                <a:latin typeface="Noto Sans CJK SC"/>
              </a:rPr>
              <a:t>候选数和 Acc@0.5 完全不变</a:t>
            </a:r>
            <a:r>
              <a:rPr sz="1300" b="0">
                <a:solidFill>
                  <a:srgbClr val="192430"/>
                </a:solidFill>
                <a:latin typeface="Noto Sans CJK SC"/>
              </a:rPr>
              <a:t>，mAP 的提升来自</a:t>
            </a:r>
            <a:r>
              <a:rPr sz="1300" b="1">
                <a:solidFill>
                  <a:srgbClr val="2D70AA"/>
                </a:solidFill>
                <a:latin typeface="Noto Sans CJK SC"/>
              </a:rPr>
              <a:t>排序质量</a:t>
            </a:r>
            <a:r>
              <a:rPr sz="1300" b="0">
                <a:solidFill>
                  <a:srgbClr val="192430"/>
                </a:solidFill>
                <a:latin typeface="Noto Sans CJK SC"/>
              </a:rPr>
              <a:t>；</a:t>
            </a:r>
            <a:r>
              <a:rPr sz="1300" b="1">
                <a:solidFill>
                  <a:srgbClr val="D99124"/>
                </a:solidFill>
                <a:latin typeface="Noto Sans CJK SC"/>
              </a:rPr>
              <a:t>source 信息</a:t>
            </a:r>
            <a:r>
              <a:rPr sz="1300" b="0">
                <a:solidFill>
                  <a:srgbClr val="192430"/>
                </a:solidFill>
                <a:latin typeface="Noto Sans CJK SC"/>
              </a:rPr>
              <a:t>是最主要且稳定的贡献。</a:t>
            </a:r>
            <a:endParaRPr sz="1300" b="0">
              <a:solidFill>
                <a:srgbClr val="192430"/>
              </a:solidFill>
              <a:latin typeface="Noto Sans CJK SC"/>
            </a:endParaRPr>
          </a:p>
        </p:txBody>
      </p:sp>
      <p:sp>
        <p:nvSpPr>
          <p:cNvPr id="130" name="TextBox 129"/>
          <p:cNvSpPr txBox="1"/>
          <p:nvPr/>
        </p:nvSpPr>
        <p:spPr>
          <a:xfrm>
            <a:off x="1874837" y="5524373"/>
            <a:ext cx="9418320" cy="189230"/>
          </a:xfrm>
          <a:prstGeom prst="rect">
            <a:avLst/>
          </a:prstGeom>
          <a:noFill/>
        </p:spPr>
        <p:txBody>
          <a:bodyPr wrap="square" lIns="27432" tIns="9144" rIns="27432" bIns="9144" anchor="ctr">
            <a:spAutoFit/>
          </a:bodyPr>
          <a:lstStyle/>
          <a:p>
            <a:pPr algn="l">
              <a:spcAft>
                <a:spcPts val="0"/>
              </a:spcAft>
            </a:pPr>
            <a:r>
              <a:rPr sz="1120" b="0">
                <a:solidFill>
                  <a:srgbClr val="5B6875"/>
                </a:solidFill>
                <a:latin typeface="Noto Sans CJK SC"/>
              </a:rPr>
              <a:t>small prior 单独加入后下降，提示手工先验可能过拟合或与来源特征重复。</a:t>
            </a:r>
            <a:endParaRPr sz="1120" b="0">
              <a:solidFill>
                <a:srgbClr val="5B6875"/>
              </a:solidFill>
              <a:latin typeface="Noto Sans CJK SC"/>
            </a:endParaRPr>
          </a:p>
        </p:txBody>
      </p:sp>
      <p:sp>
        <p:nvSpPr>
          <p:cNvPr id="131" name="TextBox 130"/>
          <p:cNvSpPr txBox="1"/>
          <p:nvPr/>
        </p:nvSpPr>
        <p:spPr>
          <a:xfrm>
            <a:off x="530670" y="6202553"/>
            <a:ext cx="10789920" cy="158750"/>
          </a:xfrm>
          <a:prstGeom prst="rect">
            <a:avLst/>
          </a:prstGeom>
          <a:noFill/>
        </p:spPr>
        <p:txBody>
          <a:bodyPr wrap="square" lIns="27432" tIns="9144" rIns="27432" bIns="9144" anchor="ctr">
            <a:spAutoFit/>
          </a:bodyPr>
          <a:lstStyle/>
          <a:p>
            <a:pPr algn="l">
              <a:spcAft>
                <a:spcPts val="0"/>
              </a:spcAft>
            </a:pPr>
            <a:r>
              <a:rPr sz="920" b="0">
                <a:solidFill>
                  <a:srgbClr val="5B6875"/>
                </a:solidFill>
                <a:latin typeface="Noto Sans CJK SC"/>
              </a:rPr>
              <a:t>结果为均值；原始报告同时给出样本标准差。</a:t>
            </a:r>
            <a:endParaRPr sz="920" b="0">
              <a:solidFill>
                <a:srgbClr val="5B6875"/>
              </a:solidFill>
              <a:latin typeface="Noto Sans CJK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latin typeface="微软雅黑" panose="020B0503020204020204" charset="-122"/>
                <a:ea typeface="微软雅黑" panose="020B0503020204020204" charset="-122"/>
              </a:rPr>
              <a:t>CONCLUSION</a:t>
            </a:r>
            <a:endParaRPr sz="975" b="1">
              <a:solidFill>
                <a:srgbClr val="18A999"/>
              </a:solidFill>
              <a:latin typeface="微软雅黑" panose="020B0503020204020204" charset="-122"/>
              <a:ea typeface="微软雅黑" panose="020B0503020204020204" charset="-122"/>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结论：候选覆盖与排序校准共同决定航拍识别质量</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矩形 3"/>
          <p:cNvSpPr>
            <a:spLocks noGrp="1"/>
          </p:cNvSpPr>
          <p:nvPr>
            <p:custDataLst>
              <p:tags r:id="rId1"/>
            </p:custDataLst>
          </p:nvPr>
        </p:nvSpPr>
        <p:spPr>
          <a:xfrm>
            <a:off x="857250" y="2286000"/>
            <a:ext cx="762000" cy="476250"/>
          </a:xfrm>
          <a:prstGeom prst="rect">
            <a:avLst/>
          </a:prstGeom>
          <a:noFill/>
          <a:ln w="0">
            <a:noFill/>
            <a:prstDash val="solid"/>
          </a:ln>
        </p:spPr>
        <p:txBody>
          <a:bodyPr anchor="ctr"/>
          <a:lstStyle/>
          <a:p>
            <a:pPr algn="l">
              <a:buNone/>
              <a:defRPr sz="2700" b="1">
                <a:solidFill>
                  <a:srgbClr val="F28C28"/>
                </a:solidFill>
              </a:defRPr>
            </a:pPr>
            <a:r>
              <a:rPr sz="2700" b="1">
                <a:solidFill>
                  <a:srgbClr val="F28C28"/>
                </a:solidFill>
              </a:rPr>
              <a:t>01</a:t>
            </a:r>
            <a:endParaRPr sz="2700" b="1">
              <a:solidFill>
                <a:srgbClr val="F28C28"/>
              </a:solidFill>
            </a:endParaRPr>
          </a:p>
        </p:txBody>
      </p:sp>
      <p:sp>
        <p:nvSpPr>
          <p:cNvPr id="5" name="矩形 4"/>
          <p:cNvSpPr>
            <a:spLocks noGrp="1"/>
          </p:cNvSpPr>
          <p:nvPr>
            <p:custDataLst>
              <p:tags r:id="rId2"/>
            </p:custDataLst>
          </p:nvPr>
        </p:nvSpPr>
        <p:spPr>
          <a:xfrm>
            <a:off x="1857375" y="2286000"/>
            <a:ext cx="8001000" cy="400050"/>
          </a:xfrm>
          <a:prstGeom prst="rect">
            <a:avLst/>
          </a:prstGeom>
          <a:noFill/>
          <a:ln w="0">
            <a:noFill/>
            <a:prstDash val="solid"/>
          </a:ln>
        </p:spPr>
        <p:txBody>
          <a:bodyPr anchor="ctr"/>
          <a:lstStyle/>
          <a:p>
            <a:pPr algn="l">
              <a:buNone/>
              <a:defRPr sz="1950" b="1">
                <a:solidFill>
                  <a:srgbClr val="102A43"/>
                </a:solidFill>
              </a:defRPr>
            </a:pPr>
            <a:r>
              <a:rPr sz="1950" b="1">
                <a:solidFill>
                  <a:srgbClr val="102A43"/>
                </a:solidFill>
              </a:rPr>
              <a:t>别名提示与候选扩展有效提升小目标命中能力。</a:t>
            </a:r>
            <a:endParaRPr sz="1950" b="1">
              <a:solidFill>
                <a:srgbClr val="102A43"/>
              </a:solidFill>
            </a:endParaRPr>
          </a:p>
        </p:txBody>
      </p:sp>
      <p:sp>
        <p:nvSpPr>
          <p:cNvPr id="6" name="矩形 5"/>
          <p:cNvSpPr>
            <a:spLocks noGrp="1"/>
          </p:cNvSpPr>
          <p:nvPr>
            <p:custDataLst>
              <p:tags r:id="rId3"/>
            </p:custDataLst>
          </p:nvPr>
        </p:nvSpPr>
        <p:spPr>
          <a:xfrm>
            <a:off x="857250" y="3238500"/>
            <a:ext cx="762000" cy="476250"/>
          </a:xfrm>
          <a:prstGeom prst="rect">
            <a:avLst/>
          </a:prstGeom>
          <a:noFill/>
          <a:ln w="0">
            <a:noFill/>
            <a:prstDash val="solid"/>
          </a:ln>
        </p:spPr>
        <p:txBody>
          <a:bodyPr anchor="ctr"/>
          <a:lstStyle/>
          <a:p>
            <a:pPr algn="l">
              <a:buNone/>
              <a:defRPr sz="2700" b="1">
                <a:solidFill>
                  <a:srgbClr val="18A999"/>
                </a:solidFill>
              </a:defRPr>
            </a:pPr>
            <a:r>
              <a:rPr sz="2700" b="1">
                <a:solidFill>
                  <a:srgbClr val="18A999"/>
                </a:solidFill>
              </a:rPr>
              <a:t>02</a:t>
            </a:r>
            <a:endParaRPr sz="2700" b="1">
              <a:solidFill>
                <a:srgbClr val="18A999"/>
              </a:solidFill>
            </a:endParaRPr>
          </a:p>
        </p:txBody>
      </p:sp>
      <p:sp>
        <p:nvSpPr>
          <p:cNvPr id="7" name="矩形 6"/>
          <p:cNvSpPr>
            <a:spLocks noGrp="1"/>
          </p:cNvSpPr>
          <p:nvPr>
            <p:custDataLst>
              <p:tags r:id="rId4"/>
            </p:custDataLst>
          </p:nvPr>
        </p:nvSpPr>
        <p:spPr>
          <a:xfrm>
            <a:off x="1857375" y="3238500"/>
            <a:ext cx="8001000" cy="400050"/>
          </a:xfrm>
          <a:prstGeom prst="rect">
            <a:avLst/>
          </a:prstGeom>
          <a:noFill/>
          <a:ln w="0">
            <a:noFill/>
            <a:prstDash val="solid"/>
          </a:ln>
        </p:spPr>
        <p:txBody>
          <a:bodyPr anchor="ctr"/>
          <a:lstStyle/>
          <a:p>
            <a:pPr algn="l">
              <a:buNone/>
              <a:defRPr sz="1950" b="1">
                <a:solidFill>
                  <a:srgbClr val="102A43"/>
                </a:solidFill>
              </a:defRPr>
            </a:pPr>
            <a:r>
              <a:rPr sz="1950" b="1">
                <a:solidFill>
                  <a:srgbClr val="102A43"/>
                </a:solidFill>
              </a:rPr>
              <a:t>富元信息使候选可靠性可被显式建模与解释。</a:t>
            </a:r>
            <a:endParaRPr sz="1950" b="1">
              <a:solidFill>
                <a:srgbClr val="102A43"/>
              </a:solidFill>
            </a:endParaRPr>
          </a:p>
        </p:txBody>
      </p:sp>
      <p:sp>
        <p:nvSpPr>
          <p:cNvPr id="8" name="矩形 7"/>
          <p:cNvSpPr>
            <a:spLocks noGrp="1"/>
          </p:cNvSpPr>
          <p:nvPr>
            <p:custDataLst>
              <p:tags r:id="rId5"/>
            </p:custDataLst>
          </p:nvPr>
        </p:nvSpPr>
        <p:spPr>
          <a:xfrm>
            <a:off x="857250" y="4191000"/>
            <a:ext cx="762000" cy="476250"/>
          </a:xfrm>
          <a:prstGeom prst="rect">
            <a:avLst/>
          </a:prstGeom>
          <a:noFill/>
          <a:ln w="0">
            <a:noFill/>
            <a:prstDash val="solid"/>
          </a:ln>
        </p:spPr>
        <p:txBody>
          <a:bodyPr anchor="ctr"/>
          <a:lstStyle/>
          <a:p>
            <a:pPr algn="l">
              <a:buNone/>
              <a:defRPr sz="2700" b="1">
                <a:solidFill>
                  <a:srgbClr val="E85D75"/>
                </a:solidFill>
              </a:defRPr>
            </a:pPr>
            <a:r>
              <a:rPr sz="2700" b="1">
                <a:solidFill>
                  <a:srgbClr val="E85D75"/>
                </a:solidFill>
              </a:rPr>
              <a:t>03</a:t>
            </a:r>
            <a:endParaRPr sz="2700" b="1">
              <a:solidFill>
                <a:srgbClr val="E85D75"/>
              </a:solidFill>
            </a:endParaRPr>
          </a:p>
        </p:txBody>
      </p:sp>
      <p:sp>
        <p:nvSpPr>
          <p:cNvPr id="9" name="矩形 8"/>
          <p:cNvSpPr>
            <a:spLocks noGrp="1"/>
          </p:cNvSpPr>
          <p:nvPr>
            <p:custDataLst>
              <p:tags r:id="rId6"/>
            </p:custDataLst>
          </p:nvPr>
        </p:nvSpPr>
        <p:spPr>
          <a:xfrm>
            <a:off x="1857375" y="4191000"/>
            <a:ext cx="8572500" cy="400050"/>
          </a:xfrm>
          <a:prstGeom prst="rect">
            <a:avLst/>
          </a:prstGeom>
          <a:noFill/>
          <a:ln w="0">
            <a:noFill/>
            <a:prstDash val="solid"/>
          </a:ln>
        </p:spPr>
        <p:txBody>
          <a:bodyPr anchor="ctr"/>
          <a:lstStyle/>
          <a:p>
            <a:pPr algn="l">
              <a:buNone/>
              <a:defRPr sz="1950" b="1">
                <a:solidFill>
                  <a:srgbClr val="102A43"/>
                </a:solidFill>
              </a:defRPr>
            </a:pPr>
            <a:r>
              <a:rPr sz="1950" b="1">
                <a:solidFill>
                  <a:srgbClr val="102A43"/>
                </a:solidFill>
              </a:rPr>
              <a:t>反馈式校准在固定候选集上将 mAP@0.5 提升至 0.1690。</a:t>
            </a:r>
            <a:endParaRPr sz="1950" b="1">
              <a:solidFill>
                <a:srgbClr val="102A43"/>
              </a:solidFill>
            </a:endParaRPr>
          </a:p>
        </p:txBody>
      </p:sp>
      <p:sp>
        <p:nvSpPr>
          <p:cNvPr id="10" name="圆角矩形 9"/>
          <p:cNvSpPr>
            <a:spLocks noGrp="1"/>
          </p:cNvSpPr>
          <p:nvPr/>
        </p:nvSpPr>
        <p:spPr>
          <a:xfrm>
            <a:off x="1524000" y="5381625"/>
            <a:ext cx="9144000" cy="533400"/>
          </a:xfrm>
          <a:prstGeom prst="roundRect">
            <a:avLst>
              <a:gd name="adj" fmla="val 21429"/>
            </a:avLst>
          </a:prstGeom>
          <a:solidFill>
            <a:srgbClr val="102A43"/>
          </a:solidFill>
          <a:ln w="0">
            <a:noFill/>
            <a:prstDash val="solid"/>
          </a:ln>
        </p:spPr>
      </p:sp>
      <p:sp>
        <p:nvSpPr>
          <p:cNvPr id="11" name="矩形 10"/>
          <p:cNvSpPr>
            <a:spLocks noGrp="1"/>
          </p:cNvSpPr>
          <p:nvPr/>
        </p:nvSpPr>
        <p:spPr>
          <a:xfrm>
            <a:off x="1714500" y="5476875"/>
            <a:ext cx="8763000" cy="323850"/>
          </a:xfrm>
          <a:prstGeom prst="rect">
            <a:avLst/>
          </a:prstGeom>
          <a:noFill/>
          <a:ln w="0">
            <a:noFill/>
            <a:prstDash val="solid"/>
          </a:ln>
        </p:spPr>
        <p:txBody>
          <a:bodyPr anchor="ctr"/>
          <a:lstStyle/>
          <a:p>
            <a:pPr algn="ctr">
              <a:buNone/>
              <a:defRPr sz="1725" b="1">
                <a:solidFill>
                  <a:srgbClr val="FFFFFF"/>
                </a:solidFill>
              </a:defRPr>
            </a:pPr>
            <a:r>
              <a:rPr sz="1725" b="1">
                <a:solidFill>
                  <a:srgbClr val="FFFFFF"/>
                </a:solidFill>
              </a:rPr>
              <a:t>轻量闭环后处理为开放词表检测适配低空航拍场景提供了可行路径。</a:t>
            </a:r>
            <a:endParaRPr sz="1725" b="1">
              <a:solidFill>
                <a:srgbClr val="FFFFFF"/>
              </a:solidFill>
            </a:endParaRPr>
          </a:p>
        </p:txBody>
      </p:sp>
      <p:sp>
        <p:nvSpPr>
          <p:cNvPr id="12" name="矩形 11"/>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3" name="矩形 12"/>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18</a:t>
            </a:r>
            <a:endParaRPr sz="900" b="1">
              <a:solidFill>
                <a:srgbClr val="18A99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a:spLocks noGrp="1"/>
          </p:cNvSpPr>
          <p:nvPr/>
        </p:nvSpPr>
        <p:spPr>
          <a:xfrm>
            <a:off x="0" y="0"/>
            <a:ext cx="12192000" cy="6858000"/>
          </a:xfrm>
          <a:prstGeom prst="rect">
            <a:avLst/>
          </a:prstGeom>
          <a:solidFill>
            <a:srgbClr val="102A43"/>
          </a:solidFill>
          <a:ln w="0">
            <a:noFill/>
            <a:prstDash val="solid"/>
          </a:ln>
        </p:spPr>
      </p:sp>
      <p:sp>
        <p:nvSpPr>
          <p:cNvPr id="2" name="矩形 1"/>
          <p:cNvSpPr>
            <a:spLocks noGrp="1"/>
          </p:cNvSpPr>
          <p:nvPr/>
        </p:nvSpPr>
        <p:spPr>
          <a:xfrm>
            <a:off x="685800" y="2190750"/>
            <a:ext cx="7620000" cy="666750"/>
          </a:xfrm>
          <a:prstGeom prst="rect">
            <a:avLst/>
          </a:prstGeom>
          <a:noFill/>
          <a:ln w="0">
            <a:noFill/>
            <a:prstDash val="solid"/>
          </a:ln>
        </p:spPr>
        <p:txBody>
          <a:bodyPr anchor="ctr"/>
          <a:lstStyle/>
          <a:p>
            <a:pPr algn="l">
              <a:buNone/>
              <a:defRPr sz="4050" b="1">
                <a:solidFill>
                  <a:srgbClr val="FFFFFF"/>
                </a:solidFill>
              </a:defRPr>
            </a:pPr>
            <a:r>
              <a:rPr sz="4050" b="1">
                <a:solidFill>
                  <a:srgbClr val="FFFFFF"/>
                </a:solidFill>
              </a:rPr>
              <a:t>感谢各位老师聆听</a:t>
            </a:r>
            <a:endParaRPr sz="4050" b="1">
              <a:solidFill>
                <a:srgbClr val="FFFFFF"/>
              </a:solidFill>
            </a:endParaRPr>
          </a:p>
        </p:txBody>
      </p:sp>
      <p:sp>
        <p:nvSpPr>
          <p:cNvPr id="3" name="矩形 2"/>
          <p:cNvSpPr>
            <a:spLocks noGrp="1"/>
          </p:cNvSpPr>
          <p:nvPr/>
        </p:nvSpPr>
        <p:spPr>
          <a:xfrm>
            <a:off x="704850" y="3000375"/>
            <a:ext cx="3810000" cy="400050"/>
          </a:xfrm>
          <a:prstGeom prst="rect">
            <a:avLst/>
          </a:prstGeom>
          <a:noFill/>
          <a:ln w="0">
            <a:noFill/>
            <a:prstDash val="solid"/>
          </a:ln>
        </p:spPr>
        <p:txBody>
          <a:bodyPr anchor="ctr"/>
          <a:lstStyle/>
          <a:p>
            <a:pPr algn="l">
              <a:buNone/>
              <a:defRPr sz="2100" b="0">
                <a:solidFill>
                  <a:srgbClr val="B9D9F1"/>
                </a:solidFill>
              </a:defRPr>
            </a:pPr>
            <a:r>
              <a:rPr sz="2100" b="0">
                <a:solidFill>
                  <a:srgbClr val="B9D9F1"/>
                </a:solidFill>
              </a:rPr>
              <a:t>欢迎批评指正</a:t>
            </a:r>
            <a:endParaRPr sz="2100" b="0">
              <a:solidFill>
                <a:srgbClr val="B9D9F1"/>
              </a:solidFill>
            </a:endParaRPr>
          </a:p>
        </p:txBody>
      </p:sp>
      <p:sp>
        <p:nvSpPr>
          <p:cNvPr id="4" name="圆角矩形 3"/>
          <p:cNvSpPr>
            <a:spLocks noGrp="1"/>
          </p:cNvSpPr>
          <p:nvPr/>
        </p:nvSpPr>
        <p:spPr>
          <a:xfrm>
            <a:off x="685800" y="3762375"/>
            <a:ext cx="1619250" cy="66675"/>
          </a:xfrm>
          <a:prstGeom prst="roundRect">
            <a:avLst>
              <a:gd name="adj" fmla="val 50000"/>
            </a:avLst>
          </a:prstGeom>
          <a:solidFill>
            <a:srgbClr val="18A999"/>
          </a:solidFill>
          <a:ln w="0">
            <a:noFill/>
            <a:prstDash val="solid"/>
          </a:ln>
        </p:spPr>
      </p:sp>
      <p:sp>
        <p:nvSpPr>
          <p:cNvPr id="5" name="矩形 4"/>
          <p:cNvSpPr>
            <a:spLocks noGrp="1"/>
          </p:cNvSpPr>
          <p:nvPr/>
        </p:nvSpPr>
        <p:spPr>
          <a:xfrm>
            <a:off x="685800" y="4191000"/>
            <a:ext cx="2857500" cy="457200"/>
          </a:xfrm>
          <a:prstGeom prst="rect">
            <a:avLst/>
          </a:prstGeom>
          <a:noFill/>
          <a:ln w="0">
            <a:noFill/>
            <a:prstDash val="solid"/>
          </a:ln>
        </p:spPr>
        <p:txBody>
          <a:bodyPr anchor="ctr"/>
          <a:lstStyle/>
          <a:p>
            <a:pPr algn="l">
              <a:buNone/>
              <a:defRPr sz="2550" b="1">
                <a:solidFill>
                  <a:srgbClr val="18A999"/>
                </a:solidFill>
              </a:defRPr>
            </a:pPr>
            <a:r>
              <a:rPr sz="2550" b="1">
                <a:solidFill>
                  <a:srgbClr val="18A999"/>
                </a:solidFill>
              </a:rPr>
              <a:t>Q &amp; A</a:t>
            </a:r>
            <a:endParaRPr sz="2550" b="1">
              <a:solidFill>
                <a:srgbClr val="18A999"/>
              </a:solidFill>
            </a:endParaRPr>
          </a:p>
        </p:txBody>
      </p:sp>
      <p:sp>
        <p:nvSpPr>
          <p:cNvPr id="6" name="矩形 5"/>
          <p:cNvSpPr>
            <a:spLocks noGrp="1"/>
          </p:cNvSpPr>
          <p:nvPr/>
        </p:nvSpPr>
        <p:spPr>
          <a:xfrm>
            <a:off x="685800" y="6267450"/>
            <a:ext cx="6667500" cy="190500"/>
          </a:xfrm>
          <a:prstGeom prst="rect">
            <a:avLst/>
          </a:prstGeom>
          <a:noFill/>
          <a:ln w="0">
            <a:noFill/>
            <a:prstDash val="solid"/>
          </a:ln>
        </p:spPr>
        <p:txBody>
          <a:bodyPr anchor="ctr"/>
          <a:lstStyle/>
          <a:p>
            <a:pPr algn="l">
              <a:buNone/>
              <a:defRPr sz="1125" b="0">
                <a:solidFill>
                  <a:srgbClr val="B9D9F1"/>
                </a:solidFill>
              </a:defRPr>
            </a:pPr>
            <a:r>
              <a:rPr sz="1125" b="0">
                <a:solidFill>
                  <a:srgbClr val="B9D9F1"/>
                </a:solidFill>
              </a:rPr>
              <a:t>强化学习驱动的闭环航拍图像识别方法</a:t>
            </a:r>
            <a:endParaRPr sz="1125" b="0">
              <a:solidFill>
                <a:srgbClr val="B9D9F1"/>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56032"/>
            <a:ext cx="502920" cy="310896"/>
          </a:xfrm>
          <a:prstGeom prst="rect">
            <a:avLst/>
          </a:prstGeom>
          <a:noFill/>
        </p:spPr>
        <p:txBody>
          <a:bodyPr wrap="square" anchor="ctr" lIns="27432" rIns="27432" tIns="9144" bIns="9144">
            <a:spAutoFit/>
          </a:bodyPr>
          <a:lstStyle/>
          <a:p>
            <a:pPr algn="l">
              <a:spcAft>
                <a:spcPts val="0"/>
              </a:spcAft>
            </a:pPr>
            <a:r>
              <a:rPr sz="1200" b="1">
                <a:solidFill>
                  <a:srgbClr val="2D70AA"/>
                </a:solidFill>
                <a:latin typeface="Noto Sans CJK SC"/>
              </a:rPr>
              <a:t>06</a:t>
            </a:r>
          </a:p>
        </p:txBody>
      </p:sp>
      <p:sp>
        <p:nvSpPr>
          <p:cNvPr id="4" name="TextBox 3"/>
          <p:cNvSpPr txBox="1"/>
          <p:nvPr/>
        </p:nvSpPr>
        <p:spPr>
          <a:xfrm>
            <a:off x="932688" y="201168"/>
            <a:ext cx="10744200" cy="475488"/>
          </a:xfrm>
          <a:prstGeom prst="rect">
            <a:avLst/>
          </a:prstGeom>
          <a:noFill/>
        </p:spPr>
        <p:txBody>
          <a:bodyPr wrap="square" anchor="ctr" lIns="27432" rIns="27432" tIns="9144" bIns="9144">
            <a:spAutoFit/>
          </a:bodyPr>
          <a:lstStyle/>
          <a:p>
            <a:pPr algn="l">
              <a:spcAft>
                <a:spcPts val="0"/>
              </a:spcAft>
            </a:pPr>
            <a:r>
              <a:rPr sz="2400" b="1">
                <a:solidFill>
                  <a:srgbClr val="192430"/>
                </a:solidFill>
                <a:latin typeface="Noto Sans CJK SC"/>
              </a:rPr>
              <a:t>Reward 公式与系数设计</a:t>
            </a:r>
          </a:p>
        </p:txBody>
      </p:sp>
      <p:sp>
        <p:nvSpPr>
          <p:cNvPr id="5" name="TextBox 4"/>
          <p:cNvSpPr txBox="1"/>
          <p:nvPr/>
        </p:nvSpPr>
        <p:spPr>
          <a:xfrm>
            <a:off x="941832" y="658368"/>
            <a:ext cx="10698480" cy="274320"/>
          </a:xfrm>
          <a:prstGeom prst="rect">
            <a:avLst/>
          </a:prstGeom>
          <a:noFill/>
        </p:spPr>
        <p:txBody>
          <a:bodyPr wrap="square" anchor="ctr" lIns="27432" rIns="27432" tIns="9144" bIns="9144">
            <a:spAutoFit/>
          </a:bodyPr>
          <a:lstStyle/>
          <a:p>
            <a:pPr algn="l">
              <a:spcAft>
                <a:spcPts val="0"/>
              </a:spcAft>
            </a:pPr>
            <a:r>
              <a:rPr sz="1050" b="0">
                <a:solidFill>
                  <a:srgbClr val="5B6875"/>
                </a:solidFill>
                <a:latin typeface="Noto Sans CJK SC"/>
              </a:rPr>
              <a:t>正奖励衡量检测收益 · 成本项抑制无效扩展 · 系数表达相对优先级</a:t>
            </a:r>
          </a:p>
        </p:txBody>
      </p:sp>
      <p:sp>
        <p:nvSpPr>
          <p:cNvPr id="6" name="TextBox 5"/>
          <p:cNvSpPr txBox="1"/>
          <p:nvPr/>
        </p:nvSpPr>
        <p:spPr>
          <a:xfrm>
            <a:off x="11393424" y="6510528"/>
            <a:ext cx="347472" cy="182880"/>
          </a:xfrm>
          <a:prstGeom prst="rect">
            <a:avLst/>
          </a:prstGeom>
          <a:noFill/>
        </p:spPr>
        <p:txBody>
          <a:bodyPr wrap="square" anchor="ctr" lIns="27432" rIns="27432" tIns="9144" bIns="9144">
            <a:spAutoFit/>
          </a:bodyPr>
          <a:lstStyle/>
          <a:p>
            <a:pPr algn="r">
              <a:spcAft>
                <a:spcPts val="0"/>
              </a:spcAft>
            </a:pPr>
            <a:r>
              <a:rPr sz="900" b="0">
                <a:solidFill>
                  <a:srgbClr val="5B6875"/>
                </a:solidFill>
                <a:latin typeface="Noto Sans CJK SC"/>
              </a:rPr>
              <a:t>4</a:t>
            </a:r>
          </a:p>
        </p:txBody>
      </p:sp>
      <p:sp>
        <p:nvSpPr>
          <p:cNvPr id="7" name="Rounded Rectangle 6"/>
          <p:cNvSpPr/>
          <p:nvPr/>
        </p:nvSpPr>
        <p:spPr>
          <a:xfrm>
            <a:off x="502920"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主召回项</a:t>
            </a:r>
          </a:p>
        </p:txBody>
      </p:sp>
      <p:sp>
        <p:nvSpPr>
          <p:cNvPr id="10" name="TextBox 9"/>
          <p:cNvSpPr txBox="1"/>
          <p:nvPr/>
        </p:nvSpPr>
        <p:spPr>
          <a:xfrm>
            <a:off x="667512" y="1353312"/>
            <a:ext cx="1901952" cy="283464"/>
          </a:xfrm>
          <a:prstGeom prst="rect">
            <a:avLst/>
          </a:prstGeom>
          <a:noFill/>
        </p:spPr>
        <p:txBody>
          <a:bodyPr wrap="square" anchor="ctr" lIns="27432" rIns="27432" tIns="9144" bIns="9144">
            <a:spAutoFit/>
          </a:bodyPr>
          <a:lstStyle/>
          <a:p>
            <a:pPr algn="l">
              <a:spcAft>
                <a:spcPts val="0"/>
              </a:spcAft>
            </a:pPr>
            <a:r>
              <a:rPr sz="1500" b="1">
                <a:solidFill>
                  <a:srgbClr val="2D70AA"/>
                </a:solidFill>
                <a:latin typeface="Noto Sans CJK SC"/>
              </a:rPr>
              <a:t>0.40 · Recall@0.5</a:t>
            </a:r>
          </a:p>
        </p:txBody>
      </p:sp>
      <p:sp>
        <p:nvSpPr>
          <p:cNvPr id="11" name="Rounded Rectangle 10"/>
          <p:cNvSpPr/>
          <p:nvPr/>
        </p:nvSpPr>
        <p:spPr>
          <a:xfrm>
            <a:off x="2770632"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632"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224"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弱类强化项</a:t>
            </a:r>
          </a:p>
        </p:txBody>
      </p:sp>
      <p:sp>
        <p:nvSpPr>
          <p:cNvPr id="14" name="TextBox 13"/>
          <p:cNvSpPr txBox="1"/>
          <p:nvPr/>
        </p:nvSpPr>
        <p:spPr>
          <a:xfrm>
            <a:off x="2935224" y="1353312"/>
            <a:ext cx="1901952" cy="283464"/>
          </a:xfrm>
          <a:prstGeom prst="rect">
            <a:avLst/>
          </a:prstGeom>
          <a:noFill/>
        </p:spPr>
        <p:txBody>
          <a:bodyPr wrap="square" anchor="ctr" lIns="27432" rIns="27432" tIns="9144" bIns="9144">
            <a:spAutoFit/>
          </a:bodyPr>
          <a:lstStyle/>
          <a:p>
            <a:pPr algn="l">
              <a:spcAft>
                <a:spcPts val="0"/>
              </a:spcAft>
            </a:pPr>
            <a:r>
              <a:rPr sz="1500" b="1">
                <a:solidFill>
                  <a:srgbClr val="17857D"/>
                </a:solidFill>
                <a:latin typeface="Noto Sans CJK SC"/>
              </a:rPr>
              <a:t>0.45 · 最高权重</a:t>
            </a:r>
          </a:p>
        </p:txBody>
      </p:sp>
      <p:sp>
        <p:nvSpPr>
          <p:cNvPr id="15" name="Rounded Rectangle 14"/>
          <p:cNvSpPr/>
          <p:nvPr/>
        </p:nvSpPr>
        <p:spPr>
          <a:xfrm>
            <a:off x="5038344"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38344"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2936"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扩展成本</a:t>
            </a:r>
          </a:p>
        </p:txBody>
      </p:sp>
      <p:sp>
        <p:nvSpPr>
          <p:cNvPr id="18" name="TextBox 17"/>
          <p:cNvSpPr txBox="1"/>
          <p:nvPr/>
        </p:nvSpPr>
        <p:spPr>
          <a:xfrm>
            <a:off x="5202936" y="1353312"/>
            <a:ext cx="1901952" cy="283464"/>
          </a:xfrm>
          <a:prstGeom prst="rect">
            <a:avLst/>
          </a:prstGeom>
          <a:noFill/>
        </p:spPr>
        <p:txBody>
          <a:bodyPr wrap="square" anchor="ctr" lIns="27432" rIns="27432" tIns="9144" bIns="9144">
            <a:spAutoFit/>
          </a:bodyPr>
          <a:lstStyle/>
          <a:p>
            <a:pPr algn="l">
              <a:spcAft>
                <a:spcPts val="0"/>
              </a:spcAft>
            </a:pPr>
            <a:r>
              <a:rPr sz="1500" b="1">
                <a:solidFill>
                  <a:srgbClr val="D99124"/>
                </a:solidFill>
                <a:latin typeface="Noto Sans CJK SC"/>
              </a:rPr>
              <a:t>0.010 / 0.012</a:t>
            </a:r>
          </a:p>
        </p:txBody>
      </p:sp>
      <p:sp>
        <p:nvSpPr>
          <p:cNvPr id="19" name="Rectangle 18"/>
          <p:cNvSpPr/>
          <p:nvPr/>
        </p:nvSpPr>
        <p:spPr>
          <a:xfrm>
            <a:off x="502920" y="1965960"/>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1901952"/>
            <a:ext cx="6501384"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公式与各项作用</a:t>
            </a:r>
          </a:p>
        </p:txBody>
      </p:sp>
      <p:sp>
        <p:nvSpPr>
          <p:cNvPr id="21" name="Rounded Rectangle 20"/>
          <p:cNvSpPr/>
          <p:nvPr/>
        </p:nvSpPr>
        <p:spPr>
          <a:xfrm>
            <a:off x="502920" y="2267712"/>
            <a:ext cx="6675120" cy="74980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2377440"/>
            <a:ext cx="6272784" cy="512064"/>
          </a:xfrm>
          <a:prstGeom prst="rect">
            <a:avLst/>
          </a:prstGeom>
          <a:noFill/>
        </p:spPr>
        <p:txBody>
          <a:bodyPr wrap="square" anchor="ctr" lIns="27432" rIns="27432" tIns="9144" bIns="9144">
            <a:spAutoFit/>
          </a:bodyPr>
          <a:lstStyle/>
          <a:p>
            <a:pPr algn="ctr">
              <a:spcAft>
                <a:spcPts val="0"/>
              </a:spcAft>
            </a:pPr>
            <a:r>
              <a:rPr sz="1500" b="1">
                <a:solidFill>
                  <a:srgbClr val="192430"/>
                </a:solidFill>
                <a:latin typeface="Noto Sans CJK SC"/>
              </a:rPr>
              <a:t>R = 0.40 ΔR@0.5 + 0.22 ΔR@0.75 + 0.45 ΔRweak + 0.15 ΔP
     − 0.010 Cbox − 0.012 Naction − 0.012 Istop</a:t>
            </a:r>
          </a:p>
        </p:txBody>
      </p:sp>
      <p:sp>
        <p:nvSpPr>
          <p:cNvPr id="23" name="Rounded Rectangle 22"/>
          <p:cNvSpPr/>
          <p:nvPr/>
        </p:nvSpPr>
        <p:spPr>
          <a:xfrm>
            <a:off x="502920" y="3182112"/>
            <a:ext cx="6675120" cy="24871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3182112"/>
            <a:ext cx="1298448" cy="31089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200400"/>
            <a:ext cx="1261872" cy="274320"/>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分量</a:t>
            </a:r>
          </a:p>
        </p:txBody>
      </p:sp>
      <p:sp>
        <p:nvSpPr>
          <p:cNvPr id="26" name="Rectangle 25"/>
          <p:cNvSpPr/>
          <p:nvPr/>
        </p:nvSpPr>
        <p:spPr>
          <a:xfrm>
            <a:off x="1801368" y="3182112"/>
            <a:ext cx="749808" cy="31089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9656" y="3200400"/>
            <a:ext cx="713231" cy="274320"/>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系数</a:t>
            </a:r>
          </a:p>
        </p:txBody>
      </p:sp>
      <p:sp>
        <p:nvSpPr>
          <p:cNvPr id="28" name="Rectangle 27"/>
          <p:cNvSpPr/>
          <p:nvPr/>
        </p:nvSpPr>
        <p:spPr>
          <a:xfrm>
            <a:off x="2551176" y="3182112"/>
            <a:ext cx="1993392" cy="31089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69464" y="3200400"/>
            <a:ext cx="1956816" cy="274320"/>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优化目标</a:t>
            </a:r>
          </a:p>
        </p:txBody>
      </p:sp>
      <p:sp>
        <p:nvSpPr>
          <p:cNvPr id="30" name="Rectangle 29"/>
          <p:cNvSpPr/>
          <p:nvPr/>
        </p:nvSpPr>
        <p:spPr>
          <a:xfrm>
            <a:off x="4544568" y="3182112"/>
            <a:ext cx="2633472" cy="31089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62856" y="3200400"/>
            <a:ext cx="2596896" cy="274320"/>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设计原因</a:t>
            </a:r>
          </a:p>
        </p:txBody>
      </p:sp>
      <p:sp>
        <p:nvSpPr>
          <p:cNvPr id="32" name="Rectangle 31"/>
          <p:cNvSpPr/>
          <p:nvPr/>
        </p:nvSpPr>
        <p:spPr>
          <a:xfrm>
            <a:off x="502920" y="3493008"/>
            <a:ext cx="129844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9496" y="3502151"/>
            <a:ext cx="1225295" cy="292608"/>
          </a:xfrm>
          <a:prstGeom prst="rect">
            <a:avLst/>
          </a:prstGeom>
          <a:noFill/>
        </p:spPr>
        <p:txBody>
          <a:bodyPr wrap="square" anchor="ctr" lIns="27432" rIns="27432" tIns="9144" bIns="9144">
            <a:spAutoFit/>
          </a:bodyPr>
          <a:lstStyle/>
          <a:p>
            <a:pPr algn="l">
              <a:spcAft>
                <a:spcPts val="0"/>
              </a:spcAft>
            </a:pPr>
            <a:r>
              <a:rPr sz="869" b="0">
                <a:solidFill>
                  <a:srgbClr val="192430"/>
                </a:solidFill>
                <a:latin typeface="Noto Sans CJK SC"/>
              </a:rPr>
              <a:t>ΔR@0.5</a:t>
            </a:r>
          </a:p>
        </p:txBody>
      </p:sp>
      <p:sp>
        <p:nvSpPr>
          <p:cNvPr id="34" name="Rectangle 33"/>
          <p:cNvSpPr/>
          <p:nvPr/>
        </p:nvSpPr>
        <p:spPr>
          <a:xfrm>
            <a:off x="1801368" y="3493008"/>
            <a:ext cx="74980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37943" y="3502151"/>
            <a:ext cx="676656"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+0.40</a:t>
            </a:r>
          </a:p>
        </p:txBody>
      </p:sp>
      <p:sp>
        <p:nvSpPr>
          <p:cNvPr id="36" name="Rectangle 35"/>
          <p:cNvSpPr/>
          <p:nvPr/>
        </p:nvSpPr>
        <p:spPr>
          <a:xfrm>
            <a:off x="2551176" y="3493008"/>
            <a:ext cx="199339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87752" y="3502151"/>
            <a:ext cx="192024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基础目标命中</a:t>
            </a:r>
          </a:p>
        </p:txBody>
      </p:sp>
      <p:sp>
        <p:nvSpPr>
          <p:cNvPr id="38" name="Rectangle 37"/>
          <p:cNvSpPr/>
          <p:nvPr/>
        </p:nvSpPr>
        <p:spPr>
          <a:xfrm>
            <a:off x="4544568" y="3493008"/>
            <a:ext cx="263347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81144" y="3502151"/>
            <a:ext cx="256032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召回优先，但不独占奖励</a:t>
            </a:r>
          </a:p>
        </p:txBody>
      </p:sp>
      <p:sp>
        <p:nvSpPr>
          <p:cNvPr id="40" name="Rectangle 39"/>
          <p:cNvSpPr/>
          <p:nvPr/>
        </p:nvSpPr>
        <p:spPr>
          <a:xfrm>
            <a:off x="502920" y="3803904"/>
            <a:ext cx="129844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9496" y="3813048"/>
            <a:ext cx="1225295" cy="292608"/>
          </a:xfrm>
          <a:prstGeom prst="rect">
            <a:avLst/>
          </a:prstGeom>
          <a:noFill/>
        </p:spPr>
        <p:txBody>
          <a:bodyPr wrap="square" anchor="ctr" lIns="27432" rIns="27432" tIns="9144" bIns="9144">
            <a:spAutoFit/>
          </a:bodyPr>
          <a:lstStyle/>
          <a:p>
            <a:pPr algn="l">
              <a:spcAft>
                <a:spcPts val="0"/>
              </a:spcAft>
            </a:pPr>
            <a:r>
              <a:rPr sz="869" b="0">
                <a:solidFill>
                  <a:srgbClr val="192430"/>
                </a:solidFill>
                <a:latin typeface="Noto Sans CJK SC"/>
              </a:rPr>
              <a:t>ΔR@0.75</a:t>
            </a:r>
          </a:p>
        </p:txBody>
      </p:sp>
      <p:sp>
        <p:nvSpPr>
          <p:cNvPr id="42" name="Rectangle 41"/>
          <p:cNvSpPr/>
          <p:nvPr/>
        </p:nvSpPr>
        <p:spPr>
          <a:xfrm>
            <a:off x="1801368" y="3803904"/>
            <a:ext cx="74980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37943" y="3813048"/>
            <a:ext cx="676656"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+0.22</a:t>
            </a:r>
          </a:p>
        </p:txBody>
      </p:sp>
      <p:sp>
        <p:nvSpPr>
          <p:cNvPr id="44" name="Rectangle 43"/>
          <p:cNvSpPr/>
          <p:nvPr/>
        </p:nvSpPr>
        <p:spPr>
          <a:xfrm>
            <a:off x="2551176" y="3803904"/>
            <a:ext cx="199339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87752" y="3813048"/>
            <a:ext cx="192024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高质量定位</a:t>
            </a:r>
          </a:p>
        </p:txBody>
      </p:sp>
      <p:sp>
        <p:nvSpPr>
          <p:cNvPr id="46" name="Rectangle 45"/>
          <p:cNvSpPr/>
          <p:nvPr/>
        </p:nvSpPr>
        <p:spPr>
          <a:xfrm>
            <a:off x="4544568" y="3803904"/>
            <a:ext cx="263347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81144" y="3813048"/>
            <a:ext cx="256032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避免只追求低质量命中</a:t>
            </a:r>
          </a:p>
        </p:txBody>
      </p:sp>
      <p:sp>
        <p:nvSpPr>
          <p:cNvPr id="48" name="Rectangle 47"/>
          <p:cNvSpPr/>
          <p:nvPr/>
        </p:nvSpPr>
        <p:spPr>
          <a:xfrm>
            <a:off x="502920" y="4114800"/>
            <a:ext cx="1298448" cy="310896"/>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39496" y="4123944"/>
            <a:ext cx="1225295" cy="292608"/>
          </a:xfrm>
          <a:prstGeom prst="rect">
            <a:avLst/>
          </a:prstGeom>
          <a:noFill/>
        </p:spPr>
        <p:txBody>
          <a:bodyPr wrap="square" anchor="ctr" lIns="27432" rIns="27432" tIns="9144" bIns="9144">
            <a:spAutoFit/>
          </a:bodyPr>
          <a:lstStyle/>
          <a:p>
            <a:pPr algn="l">
              <a:spcAft>
                <a:spcPts val="0"/>
              </a:spcAft>
            </a:pPr>
            <a:r>
              <a:rPr sz="869" b="1">
                <a:solidFill>
                  <a:srgbClr val="2D70AA"/>
                </a:solidFill>
                <a:latin typeface="Noto Sans CJK SC"/>
              </a:rPr>
              <a:t>ΔRweak</a:t>
            </a:r>
          </a:p>
        </p:txBody>
      </p:sp>
      <p:sp>
        <p:nvSpPr>
          <p:cNvPr id="50" name="Rectangle 49"/>
          <p:cNvSpPr/>
          <p:nvPr/>
        </p:nvSpPr>
        <p:spPr>
          <a:xfrm>
            <a:off x="1801368" y="4114800"/>
            <a:ext cx="749808" cy="310896"/>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837943" y="4123944"/>
            <a:ext cx="676656" cy="292608"/>
          </a:xfrm>
          <a:prstGeom prst="rect">
            <a:avLst/>
          </a:prstGeom>
          <a:noFill/>
        </p:spPr>
        <p:txBody>
          <a:bodyPr wrap="square" anchor="ctr" lIns="27432" rIns="27432" tIns="9144" bIns="9144">
            <a:spAutoFit/>
          </a:bodyPr>
          <a:lstStyle/>
          <a:p>
            <a:pPr algn="ctr">
              <a:spcAft>
                <a:spcPts val="0"/>
              </a:spcAft>
            </a:pPr>
            <a:r>
              <a:rPr sz="869" b="1">
                <a:solidFill>
                  <a:srgbClr val="192430"/>
                </a:solidFill>
                <a:latin typeface="Noto Sans CJK SC"/>
              </a:rPr>
              <a:t>+0.45</a:t>
            </a:r>
          </a:p>
        </p:txBody>
      </p:sp>
      <p:sp>
        <p:nvSpPr>
          <p:cNvPr id="52" name="Rectangle 51"/>
          <p:cNvSpPr/>
          <p:nvPr/>
        </p:nvSpPr>
        <p:spPr>
          <a:xfrm>
            <a:off x="2551176" y="4114800"/>
            <a:ext cx="1993392" cy="310896"/>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87752" y="4123944"/>
            <a:ext cx="1920240" cy="292608"/>
          </a:xfrm>
          <a:prstGeom prst="rect">
            <a:avLst/>
          </a:prstGeom>
          <a:noFill/>
        </p:spPr>
        <p:txBody>
          <a:bodyPr wrap="square" anchor="ctr" lIns="27432" rIns="27432" tIns="9144" bIns="9144">
            <a:spAutoFit/>
          </a:bodyPr>
          <a:lstStyle/>
          <a:p>
            <a:pPr algn="ctr">
              <a:spcAft>
                <a:spcPts val="0"/>
              </a:spcAft>
            </a:pPr>
            <a:r>
              <a:rPr sz="869" b="1">
                <a:solidFill>
                  <a:srgbClr val="192430"/>
                </a:solidFill>
                <a:latin typeface="Noto Sans CJK SC"/>
              </a:rPr>
              <a:t>弱类别召回</a:t>
            </a:r>
          </a:p>
        </p:txBody>
      </p:sp>
      <p:sp>
        <p:nvSpPr>
          <p:cNvPr id="54" name="Rectangle 53"/>
          <p:cNvSpPr/>
          <p:nvPr/>
        </p:nvSpPr>
        <p:spPr>
          <a:xfrm>
            <a:off x="4544568" y="4114800"/>
            <a:ext cx="2633472" cy="310896"/>
          </a:xfrm>
          <a:prstGeom prst="rect">
            <a:avLst/>
          </a:prstGeom>
          <a:solidFill>
            <a:srgbClr val="DEF3E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81144" y="4123944"/>
            <a:ext cx="2560320" cy="292608"/>
          </a:xfrm>
          <a:prstGeom prst="rect">
            <a:avLst/>
          </a:prstGeom>
          <a:noFill/>
        </p:spPr>
        <p:txBody>
          <a:bodyPr wrap="square" anchor="ctr" lIns="27432" rIns="27432" tIns="9144" bIns="9144">
            <a:spAutoFit/>
          </a:bodyPr>
          <a:lstStyle/>
          <a:p>
            <a:pPr algn="ctr">
              <a:spcAft>
                <a:spcPts val="0"/>
              </a:spcAft>
            </a:pPr>
            <a:r>
              <a:rPr sz="869" b="1">
                <a:solidFill>
                  <a:srgbClr val="2D70AA"/>
                </a:solidFill>
                <a:latin typeface="Noto Sans CJK SC"/>
              </a:rPr>
              <a:t>航拍小目标/弱类是研究重点</a:t>
            </a:r>
          </a:p>
        </p:txBody>
      </p:sp>
      <p:sp>
        <p:nvSpPr>
          <p:cNvPr id="56" name="Rectangle 55"/>
          <p:cNvSpPr/>
          <p:nvPr/>
        </p:nvSpPr>
        <p:spPr>
          <a:xfrm>
            <a:off x="502920" y="4425696"/>
            <a:ext cx="129844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9496" y="4434840"/>
            <a:ext cx="1225295" cy="292608"/>
          </a:xfrm>
          <a:prstGeom prst="rect">
            <a:avLst/>
          </a:prstGeom>
          <a:noFill/>
        </p:spPr>
        <p:txBody>
          <a:bodyPr wrap="square" anchor="ctr" lIns="27432" rIns="27432" tIns="9144" bIns="9144">
            <a:spAutoFit/>
          </a:bodyPr>
          <a:lstStyle/>
          <a:p>
            <a:pPr algn="l">
              <a:spcAft>
                <a:spcPts val="0"/>
              </a:spcAft>
            </a:pPr>
            <a:r>
              <a:rPr sz="869" b="0">
                <a:solidFill>
                  <a:srgbClr val="192430"/>
                </a:solidFill>
                <a:latin typeface="Noto Sans CJK SC"/>
              </a:rPr>
              <a:t>ΔPrecision</a:t>
            </a:r>
          </a:p>
        </p:txBody>
      </p:sp>
      <p:sp>
        <p:nvSpPr>
          <p:cNvPr id="58" name="Rectangle 57"/>
          <p:cNvSpPr/>
          <p:nvPr/>
        </p:nvSpPr>
        <p:spPr>
          <a:xfrm>
            <a:off x="1801368" y="4425696"/>
            <a:ext cx="74980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837943" y="4434840"/>
            <a:ext cx="676656"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+0.15</a:t>
            </a:r>
          </a:p>
        </p:txBody>
      </p:sp>
      <p:sp>
        <p:nvSpPr>
          <p:cNvPr id="60" name="Rectangle 59"/>
          <p:cNvSpPr/>
          <p:nvPr/>
        </p:nvSpPr>
        <p:spPr>
          <a:xfrm>
            <a:off x="2551176" y="4425696"/>
            <a:ext cx="199339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87752" y="4434840"/>
            <a:ext cx="192024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控制误检</a:t>
            </a:r>
          </a:p>
        </p:txBody>
      </p:sp>
      <p:sp>
        <p:nvSpPr>
          <p:cNvPr id="62" name="Rectangle 61"/>
          <p:cNvSpPr/>
          <p:nvPr/>
        </p:nvSpPr>
        <p:spPr>
          <a:xfrm>
            <a:off x="4544568" y="4425696"/>
            <a:ext cx="263347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81144" y="4434840"/>
            <a:ext cx="256032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扩展候选时保持排序质量</a:t>
            </a:r>
          </a:p>
        </p:txBody>
      </p:sp>
      <p:sp>
        <p:nvSpPr>
          <p:cNvPr id="64" name="Rectangle 63"/>
          <p:cNvSpPr/>
          <p:nvPr/>
        </p:nvSpPr>
        <p:spPr>
          <a:xfrm>
            <a:off x="502920" y="4736592"/>
            <a:ext cx="129844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39496" y="4745736"/>
            <a:ext cx="1225295" cy="292608"/>
          </a:xfrm>
          <a:prstGeom prst="rect">
            <a:avLst/>
          </a:prstGeom>
          <a:noFill/>
        </p:spPr>
        <p:txBody>
          <a:bodyPr wrap="square" anchor="ctr" lIns="27432" rIns="27432" tIns="9144" bIns="9144">
            <a:spAutoFit/>
          </a:bodyPr>
          <a:lstStyle/>
          <a:p>
            <a:pPr algn="l">
              <a:spcAft>
                <a:spcPts val="0"/>
              </a:spcAft>
            </a:pPr>
            <a:r>
              <a:rPr sz="869" b="0">
                <a:solidFill>
                  <a:srgbClr val="192430"/>
                </a:solidFill>
                <a:latin typeface="Noto Sans CJK SC"/>
              </a:rPr>
              <a:t>Cbox</a:t>
            </a:r>
          </a:p>
        </p:txBody>
      </p:sp>
      <p:sp>
        <p:nvSpPr>
          <p:cNvPr id="66" name="Rectangle 65"/>
          <p:cNvSpPr/>
          <p:nvPr/>
        </p:nvSpPr>
        <p:spPr>
          <a:xfrm>
            <a:off x="1801368" y="4736592"/>
            <a:ext cx="74980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37943" y="4745736"/>
            <a:ext cx="676656"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−0.010</a:t>
            </a:r>
          </a:p>
        </p:txBody>
      </p:sp>
      <p:sp>
        <p:nvSpPr>
          <p:cNvPr id="68" name="Rectangle 67"/>
          <p:cNvSpPr/>
          <p:nvPr/>
        </p:nvSpPr>
        <p:spPr>
          <a:xfrm>
            <a:off x="2551176" y="4736592"/>
            <a:ext cx="199339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587752" y="4745736"/>
            <a:ext cx="192024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候选规模</a:t>
            </a:r>
          </a:p>
        </p:txBody>
      </p:sp>
      <p:sp>
        <p:nvSpPr>
          <p:cNvPr id="70" name="Rectangle 69"/>
          <p:cNvSpPr/>
          <p:nvPr/>
        </p:nvSpPr>
        <p:spPr>
          <a:xfrm>
            <a:off x="4544568" y="4736592"/>
            <a:ext cx="263347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81144" y="4745736"/>
            <a:ext cx="256032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抑制候选框无效膨胀</a:t>
            </a:r>
          </a:p>
        </p:txBody>
      </p:sp>
      <p:sp>
        <p:nvSpPr>
          <p:cNvPr id="72" name="Rectangle 71"/>
          <p:cNvSpPr/>
          <p:nvPr/>
        </p:nvSpPr>
        <p:spPr>
          <a:xfrm>
            <a:off x="502920" y="5047488"/>
            <a:ext cx="129844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39496" y="5056631"/>
            <a:ext cx="1225295" cy="292608"/>
          </a:xfrm>
          <a:prstGeom prst="rect">
            <a:avLst/>
          </a:prstGeom>
          <a:noFill/>
        </p:spPr>
        <p:txBody>
          <a:bodyPr wrap="square" anchor="ctr" lIns="27432" rIns="27432" tIns="9144" bIns="9144">
            <a:spAutoFit/>
          </a:bodyPr>
          <a:lstStyle/>
          <a:p>
            <a:pPr algn="l">
              <a:spcAft>
                <a:spcPts val="0"/>
              </a:spcAft>
            </a:pPr>
            <a:r>
              <a:rPr sz="869" b="0">
                <a:solidFill>
                  <a:srgbClr val="192430"/>
                </a:solidFill>
                <a:latin typeface="Noto Sans CJK SC"/>
              </a:rPr>
              <a:t>Naction</a:t>
            </a:r>
          </a:p>
        </p:txBody>
      </p:sp>
      <p:sp>
        <p:nvSpPr>
          <p:cNvPr id="74" name="Rectangle 73"/>
          <p:cNvSpPr/>
          <p:nvPr/>
        </p:nvSpPr>
        <p:spPr>
          <a:xfrm>
            <a:off x="1801368" y="5047488"/>
            <a:ext cx="74980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837943" y="5056631"/>
            <a:ext cx="676656"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−0.012</a:t>
            </a:r>
          </a:p>
        </p:txBody>
      </p:sp>
      <p:sp>
        <p:nvSpPr>
          <p:cNvPr id="76" name="Rectangle 75"/>
          <p:cNvSpPr/>
          <p:nvPr/>
        </p:nvSpPr>
        <p:spPr>
          <a:xfrm>
            <a:off x="2551176" y="5047488"/>
            <a:ext cx="199339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587752" y="5056631"/>
            <a:ext cx="192024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动作预算</a:t>
            </a:r>
          </a:p>
        </p:txBody>
      </p:sp>
      <p:sp>
        <p:nvSpPr>
          <p:cNvPr id="78" name="Rectangle 77"/>
          <p:cNvSpPr/>
          <p:nvPr/>
        </p:nvSpPr>
        <p:spPr>
          <a:xfrm>
            <a:off x="4544568" y="5047488"/>
            <a:ext cx="263347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81144" y="5056631"/>
            <a:ext cx="256032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约束推理成本</a:t>
            </a:r>
          </a:p>
        </p:txBody>
      </p:sp>
      <p:sp>
        <p:nvSpPr>
          <p:cNvPr id="80" name="Rectangle 79"/>
          <p:cNvSpPr/>
          <p:nvPr/>
        </p:nvSpPr>
        <p:spPr>
          <a:xfrm>
            <a:off x="502920" y="5358384"/>
            <a:ext cx="129844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9496" y="5367528"/>
            <a:ext cx="1225295" cy="292608"/>
          </a:xfrm>
          <a:prstGeom prst="rect">
            <a:avLst/>
          </a:prstGeom>
          <a:noFill/>
        </p:spPr>
        <p:txBody>
          <a:bodyPr wrap="square" anchor="ctr" lIns="27432" rIns="27432" tIns="9144" bIns="9144">
            <a:spAutoFit/>
          </a:bodyPr>
          <a:lstStyle/>
          <a:p>
            <a:pPr algn="l">
              <a:spcAft>
                <a:spcPts val="0"/>
              </a:spcAft>
            </a:pPr>
            <a:r>
              <a:rPr sz="869" b="0">
                <a:solidFill>
                  <a:srgbClr val="192430"/>
                </a:solidFill>
                <a:latin typeface="Noto Sans CJK SC"/>
              </a:rPr>
              <a:t>Istop</a:t>
            </a:r>
          </a:p>
        </p:txBody>
      </p:sp>
      <p:sp>
        <p:nvSpPr>
          <p:cNvPr id="82" name="Rectangle 81"/>
          <p:cNvSpPr/>
          <p:nvPr/>
        </p:nvSpPr>
        <p:spPr>
          <a:xfrm>
            <a:off x="1801368" y="5358384"/>
            <a:ext cx="749808"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837943" y="5367528"/>
            <a:ext cx="676656"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−0.012</a:t>
            </a:r>
          </a:p>
        </p:txBody>
      </p:sp>
      <p:sp>
        <p:nvSpPr>
          <p:cNvPr id="84" name="Rectangle 83"/>
          <p:cNvSpPr/>
          <p:nvPr/>
        </p:nvSpPr>
        <p:spPr>
          <a:xfrm>
            <a:off x="2551176" y="5358384"/>
            <a:ext cx="199339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587752" y="5367528"/>
            <a:ext cx="192024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过早停止</a:t>
            </a:r>
          </a:p>
        </p:txBody>
      </p:sp>
      <p:sp>
        <p:nvSpPr>
          <p:cNvPr id="86" name="Rectangle 85"/>
          <p:cNvSpPr/>
          <p:nvPr/>
        </p:nvSpPr>
        <p:spPr>
          <a:xfrm>
            <a:off x="4544568" y="5358384"/>
            <a:ext cx="2633472" cy="31089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581144" y="5367528"/>
            <a:ext cx="2560320" cy="292608"/>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保留有效反馈机会</a:t>
            </a:r>
          </a:p>
        </p:txBody>
      </p:sp>
      <p:sp>
        <p:nvSpPr>
          <p:cNvPr id="88" name="Rounded Rectangle 87"/>
          <p:cNvSpPr/>
          <p:nvPr/>
        </p:nvSpPr>
        <p:spPr>
          <a:xfrm>
            <a:off x="7397496" y="1901952"/>
            <a:ext cx="4288536" cy="3163824"/>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626096" y="2029968"/>
            <a:ext cx="3831336" cy="292608"/>
          </a:xfrm>
          <a:prstGeom prst="rect">
            <a:avLst/>
          </a:prstGeom>
          <a:noFill/>
        </p:spPr>
        <p:txBody>
          <a:bodyPr wrap="square" anchor="ctr" lIns="27432" rIns="27432" tIns="9144" bIns="9144">
            <a:spAutoFit/>
          </a:bodyPr>
          <a:lstStyle/>
          <a:p>
            <a:pPr algn="l">
              <a:spcAft>
                <a:spcPts val="0"/>
              </a:spcAft>
            </a:pPr>
            <a:r>
              <a:rPr sz="1200" b="1">
                <a:solidFill>
                  <a:srgbClr val="192430"/>
                </a:solidFill>
                <a:latin typeface="Noto Sans CJK SC"/>
              </a:rPr>
              <a:t>正奖励相对权重 · 总和 1.22</a:t>
            </a:r>
          </a:p>
        </p:txBody>
      </p:sp>
      <p:sp>
        <p:nvSpPr>
          <p:cNvPr id="90" name="TextBox 89"/>
          <p:cNvSpPr txBox="1"/>
          <p:nvPr/>
        </p:nvSpPr>
        <p:spPr>
          <a:xfrm>
            <a:off x="7525512" y="2404872"/>
            <a:ext cx="1234440" cy="532409"/>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Recall@0.5</a:t>
            </a:r>
          </a:p>
        </p:txBody>
      </p:sp>
      <p:sp>
        <p:nvSpPr>
          <p:cNvPr id="91" name="Rectangle 90"/>
          <p:cNvSpPr/>
          <p:nvPr/>
        </p:nvSpPr>
        <p:spPr>
          <a:xfrm>
            <a:off x="8851392" y="2555199"/>
            <a:ext cx="1625600" cy="250545"/>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541000" y="2404872"/>
            <a:ext cx="658368" cy="532409"/>
          </a:xfrm>
          <a:prstGeom prst="rect">
            <a:avLst/>
          </a:prstGeom>
          <a:noFill/>
        </p:spPr>
        <p:txBody>
          <a:bodyPr wrap="square" anchor="ctr" lIns="27432" rIns="27432" tIns="9144" bIns="9144">
            <a:spAutoFit/>
          </a:bodyPr>
          <a:lstStyle/>
          <a:p>
            <a:pPr algn="l">
              <a:spcAft>
                <a:spcPts val="0"/>
              </a:spcAft>
            </a:pPr>
            <a:r>
              <a:rPr sz="919" b="1">
                <a:solidFill>
                  <a:srgbClr val="2D70AA"/>
                </a:solidFill>
                <a:latin typeface="Noto Sans CJK SC"/>
              </a:rPr>
              <a:t>0.40</a:t>
            </a:r>
          </a:p>
        </p:txBody>
      </p:sp>
      <p:sp>
        <p:nvSpPr>
          <p:cNvPr id="93" name="TextBox 92"/>
          <p:cNvSpPr txBox="1"/>
          <p:nvPr/>
        </p:nvSpPr>
        <p:spPr>
          <a:xfrm>
            <a:off x="7525512" y="3031236"/>
            <a:ext cx="1234440" cy="532409"/>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Recall@0.75</a:t>
            </a:r>
          </a:p>
        </p:txBody>
      </p:sp>
      <p:sp>
        <p:nvSpPr>
          <p:cNvPr id="94" name="Rectangle 93"/>
          <p:cNvSpPr/>
          <p:nvPr/>
        </p:nvSpPr>
        <p:spPr>
          <a:xfrm>
            <a:off x="8851392" y="3181563"/>
            <a:ext cx="894080" cy="250545"/>
          </a:xfrm>
          <a:prstGeom prst="rect">
            <a:avLst/>
          </a:prstGeom>
          <a:solidFill>
            <a:srgbClr val="B5BEC7"/>
          </a:solidFill>
          <a:ln w="10160">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09480" y="3031236"/>
            <a:ext cx="658368" cy="532409"/>
          </a:xfrm>
          <a:prstGeom prst="rect">
            <a:avLst/>
          </a:prstGeom>
          <a:noFill/>
        </p:spPr>
        <p:txBody>
          <a:bodyPr wrap="square" anchor="ctr" lIns="27432" rIns="27432" tIns="9144" bIns="9144">
            <a:spAutoFit/>
          </a:bodyPr>
          <a:lstStyle/>
          <a:p>
            <a:pPr algn="l">
              <a:spcAft>
                <a:spcPts val="0"/>
              </a:spcAft>
            </a:pPr>
            <a:r>
              <a:rPr sz="919" b="1">
                <a:solidFill>
                  <a:srgbClr val="B5BEC7"/>
                </a:solidFill>
                <a:latin typeface="Noto Sans CJK SC"/>
              </a:rPr>
              <a:t>0.22</a:t>
            </a:r>
          </a:p>
        </p:txBody>
      </p:sp>
      <p:sp>
        <p:nvSpPr>
          <p:cNvPr id="96" name="TextBox 95"/>
          <p:cNvSpPr txBox="1"/>
          <p:nvPr/>
        </p:nvSpPr>
        <p:spPr>
          <a:xfrm>
            <a:off x="7525512" y="3657600"/>
            <a:ext cx="1234440" cy="532409"/>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Weak recall</a:t>
            </a:r>
          </a:p>
        </p:txBody>
      </p:sp>
      <p:sp>
        <p:nvSpPr>
          <p:cNvPr id="97" name="Rectangle 96"/>
          <p:cNvSpPr/>
          <p:nvPr/>
        </p:nvSpPr>
        <p:spPr>
          <a:xfrm>
            <a:off x="8851392" y="3807927"/>
            <a:ext cx="1828800" cy="250545"/>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744200" y="3657600"/>
            <a:ext cx="658368" cy="532409"/>
          </a:xfrm>
          <a:prstGeom prst="rect">
            <a:avLst/>
          </a:prstGeom>
          <a:noFill/>
        </p:spPr>
        <p:txBody>
          <a:bodyPr wrap="square" anchor="ctr" lIns="27432" rIns="27432" tIns="9144" bIns="9144">
            <a:spAutoFit/>
          </a:bodyPr>
          <a:lstStyle/>
          <a:p>
            <a:pPr algn="l">
              <a:spcAft>
                <a:spcPts val="0"/>
              </a:spcAft>
            </a:pPr>
            <a:r>
              <a:rPr sz="919" b="1">
                <a:solidFill>
                  <a:srgbClr val="17857D"/>
                </a:solidFill>
                <a:latin typeface="Noto Sans CJK SC"/>
              </a:rPr>
              <a:t>0.45</a:t>
            </a:r>
          </a:p>
        </p:txBody>
      </p:sp>
      <p:sp>
        <p:nvSpPr>
          <p:cNvPr id="99" name="TextBox 98"/>
          <p:cNvSpPr txBox="1"/>
          <p:nvPr/>
        </p:nvSpPr>
        <p:spPr>
          <a:xfrm>
            <a:off x="7525512" y="4283964"/>
            <a:ext cx="1234440" cy="532409"/>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Precision</a:t>
            </a:r>
          </a:p>
        </p:txBody>
      </p:sp>
      <p:sp>
        <p:nvSpPr>
          <p:cNvPr id="100" name="Rectangle 99"/>
          <p:cNvSpPr/>
          <p:nvPr/>
        </p:nvSpPr>
        <p:spPr>
          <a:xfrm>
            <a:off x="8851392" y="4434291"/>
            <a:ext cx="609599" cy="250545"/>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525000" y="4283964"/>
            <a:ext cx="658368" cy="532409"/>
          </a:xfrm>
          <a:prstGeom prst="rect">
            <a:avLst/>
          </a:prstGeom>
          <a:noFill/>
        </p:spPr>
        <p:txBody>
          <a:bodyPr wrap="square" anchor="ctr" lIns="27432" rIns="27432" tIns="9144" bIns="9144">
            <a:spAutoFit/>
          </a:bodyPr>
          <a:lstStyle/>
          <a:p>
            <a:pPr algn="l">
              <a:spcAft>
                <a:spcPts val="0"/>
              </a:spcAft>
            </a:pPr>
            <a:r>
              <a:rPr sz="919" b="1">
                <a:solidFill>
                  <a:srgbClr val="D99124"/>
                </a:solidFill>
                <a:latin typeface="Noto Sans CJK SC"/>
              </a:rPr>
              <a:t>0.15</a:t>
            </a:r>
          </a:p>
        </p:txBody>
      </p:sp>
      <p:sp>
        <p:nvSpPr>
          <p:cNvPr id="102" name="Rounded Rectangle 101"/>
          <p:cNvSpPr/>
          <p:nvPr/>
        </p:nvSpPr>
        <p:spPr>
          <a:xfrm>
            <a:off x="7397496" y="5212080"/>
            <a:ext cx="4288536"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607808" y="5340096"/>
            <a:ext cx="3840480" cy="365760"/>
          </a:xfrm>
          <a:prstGeom prst="rect">
            <a:avLst/>
          </a:prstGeom>
          <a:noFill/>
        </p:spPr>
        <p:txBody>
          <a:bodyPr wrap="square" anchor="ctr" lIns="45720" rIns="45720" tIns="9144" bIns="9144">
            <a:spAutoFit/>
          </a:bodyPr>
          <a:lstStyle/>
          <a:p>
            <a:pPr algn="l"/>
            <a:r>
              <a:rPr sz="1050" b="1">
                <a:solidFill>
                  <a:srgbClr val="2D70AA"/>
                </a:solidFill>
                <a:latin typeface="Noto Sans CJK SC"/>
              </a:rPr>
              <a:t>权重不是概率</a:t>
            </a:r>
            <a:r>
              <a:rPr sz="1050" b="0">
                <a:solidFill>
                  <a:srgbClr val="192430"/>
                </a:solidFill>
                <a:latin typeface="Noto Sans CJK SC"/>
              </a:rPr>
              <a:t>，不要求和为 1；
</a:t>
            </a:r>
            <a:r>
              <a:rPr sz="1050" b="1">
                <a:solidFill>
                  <a:srgbClr val="17857D"/>
                </a:solidFill>
                <a:latin typeface="Noto Sans CJK SC"/>
              </a:rPr>
              <a:t>比较时固定总尺度</a:t>
            </a:r>
            <a:r>
              <a:rPr sz="1050" b="0">
                <a:solidFill>
                  <a:srgbClr val="192430"/>
                </a:solidFill>
                <a:latin typeface="Noto Sans CJK SC"/>
              </a:rPr>
              <a:t>，只检验相对比例。</a:t>
            </a:r>
          </a:p>
        </p:txBody>
      </p:sp>
      <p:sp>
        <p:nvSpPr>
          <p:cNvPr id="104" name="TextBox 103"/>
          <p:cNvSpPr txBox="1"/>
          <p:nvPr/>
        </p:nvSpPr>
        <p:spPr>
          <a:xfrm>
            <a:off x="530352" y="6181344"/>
            <a:ext cx="10789920" cy="201168"/>
          </a:xfrm>
          <a:prstGeom prst="rect">
            <a:avLst/>
          </a:prstGeom>
          <a:noFill/>
        </p:spPr>
        <p:txBody>
          <a:bodyPr wrap="square" anchor="ctr" lIns="27432" rIns="27432" tIns="9144" bIns="9144">
            <a:spAutoFit/>
          </a:bodyPr>
          <a:lstStyle/>
          <a:p>
            <a:pPr algn="l">
              <a:spcAft>
                <a:spcPts val="0"/>
              </a:spcAft>
            </a:pPr>
            <a:r>
              <a:rPr sz="900" b="0">
                <a:solidFill>
                  <a:srgbClr val="5B6875"/>
                </a:solidFill>
                <a:latin typeface="Noto Sans CJK SC"/>
              </a:rPr>
              <a:t>注：Current 的 small 项按弱类别集合 {1,2,3,7,8,10} 统计；实验另测面积 small 与 hybrid 定义。</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56032"/>
            <a:ext cx="502920" cy="310896"/>
          </a:xfrm>
          <a:prstGeom prst="rect">
            <a:avLst/>
          </a:prstGeom>
          <a:noFill/>
        </p:spPr>
        <p:txBody>
          <a:bodyPr wrap="square" anchor="ctr" lIns="27432" rIns="27432" tIns="9144" bIns="9144">
            <a:spAutoFit/>
          </a:bodyPr>
          <a:lstStyle/>
          <a:p>
            <a:pPr algn="l">
              <a:spcAft>
                <a:spcPts val="0"/>
              </a:spcAft>
            </a:pPr>
            <a:r>
              <a:rPr sz="1200" b="1">
                <a:solidFill>
                  <a:srgbClr val="2D70AA"/>
                </a:solidFill>
                <a:latin typeface="Noto Sans CJK SC"/>
              </a:rPr>
              <a:t>07</a:t>
            </a:r>
          </a:p>
        </p:txBody>
      </p:sp>
      <p:sp>
        <p:nvSpPr>
          <p:cNvPr id="4" name="TextBox 3"/>
          <p:cNvSpPr txBox="1"/>
          <p:nvPr/>
        </p:nvSpPr>
        <p:spPr>
          <a:xfrm>
            <a:off x="932688" y="201168"/>
            <a:ext cx="10744200" cy="475488"/>
          </a:xfrm>
          <a:prstGeom prst="rect">
            <a:avLst/>
          </a:prstGeom>
          <a:noFill/>
        </p:spPr>
        <p:txBody>
          <a:bodyPr wrap="square" anchor="ctr" lIns="27432" rIns="27432" tIns="9144" bIns="9144">
            <a:spAutoFit/>
          </a:bodyPr>
          <a:lstStyle/>
          <a:p>
            <a:pPr algn="l">
              <a:spcAft>
                <a:spcPts val="0"/>
              </a:spcAft>
            </a:pPr>
            <a:r>
              <a:rPr sz="2400" b="1">
                <a:solidFill>
                  <a:srgbClr val="192430"/>
                </a:solidFill>
                <a:latin typeface="Noto Sans CJK SC"/>
              </a:rPr>
              <a:t>Reward 超参数验证协议</a:t>
            </a:r>
          </a:p>
        </p:txBody>
      </p:sp>
      <p:sp>
        <p:nvSpPr>
          <p:cNvPr id="5" name="TextBox 4"/>
          <p:cNvSpPr txBox="1"/>
          <p:nvPr/>
        </p:nvSpPr>
        <p:spPr>
          <a:xfrm>
            <a:off x="941832" y="658368"/>
            <a:ext cx="10698480" cy="274320"/>
          </a:xfrm>
          <a:prstGeom prst="rect">
            <a:avLst/>
          </a:prstGeom>
          <a:noFill/>
        </p:spPr>
        <p:txBody>
          <a:bodyPr wrap="square" anchor="ctr" lIns="27432" rIns="27432" tIns="9144" bIns="9144">
            <a:spAutoFit/>
          </a:bodyPr>
          <a:lstStyle/>
          <a:p>
            <a:pPr algn="l">
              <a:spcAft>
                <a:spcPts val="0"/>
              </a:spcAft>
            </a:pPr>
            <a:r>
              <a:rPr sz="1050" b="0">
                <a:solidFill>
                  <a:srgbClr val="5B6875"/>
                </a:solidFill>
                <a:latin typeface="Noto Sans CJK SC"/>
              </a:rPr>
              <a:t>组件消融 + 宽范围敏感性 + 二因素交互 + 全局权重采样 · test 不参与选参</a:t>
            </a:r>
          </a:p>
        </p:txBody>
      </p:sp>
      <p:sp>
        <p:nvSpPr>
          <p:cNvPr id="6" name="TextBox 5"/>
          <p:cNvSpPr txBox="1"/>
          <p:nvPr/>
        </p:nvSpPr>
        <p:spPr>
          <a:xfrm>
            <a:off x="11393424" y="6510528"/>
            <a:ext cx="347472" cy="182880"/>
          </a:xfrm>
          <a:prstGeom prst="rect">
            <a:avLst/>
          </a:prstGeom>
          <a:noFill/>
        </p:spPr>
        <p:txBody>
          <a:bodyPr wrap="square" anchor="ctr" lIns="27432" rIns="27432" tIns="9144" bIns="9144">
            <a:spAutoFit/>
          </a:bodyPr>
          <a:lstStyle/>
          <a:p>
            <a:pPr algn="r">
              <a:spcAft>
                <a:spcPts val="0"/>
              </a:spcAft>
            </a:pPr>
            <a:r>
              <a:rPr sz="900" b="0">
                <a:solidFill>
                  <a:srgbClr val="5B6875"/>
                </a:solidFill>
                <a:latin typeface="Noto Sans CJK SC"/>
              </a:rPr>
              <a:t>5</a:t>
            </a:r>
          </a:p>
        </p:txBody>
      </p:sp>
      <p:sp>
        <p:nvSpPr>
          <p:cNvPr id="7" name="Rounded Rectangle 6"/>
          <p:cNvSpPr/>
          <p:nvPr/>
        </p:nvSpPr>
        <p:spPr>
          <a:xfrm>
            <a:off x="502920"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宽范围粗筛</a:t>
            </a:r>
          </a:p>
        </p:txBody>
      </p:sp>
      <p:sp>
        <p:nvSpPr>
          <p:cNvPr id="10" name="TextBox 9"/>
          <p:cNvSpPr txBox="1"/>
          <p:nvPr/>
        </p:nvSpPr>
        <p:spPr>
          <a:xfrm>
            <a:off x="667512" y="1353312"/>
            <a:ext cx="1901952" cy="283464"/>
          </a:xfrm>
          <a:prstGeom prst="rect">
            <a:avLst/>
          </a:prstGeom>
          <a:noFill/>
        </p:spPr>
        <p:txBody>
          <a:bodyPr wrap="square" anchor="ctr" lIns="27432" rIns="27432" tIns="9144" bIns="9144">
            <a:spAutoFit/>
          </a:bodyPr>
          <a:lstStyle/>
          <a:p>
            <a:pPr algn="l">
              <a:spcAft>
                <a:spcPts val="0"/>
              </a:spcAft>
            </a:pPr>
            <a:r>
              <a:rPr sz="1700" b="1">
                <a:solidFill>
                  <a:srgbClr val="2D70AA"/>
                </a:solidFill>
                <a:latin typeface="Noto Sans CJK SC"/>
              </a:rPr>
              <a:t>136 组配置</a:t>
            </a:r>
          </a:p>
        </p:txBody>
      </p:sp>
      <p:sp>
        <p:nvSpPr>
          <p:cNvPr id="11" name="Rounded Rectangle 10"/>
          <p:cNvSpPr/>
          <p:nvPr/>
        </p:nvSpPr>
        <p:spPr>
          <a:xfrm>
            <a:off x="2770632"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632"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224"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满足成本约束</a:t>
            </a:r>
          </a:p>
        </p:txBody>
      </p:sp>
      <p:sp>
        <p:nvSpPr>
          <p:cNvPr id="14" name="TextBox 13"/>
          <p:cNvSpPr txBox="1"/>
          <p:nvPr/>
        </p:nvSpPr>
        <p:spPr>
          <a:xfrm>
            <a:off x="2935224" y="1353312"/>
            <a:ext cx="1901952" cy="283464"/>
          </a:xfrm>
          <a:prstGeom prst="rect">
            <a:avLst/>
          </a:prstGeom>
          <a:noFill/>
        </p:spPr>
        <p:txBody>
          <a:bodyPr wrap="square" anchor="ctr" lIns="27432" rIns="27432" tIns="9144" bIns="9144">
            <a:spAutoFit/>
          </a:bodyPr>
          <a:lstStyle/>
          <a:p>
            <a:pPr algn="l">
              <a:spcAft>
                <a:spcPts val="0"/>
              </a:spcAft>
            </a:pPr>
            <a:r>
              <a:rPr sz="1700" b="1">
                <a:solidFill>
                  <a:srgbClr val="17857D"/>
                </a:solidFill>
                <a:latin typeface="Noto Sans CJK SC"/>
              </a:rPr>
              <a:t>44 组可行</a:t>
            </a:r>
          </a:p>
        </p:txBody>
      </p:sp>
      <p:sp>
        <p:nvSpPr>
          <p:cNvPr id="15" name="Rounded Rectangle 14"/>
          <p:cNvSpPr/>
          <p:nvPr/>
        </p:nvSpPr>
        <p:spPr>
          <a:xfrm>
            <a:off x="5038344"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38344"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2936"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完整稳定性复核</a:t>
            </a:r>
          </a:p>
        </p:txBody>
      </p:sp>
      <p:sp>
        <p:nvSpPr>
          <p:cNvPr id="18" name="TextBox 17"/>
          <p:cNvSpPr txBox="1"/>
          <p:nvPr/>
        </p:nvSpPr>
        <p:spPr>
          <a:xfrm>
            <a:off x="5202936" y="1353312"/>
            <a:ext cx="1901952" cy="283464"/>
          </a:xfrm>
          <a:prstGeom prst="rect">
            <a:avLst/>
          </a:prstGeom>
          <a:noFill/>
        </p:spPr>
        <p:txBody>
          <a:bodyPr wrap="square" anchor="ctr" lIns="27432" rIns="27432" tIns="9144" bIns="9144">
            <a:spAutoFit/>
          </a:bodyPr>
          <a:lstStyle/>
          <a:p>
            <a:pPr algn="l">
              <a:spcAft>
                <a:spcPts val="0"/>
              </a:spcAft>
            </a:pPr>
            <a:r>
              <a:rPr sz="1500" b="1">
                <a:solidFill>
                  <a:srgbClr val="D99124"/>
                </a:solidFill>
                <a:latin typeface="Noto Sans CJK SC"/>
              </a:rPr>
              <a:t>12 组 · 3 seeds</a:t>
            </a:r>
          </a:p>
        </p:txBody>
      </p:sp>
      <p:sp>
        <p:nvSpPr>
          <p:cNvPr id="19" name="Rounded Rectangle 18"/>
          <p:cNvSpPr/>
          <p:nvPr/>
        </p:nvSpPr>
        <p:spPr>
          <a:xfrm>
            <a:off x="502920" y="1901952"/>
            <a:ext cx="6656832" cy="3054096"/>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029968"/>
            <a:ext cx="6199632" cy="292608"/>
          </a:xfrm>
          <a:prstGeom prst="rect">
            <a:avLst/>
          </a:prstGeom>
          <a:noFill/>
        </p:spPr>
        <p:txBody>
          <a:bodyPr wrap="square" anchor="ctr" lIns="27432" rIns="27432" tIns="9144" bIns="9144">
            <a:spAutoFit/>
          </a:bodyPr>
          <a:lstStyle/>
          <a:p>
            <a:pPr algn="l">
              <a:spcAft>
                <a:spcPts val="0"/>
              </a:spcAft>
            </a:pPr>
            <a:r>
              <a:rPr sz="1200" b="1">
                <a:solidFill>
                  <a:srgbClr val="192430"/>
                </a:solidFill>
                <a:latin typeface="Noto Sans CJK SC"/>
              </a:rPr>
              <a:t>只用 validation 选参，test 最后一次确认</a:t>
            </a:r>
          </a:p>
        </p:txBody>
      </p:sp>
      <p:sp>
        <p:nvSpPr>
          <p:cNvPr id="21" name="Rounded Rectangle 20"/>
          <p:cNvSpPr/>
          <p:nvPr/>
        </p:nvSpPr>
        <p:spPr>
          <a:xfrm>
            <a:off x="740664" y="2560320"/>
            <a:ext cx="1421892" cy="1298448"/>
          </a:xfrm>
          <a:prstGeom prst="roundRect">
            <a:avLst>
              <a:gd name="adj" fmla="val 6000"/>
            </a:avLst>
          </a:prstGeom>
          <a:solidFill>
            <a:srgbClr val="ECEFF2"/>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 y="2651760"/>
            <a:ext cx="365760" cy="219456"/>
          </a:xfrm>
          <a:prstGeom prst="rect">
            <a:avLst/>
          </a:prstGeom>
          <a:noFill/>
        </p:spPr>
        <p:txBody>
          <a:bodyPr wrap="square" anchor="ctr" lIns="27432" rIns="27432" tIns="9144" bIns="9144">
            <a:spAutoFit/>
          </a:bodyPr>
          <a:lstStyle/>
          <a:p>
            <a:pPr algn="l">
              <a:spcAft>
                <a:spcPts val="0"/>
              </a:spcAft>
            </a:pPr>
            <a:r>
              <a:rPr sz="1000" b="1">
                <a:solidFill>
                  <a:srgbClr val="2D70AA"/>
                </a:solidFill>
                <a:latin typeface="Noto Sans CJK SC"/>
              </a:rPr>
              <a:t>01</a:t>
            </a:r>
          </a:p>
        </p:txBody>
      </p:sp>
      <p:sp>
        <p:nvSpPr>
          <p:cNvPr id="23" name="TextBox 22"/>
          <p:cNvSpPr txBox="1"/>
          <p:nvPr/>
        </p:nvSpPr>
        <p:spPr>
          <a:xfrm>
            <a:off x="832104" y="2889504"/>
            <a:ext cx="1239012" cy="256032"/>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分组五折</a:t>
            </a:r>
          </a:p>
        </p:txBody>
      </p:sp>
      <p:sp>
        <p:nvSpPr>
          <p:cNvPr id="24" name="TextBox 23"/>
          <p:cNvSpPr txBox="1"/>
          <p:nvPr/>
        </p:nvSpPr>
        <p:spPr>
          <a:xfrm>
            <a:off x="832104" y="3172968"/>
            <a:ext cx="1239012" cy="475488"/>
          </a:xfrm>
          <a:prstGeom prst="rect">
            <a:avLst/>
          </a:prstGeom>
          <a:noFill/>
        </p:spPr>
        <p:txBody>
          <a:bodyPr wrap="square" anchor="ctr" lIns="27432" rIns="27432" tIns="9144" bIns="9144">
            <a:spAutoFit/>
          </a:bodyPr>
          <a:lstStyle/>
          <a:p>
            <a:pPr algn="l">
              <a:spcAft>
                <a:spcPts val="0"/>
              </a:spcAft>
            </a:pPr>
            <a:r>
              <a:rPr sz="919" b="0">
                <a:solidFill>
                  <a:srgbClr val="5B6875"/>
                </a:solidFill>
                <a:latin typeface="Noto Sans CJK SC"/>
              </a:rPr>
              <a:t>150 张 val
同序列不跨折</a:t>
            </a:r>
          </a:p>
        </p:txBody>
      </p:sp>
      <p:sp>
        <p:nvSpPr>
          <p:cNvPr id="25" name="Chevron 24"/>
          <p:cNvSpPr/>
          <p:nvPr/>
        </p:nvSpPr>
        <p:spPr>
          <a:xfrm>
            <a:off x="2194560" y="3017520"/>
            <a:ext cx="100584" cy="283464"/>
          </a:xfrm>
          <a:prstGeom prst="chevron">
            <a:avLst/>
          </a:prstGeom>
          <a:solidFill>
            <a:srgbClr val="DADFE5"/>
          </a:solidFill>
          <a:ln>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327148" y="2560320"/>
            <a:ext cx="1421892" cy="129844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8588" y="2651760"/>
            <a:ext cx="365760" cy="219456"/>
          </a:xfrm>
          <a:prstGeom prst="rect">
            <a:avLst/>
          </a:prstGeom>
          <a:noFill/>
        </p:spPr>
        <p:txBody>
          <a:bodyPr wrap="square" anchor="ctr" lIns="27432" rIns="27432" tIns="9144" bIns="9144">
            <a:spAutoFit/>
          </a:bodyPr>
          <a:lstStyle/>
          <a:p>
            <a:pPr algn="l">
              <a:spcAft>
                <a:spcPts val="0"/>
              </a:spcAft>
            </a:pPr>
            <a:r>
              <a:rPr sz="1000" b="1">
                <a:solidFill>
                  <a:srgbClr val="17857D"/>
                </a:solidFill>
                <a:latin typeface="Noto Sans CJK SC"/>
              </a:rPr>
              <a:t>02</a:t>
            </a:r>
          </a:p>
        </p:txBody>
      </p:sp>
      <p:sp>
        <p:nvSpPr>
          <p:cNvPr id="28" name="TextBox 27"/>
          <p:cNvSpPr txBox="1"/>
          <p:nvPr/>
        </p:nvSpPr>
        <p:spPr>
          <a:xfrm>
            <a:off x="2418588" y="2889504"/>
            <a:ext cx="1239012" cy="256032"/>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宽范围粗筛</a:t>
            </a:r>
          </a:p>
        </p:txBody>
      </p:sp>
      <p:sp>
        <p:nvSpPr>
          <p:cNvPr id="29" name="TextBox 28"/>
          <p:cNvSpPr txBox="1"/>
          <p:nvPr/>
        </p:nvSpPr>
        <p:spPr>
          <a:xfrm>
            <a:off x="2418588" y="3172968"/>
            <a:ext cx="1239012" cy="475488"/>
          </a:xfrm>
          <a:prstGeom prst="rect">
            <a:avLst/>
          </a:prstGeom>
          <a:noFill/>
        </p:spPr>
        <p:txBody>
          <a:bodyPr wrap="square" anchor="ctr" lIns="27432" rIns="27432" tIns="9144" bIns="9144">
            <a:spAutoFit/>
          </a:bodyPr>
          <a:lstStyle/>
          <a:p>
            <a:pPr algn="l">
              <a:spcAft>
                <a:spcPts val="0"/>
              </a:spcAft>
            </a:pPr>
            <a:r>
              <a:rPr sz="919" b="0">
                <a:solidFill>
                  <a:srgbClr val="5B6875"/>
                </a:solidFill>
                <a:latin typeface="Noto Sans CJK SC"/>
              </a:rPr>
              <a:t>136 组 · seed 42
180 epochs</a:t>
            </a:r>
          </a:p>
        </p:txBody>
      </p:sp>
      <p:sp>
        <p:nvSpPr>
          <p:cNvPr id="30" name="Chevron 29"/>
          <p:cNvSpPr/>
          <p:nvPr/>
        </p:nvSpPr>
        <p:spPr>
          <a:xfrm>
            <a:off x="3781044" y="3017520"/>
            <a:ext cx="100584" cy="283464"/>
          </a:xfrm>
          <a:prstGeom prst="chevron">
            <a:avLst/>
          </a:prstGeom>
          <a:solidFill>
            <a:srgbClr val="DADFE5"/>
          </a:solidFill>
          <a:ln>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913631" y="2560320"/>
            <a:ext cx="1421892" cy="129844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05071" y="2651760"/>
            <a:ext cx="365760" cy="219456"/>
          </a:xfrm>
          <a:prstGeom prst="rect">
            <a:avLst/>
          </a:prstGeom>
          <a:noFill/>
        </p:spPr>
        <p:txBody>
          <a:bodyPr wrap="square" anchor="ctr" lIns="27432" rIns="27432" tIns="9144" bIns="9144">
            <a:spAutoFit/>
          </a:bodyPr>
          <a:lstStyle/>
          <a:p>
            <a:pPr algn="l">
              <a:spcAft>
                <a:spcPts val="0"/>
              </a:spcAft>
            </a:pPr>
            <a:r>
              <a:rPr sz="1000" b="1">
                <a:solidFill>
                  <a:srgbClr val="D99124"/>
                </a:solidFill>
                <a:latin typeface="Noto Sans CJK SC"/>
              </a:rPr>
              <a:t>03</a:t>
            </a:r>
          </a:p>
        </p:txBody>
      </p:sp>
      <p:sp>
        <p:nvSpPr>
          <p:cNvPr id="33" name="TextBox 32"/>
          <p:cNvSpPr txBox="1"/>
          <p:nvPr/>
        </p:nvSpPr>
        <p:spPr>
          <a:xfrm>
            <a:off x="4005071" y="2889504"/>
            <a:ext cx="1239012" cy="256032"/>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稳定性复核</a:t>
            </a:r>
          </a:p>
        </p:txBody>
      </p:sp>
      <p:sp>
        <p:nvSpPr>
          <p:cNvPr id="34" name="TextBox 33"/>
          <p:cNvSpPr txBox="1"/>
          <p:nvPr/>
        </p:nvSpPr>
        <p:spPr>
          <a:xfrm>
            <a:off x="4005071" y="3172968"/>
            <a:ext cx="1239012" cy="475488"/>
          </a:xfrm>
          <a:prstGeom prst="rect">
            <a:avLst/>
          </a:prstGeom>
          <a:noFill/>
        </p:spPr>
        <p:txBody>
          <a:bodyPr wrap="square" anchor="ctr" lIns="27432" rIns="27432" tIns="9144" bIns="9144">
            <a:spAutoFit/>
          </a:bodyPr>
          <a:lstStyle/>
          <a:p>
            <a:pPr algn="l">
              <a:spcAft>
                <a:spcPts val="0"/>
              </a:spcAft>
            </a:pPr>
            <a:r>
              <a:rPr sz="919" b="0">
                <a:solidFill>
                  <a:srgbClr val="5B6875"/>
                </a:solidFill>
                <a:latin typeface="Noto Sans CJK SC"/>
              </a:rPr>
              <a:t>12 组 · 3 seeds
300 epochs</a:t>
            </a:r>
          </a:p>
        </p:txBody>
      </p:sp>
      <p:sp>
        <p:nvSpPr>
          <p:cNvPr id="35" name="Chevron 34"/>
          <p:cNvSpPr/>
          <p:nvPr/>
        </p:nvSpPr>
        <p:spPr>
          <a:xfrm>
            <a:off x="5367527" y="3017520"/>
            <a:ext cx="100584" cy="283464"/>
          </a:xfrm>
          <a:prstGeom prst="chevron">
            <a:avLst/>
          </a:prstGeom>
          <a:solidFill>
            <a:srgbClr val="DADFE5"/>
          </a:solidFill>
          <a:ln>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500116" y="2560320"/>
            <a:ext cx="1421892" cy="129844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91556" y="2651760"/>
            <a:ext cx="365760" cy="219456"/>
          </a:xfrm>
          <a:prstGeom prst="rect">
            <a:avLst/>
          </a:prstGeom>
          <a:noFill/>
        </p:spPr>
        <p:txBody>
          <a:bodyPr wrap="square" anchor="ctr" lIns="27432" rIns="27432" tIns="9144" bIns="9144">
            <a:spAutoFit/>
          </a:bodyPr>
          <a:lstStyle/>
          <a:p>
            <a:pPr algn="l">
              <a:spcAft>
                <a:spcPts val="0"/>
              </a:spcAft>
            </a:pPr>
            <a:r>
              <a:rPr sz="1000" b="1">
                <a:solidFill>
                  <a:srgbClr val="2D70AA"/>
                </a:solidFill>
                <a:latin typeface="Noto Sans CJK SC"/>
              </a:rPr>
              <a:t>04</a:t>
            </a:r>
          </a:p>
        </p:txBody>
      </p:sp>
      <p:sp>
        <p:nvSpPr>
          <p:cNvPr id="38" name="TextBox 37"/>
          <p:cNvSpPr txBox="1"/>
          <p:nvPr/>
        </p:nvSpPr>
        <p:spPr>
          <a:xfrm>
            <a:off x="5591556" y="2889504"/>
            <a:ext cx="1239012" cy="256032"/>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冻结后测试</a:t>
            </a:r>
          </a:p>
        </p:txBody>
      </p:sp>
      <p:sp>
        <p:nvSpPr>
          <p:cNvPr id="39" name="TextBox 38"/>
          <p:cNvSpPr txBox="1"/>
          <p:nvPr/>
        </p:nvSpPr>
        <p:spPr>
          <a:xfrm>
            <a:off x="5591556" y="3172968"/>
            <a:ext cx="1239012" cy="475488"/>
          </a:xfrm>
          <a:prstGeom prst="rect">
            <a:avLst/>
          </a:prstGeom>
          <a:noFill/>
        </p:spPr>
        <p:txBody>
          <a:bodyPr wrap="square" anchor="ctr" lIns="27432" rIns="27432" tIns="9144" bIns="9144">
            <a:spAutoFit/>
          </a:bodyPr>
          <a:lstStyle/>
          <a:p>
            <a:pPr algn="l">
              <a:spcAft>
                <a:spcPts val="0"/>
              </a:spcAft>
            </a:pPr>
            <a:r>
              <a:rPr sz="919" b="0">
                <a:solidFill>
                  <a:srgbClr val="5B6875"/>
                </a:solidFill>
                <a:latin typeface="Noto Sans CJK SC"/>
              </a:rPr>
              <a:t>Current + Challenger
test 不再调参</a:t>
            </a:r>
          </a:p>
        </p:txBody>
      </p:sp>
      <p:sp>
        <p:nvSpPr>
          <p:cNvPr id="40" name="TextBox 39"/>
          <p:cNvSpPr txBox="1"/>
          <p:nvPr/>
        </p:nvSpPr>
        <p:spPr>
          <a:xfrm>
            <a:off x="777240" y="4078224"/>
            <a:ext cx="6108192" cy="475488"/>
          </a:xfrm>
          <a:prstGeom prst="rect">
            <a:avLst/>
          </a:prstGeom>
          <a:noFill/>
        </p:spPr>
        <p:txBody>
          <a:bodyPr wrap="square" anchor="ctr" lIns="27432" rIns="27432" tIns="9144" bIns="9144">
            <a:spAutoFit/>
          </a:bodyPr>
          <a:lstStyle/>
          <a:p>
            <a:pPr algn="l">
              <a:spcAft>
                <a:spcPts val="0"/>
              </a:spcAft>
            </a:pPr>
            <a:r>
              <a:rPr sz="1019" b="0">
                <a:solidFill>
                  <a:srgbClr val="5B6875"/>
                </a:solidFill>
                <a:latin typeface="Noto Sans CJK SC"/>
              </a:rPr>
              <a:t>筛选规则：动作数与候选框 ≤ Current 的 105%；优先 Acc@0.5，差异 &lt; 0.002 时比较面积小目标 Recall、mAP 和动作数。</a:t>
            </a:r>
          </a:p>
        </p:txBody>
      </p:sp>
      <p:sp>
        <p:nvSpPr>
          <p:cNvPr id="41" name="Rectangle 40"/>
          <p:cNvSpPr/>
          <p:nvPr/>
        </p:nvSpPr>
        <p:spPr>
          <a:xfrm>
            <a:off x="7397496" y="1965960"/>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25512" y="1901952"/>
            <a:ext cx="4160520"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搜索空间覆盖</a:t>
            </a:r>
          </a:p>
        </p:txBody>
      </p:sp>
      <p:sp>
        <p:nvSpPr>
          <p:cNvPr id="43" name="Rounded Rectangle 42"/>
          <p:cNvSpPr/>
          <p:nvPr/>
        </p:nvSpPr>
        <p:spPr>
          <a:xfrm>
            <a:off x="7397496" y="2267712"/>
            <a:ext cx="4288536" cy="2688336"/>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97496" y="2267712"/>
            <a:ext cx="2487168" cy="44805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15783" y="2286000"/>
            <a:ext cx="2450592" cy="411480"/>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实验类型</a:t>
            </a:r>
          </a:p>
        </p:txBody>
      </p:sp>
      <p:sp>
        <p:nvSpPr>
          <p:cNvPr id="46" name="Rectangle 45"/>
          <p:cNvSpPr/>
          <p:nvPr/>
        </p:nvSpPr>
        <p:spPr>
          <a:xfrm>
            <a:off x="9884664" y="2267712"/>
            <a:ext cx="1801368" cy="448056"/>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02952" y="2286000"/>
            <a:ext cx="1764792" cy="411480"/>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配置数</a:t>
            </a:r>
          </a:p>
        </p:txBody>
      </p:sp>
      <p:sp>
        <p:nvSpPr>
          <p:cNvPr id="48" name="Rectangle 47"/>
          <p:cNvSpPr/>
          <p:nvPr/>
        </p:nvSpPr>
        <p:spPr>
          <a:xfrm>
            <a:off x="7397496" y="2715768"/>
            <a:ext cx="24871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34071" y="2724911"/>
            <a:ext cx="2414016" cy="429768"/>
          </a:xfrm>
          <a:prstGeom prst="rect">
            <a:avLst/>
          </a:prstGeom>
          <a:noFill/>
        </p:spPr>
        <p:txBody>
          <a:bodyPr wrap="square" anchor="ctr" lIns="27432" rIns="27432" tIns="9144" bIns="9144">
            <a:spAutoFit/>
          </a:bodyPr>
          <a:lstStyle/>
          <a:p>
            <a:pPr algn="l">
              <a:spcAft>
                <a:spcPts val="0"/>
              </a:spcAft>
            </a:pPr>
            <a:r>
              <a:rPr sz="950" b="0">
                <a:solidFill>
                  <a:srgbClr val="192430"/>
                </a:solidFill>
                <a:latin typeface="Noto Sans CJK SC"/>
              </a:rPr>
              <a:t>Current + 消融 + small 定义</a:t>
            </a:r>
          </a:p>
        </p:txBody>
      </p:sp>
      <p:sp>
        <p:nvSpPr>
          <p:cNvPr id="50" name="Rectangle 49"/>
          <p:cNvSpPr/>
          <p:nvPr/>
        </p:nvSpPr>
        <p:spPr>
          <a:xfrm>
            <a:off x="9884664" y="2715768"/>
            <a:ext cx="18013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921240" y="2724911"/>
            <a:ext cx="1728216" cy="429768"/>
          </a:xfrm>
          <a:prstGeom prst="rect">
            <a:avLst/>
          </a:prstGeom>
          <a:noFill/>
        </p:spPr>
        <p:txBody>
          <a:bodyPr wrap="square" anchor="ctr" lIns="27432" rIns="27432" tIns="9144" bIns="9144">
            <a:spAutoFit/>
          </a:bodyPr>
          <a:lstStyle/>
          <a:p>
            <a:pPr algn="ctr">
              <a:spcAft>
                <a:spcPts val="0"/>
              </a:spcAft>
            </a:pPr>
            <a:r>
              <a:rPr sz="950" b="0">
                <a:solidFill>
                  <a:srgbClr val="192430"/>
                </a:solidFill>
                <a:latin typeface="Noto Sans CJK SC"/>
              </a:rPr>
              <a:t>13</a:t>
            </a:r>
          </a:p>
        </p:txBody>
      </p:sp>
      <p:sp>
        <p:nvSpPr>
          <p:cNvPr id="52" name="Rectangle 51"/>
          <p:cNvSpPr/>
          <p:nvPr/>
        </p:nvSpPr>
        <p:spPr>
          <a:xfrm>
            <a:off x="7397496" y="3163824"/>
            <a:ext cx="24871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4071" y="3172968"/>
            <a:ext cx="2414016" cy="429768"/>
          </a:xfrm>
          <a:prstGeom prst="rect">
            <a:avLst/>
          </a:prstGeom>
          <a:noFill/>
        </p:spPr>
        <p:txBody>
          <a:bodyPr wrap="square" anchor="ctr" lIns="27432" rIns="27432" tIns="9144" bIns="9144">
            <a:spAutoFit/>
          </a:bodyPr>
          <a:lstStyle/>
          <a:p>
            <a:pPr algn="l">
              <a:spcAft>
                <a:spcPts val="0"/>
              </a:spcAft>
            </a:pPr>
            <a:r>
              <a:rPr sz="950" b="0">
                <a:solidFill>
                  <a:srgbClr val="192430"/>
                </a:solidFill>
                <a:latin typeface="Noto Sans CJK SC"/>
              </a:rPr>
              <a:t>7 类单因素趋势</a:t>
            </a:r>
          </a:p>
        </p:txBody>
      </p:sp>
      <p:sp>
        <p:nvSpPr>
          <p:cNvPr id="54" name="Rectangle 53"/>
          <p:cNvSpPr/>
          <p:nvPr/>
        </p:nvSpPr>
        <p:spPr>
          <a:xfrm>
            <a:off x="9884664" y="3163824"/>
            <a:ext cx="18013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21240" y="3172968"/>
            <a:ext cx="1728216" cy="429768"/>
          </a:xfrm>
          <a:prstGeom prst="rect">
            <a:avLst/>
          </a:prstGeom>
          <a:noFill/>
        </p:spPr>
        <p:txBody>
          <a:bodyPr wrap="square" anchor="ctr" lIns="27432" rIns="27432" tIns="9144" bIns="9144">
            <a:spAutoFit/>
          </a:bodyPr>
          <a:lstStyle/>
          <a:p>
            <a:pPr algn="ctr">
              <a:spcAft>
                <a:spcPts val="0"/>
              </a:spcAft>
            </a:pPr>
            <a:r>
              <a:rPr sz="950" b="0">
                <a:solidFill>
                  <a:srgbClr val="192430"/>
                </a:solidFill>
                <a:latin typeface="Noto Sans CJK SC"/>
              </a:rPr>
              <a:t>35</a:t>
            </a:r>
          </a:p>
        </p:txBody>
      </p:sp>
      <p:sp>
        <p:nvSpPr>
          <p:cNvPr id="56" name="Rectangle 55"/>
          <p:cNvSpPr/>
          <p:nvPr/>
        </p:nvSpPr>
        <p:spPr>
          <a:xfrm>
            <a:off x="7397496" y="3611880"/>
            <a:ext cx="24871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34071" y="3621024"/>
            <a:ext cx="2414016" cy="429768"/>
          </a:xfrm>
          <a:prstGeom prst="rect">
            <a:avLst/>
          </a:prstGeom>
          <a:noFill/>
        </p:spPr>
        <p:txBody>
          <a:bodyPr wrap="square" anchor="ctr" lIns="27432" rIns="27432" tIns="9144" bIns="9144">
            <a:spAutoFit/>
          </a:bodyPr>
          <a:lstStyle/>
          <a:p>
            <a:pPr algn="l">
              <a:spcAft>
                <a:spcPts val="0"/>
              </a:spcAft>
            </a:pPr>
            <a:r>
              <a:rPr sz="950" b="0">
                <a:solidFill>
                  <a:srgbClr val="192430"/>
                </a:solidFill>
                <a:latin typeface="Noto Sans CJK SC"/>
              </a:rPr>
              <a:t>3 组二因素响应面</a:t>
            </a:r>
          </a:p>
        </p:txBody>
      </p:sp>
      <p:sp>
        <p:nvSpPr>
          <p:cNvPr id="58" name="Rectangle 57"/>
          <p:cNvSpPr/>
          <p:nvPr/>
        </p:nvSpPr>
        <p:spPr>
          <a:xfrm>
            <a:off x="9884664" y="3611880"/>
            <a:ext cx="18013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921240" y="3621024"/>
            <a:ext cx="1728216" cy="429768"/>
          </a:xfrm>
          <a:prstGeom prst="rect">
            <a:avLst/>
          </a:prstGeom>
          <a:noFill/>
        </p:spPr>
        <p:txBody>
          <a:bodyPr wrap="square" anchor="ctr" lIns="27432" rIns="27432" tIns="9144" bIns="9144">
            <a:spAutoFit/>
          </a:bodyPr>
          <a:lstStyle/>
          <a:p>
            <a:pPr algn="ctr">
              <a:spcAft>
                <a:spcPts val="0"/>
              </a:spcAft>
            </a:pPr>
            <a:r>
              <a:rPr sz="950" b="0">
                <a:solidFill>
                  <a:srgbClr val="192430"/>
                </a:solidFill>
                <a:latin typeface="Noto Sans CJK SC"/>
              </a:rPr>
              <a:t>48</a:t>
            </a:r>
          </a:p>
        </p:txBody>
      </p:sp>
      <p:sp>
        <p:nvSpPr>
          <p:cNvPr id="60" name="Rectangle 59"/>
          <p:cNvSpPr/>
          <p:nvPr/>
        </p:nvSpPr>
        <p:spPr>
          <a:xfrm>
            <a:off x="7397496" y="4059935"/>
            <a:ext cx="24871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1" y="4069079"/>
            <a:ext cx="2414016" cy="429768"/>
          </a:xfrm>
          <a:prstGeom prst="rect">
            <a:avLst/>
          </a:prstGeom>
          <a:noFill/>
        </p:spPr>
        <p:txBody>
          <a:bodyPr wrap="square" anchor="ctr" lIns="27432" rIns="27432" tIns="9144" bIns="9144">
            <a:spAutoFit/>
          </a:bodyPr>
          <a:lstStyle/>
          <a:p>
            <a:pPr algn="l">
              <a:spcAft>
                <a:spcPts val="0"/>
              </a:spcAft>
            </a:pPr>
            <a:r>
              <a:rPr sz="950" b="0">
                <a:solidFill>
                  <a:srgbClr val="192430"/>
                </a:solidFill>
                <a:latin typeface="Noto Sans CJK SC"/>
              </a:rPr>
              <a:t>四维单纯形全局采样</a:t>
            </a:r>
          </a:p>
        </p:txBody>
      </p:sp>
      <p:sp>
        <p:nvSpPr>
          <p:cNvPr id="62" name="Rectangle 61"/>
          <p:cNvSpPr/>
          <p:nvPr/>
        </p:nvSpPr>
        <p:spPr>
          <a:xfrm>
            <a:off x="9884664" y="4059935"/>
            <a:ext cx="1801368" cy="448056"/>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921240" y="4069079"/>
            <a:ext cx="1728216" cy="429768"/>
          </a:xfrm>
          <a:prstGeom prst="rect">
            <a:avLst/>
          </a:prstGeom>
          <a:noFill/>
        </p:spPr>
        <p:txBody>
          <a:bodyPr wrap="square" anchor="ctr" lIns="27432" rIns="27432" tIns="9144" bIns="9144">
            <a:spAutoFit/>
          </a:bodyPr>
          <a:lstStyle/>
          <a:p>
            <a:pPr algn="ctr">
              <a:spcAft>
                <a:spcPts val="0"/>
              </a:spcAft>
            </a:pPr>
            <a:r>
              <a:rPr sz="950" b="0">
                <a:solidFill>
                  <a:srgbClr val="192430"/>
                </a:solidFill>
                <a:latin typeface="Noto Sans CJK SC"/>
              </a:rPr>
              <a:t>40</a:t>
            </a:r>
          </a:p>
        </p:txBody>
      </p:sp>
      <p:sp>
        <p:nvSpPr>
          <p:cNvPr id="64" name="Rectangle 63"/>
          <p:cNvSpPr/>
          <p:nvPr/>
        </p:nvSpPr>
        <p:spPr>
          <a:xfrm>
            <a:off x="7397496" y="4507992"/>
            <a:ext cx="2487168" cy="44805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1" y="4517136"/>
            <a:ext cx="2414016" cy="429768"/>
          </a:xfrm>
          <a:prstGeom prst="rect">
            <a:avLst/>
          </a:prstGeom>
          <a:noFill/>
        </p:spPr>
        <p:txBody>
          <a:bodyPr wrap="square" anchor="ctr" lIns="27432" rIns="27432" tIns="9144" bIns="9144">
            <a:spAutoFit/>
          </a:bodyPr>
          <a:lstStyle/>
          <a:p>
            <a:pPr algn="l">
              <a:spcAft>
                <a:spcPts val="0"/>
              </a:spcAft>
            </a:pPr>
            <a:r>
              <a:rPr sz="950" b="1">
                <a:solidFill>
                  <a:srgbClr val="2D70AA"/>
                </a:solidFill>
                <a:latin typeface="Noto Sans CJK SC"/>
              </a:rPr>
              <a:t>合计</a:t>
            </a:r>
          </a:p>
        </p:txBody>
      </p:sp>
      <p:sp>
        <p:nvSpPr>
          <p:cNvPr id="66" name="Rectangle 65"/>
          <p:cNvSpPr/>
          <p:nvPr/>
        </p:nvSpPr>
        <p:spPr>
          <a:xfrm>
            <a:off x="9884664" y="4507992"/>
            <a:ext cx="1801368" cy="448056"/>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921240" y="4517136"/>
            <a:ext cx="1728216" cy="429768"/>
          </a:xfrm>
          <a:prstGeom prst="rect">
            <a:avLst/>
          </a:prstGeom>
          <a:noFill/>
        </p:spPr>
        <p:txBody>
          <a:bodyPr wrap="square" anchor="ctr" lIns="27432" rIns="27432" tIns="9144" bIns="9144">
            <a:spAutoFit/>
          </a:bodyPr>
          <a:lstStyle/>
          <a:p>
            <a:pPr algn="ctr">
              <a:spcAft>
                <a:spcPts val="0"/>
              </a:spcAft>
            </a:pPr>
            <a:r>
              <a:rPr sz="950" b="1">
                <a:solidFill>
                  <a:srgbClr val="2D70AA"/>
                </a:solidFill>
                <a:latin typeface="Noto Sans CJK SC"/>
              </a:rPr>
              <a:t>136</a:t>
            </a:r>
          </a:p>
        </p:txBody>
      </p:sp>
      <p:sp>
        <p:nvSpPr>
          <p:cNvPr id="68" name="Rounded Rectangle 67"/>
          <p:cNvSpPr/>
          <p:nvPr/>
        </p:nvSpPr>
        <p:spPr>
          <a:xfrm>
            <a:off x="502920" y="5175504"/>
            <a:ext cx="11183112" cy="960120"/>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49808" y="5367528"/>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77824" y="5303520"/>
            <a:ext cx="1106424"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结论</a:t>
            </a:r>
          </a:p>
        </p:txBody>
      </p:sp>
      <p:sp>
        <p:nvSpPr>
          <p:cNvPr id="71" name="TextBox 70"/>
          <p:cNvSpPr txBox="1"/>
          <p:nvPr/>
        </p:nvSpPr>
        <p:spPr>
          <a:xfrm>
            <a:off x="1874519" y="5257800"/>
            <a:ext cx="9464040" cy="384048"/>
          </a:xfrm>
          <a:prstGeom prst="rect">
            <a:avLst/>
          </a:prstGeom>
          <a:noFill/>
        </p:spPr>
        <p:txBody>
          <a:bodyPr wrap="square" anchor="ctr" lIns="45720" rIns="45720" tIns="9144" bIns="9144">
            <a:spAutoFit/>
          </a:bodyPr>
          <a:lstStyle/>
          <a:p>
            <a:pPr algn="l"/>
            <a:r>
              <a:rPr sz="1300" b="1">
                <a:solidFill>
                  <a:srgbClr val="2D70AA"/>
                </a:solidFill>
                <a:latin typeface="Noto Sans CJK SC"/>
              </a:rPr>
              <a:t>选参证据来自 validation</a:t>
            </a:r>
            <a:r>
              <a:rPr sz="1300" b="0">
                <a:solidFill>
                  <a:srgbClr val="192430"/>
                </a:solidFill>
                <a:latin typeface="Noto Sans CJK SC"/>
              </a:rPr>
              <a:t>；test 只在配置冻结后用于一次独立泛化确认。</a:t>
            </a:r>
          </a:p>
        </p:txBody>
      </p:sp>
      <p:sp>
        <p:nvSpPr>
          <p:cNvPr id="72" name="TextBox 71"/>
          <p:cNvSpPr txBox="1"/>
          <p:nvPr/>
        </p:nvSpPr>
        <p:spPr>
          <a:xfrm>
            <a:off x="1874519" y="5641848"/>
            <a:ext cx="9464040" cy="274320"/>
          </a:xfrm>
          <a:prstGeom prst="rect">
            <a:avLst/>
          </a:prstGeom>
          <a:noFill/>
        </p:spPr>
        <p:txBody>
          <a:bodyPr wrap="square" anchor="ctr" lIns="27432" rIns="27432" tIns="9144" bIns="9144">
            <a:spAutoFit/>
          </a:bodyPr>
          <a:lstStyle/>
          <a:p>
            <a:pPr algn="l">
              <a:spcAft>
                <a:spcPts val="0"/>
              </a:spcAft>
            </a:pPr>
            <a:r>
              <a:rPr sz="1120" b="0">
                <a:solidFill>
                  <a:srgbClr val="5B6875"/>
                </a:solidFill>
                <a:latin typeface="Noto Sans CJK SC"/>
              </a:rPr>
              <a:t>避免用 test 反复试权重；所有入围配置均重新训练策略，而不是只换评分公式。</a:t>
            </a:r>
          </a:p>
        </p:txBody>
      </p:sp>
      <p:sp>
        <p:nvSpPr>
          <p:cNvPr id="73" name="TextBox 72"/>
          <p:cNvSpPr txBox="1"/>
          <p:nvPr/>
        </p:nvSpPr>
        <p:spPr>
          <a:xfrm>
            <a:off x="530352" y="6272784"/>
            <a:ext cx="10789920" cy="164592"/>
          </a:xfrm>
          <a:prstGeom prst="rect">
            <a:avLst/>
          </a:prstGeom>
          <a:noFill/>
        </p:spPr>
        <p:txBody>
          <a:bodyPr wrap="square" anchor="ctr" lIns="27432" rIns="27432" tIns="9144" bIns="9144">
            <a:spAutoFit/>
          </a:bodyPr>
          <a:lstStyle/>
          <a:p>
            <a:pPr algn="l">
              <a:spcAft>
                <a:spcPts val="0"/>
              </a:spcAft>
            </a:pPr>
            <a:r>
              <a:rPr sz="880" b="0">
                <a:solidFill>
                  <a:srgbClr val="5B6875"/>
                </a:solidFill>
                <a:latin typeface="Noto Sans CJK SC"/>
              </a:rPr>
              <a:t>成本约束：平均动作数与预测框数不超过 Current 的 105%。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56032"/>
            <a:ext cx="502920" cy="310896"/>
          </a:xfrm>
          <a:prstGeom prst="rect">
            <a:avLst/>
          </a:prstGeom>
          <a:noFill/>
        </p:spPr>
        <p:txBody>
          <a:bodyPr wrap="square" anchor="ctr" lIns="27432" rIns="27432" tIns="9144" bIns="9144">
            <a:spAutoFit/>
          </a:bodyPr>
          <a:lstStyle/>
          <a:p>
            <a:pPr algn="l">
              <a:spcAft>
                <a:spcPts val="0"/>
              </a:spcAft>
            </a:pPr>
            <a:r>
              <a:rPr sz="1200" b="1">
                <a:solidFill>
                  <a:srgbClr val="2D70AA"/>
                </a:solidFill>
                <a:latin typeface="Noto Sans CJK SC"/>
              </a:rPr>
              <a:t>08</a:t>
            </a:r>
          </a:p>
        </p:txBody>
      </p:sp>
      <p:sp>
        <p:nvSpPr>
          <p:cNvPr id="4" name="TextBox 3"/>
          <p:cNvSpPr txBox="1"/>
          <p:nvPr/>
        </p:nvSpPr>
        <p:spPr>
          <a:xfrm>
            <a:off x="932688" y="201168"/>
            <a:ext cx="10744200" cy="475488"/>
          </a:xfrm>
          <a:prstGeom prst="rect">
            <a:avLst/>
          </a:prstGeom>
          <a:noFill/>
        </p:spPr>
        <p:txBody>
          <a:bodyPr wrap="square" anchor="ctr" lIns="27432" rIns="27432" tIns="9144" bIns="9144">
            <a:spAutoFit/>
          </a:bodyPr>
          <a:lstStyle/>
          <a:p>
            <a:pPr algn="l">
              <a:spcAft>
                <a:spcPts val="0"/>
              </a:spcAft>
            </a:pPr>
            <a:r>
              <a:rPr sz="2400" b="1">
                <a:solidFill>
                  <a:srgbClr val="192430"/>
                </a:solidFill>
                <a:latin typeface="Noto Sans CJK SC"/>
              </a:rPr>
              <a:t>为什么 Recall@0.5 的系数是 0.40</a:t>
            </a:r>
          </a:p>
        </p:txBody>
      </p:sp>
      <p:sp>
        <p:nvSpPr>
          <p:cNvPr id="5" name="TextBox 4"/>
          <p:cNvSpPr txBox="1"/>
          <p:nvPr/>
        </p:nvSpPr>
        <p:spPr>
          <a:xfrm>
            <a:off x="941832" y="658368"/>
            <a:ext cx="10698480" cy="274320"/>
          </a:xfrm>
          <a:prstGeom prst="rect">
            <a:avLst/>
          </a:prstGeom>
          <a:noFill/>
        </p:spPr>
        <p:txBody>
          <a:bodyPr wrap="square" anchor="ctr" lIns="27432" rIns="27432" tIns="9144" bIns="9144">
            <a:spAutoFit/>
          </a:bodyPr>
          <a:lstStyle/>
          <a:p>
            <a:pPr algn="l">
              <a:spcAft>
                <a:spcPts val="0"/>
              </a:spcAft>
            </a:pPr>
            <a:r>
              <a:rPr sz="1050" b="0">
                <a:solidFill>
                  <a:srgbClr val="5B6875"/>
                </a:solidFill>
                <a:latin typeface="Noto Sans CJK SC"/>
              </a:rPr>
              <a:t>保持正奖励总和 1.22 · 扫描 0 至 0.60 · 同时比较检测收益与动作成本</a:t>
            </a:r>
          </a:p>
        </p:txBody>
      </p:sp>
      <p:sp>
        <p:nvSpPr>
          <p:cNvPr id="6" name="TextBox 5"/>
          <p:cNvSpPr txBox="1"/>
          <p:nvPr/>
        </p:nvSpPr>
        <p:spPr>
          <a:xfrm>
            <a:off x="11393424" y="6510528"/>
            <a:ext cx="347472" cy="182880"/>
          </a:xfrm>
          <a:prstGeom prst="rect">
            <a:avLst/>
          </a:prstGeom>
          <a:noFill/>
        </p:spPr>
        <p:txBody>
          <a:bodyPr wrap="square" anchor="ctr" lIns="27432" rIns="27432" tIns="9144" bIns="9144">
            <a:spAutoFit/>
          </a:bodyPr>
          <a:lstStyle/>
          <a:p>
            <a:pPr algn="r">
              <a:spcAft>
                <a:spcPts val="0"/>
              </a:spcAft>
            </a:pPr>
            <a:r>
              <a:rPr sz="900" b="0">
                <a:solidFill>
                  <a:srgbClr val="5B6875"/>
                </a:solidFill>
                <a:latin typeface="Noto Sans CJK SC"/>
              </a:rPr>
              <a:t>6</a:t>
            </a:r>
          </a:p>
        </p:txBody>
      </p:sp>
      <p:sp>
        <p:nvSpPr>
          <p:cNvPr id="7" name="Rounded Rectangle 6"/>
          <p:cNvSpPr/>
          <p:nvPr/>
        </p:nvSpPr>
        <p:spPr>
          <a:xfrm>
            <a:off x="502920"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正奖励占比</a:t>
            </a:r>
          </a:p>
        </p:txBody>
      </p:sp>
      <p:sp>
        <p:nvSpPr>
          <p:cNvPr id="10" name="TextBox 9"/>
          <p:cNvSpPr txBox="1"/>
          <p:nvPr/>
        </p:nvSpPr>
        <p:spPr>
          <a:xfrm>
            <a:off x="667512" y="1353312"/>
            <a:ext cx="1901952" cy="283464"/>
          </a:xfrm>
          <a:prstGeom prst="rect">
            <a:avLst/>
          </a:prstGeom>
          <a:noFill/>
        </p:spPr>
        <p:txBody>
          <a:bodyPr wrap="square" anchor="ctr" lIns="27432" rIns="27432" tIns="9144" bIns="9144">
            <a:spAutoFit/>
          </a:bodyPr>
          <a:lstStyle/>
          <a:p>
            <a:pPr algn="l">
              <a:spcAft>
                <a:spcPts val="0"/>
              </a:spcAft>
            </a:pPr>
            <a:r>
              <a:rPr sz="1450" b="1">
                <a:solidFill>
                  <a:srgbClr val="2D70AA"/>
                </a:solidFill>
                <a:latin typeface="Noto Sans CJK SC"/>
              </a:rPr>
              <a:t>0.40 / 1.22 = 32.8%</a:t>
            </a:r>
          </a:p>
        </p:txBody>
      </p:sp>
      <p:sp>
        <p:nvSpPr>
          <p:cNvPr id="11" name="Rounded Rectangle 10"/>
          <p:cNvSpPr/>
          <p:nvPr/>
        </p:nvSpPr>
        <p:spPr>
          <a:xfrm>
            <a:off x="2770632"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632"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224"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扫描范围</a:t>
            </a:r>
          </a:p>
        </p:txBody>
      </p:sp>
      <p:sp>
        <p:nvSpPr>
          <p:cNvPr id="14" name="TextBox 13"/>
          <p:cNvSpPr txBox="1"/>
          <p:nvPr/>
        </p:nvSpPr>
        <p:spPr>
          <a:xfrm>
            <a:off x="2935224" y="1353312"/>
            <a:ext cx="1901952" cy="283464"/>
          </a:xfrm>
          <a:prstGeom prst="rect">
            <a:avLst/>
          </a:prstGeom>
          <a:noFill/>
        </p:spPr>
        <p:txBody>
          <a:bodyPr wrap="square" anchor="ctr" lIns="27432" rIns="27432" tIns="9144" bIns="9144">
            <a:spAutoFit/>
          </a:bodyPr>
          <a:lstStyle/>
          <a:p>
            <a:pPr algn="l">
              <a:spcAft>
                <a:spcPts val="0"/>
              </a:spcAft>
            </a:pPr>
            <a:r>
              <a:rPr sz="1500" b="1">
                <a:solidFill>
                  <a:srgbClr val="17857D"/>
                </a:solidFill>
                <a:latin typeface="Noto Sans CJK SC"/>
              </a:rPr>
              <a:t>7 点 · 0 → 0.60</a:t>
            </a:r>
          </a:p>
        </p:txBody>
      </p:sp>
      <p:sp>
        <p:nvSpPr>
          <p:cNvPr id="15" name="Rounded Rectangle 14"/>
          <p:cNvSpPr/>
          <p:nvPr/>
        </p:nvSpPr>
        <p:spPr>
          <a:xfrm>
            <a:off x="5038344"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38344"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2936"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确认阶段动作数</a:t>
            </a:r>
          </a:p>
        </p:txBody>
      </p:sp>
      <p:sp>
        <p:nvSpPr>
          <p:cNvPr id="18" name="TextBox 17"/>
          <p:cNvSpPr txBox="1"/>
          <p:nvPr/>
        </p:nvSpPr>
        <p:spPr>
          <a:xfrm>
            <a:off x="5202936" y="1353312"/>
            <a:ext cx="1901952" cy="283464"/>
          </a:xfrm>
          <a:prstGeom prst="rect">
            <a:avLst/>
          </a:prstGeom>
          <a:noFill/>
        </p:spPr>
        <p:txBody>
          <a:bodyPr wrap="square" anchor="ctr" lIns="27432" rIns="27432" tIns="9144" bIns="9144">
            <a:spAutoFit/>
          </a:bodyPr>
          <a:lstStyle/>
          <a:p>
            <a:pPr algn="l">
              <a:spcAft>
                <a:spcPts val="0"/>
              </a:spcAft>
            </a:pPr>
            <a:r>
              <a:rPr sz="1500" b="1">
                <a:solidFill>
                  <a:srgbClr val="D99124"/>
                </a:solidFill>
                <a:latin typeface="Noto Sans CJK SC"/>
              </a:rPr>
              <a:t>1.447 &lt; 1.513</a:t>
            </a:r>
          </a:p>
        </p:txBody>
      </p:sp>
      <p:sp>
        <p:nvSpPr>
          <p:cNvPr id="19" name="Rectangle 18"/>
          <p:cNvSpPr/>
          <p:nvPr/>
        </p:nvSpPr>
        <p:spPr>
          <a:xfrm>
            <a:off x="502920" y="2011679"/>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1947672"/>
            <a:ext cx="6044184"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Recall@0.5 单因素宽范围扫描</a:t>
            </a:r>
          </a:p>
        </p:txBody>
      </p:sp>
      <p:sp>
        <p:nvSpPr>
          <p:cNvPr id="21" name="Rounded Rectangle 20"/>
          <p:cNvSpPr/>
          <p:nvPr/>
        </p:nvSpPr>
        <p:spPr>
          <a:xfrm>
            <a:off x="502920" y="2331720"/>
            <a:ext cx="5687568" cy="2706624"/>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2331720"/>
            <a:ext cx="1005840" cy="338328"/>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2350008"/>
            <a:ext cx="969264" cy="301752"/>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w_R@0.5</a:t>
            </a:r>
          </a:p>
        </p:txBody>
      </p:sp>
      <p:sp>
        <p:nvSpPr>
          <p:cNvPr id="24" name="Rectangle 23"/>
          <p:cNvSpPr/>
          <p:nvPr/>
        </p:nvSpPr>
        <p:spPr>
          <a:xfrm>
            <a:off x="1508760" y="2331720"/>
            <a:ext cx="1097280" cy="338328"/>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7048" y="2350008"/>
            <a:ext cx="1060704" cy="301752"/>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Acc@0.5</a:t>
            </a:r>
          </a:p>
        </p:txBody>
      </p:sp>
      <p:sp>
        <p:nvSpPr>
          <p:cNvPr id="26" name="Rectangle 25"/>
          <p:cNvSpPr/>
          <p:nvPr/>
        </p:nvSpPr>
        <p:spPr>
          <a:xfrm>
            <a:off x="2606040" y="2331720"/>
            <a:ext cx="1207008" cy="338328"/>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24328" y="2350008"/>
            <a:ext cx="1170432" cy="301752"/>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Small R</a:t>
            </a:r>
          </a:p>
        </p:txBody>
      </p:sp>
      <p:sp>
        <p:nvSpPr>
          <p:cNvPr id="28" name="Rectangle 27"/>
          <p:cNvSpPr/>
          <p:nvPr/>
        </p:nvSpPr>
        <p:spPr>
          <a:xfrm>
            <a:off x="3813048" y="2331720"/>
            <a:ext cx="1024128" cy="338328"/>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31335" y="2350008"/>
            <a:ext cx="987552" cy="301752"/>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动作/图</a:t>
            </a:r>
          </a:p>
        </p:txBody>
      </p:sp>
      <p:sp>
        <p:nvSpPr>
          <p:cNvPr id="30" name="Rectangle 29"/>
          <p:cNvSpPr/>
          <p:nvPr/>
        </p:nvSpPr>
        <p:spPr>
          <a:xfrm>
            <a:off x="4837176" y="2331720"/>
            <a:ext cx="1353312" cy="338328"/>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55464" y="2350008"/>
            <a:ext cx="1316736" cy="301752"/>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成本约束</a:t>
            </a:r>
          </a:p>
        </p:txBody>
      </p:sp>
      <p:sp>
        <p:nvSpPr>
          <p:cNvPr id="32" name="Rectangle 31"/>
          <p:cNvSpPr/>
          <p:nvPr/>
        </p:nvSpPr>
        <p:spPr>
          <a:xfrm>
            <a:off x="502920" y="2670048"/>
            <a:ext cx="100584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9496" y="2679191"/>
            <a:ext cx="932688" cy="320040"/>
          </a:xfrm>
          <a:prstGeom prst="rect">
            <a:avLst/>
          </a:prstGeom>
          <a:noFill/>
        </p:spPr>
        <p:txBody>
          <a:bodyPr wrap="square" anchor="ctr" lIns="27432" rIns="27432" tIns="9144" bIns="9144">
            <a:spAutoFit/>
          </a:bodyPr>
          <a:lstStyle/>
          <a:p>
            <a:pPr algn="l">
              <a:spcAft>
                <a:spcPts val="0"/>
              </a:spcAft>
            </a:pPr>
            <a:r>
              <a:rPr sz="880" b="0">
                <a:solidFill>
                  <a:srgbClr val="192430"/>
                </a:solidFill>
                <a:latin typeface="Noto Sans CJK SC"/>
              </a:rPr>
              <a:t>0.0000</a:t>
            </a:r>
          </a:p>
        </p:txBody>
      </p:sp>
      <p:sp>
        <p:nvSpPr>
          <p:cNvPr id="34" name="Rectangle 33"/>
          <p:cNvSpPr/>
          <p:nvPr/>
        </p:nvSpPr>
        <p:spPr>
          <a:xfrm>
            <a:off x="1508760" y="2670048"/>
            <a:ext cx="109728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45336" y="2679191"/>
            <a:ext cx="1024127"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0.5057</a:t>
            </a:r>
          </a:p>
        </p:txBody>
      </p:sp>
      <p:sp>
        <p:nvSpPr>
          <p:cNvPr id="36" name="Rectangle 35"/>
          <p:cNvSpPr/>
          <p:nvPr/>
        </p:nvSpPr>
        <p:spPr>
          <a:xfrm>
            <a:off x="2606040" y="2670048"/>
            <a:ext cx="120700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642616" y="2679191"/>
            <a:ext cx="113385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0.3841</a:t>
            </a:r>
          </a:p>
        </p:txBody>
      </p:sp>
      <p:sp>
        <p:nvSpPr>
          <p:cNvPr id="38" name="Rectangle 37"/>
          <p:cNvSpPr/>
          <p:nvPr/>
        </p:nvSpPr>
        <p:spPr>
          <a:xfrm>
            <a:off x="3813048" y="2670048"/>
            <a:ext cx="102412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9624" y="2679191"/>
            <a:ext cx="95097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1.220</a:t>
            </a:r>
          </a:p>
        </p:txBody>
      </p:sp>
      <p:sp>
        <p:nvSpPr>
          <p:cNvPr id="40" name="Rectangle 39"/>
          <p:cNvSpPr/>
          <p:nvPr/>
        </p:nvSpPr>
        <p:spPr>
          <a:xfrm>
            <a:off x="4837176" y="2670048"/>
            <a:ext cx="1353312"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73752" y="2679191"/>
            <a:ext cx="1280160"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不满足</a:t>
            </a:r>
          </a:p>
        </p:txBody>
      </p:sp>
      <p:sp>
        <p:nvSpPr>
          <p:cNvPr id="42" name="Rectangle 41"/>
          <p:cNvSpPr/>
          <p:nvPr/>
        </p:nvSpPr>
        <p:spPr>
          <a:xfrm>
            <a:off x="502920" y="3008376"/>
            <a:ext cx="100584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496" y="3017520"/>
            <a:ext cx="932688" cy="320040"/>
          </a:xfrm>
          <a:prstGeom prst="rect">
            <a:avLst/>
          </a:prstGeom>
          <a:noFill/>
        </p:spPr>
        <p:txBody>
          <a:bodyPr wrap="square" anchor="ctr" lIns="27432" rIns="27432" tIns="9144" bIns="9144">
            <a:spAutoFit/>
          </a:bodyPr>
          <a:lstStyle/>
          <a:p>
            <a:pPr algn="l">
              <a:spcAft>
                <a:spcPts val="0"/>
              </a:spcAft>
            </a:pPr>
            <a:r>
              <a:rPr sz="880" b="0">
                <a:solidFill>
                  <a:srgbClr val="192430"/>
                </a:solidFill>
                <a:latin typeface="Noto Sans CJK SC"/>
              </a:rPr>
              <a:t>0.2392</a:t>
            </a:r>
          </a:p>
        </p:txBody>
      </p:sp>
      <p:sp>
        <p:nvSpPr>
          <p:cNvPr id="44" name="Rectangle 43"/>
          <p:cNvSpPr/>
          <p:nvPr/>
        </p:nvSpPr>
        <p:spPr>
          <a:xfrm>
            <a:off x="1508760" y="3008376"/>
            <a:ext cx="109728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45336" y="3017520"/>
            <a:ext cx="1024127"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0.5061</a:t>
            </a:r>
          </a:p>
        </p:txBody>
      </p:sp>
      <p:sp>
        <p:nvSpPr>
          <p:cNvPr id="46" name="Rectangle 45"/>
          <p:cNvSpPr/>
          <p:nvPr/>
        </p:nvSpPr>
        <p:spPr>
          <a:xfrm>
            <a:off x="2606040" y="3008376"/>
            <a:ext cx="120700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42616" y="3017520"/>
            <a:ext cx="113385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0.3846</a:t>
            </a:r>
          </a:p>
        </p:txBody>
      </p:sp>
      <p:sp>
        <p:nvSpPr>
          <p:cNvPr id="48" name="Rectangle 47"/>
          <p:cNvSpPr/>
          <p:nvPr/>
        </p:nvSpPr>
        <p:spPr>
          <a:xfrm>
            <a:off x="3813048" y="3008376"/>
            <a:ext cx="102412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9624" y="3017520"/>
            <a:ext cx="95097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1.153</a:t>
            </a:r>
          </a:p>
        </p:txBody>
      </p:sp>
      <p:sp>
        <p:nvSpPr>
          <p:cNvPr id="50" name="Rectangle 49"/>
          <p:cNvSpPr/>
          <p:nvPr/>
        </p:nvSpPr>
        <p:spPr>
          <a:xfrm>
            <a:off x="4837176" y="3008376"/>
            <a:ext cx="1353312"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873752" y="3017520"/>
            <a:ext cx="1280160"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不满足</a:t>
            </a:r>
          </a:p>
        </p:txBody>
      </p:sp>
      <p:sp>
        <p:nvSpPr>
          <p:cNvPr id="52" name="Rectangle 51"/>
          <p:cNvSpPr/>
          <p:nvPr/>
        </p:nvSpPr>
        <p:spPr>
          <a:xfrm>
            <a:off x="502920" y="3346703"/>
            <a:ext cx="100584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9496" y="3355847"/>
            <a:ext cx="932688" cy="320040"/>
          </a:xfrm>
          <a:prstGeom prst="rect">
            <a:avLst/>
          </a:prstGeom>
          <a:noFill/>
        </p:spPr>
        <p:txBody>
          <a:bodyPr wrap="square" anchor="ctr" lIns="27432" rIns="27432" tIns="9144" bIns="9144">
            <a:spAutoFit/>
          </a:bodyPr>
          <a:lstStyle/>
          <a:p>
            <a:pPr algn="l">
              <a:spcAft>
                <a:spcPts val="0"/>
              </a:spcAft>
            </a:pPr>
            <a:r>
              <a:rPr sz="880" b="0">
                <a:solidFill>
                  <a:srgbClr val="192430"/>
                </a:solidFill>
                <a:latin typeface="Noto Sans CJK SC"/>
              </a:rPr>
              <a:t>0.3268</a:t>
            </a:r>
          </a:p>
        </p:txBody>
      </p:sp>
      <p:sp>
        <p:nvSpPr>
          <p:cNvPr id="54" name="Rectangle 53"/>
          <p:cNvSpPr/>
          <p:nvPr/>
        </p:nvSpPr>
        <p:spPr>
          <a:xfrm>
            <a:off x="1508760" y="3346703"/>
            <a:ext cx="109728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45336" y="3355847"/>
            <a:ext cx="1024127"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0.5058</a:t>
            </a:r>
          </a:p>
        </p:txBody>
      </p:sp>
      <p:sp>
        <p:nvSpPr>
          <p:cNvPr id="56" name="Rectangle 55"/>
          <p:cNvSpPr/>
          <p:nvPr/>
        </p:nvSpPr>
        <p:spPr>
          <a:xfrm>
            <a:off x="2606040" y="3346703"/>
            <a:ext cx="120700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42616" y="3355847"/>
            <a:ext cx="113385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0.3841</a:t>
            </a:r>
          </a:p>
        </p:txBody>
      </p:sp>
      <p:sp>
        <p:nvSpPr>
          <p:cNvPr id="58" name="Rectangle 57"/>
          <p:cNvSpPr/>
          <p:nvPr/>
        </p:nvSpPr>
        <p:spPr>
          <a:xfrm>
            <a:off x="3813048" y="3346703"/>
            <a:ext cx="102412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49624" y="3355847"/>
            <a:ext cx="95097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1.053</a:t>
            </a:r>
          </a:p>
        </p:txBody>
      </p:sp>
      <p:sp>
        <p:nvSpPr>
          <p:cNvPr id="60" name="Rectangle 59"/>
          <p:cNvSpPr/>
          <p:nvPr/>
        </p:nvSpPr>
        <p:spPr>
          <a:xfrm>
            <a:off x="4837176" y="3346703"/>
            <a:ext cx="1353312"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73752" y="3355847"/>
            <a:ext cx="1280160"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满足</a:t>
            </a:r>
          </a:p>
        </p:txBody>
      </p:sp>
      <p:sp>
        <p:nvSpPr>
          <p:cNvPr id="62" name="Rectangle 61"/>
          <p:cNvSpPr/>
          <p:nvPr/>
        </p:nvSpPr>
        <p:spPr>
          <a:xfrm>
            <a:off x="502920" y="3685031"/>
            <a:ext cx="1005840" cy="338328"/>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9496" y="3694175"/>
            <a:ext cx="932688" cy="320040"/>
          </a:xfrm>
          <a:prstGeom prst="rect">
            <a:avLst/>
          </a:prstGeom>
          <a:noFill/>
        </p:spPr>
        <p:txBody>
          <a:bodyPr wrap="square" anchor="ctr" lIns="27432" rIns="27432" tIns="9144" bIns="9144">
            <a:spAutoFit/>
          </a:bodyPr>
          <a:lstStyle/>
          <a:p>
            <a:pPr algn="l">
              <a:spcAft>
                <a:spcPts val="0"/>
              </a:spcAft>
            </a:pPr>
            <a:r>
              <a:rPr sz="880" b="1">
                <a:solidFill>
                  <a:srgbClr val="2D70AA"/>
                </a:solidFill>
                <a:latin typeface="Noto Sans CJK SC"/>
              </a:rPr>
              <a:t>0.4000</a:t>
            </a:r>
          </a:p>
        </p:txBody>
      </p:sp>
      <p:sp>
        <p:nvSpPr>
          <p:cNvPr id="64" name="Rectangle 63"/>
          <p:cNvSpPr/>
          <p:nvPr/>
        </p:nvSpPr>
        <p:spPr>
          <a:xfrm>
            <a:off x="1508760" y="3685031"/>
            <a:ext cx="1097280" cy="338328"/>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45336" y="3694175"/>
            <a:ext cx="1024127" cy="320040"/>
          </a:xfrm>
          <a:prstGeom prst="rect">
            <a:avLst/>
          </a:prstGeom>
          <a:noFill/>
        </p:spPr>
        <p:txBody>
          <a:bodyPr wrap="square" anchor="ctr" lIns="27432" rIns="27432" tIns="9144" bIns="9144">
            <a:spAutoFit/>
          </a:bodyPr>
          <a:lstStyle/>
          <a:p>
            <a:pPr algn="ctr">
              <a:spcAft>
                <a:spcPts val="0"/>
              </a:spcAft>
            </a:pPr>
            <a:r>
              <a:rPr sz="880" b="1">
                <a:solidFill>
                  <a:srgbClr val="192430"/>
                </a:solidFill>
                <a:latin typeface="Noto Sans CJK SC"/>
              </a:rPr>
              <a:t>0.5051</a:t>
            </a:r>
          </a:p>
        </p:txBody>
      </p:sp>
      <p:sp>
        <p:nvSpPr>
          <p:cNvPr id="66" name="Rectangle 65"/>
          <p:cNvSpPr/>
          <p:nvPr/>
        </p:nvSpPr>
        <p:spPr>
          <a:xfrm>
            <a:off x="2606040" y="3685031"/>
            <a:ext cx="1207008" cy="338328"/>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642616" y="3694175"/>
            <a:ext cx="1133856" cy="320040"/>
          </a:xfrm>
          <a:prstGeom prst="rect">
            <a:avLst/>
          </a:prstGeom>
          <a:noFill/>
        </p:spPr>
        <p:txBody>
          <a:bodyPr wrap="square" anchor="ctr" lIns="27432" rIns="27432" tIns="9144" bIns="9144">
            <a:spAutoFit/>
          </a:bodyPr>
          <a:lstStyle/>
          <a:p>
            <a:pPr algn="ctr">
              <a:spcAft>
                <a:spcPts val="0"/>
              </a:spcAft>
            </a:pPr>
            <a:r>
              <a:rPr sz="880" b="1">
                <a:solidFill>
                  <a:srgbClr val="192430"/>
                </a:solidFill>
                <a:latin typeface="Noto Sans CJK SC"/>
              </a:rPr>
              <a:t>0.3839</a:t>
            </a:r>
          </a:p>
        </p:txBody>
      </p:sp>
      <p:sp>
        <p:nvSpPr>
          <p:cNvPr id="68" name="Rectangle 67"/>
          <p:cNvSpPr/>
          <p:nvPr/>
        </p:nvSpPr>
        <p:spPr>
          <a:xfrm>
            <a:off x="3813048" y="3685031"/>
            <a:ext cx="1024128" cy="338328"/>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9624" y="3694175"/>
            <a:ext cx="950976" cy="320040"/>
          </a:xfrm>
          <a:prstGeom prst="rect">
            <a:avLst/>
          </a:prstGeom>
          <a:noFill/>
        </p:spPr>
        <p:txBody>
          <a:bodyPr wrap="square" anchor="ctr" lIns="27432" rIns="27432" tIns="9144" bIns="9144">
            <a:spAutoFit/>
          </a:bodyPr>
          <a:lstStyle/>
          <a:p>
            <a:pPr algn="ctr">
              <a:spcAft>
                <a:spcPts val="0"/>
              </a:spcAft>
            </a:pPr>
            <a:r>
              <a:rPr sz="880" b="1">
                <a:solidFill>
                  <a:srgbClr val="192430"/>
                </a:solidFill>
                <a:latin typeface="Noto Sans CJK SC"/>
              </a:rPr>
              <a:t>1.020</a:t>
            </a:r>
          </a:p>
        </p:txBody>
      </p:sp>
      <p:sp>
        <p:nvSpPr>
          <p:cNvPr id="70" name="Rectangle 69"/>
          <p:cNvSpPr/>
          <p:nvPr/>
        </p:nvSpPr>
        <p:spPr>
          <a:xfrm>
            <a:off x="4837176" y="3685031"/>
            <a:ext cx="1353312" cy="338328"/>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873752" y="3694175"/>
            <a:ext cx="1280160" cy="320040"/>
          </a:xfrm>
          <a:prstGeom prst="rect">
            <a:avLst/>
          </a:prstGeom>
          <a:noFill/>
        </p:spPr>
        <p:txBody>
          <a:bodyPr wrap="square" anchor="ctr" lIns="27432" rIns="27432" tIns="9144" bIns="9144">
            <a:spAutoFit/>
          </a:bodyPr>
          <a:lstStyle/>
          <a:p>
            <a:pPr algn="ctr">
              <a:spcAft>
                <a:spcPts val="0"/>
              </a:spcAft>
            </a:pPr>
            <a:r>
              <a:rPr sz="880" b="1">
                <a:solidFill>
                  <a:srgbClr val="2D70AA"/>
                </a:solidFill>
                <a:latin typeface="Noto Sans CJK SC"/>
              </a:rPr>
              <a:t>满足</a:t>
            </a:r>
          </a:p>
        </p:txBody>
      </p:sp>
      <p:sp>
        <p:nvSpPr>
          <p:cNvPr id="72" name="Rectangle 71"/>
          <p:cNvSpPr/>
          <p:nvPr/>
        </p:nvSpPr>
        <p:spPr>
          <a:xfrm>
            <a:off x="502920" y="4023360"/>
            <a:ext cx="100584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39496" y="4032504"/>
            <a:ext cx="932688" cy="320040"/>
          </a:xfrm>
          <a:prstGeom prst="rect">
            <a:avLst/>
          </a:prstGeom>
          <a:noFill/>
        </p:spPr>
        <p:txBody>
          <a:bodyPr wrap="square" anchor="ctr" lIns="27432" rIns="27432" tIns="9144" bIns="9144">
            <a:spAutoFit/>
          </a:bodyPr>
          <a:lstStyle/>
          <a:p>
            <a:pPr algn="l">
              <a:spcAft>
                <a:spcPts val="0"/>
              </a:spcAft>
            </a:pPr>
            <a:r>
              <a:rPr sz="880" b="0">
                <a:solidFill>
                  <a:srgbClr val="192430"/>
                </a:solidFill>
                <a:latin typeface="Noto Sans CJK SC"/>
              </a:rPr>
              <a:t>0.4621</a:t>
            </a:r>
          </a:p>
        </p:txBody>
      </p:sp>
      <p:sp>
        <p:nvSpPr>
          <p:cNvPr id="74" name="Rectangle 73"/>
          <p:cNvSpPr/>
          <p:nvPr/>
        </p:nvSpPr>
        <p:spPr>
          <a:xfrm>
            <a:off x="1508760" y="4023360"/>
            <a:ext cx="109728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545336" y="4032504"/>
            <a:ext cx="1024127"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0.5065</a:t>
            </a:r>
          </a:p>
        </p:txBody>
      </p:sp>
      <p:sp>
        <p:nvSpPr>
          <p:cNvPr id="76" name="Rectangle 75"/>
          <p:cNvSpPr/>
          <p:nvPr/>
        </p:nvSpPr>
        <p:spPr>
          <a:xfrm>
            <a:off x="2606040" y="4023360"/>
            <a:ext cx="120700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642616" y="4032504"/>
            <a:ext cx="113385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0.3848</a:t>
            </a:r>
          </a:p>
        </p:txBody>
      </p:sp>
      <p:sp>
        <p:nvSpPr>
          <p:cNvPr id="78" name="Rectangle 77"/>
          <p:cNvSpPr/>
          <p:nvPr/>
        </p:nvSpPr>
        <p:spPr>
          <a:xfrm>
            <a:off x="3813048" y="4023360"/>
            <a:ext cx="102412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849624" y="4032504"/>
            <a:ext cx="95097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1.107</a:t>
            </a:r>
          </a:p>
        </p:txBody>
      </p:sp>
      <p:sp>
        <p:nvSpPr>
          <p:cNvPr id="80" name="Rectangle 79"/>
          <p:cNvSpPr/>
          <p:nvPr/>
        </p:nvSpPr>
        <p:spPr>
          <a:xfrm>
            <a:off x="4837176" y="4023360"/>
            <a:ext cx="1353312"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873752" y="4032504"/>
            <a:ext cx="1280160"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不满足</a:t>
            </a:r>
          </a:p>
        </p:txBody>
      </p:sp>
      <p:sp>
        <p:nvSpPr>
          <p:cNvPr id="82" name="Rectangle 81"/>
          <p:cNvSpPr/>
          <p:nvPr/>
        </p:nvSpPr>
        <p:spPr>
          <a:xfrm>
            <a:off x="502920" y="4361688"/>
            <a:ext cx="100584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39496" y="4370831"/>
            <a:ext cx="932688" cy="320040"/>
          </a:xfrm>
          <a:prstGeom prst="rect">
            <a:avLst/>
          </a:prstGeom>
          <a:noFill/>
        </p:spPr>
        <p:txBody>
          <a:bodyPr wrap="square" anchor="ctr" lIns="27432" rIns="27432" tIns="9144" bIns="9144">
            <a:spAutoFit/>
          </a:bodyPr>
          <a:lstStyle/>
          <a:p>
            <a:pPr algn="l">
              <a:spcAft>
                <a:spcPts val="0"/>
              </a:spcAft>
            </a:pPr>
            <a:r>
              <a:rPr sz="880" b="0">
                <a:solidFill>
                  <a:srgbClr val="192430"/>
                </a:solidFill>
                <a:latin typeface="Noto Sans CJK SC"/>
              </a:rPr>
              <a:t>0.5155</a:t>
            </a:r>
          </a:p>
        </p:txBody>
      </p:sp>
      <p:sp>
        <p:nvSpPr>
          <p:cNvPr id="84" name="Rectangle 83"/>
          <p:cNvSpPr/>
          <p:nvPr/>
        </p:nvSpPr>
        <p:spPr>
          <a:xfrm>
            <a:off x="1508760" y="4361688"/>
            <a:ext cx="109728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545336" y="4370831"/>
            <a:ext cx="1024127"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0.5066</a:t>
            </a:r>
          </a:p>
        </p:txBody>
      </p:sp>
      <p:sp>
        <p:nvSpPr>
          <p:cNvPr id="86" name="Rectangle 85"/>
          <p:cNvSpPr/>
          <p:nvPr/>
        </p:nvSpPr>
        <p:spPr>
          <a:xfrm>
            <a:off x="2606040" y="4361688"/>
            <a:ext cx="120700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642616" y="4370831"/>
            <a:ext cx="113385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0.3848</a:t>
            </a:r>
          </a:p>
        </p:txBody>
      </p:sp>
      <p:sp>
        <p:nvSpPr>
          <p:cNvPr id="88" name="Rectangle 87"/>
          <p:cNvSpPr/>
          <p:nvPr/>
        </p:nvSpPr>
        <p:spPr>
          <a:xfrm>
            <a:off x="3813048" y="4361688"/>
            <a:ext cx="102412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849624" y="4370831"/>
            <a:ext cx="95097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1.127</a:t>
            </a:r>
          </a:p>
        </p:txBody>
      </p:sp>
      <p:sp>
        <p:nvSpPr>
          <p:cNvPr id="90" name="Rectangle 89"/>
          <p:cNvSpPr/>
          <p:nvPr/>
        </p:nvSpPr>
        <p:spPr>
          <a:xfrm>
            <a:off x="4837176" y="4361688"/>
            <a:ext cx="1353312"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873752" y="4370831"/>
            <a:ext cx="1280160"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不满足</a:t>
            </a:r>
          </a:p>
        </p:txBody>
      </p:sp>
      <p:sp>
        <p:nvSpPr>
          <p:cNvPr id="92" name="Rectangle 91"/>
          <p:cNvSpPr/>
          <p:nvPr/>
        </p:nvSpPr>
        <p:spPr>
          <a:xfrm>
            <a:off x="502920" y="4700016"/>
            <a:ext cx="100584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39496" y="4709159"/>
            <a:ext cx="932688" cy="320040"/>
          </a:xfrm>
          <a:prstGeom prst="rect">
            <a:avLst/>
          </a:prstGeom>
          <a:noFill/>
        </p:spPr>
        <p:txBody>
          <a:bodyPr wrap="square" anchor="ctr" lIns="27432" rIns="27432" tIns="9144" bIns="9144">
            <a:spAutoFit/>
          </a:bodyPr>
          <a:lstStyle/>
          <a:p>
            <a:pPr algn="l">
              <a:spcAft>
                <a:spcPts val="0"/>
              </a:spcAft>
            </a:pPr>
            <a:r>
              <a:rPr sz="880" b="0">
                <a:solidFill>
                  <a:srgbClr val="192430"/>
                </a:solidFill>
                <a:latin typeface="Noto Sans CJK SC"/>
              </a:rPr>
              <a:t>0.6025</a:t>
            </a:r>
          </a:p>
        </p:txBody>
      </p:sp>
      <p:sp>
        <p:nvSpPr>
          <p:cNvPr id="94" name="Rectangle 93"/>
          <p:cNvSpPr/>
          <p:nvPr/>
        </p:nvSpPr>
        <p:spPr>
          <a:xfrm>
            <a:off x="1508760" y="4700016"/>
            <a:ext cx="1097280"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545336" y="4709159"/>
            <a:ext cx="1024127"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0.5063</a:t>
            </a:r>
          </a:p>
        </p:txBody>
      </p:sp>
      <p:sp>
        <p:nvSpPr>
          <p:cNvPr id="96" name="Rectangle 95"/>
          <p:cNvSpPr/>
          <p:nvPr/>
        </p:nvSpPr>
        <p:spPr>
          <a:xfrm>
            <a:off x="2606040" y="4700016"/>
            <a:ext cx="120700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42616" y="4709159"/>
            <a:ext cx="113385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0.3848</a:t>
            </a:r>
          </a:p>
        </p:txBody>
      </p:sp>
      <p:sp>
        <p:nvSpPr>
          <p:cNvPr id="98" name="Rectangle 97"/>
          <p:cNvSpPr/>
          <p:nvPr/>
        </p:nvSpPr>
        <p:spPr>
          <a:xfrm>
            <a:off x="3813048" y="4700016"/>
            <a:ext cx="1024128"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849624" y="4709159"/>
            <a:ext cx="950976"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1.080</a:t>
            </a:r>
          </a:p>
        </p:txBody>
      </p:sp>
      <p:sp>
        <p:nvSpPr>
          <p:cNvPr id="100" name="Rectangle 99"/>
          <p:cNvSpPr/>
          <p:nvPr/>
        </p:nvSpPr>
        <p:spPr>
          <a:xfrm>
            <a:off x="4837176" y="4700016"/>
            <a:ext cx="1353312" cy="338328"/>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873752" y="4709159"/>
            <a:ext cx="1280160" cy="320040"/>
          </a:xfrm>
          <a:prstGeom prst="rect">
            <a:avLst/>
          </a:prstGeom>
          <a:noFill/>
        </p:spPr>
        <p:txBody>
          <a:bodyPr wrap="square" anchor="ctr" lIns="27432" rIns="27432" tIns="9144" bIns="9144">
            <a:spAutoFit/>
          </a:bodyPr>
          <a:lstStyle/>
          <a:p>
            <a:pPr algn="ctr">
              <a:spcAft>
                <a:spcPts val="0"/>
              </a:spcAft>
            </a:pPr>
            <a:r>
              <a:rPr sz="880" b="0">
                <a:solidFill>
                  <a:srgbClr val="192430"/>
                </a:solidFill>
                <a:latin typeface="Noto Sans CJK SC"/>
              </a:rPr>
              <a:t>不满足</a:t>
            </a:r>
          </a:p>
        </p:txBody>
      </p:sp>
      <p:sp>
        <p:nvSpPr>
          <p:cNvPr id="102" name="Rounded Rectangle 101"/>
          <p:cNvSpPr/>
          <p:nvPr/>
        </p:nvSpPr>
        <p:spPr>
          <a:xfrm>
            <a:off x="7004304" y="1947672"/>
            <a:ext cx="4681728" cy="308152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232904" y="2075688"/>
            <a:ext cx="4224528" cy="292608"/>
          </a:xfrm>
          <a:prstGeom prst="rect">
            <a:avLst/>
          </a:prstGeom>
          <a:noFill/>
        </p:spPr>
        <p:txBody>
          <a:bodyPr wrap="square" anchor="ctr" lIns="27432" rIns="27432" tIns="9144" bIns="9144">
            <a:spAutoFit/>
          </a:bodyPr>
          <a:lstStyle/>
          <a:p>
            <a:pPr algn="l">
              <a:spcAft>
                <a:spcPts val="0"/>
              </a:spcAft>
            </a:pPr>
            <a:r>
              <a:rPr sz="1200" b="1">
                <a:solidFill>
                  <a:srgbClr val="192430"/>
                </a:solidFill>
                <a:latin typeface="Noto Sans CJK SC"/>
              </a:rPr>
              <a:t>权重变化：性能平台与动作成本</a:t>
            </a:r>
          </a:p>
        </p:txBody>
      </p:sp>
      <p:cxnSp>
        <p:nvCxnSpPr>
          <p:cNvPr id="104" name="Connector 103"/>
          <p:cNvCxnSpPr/>
          <p:nvPr/>
        </p:nvCxnSpPr>
        <p:spPr>
          <a:xfrm>
            <a:off x="7461504" y="2606039"/>
            <a:ext cx="3931920" cy="0"/>
          </a:xfrm>
          <a:prstGeom prst="line">
            <a:avLst/>
          </a:prstGeom>
          <a:ln w="10160">
            <a:solidFill>
              <a:srgbClr val="DADFE5"/>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461504" y="3261360"/>
            <a:ext cx="3931920" cy="0"/>
          </a:xfrm>
          <a:prstGeom prst="line">
            <a:avLst/>
          </a:prstGeom>
          <a:ln w="10160">
            <a:solidFill>
              <a:srgbClr val="DADFE5"/>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461504" y="3916680"/>
            <a:ext cx="3931920" cy="0"/>
          </a:xfrm>
          <a:prstGeom prst="line">
            <a:avLst/>
          </a:prstGeom>
          <a:ln w="10160">
            <a:solidFill>
              <a:srgbClr val="DADFE5"/>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461504" y="4572000"/>
            <a:ext cx="3931920" cy="0"/>
          </a:xfrm>
          <a:prstGeom prst="line">
            <a:avLst/>
          </a:prstGeom>
          <a:ln w="10160">
            <a:solidFill>
              <a:srgbClr val="DADFE5"/>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7461504" y="3313785"/>
            <a:ext cx="655320" cy="314554"/>
          </a:xfrm>
          <a:prstGeom prst="line">
            <a:avLst/>
          </a:prstGeom>
          <a:ln w="2667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8116824" y="3313785"/>
            <a:ext cx="655320" cy="235915"/>
          </a:xfrm>
          <a:prstGeom prst="line">
            <a:avLst/>
          </a:prstGeom>
          <a:ln w="2667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8772144" y="3549700"/>
            <a:ext cx="655320" cy="550469"/>
          </a:xfrm>
          <a:prstGeom prst="line">
            <a:avLst/>
          </a:prstGeom>
          <a:ln w="2667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9427464" y="2999232"/>
            <a:ext cx="655320" cy="1100937"/>
          </a:xfrm>
          <a:prstGeom prst="line">
            <a:avLst/>
          </a:prstGeom>
          <a:ln w="2667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0082784" y="2920593"/>
            <a:ext cx="655320" cy="78639"/>
          </a:xfrm>
          <a:prstGeom prst="line">
            <a:avLst/>
          </a:prstGeom>
          <a:ln w="26670">
            <a:solidFill>
              <a:srgbClr val="2D70A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0738104" y="2920593"/>
            <a:ext cx="655320" cy="235915"/>
          </a:xfrm>
          <a:prstGeom prst="line">
            <a:avLst/>
          </a:prstGeom>
          <a:ln w="26670">
            <a:solidFill>
              <a:srgbClr val="2D70AA"/>
            </a:solidFill>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7420356" y="3587191"/>
            <a:ext cx="82296" cy="82296"/>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8075676" y="3272637"/>
            <a:ext cx="82296" cy="82296"/>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730996" y="3508552"/>
            <a:ext cx="82296" cy="82296"/>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386316" y="4059021"/>
            <a:ext cx="82296" cy="82296"/>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9349740" y="4022445"/>
            <a:ext cx="155448" cy="155448"/>
          </a:xfrm>
          <a:prstGeom prst="ellipse">
            <a:avLst/>
          </a:prstGeom>
          <a:noFill/>
          <a:ln w="17780">
            <a:solidFill>
              <a:srgbClr val="1924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0041636" y="2958084"/>
            <a:ext cx="82296" cy="82296"/>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0696956" y="2879445"/>
            <a:ext cx="82296" cy="82296"/>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1352276" y="3115360"/>
            <a:ext cx="82296" cy="82296"/>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a:off x="7461504" y="2757267"/>
            <a:ext cx="655320" cy="506613"/>
          </a:xfrm>
          <a:prstGeom prst="line">
            <a:avLst/>
          </a:prstGeom>
          <a:ln w="26670">
            <a:solidFill>
              <a:srgbClr val="D99124"/>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116824" y="3263880"/>
            <a:ext cx="655320" cy="756138"/>
          </a:xfrm>
          <a:prstGeom prst="line">
            <a:avLst/>
          </a:prstGeom>
          <a:ln w="26670">
            <a:solidFill>
              <a:srgbClr val="D99124"/>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72144" y="4020018"/>
            <a:ext cx="655320" cy="249526"/>
          </a:xfrm>
          <a:prstGeom prst="line">
            <a:avLst/>
          </a:prstGeom>
          <a:ln w="26670">
            <a:solidFill>
              <a:srgbClr val="D99124"/>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9427464" y="3611704"/>
            <a:ext cx="655320" cy="657840"/>
          </a:xfrm>
          <a:prstGeom prst="line">
            <a:avLst/>
          </a:prstGeom>
          <a:ln w="26670">
            <a:solidFill>
              <a:srgbClr val="D99124"/>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0082784" y="3460476"/>
            <a:ext cx="655320" cy="151228"/>
          </a:xfrm>
          <a:prstGeom prst="line">
            <a:avLst/>
          </a:prstGeom>
          <a:ln w="26670">
            <a:solidFill>
              <a:srgbClr val="D99124"/>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10738104" y="3460476"/>
            <a:ext cx="655320" cy="355385"/>
          </a:xfrm>
          <a:prstGeom prst="line">
            <a:avLst/>
          </a:prstGeom>
          <a:ln w="26670">
            <a:solidFill>
              <a:srgbClr val="D99124"/>
            </a:solidFill>
          </a:ln>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7420356" y="2716119"/>
            <a:ext cx="82296" cy="82296"/>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8075676" y="3222732"/>
            <a:ext cx="82296" cy="82296"/>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8730996" y="3978870"/>
            <a:ext cx="82296" cy="82296"/>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9386316" y="4228396"/>
            <a:ext cx="82296" cy="82296"/>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9349740" y="4191820"/>
            <a:ext cx="155448" cy="155448"/>
          </a:xfrm>
          <a:prstGeom prst="ellipse">
            <a:avLst/>
          </a:prstGeom>
          <a:noFill/>
          <a:ln w="17780">
            <a:solidFill>
              <a:srgbClr val="1924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041636" y="3570556"/>
            <a:ext cx="82296" cy="82296"/>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0696956" y="3419328"/>
            <a:ext cx="82296" cy="82296"/>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1352276" y="3774713"/>
            <a:ext cx="82296" cy="82296"/>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7232904" y="4663440"/>
            <a:ext cx="457200" cy="219456"/>
          </a:xfrm>
          <a:prstGeom prst="rect">
            <a:avLst/>
          </a:prstGeom>
          <a:noFill/>
        </p:spPr>
        <p:txBody>
          <a:bodyPr wrap="square" anchor="ctr" lIns="27432" rIns="27432" tIns="9144" bIns="9144">
            <a:spAutoFit/>
          </a:bodyPr>
          <a:lstStyle/>
          <a:p>
            <a:pPr algn="ctr">
              <a:spcAft>
                <a:spcPts val="0"/>
              </a:spcAft>
            </a:pPr>
            <a:r>
              <a:rPr sz="840" b="0">
                <a:solidFill>
                  <a:srgbClr val="5B6875"/>
                </a:solidFill>
                <a:latin typeface="Noto Sans CJK SC"/>
              </a:rPr>
              <a:t>0.00</a:t>
            </a:r>
          </a:p>
        </p:txBody>
      </p:sp>
      <p:sp>
        <p:nvSpPr>
          <p:cNvPr id="137" name="TextBox 136"/>
          <p:cNvSpPr txBox="1"/>
          <p:nvPr/>
        </p:nvSpPr>
        <p:spPr>
          <a:xfrm>
            <a:off x="7888224" y="4663440"/>
            <a:ext cx="457200" cy="219456"/>
          </a:xfrm>
          <a:prstGeom prst="rect">
            <a:avLst/>
          </a:prstGeom>
          <a:noFill/>
        </p:spPr>
        <p:txBody>
          <a:bodyPr wrap="square" anchor="ctr" lIns="27432" rIns="27432" tIns="9144" bIns="9144">
            <a:spAutoFit/>
          </a:bodyPr>
          <a:lstStyle/>
          <a:p>
            <a:pPr algn="ctr">
              <a:spcAft>
                <a:spcPts val="0"/>
              </a:spcAft>
            </a:pPr>
            <a:r>
              <a:rPr sz="840" b="0">
                <a:solidFill>
                  <a:srgbClr val="5B6875"/>
                </a:solidFill>
                <a:latin typeface="Noto Sans CJK SC"/>
              </a:rPr>
              <a:t>0.24</a:t>
            </a:r>
          </a:p>
        </p:txBody>
      </p:sp>
      <p:sp>
        <p:nvSpPr>
          <p:cNvPr id="138" name="TextBox 137"/>
          <p:cNvSpPr txBox="1"/>
          <p:nvPr/>
        </p:nvSpPr>
        <p:spPr>
          <a:xfrm>
            <a:off x="8543544" y="4663440"/>
            <a:ext cx="457200" cy="219456"/>
          </a:xfrm>
          <a:prstGeom prst="rect">
            <a:avLst/>
          </a:prstGeom>
          <a:noFill/>
        </p:spPr>
        <p:txBody>
          <a:bodyPr wrap="square" anchor="ctr" lIns="27432" rIns="27432" tIns="9144" bIns="9144">
            <a:spAutoFit/>
          </a:bodyPr>
          <a:lstStyle/>
          <a:p>
            <a:pPr algn="ctr">
              <a:spcAft>
                <a:spcPts val="0"/>
              </a:spcAft>
            </a:pPr>
            <a:r>
              <a:rPr sz="840" b="0">
                <a:solidFill>
                  <a:srgbClr val="5B6875"/>
                </a:solidFill>
                <a:latin typeface="Noto Sans CJK SC"/>
              </a:rPr>
              <a:t>0.33</a:t>
            </a:r>
          </a:p>
        </p:txBody>
      </p:sp>
      <p:sp>
        <p:nvSpPr>
          <p:cNvPr id="139" name="TextBox 138"/>
          <p:cNvSpPr txBox="1"/>
          <p:nvPr/>
        </p:nvSpPr>
        <p:spPr>
          <a:xfrm>
            <a:off x="9198864" y="4663440"/>
            <a:ext cx="457200" cy="219456"/>
          </a:xfrm>
          <a:prstGeom prst="rect">
            <a:avLst/>
          </a:prstGeom>
          <a:noFill/>
        </p:spPr>
        <p:txBody>
          <a:bodyPr wrap="square" anchor="ctr" lIns="27432" rIns="27432" tIns="9144" bIns="9144">
            <a:spAutoFit/>
          </a:bodyPr>
          <a:lstStyle/>
          <a:p>
            <a:pPr algn="ctr">
              <a:spcAft>
                <a:spcPts val="0"/>
              </a:spcAft>
            </a:pPr>
            <a:r>
              <a:rPr sz="840" b="0">
                <a:solidFill>
                  <a:srgbClr val="5B6875"/>
                </a:solidFill>
                <a:latin typeface="Noto Sans CJK SC"/>
              </a:rPr>
              <a:t>0.40</a:t>
            </a:r>
          </a:p>
        </p:txBody>
      </p:sp>
      <p:sp>
        <p:nvSpPr>
          <p:cNvPr id="140" name="TextBox 139"/>
          <p:cNvSpPr txBox="1"/>
          <p:nvPr/>
        </p:nvSpPr>
        <p:spPr>
          <a:xfrm>
            <a:off x="9854184" y="4663440"/>
            <a:ext cx="457200" cy="219456"/>
          </a:xfrm>
          <a:prstGeom prst="rect">
            <a:avLst/>
          </a:prstGeom>
          <a:noFill/>
        </p:spPr>
        <p:txBody>
          <a:bodyPr wrap="square" anchor="ctr" lIns="27432" rIns="27432" tIns="9144" bIns="9144">
            <a:spAutoFit/>
          </a:bodyPr>
          <a:lstStyle/>
          <a:p>
            <a:pPr algn="ctr">
              <a:spcAft>
                <a:spcPts val="0"/>
              </a:spcAft>
            </a:pPr>
            <a:r>
              <a:rPr sz="840" b="0">
                <a:solidFill>
                  <a:srgbClr val="5B6875"/>
                </a:solidFill>
                <a:latin typeface="Noto Sans CJK SC"/>
              </a:rPr>
              <a:t>0.46</a:t>
            </a:r>
          </a:p>
        </p:txBody>
      </p:sp>
      <p:sp>
        <p:nvSpPr>
          <p:cNvPr id="141" name="TextBox 140"/>
          <p:cNvSpPr txBox="1"/>
          <p:nvPr/>
        </p:nvSpPr>
        <p:spPr>
          <a:xfrm>
            <a:off x="10509504" y="4663440"/>
            <a:ext cx="457200" cy="219456"/>
          </a:xfrm>
          <a:prstGeom prst="rect">
            <a:avLst/>
          </a:prstGeom>
          <a:noFill/>
        </p:spPr>
        <p:txBody>
          <a:bodyPr wrap="square" anchor="ctr" lIns="27432" rIns="27432" tIns="9144" bIns="9144">
            <a:spAutoFit/>
          </a:bodyPr>
          <a:lstStyle/>
          <a:p>
            <a:pPr algn="ctr">
              <a:spcAft>
                <a:spcPts val="0"/>
              </a:spcAft>
            </a:pPr>
            <a:r>
              <a:rPr sz="840" b="0">
                <a:solidFill>
                  <a:srgbClr val="5B6875"/>
                </a:solidFill>
                <a:latin typeface="Noto Sans CJK SC"/>
              </a:rPr>
              <a:t>0.52</a:t>
            </a:r>
          </a:p>
        </p:txBody>
      </p:sp>
      <p:sp>
        <p:nvSpPr>
          <p:cNvPr id="142" name="TextBox 141"/>
          <p:cNvSpPr txBox="1"/>
          <p:nvPr/>
        </p:nvSpPr>
        <p:spPr>
          <a:xfrm>
            <a:off x="11164824" y="4663440"/>
            <a:ext cx="457200" cy="219456"/>
          </a:xfrm>
          <a:prstGeom prst="rect">
            <a:avLst/>
          </a:prstGeom>
          <a:noFill/>
        </p:spPr>
        <p:txBody>
          <a:bodyPr wrap="square" anchor="ctr" lIns="27432" rIns="27432" tIns="9144" bIns="9144">
            <a:spAutoFit/>
          </a:bodyPr>
          <a:lstStyle/>
          <a:p>
            <a:pPr algn="ctr">
              <a:spcAft>
                <a:spcPts val="0"/>
              </a:spcAft>
            </a:pPr>
            <a:r>
              <a:rPr sz="840" b="0">
                <a:solidFill>
                  <a:srgbClr val="5B6875"/>
                </a:solidFill>
                <a:latin typeface="Noto Sans CJK SC"/>
              </a:rPr>
              <a:t>0.60</a:t>
            </a:r>
          </a:p>
        </p:txBody>
      </p:sp>
      <p:sp>
        <p:nvSpPr>
          <p:cNvPr id="143" name="TextBox 142"/>
          <p:cNvSpPr txBox="1"/>
          <p:nvPr/>
        </p:nvSpPr>
        <p:spPr>
          <a:xfrm>
            <a:off x="9509760" y="2093976"/>
            <a:ext cx="1874519" cy="219456"/>
          </a:xfrm>
          <a:prstGeom prst="rect">
            <a:avLst/>
          </a:prstGeom>
          <a:noFill/>
        </p:spPr>
        <p:txBody>
          <a:bodyPr wrap="square" anchor="ctr" lIns="45720" rIns="45720" tIns="9144" bIns="9144">
            <a:spAutoFit/>
          </a:bodyPr>
          <a:lstStyle/>
          <a:p>
            <a:pPr algn="ctr"/>
            <a:r>
              <a:rPr sz="919" b="1">
                <a:solidFill>
                  <a:srgbClr val="2D70AA"/>
                </a:solidFill>
                <a:latin typeface="Noto Sans CJK SC"/>
              </a:rPr>
              <a:t>● </a:t>
            </a:r>
            <a:r>
              <a:rPr sz="919" b="0">
                <a:solidFill>
                  <a:srgbClr val="5B6875"/>
                </a:solidFill>
                <a:latin typeface="Noto Sans CJK SC"/>
              </a:rPr>
              <a:t>Acc</a:t>
            </a:r>
            <a:r>
              <a:rPr sz="919" b="1">
                <a:solidFill>
                  <a:srgbClr val="D99124"/>
                </a:solidFill>
                <a:latin typeface="Noto Sans CJK SC"/>
              </a:rPr>
              <a:t>    ● </a:t>
            </a:r>
            <a:r>
              <a:rPr sz="919" b="0">
                <a:solidFill>
                  <a:srgbClr val="5B6875"/>
                </a:solidFill>
                <a:latin typeface="Noto Sans CJK SC"/>
              </a:rPr>
              <a:t>动作/图</a:t>
            </a:r>
          </a:p>
        </p:txBody>
      </p:sp>
      <p:sp>
        <p:nvSpPr>
          <p:cNvPr id="144" name="TextBox 143"/>
          <p:cNvSpPr txBox="1"/>
          <p:nvPr/>
        </p:nvSpPr>
        <p:spPr>
          <a:xfrm>
            <a:off x="9043416" y="2359151"/>
            <a:ext cx="768096" cy="201168"/>
          </a:xfrm>
          <a:prstGeom prst="rect">
            <a:avLst/>
          </a:prstGeom>
          <a:noFill/>
        </p:spPr>
        <p:txBody>
          <a:bodyPr wrap="square" anchor="ctr" lIns="27432" rIns="27432" tIns="9144" bIns="9144">
            <a:spAutoFit/>
          </a:bodyPr>
          <a:lstStyle/>
          <a:p>
            <a:pPr algn="ctr">
              <a:spcAft>
                <a:spcPts val="0"/>
              </a:spcAft>
            </a:pPr>
            <a:r>
              <a:rPr sz="880" b="1">
                <a:solidFill>
                  <a:srgbClr val="192430"/>
                </a:solidFill>
                <a:latin typeface="Noto Sans CJK SC"/>
              </a:rPr>
              <a:t>Current 0.40</a:t>
            </a:r>
          </a:p>
        </p:txBody>
      </p:sp>
      <p:sp>
        <p:nvSpPr>
          <p:cNvPr id="145" name="Rounded Rectangle 144"/>
          <p:cNvSpPr/>
          <p:nvPr/>
        </p:nvSpPr>
        <p:spPr>
          <a:xfrm>
            <a:off x="502920" y="5266944"/>
            <a:ext cx="11183112" cy="960120"/>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749808" y="5458968"/>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877824" y="5394959"/>
            <a:ext cx="1106424"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结论</a:t>
            </a:r>
          </a:p>
        </p:txBody>
      </p:sp>
      <p:sp>
        <p:nvSpPr>
          <p:cNvPr id="148" name="TextBox 147"/>
          <p:cNvSpPr txBox="1"/>
          <p:nvPr/>
        </p:nvSpPr>
        <p:spPr>
          <a:xfrm>
            <a:off x="1874519" y="5349240"/>
            <a:ext cx="9464040" cy="384048"/>
          </a:xfrm>
          <a:prstGeom prst="rect">
            <a:avLst/>
          </a:prstGeom>
          <a:noFill/>
        </p:spPr>
        <p:txBody>
          <a:bodyPr wrap="square" anchor="ctr" lIns="45720" rIns="45720" tIns="9144" bIns="9144">
            <a:spAutoFit/>
          </a:bodyPr>
          <a:lstStyle/>
          <a:p>
            <a:pPr algn="l"/>
            <a:r>
              <a:rPr sz="1300" b="1">
                <a:solidFill>
                  <a:srgbClr val="2D70AA"/>
                </a:solidFill>
                <a:latin typeface="Noto Sans CJK SC"/>
              </a:rPr>
              <a:t>0.40 位于稳定平台</a:t>
            </a:r>
            <a:r>
              <a:rPr sz="1300" b="0">
                <a:solidFill>
                  <a:srgbClr val="192430"/>
                </a:solidFill>
                <a:latin typeface="Noto Sans CJK SC"/>
              </a:rPr>
              <a:t>：三种子确认中 Acc 与 0.3268 几乎相同，但小目标召回、mAP 和动作效率更好。</a:t>
            </a:r>
          </a:p>
        </p:txBody>
      </p:sp>
      <p:sp>
        <p:nvSpPr>
          <p:cNvPr id="149" name="TextBox 148"/>
          <p:cNvSpPr txBox="1"/>
          <p:nvPr/>
        </p:nvSpPr>
        <p:spPr>
          <a:xfrm>
            <a:off x="1874519" y="5733288"/>
            <a:ext cx="9464040" cy="274320"/>
          </a:xfrm>
          <a:prstGeom prst="rect">
            <a:avLst/>
          </a:prstGeom>
          <a:noFill/>
        </p:spPr>
        <p:txBody>
          <a:bodyPr wrap="square" anchor="ctr" lIns="27432" rIns="27432" tIns="9144" bIns="9144">
            <a:spAutoFit/>
          </a:bodyPr>
          <a:lstStyle/>
          <a:p>
            <a:pPr algn="l">
              <a:spcAft>
                <a:spcPts val="0"/>
              </a:spcAft>
            </a:pPr>
            <a:r>
              <a:rPr sz="1120" b="0">
                <a:solidFill>
                  <a:srgbClr val="5B6875"/>
                </a:solidFill>
                <a:latin typeface="Noto Sans CJK SC"/>
              </a:rPr>
              <a:t>结论是“经验稳定工作点”，不是声称 0.40 在任意小数精度上唯一最优。</a:t>
            </a:r>
          </a:p>
        </p:txBody>
      </p:sp>
      <p:sp>
        <p:nvSpPr>
          <p:cNvPr id="150" name="TextBox 149"/>
          <p:cNvSpPr txBox="1"/>
          <p:nvPr/>
        </p:nvSpPr>
        <p:spPr>
          <a:xfrm>
            <a:off x="530352" y="6318504"/>
            <a:ext cx="10789920" cy="146304"/>
          </a:xfrm>
          <a:prstGeom prst="rect">
            <a:avLst/>
          </a:prstGeom>
          <a:noFill/>
        </p:spPr>
        <p:txBody>
          <a:bodyPr wrap="square" anchor="ctr" lIns="27432" rIns="27432" tIns="9144" bIns="9144">
            <a:spAutoFit/>
          </a:bodyPr>
          <a:lstStyle/>
          <a:p>
            <a:pPr algn="l">
              <a:spcAft>
                <a:spcPts val="0"/>
              </a:spcAft>
            </a:pPr>
            <a:r>
              <a:rPr sz="880" b="0">
                <a:solidFill>
                  <a:srgbClr val="5B6875"/>
                </a:solidFill>
                <a:latin typeface="Noto Sans CJK SC"/>
              </a:rPr>
              <a:t>确认：Current vs w=0.3268 → Acc 0.5095 vs 0.5095；Small R 0.3884 vs 0.3880；OOF mAP 0.1295 vs 0.1293。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256032"/>
            <a:ext cx="502920" cy="310896"/>
          </a:xfrm>
          <a:prstGeom prst="rect">
            <a:avLst/>
          </a:prstGeom>
          <a:noFill/>
        </p:spPr>
        <p:txBody>
          <a:bodyPr wrap="square" anchor="ctr" lIns="27432" rIns="27432" tIns="9144" bIns="9144">
            <a:spAutoFit/>
          </a:bodyPr>
          <a:lstStyle/>
          <a:p>
            <a:pPr algn="l">
              <a:spcAft>
                <a:spcPts val="0"/>
              </a:spcAft>
            </a:pPr>
            <a:r>
              <a:rPr sz="1200" b="1">
                <a:solidFill>
                  <a:srgbClr val="2D70AA"/>
                </a:solidFill>
                <a:latin typeface="Noto Sans CJK SC"/>
              </a:rPr>
              <a:t>09</a:t>
            </a:r>
          </a:p>
        </p:txBody>
      </p:sp>
      <p:sp>
        <p:nvSpPr>
          <p:cNvPr id="4" name="TextBox 3"/>
          <p:cNvSpPr txBox="1"/>
          <p:nvPr/>
        </p:nvSpPr>
        <p:spPr>
          <a:xfrm>
            <a:off x="932688" y="201168"/>
            <a:ext cx="10744200" cy="475488"/>
          </a:xfrm>
          <a:prstGeom prst="rect">
            <a:avLst/>
          </a:prstGeom>
          <a:noFill/>
        </p:spPr>
        <p:txBody>
          <a:bodyPr wrap="square" anchor="ctr" lIns="27432" rIns="27432" tIns="9144" bIns="9144">
            <a:spAutoFit/>
          </a:bodyPr>
          <a:lstStyle/>
          <a:p>
            <a:pPr algn="l">
              <a:spcAft>
                <a:spcPts val="0"/>
              </a:spcAft>
            </a:pPr>
            <a:r>
              <a:rPr sz="2400" b="1">
                <a:solidFill>
                  <a:srgbClr val="192430"/>
                </a:solidFill>
                <a:latin typeface="Noto Sans CJK SC"/>
              </a:rPr>
              <a:t>独立 Test 验证与最终选择</a:t>
            </a:r>
          </a:p>
        </p:txBody>
      </p:sp>
      <p:sp>
        <p:nvSpPr>
          <p:cNvPr id="5" name="TextBox 4"/>
          <p:cNvSpPr txBox="1"/>
          <p:nvPr/>
        </p:nvSpPr>
        <p:spPr>
          <a:xfrm>
            <a:off x="941832" y="658368"/>
            <a:ext cx="10698480" cy="274320"/>
          </a:xfrm>
          <a:prstGeom prst="rect">
            <a:avLst/>
          </a:prstGeom>
          <a:noFill/>
        </p:spPr>
        <p:txBody>
          <a:bodyPr wrap="square" anchor="ctr" lIns="27432" rIns="27432" tIns="9144" bIns="9144">
            <a:spAutoFit/>
          </a:bodyPr>
          <a:lstStyle/>
          <a:p>
            <a:pPr algn="l">
              <a:spcAft>
                <a:spcPts val="0"/>
              </a:spcAft>
            </a:pPr>
            <a:r>
              <a:rPr sz="1050" b="0">
                <a:solidFill>
                  <a:srgbClr val="5B6875"/>
                </a:solidFill>
                <a:latin typeface="Noto Sans CJK SC"/>
              </a:rPr>
              <a:t>验证集冻结配置后评测 · 3 seeds · 逐图配对 Bootstrap 10,000 次</a:t>
            </a:r>
          </a:p>
        </p:txBody>
      </p:sp>
      <p:sp>
        <p:nvSpPr>
          <p:cNvPr id="6" name="TextBox 5"/>
          <p:cNvSpPr txBox="1"/>
          <p:nvPr/>
        </p:nvSpPr>
        <p:spPr>
          <a:xfrm>
            <a:off x="11393424" y="6510528"/>
            <a:ext cx="347472" cy="182880"/>
          </a:xfrm>
          <a:prstGeom prst="rect">
            <a:avLst/>
          </a:prstGeom>
          <a:noFill/>
        </p:spPr>
        <p:txBody>
          <a:bodyPr wrap="square" anchor="ctr" lIns="27432" rIns="27432" tIns="9144" bIns="9144">
            <a:spAutoFit/>
          </a:bodyPr>
          <a:lstStyle/>
          <a:p>
            <a:pPr algn="r">
              <a:spcAft>
                <a:spcPts val="0"/>
              </a:spcAft>
            </a:pPr>
            <a:r>
              <a:rPr sz="900" b="0">
                <a:solidFill>
                  <a:srgbClr val="5B6875"/>
                </a:solidFill>
                <a:latin typeface="Noto Sans CJK SC"/>
              </a:rPr>
              <a:t>7</a:t>
            </a:r>
          </a:p>
        </p:txBody>
      </p:sp>
      <p:sp>
        <p:nvSpPr>
          <p:cNvPr id="7" name="Rounded Rectangle 6"/>
          <p:cNvSpPr/>
          <p:nvPr/>
        </p:nvSpPr>
        <p:spPr>
          <a:xfrm>
            <a:off x="502920"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078992"/>
            <a:ext cx="54864" cy="658368"/>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Current · Acc@0.5</a:t>
            </a:r>
          </a:p>
        </p:txBody>
      </p:sp>
      <p:sp>
        <p:nvSpPr>
          <p:cNvPr id="10" name="TextBox 9"/>
          <p:cNvSpPr txBox="1"/>
          <p:nvPr/>
        </p:nvSpPr>
        <p:spPr>
          <a:xfrm>
            <a:off x="667512" y="1353312"/>
            <a:ext cx="1901952" cy="283464"/>
          </a:xfrm>
          <a:prstGeom prst="rect">
            <a:avLst/>
          </a:prstGeom>
          <a:noFill/>
        </p:spPr>
        <p:txBody>
          <a:bodyPr wrap="square" anchor="ctr" lIns="27432" rIns="27432" tIns="9144" bIns="9144">
            <a:spAutoFit/>
          </a:bodyPr>
          <a:lstStyle/>
          <a:p>
            <a:pPr algn="l">
              <a:spcAft>
                <a:spcPts val="0"/>
              </a:spcAft>
            </a:pPr>
            <a:r>
              <a:rPr sz="1500" b="1">
                <a:solidFill>
                  <a:srgbClr val="2D70AA"/>
                </a:solidFill>
                <a:latin typeface="Noto Sans CJK SC"/>
              </a:rPr>
              <a:t>0.5297 ± 0.0003</a:t>
            </a:r>
          </a:p>
        </p:txBody>
      </p:sp>
      <p:sp>
        <p:nvSpPr>
          <p:cNvPr id="11" name="Rounded Rectangle 10"/>
          <p:cNvSpPr/>
          <p:nvPr/>
        </p:nvSpPr>
        <p:spPr>
          <a:xfrm>
            <a:off x="2770632"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632" y="1078992"/>
            <a:ext cx="54864" cy="658368"/>
          </a:xfrm>
          <a:prstGeom prst="rect">
            <a:avLst/>
          </a:prstGeom>
          <a:solidFill>
            <a:srgbClr val="17857D"/>
          </a:solidFill>
          <a:ln w="10160">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224"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面积小目标 Recall</a:t>
            </a:r>
          </a:p>
        </p:txBody>
      </p:sp>
      <p:sp>
        <p:nvSpPr>
          <p:cNvPr id="14" name="TextBox 13"/>
          <p:cNvSpPr txBox="1"/>
          <p:nvPr/>
        </p:nvSpPr>
        <p:spPr>
          <a:xfrm>
            <a:off x="2935224" y="1353312"/>
            <a:ext cx="1901952" cy="283464"/>
          </a:xfrm>
          <a:prstGeom prst="rect">
            <a:avLst/>
          </a:prstGeom>
          <a:noFill/>
        </p:spPr>
        <p:txBody>
          <a:bodyPr wrap="square" anchor="ctr" lIns="27432" rIns="27432" tIns="9144" bIns="9144">
            <a:spAutoFit/>
          </a:bodyPr>
          <a:lstStyle/>
          <a:p>
            <a:pPr algn="l">
              <a:spcAft>
                <a:spcPts val="0"/>
              </a:spcAft>
            </a:pPr>
            <a:r>
              <a:rPr sz="1700" b="1">
                <a:solidFill>
                  <a:srgbClr val="17857D"/>
                </a:solidFill>
                <a:latin typeface="Noto Sans CJK SC"/>
              </a:rPr>
              <a:t>+0.0030</a:t>
            </a:r>
          </a:p>
        </p:txBody>
      </p:sp>
      <p:sp>
        <p:nvSpPr>
          <p:cNvPr id="15" name="Rounded Rectangle 14"/>
          <p:cNvSpPr/>
          <p:nvPr/>
        </p:nvSpPr>
        <p:spPr>
          <a:xfrm>
            <a:off x="5038344" y="1078992"/>
            <a:ext cx="2148840" cy="65836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38344" y="1078992"/>
            <a:ext cx="54864" cy="658368"/>
          </a:xfrm>
          <a:prstGeom prst="rect">
            <a:avLst/>
          </a:prstGeom>
          <a:solidFill>
            <a:srgbClr val="D99124"/>
          </a:solidFill>
          <a:ln w="10160">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2936" y="1152144"/>
            <a:ext cx="1901952" cy="201168"/>
          </a:xfrm>
          <a:prstGeom prst="rect">
            <a:avLst/>
          </a:prstGeom>
          <a:noFill/>
        </p:spPr>
        <p:txBody>
          <a:bodyPr wrap="square" anchor="ctr" lIns="27432" rIns="27432" tIns="9144" bIns="9144">
            <a:spAutoFit/>
          </a:bodyPr>
          <a:lstStyle/>
          <a:p>
            <a:pPr algn="l">
              <a:spcAft>
                <a:spcPts val="0"/>
              </a:spcAft>
            </a:pPr>
            <a:r>
              <a:rPr sz="950" b="0">
                <a:solidFill>
                  <a:srgbClr val="5B6875"/>
                </a:solidFill>
                <a:latin typeface="Noto Sans CJK SC"/>
              </a:rPr>
              <a:t>最终选择</a:t>
            </a:r>
          </a:p>
        </p:txBody>
      </p:sp>
      <p:sp>
        <p:nvSpPr>
          <p:cNvPr id="18" name="TextBox 17"/>
          <p:cNvSpPr txBox="1"/>
          <p:nvPr/>
        </p:nvSpPr>
        <p:spPr>
          <a:xfrm>
            <a:off x="5202936" y="1353312"/>
            <a:ext cx="1901952" cy="283464"/>
          </a:xfrm>
          <a:prstGeom prst="rect">
            <a:avLst/>
          </a:prstGeom>
          <a:noFill/>
        </p:spPr>
        <p:txBody>
          <a:bodyPr wrap="square" anchor="ctr" lIns="27432" rIns="27432" tIns="9144" bIns="9144">
            <a:spAutoFit/>
          </a:bodyPr>
          <a:lstStyle/>
          <a:p>
            <a:pPr algn="l">
              <a:spcAft>
                <a:spcPts val="0"/>
              </a:spcAft>
            </a:pPr>
            <a:r>
              <a:rPr sz="1550" b="1">
                <a:solidFill>
                  <a:srgbClr val="D99124"/>
                </a:solidFill>
                <a:latin typeface="Noto Sans CJK SC"/>
              </a:rPr>
              <a:t>保留 Current</a:t>
            </a:r>
          </a:p>
        </p:txBody>
      </p:sp>
      <p:sp>
        <p:nvSpPr>
          <p:cNvPr id="19" name="Rectangle 18"/>
          <p:cNvSpPr/>
          <p:nvPr/>
        </p:nvSpPr>
        <p:spPr>
          <a:xfrm>
            <a:off x="502920" y="2011679"/>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1947672"/>
            <a:ext cx="5952744"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Current 与最强 Challenger</a:t>
            </a:r>
          </a:p>
        </p:txBody>
      </p:sp>
      <p:sp>
        <p:nvSpPr>
          <p:cNvPr id="21" name="Rounded Rectangle 20"/>
          <p:cNvSpPr/>
          <p:nvPr/>
        </p:nvSpPr>
        <p:spPr>
          <a:xfrm>
            <a:off x="502920" y="2331720"/>
            <a:ext cx="6355079" cy="1728216"/>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2331720"/>
            <a:ext cx="1481328" cy="576072"/>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2350008"/>
            <a:ext cx="1444752" cy="539496"/>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配置</a:t>
            </a:r>
          </a:p>
        </p:txBody>
      </p:sp>
      <p:sp>
        <p:nvSpPr>
          <p:cNvPr id="24" name="Rectangle 23"/>
          <p:cNvSpPr/>
          <p:nvPr/>
        </p:nvSpPr>
        <p:spPr>
          <a:xfrm>
            <a:off x="1984248" y="2331720"/>
            <a:ext cx="932688" cy="576072"/>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02536" y="2350008"/>
            <a:ext cx="896112" cy="539496"/>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Acc@0.5</a:t>
            </a:r>
          </a:p>
        </p:txBody>
      </p:sp>
      <p:sp>
        <p:nvSpPr>
          <p:cNvPr id="26" name="Rectangle 25"/>
          <p:cNvSpPr/>
          <p:nvPr/>
        </p:nvSpPr>
        <p:spPr>
          <a:xfrm>
            <a:off x="2916936" y="2331720"/>
            <a:ext cx="932688" cy="576072"/>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35224" y="2350008"/>
            <a:ext cx="896112" cy="539496"/>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Acc@0.75</a:t>
            </a:r>
          </a:p>
        </p:txBody>
      </p:sp>
      <p:sp>
        <p:nvSpPr>
          <p:cNvPr id="28" name="Rectangle 27"/>
          <p:cNvSpPr/>
          <p:nvPr/>
        </p:nvSpPr>
        <p:spPr>
          <a:xfrm>
            <a:off x="3849624" y="2331720"/>
            <a:ext cx="932688" cy="576072"/>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67911" y="2350008"/>
            <a:ext cx="896112" cy="539496"/>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mAP@0.5</a:t>
            </a:r>
          </a:p>
        </p:txBody>
      </p:sp>
      <p:sp>
        <p:nvSpPr>
          <p:cNvPr id="30" name="Rectangle 29"/>
          <p:cNvSpPr/>
          <p:nvPr/>
        </p:nvSpPr>
        <p:spPr>
          <a:xfrm>
            <a:off x="4782312" y="2331720"/>
            <a:ext cx="1143000" cy="576072"/>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00600" y="2350008"/>
            <a:ext cx="1106424" cy="539496"/>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面积Small R</a:t>
            </a:r>
          </a:p>
        </p:txBody>
      </p:sp>
      <p:sp>
        <p:nvSpPr>
          <p:cNvPr id="32" name="Rectangle 31"/>
          <p:cNvSpPr/>
          <p:nvPr/>
        </p:nvSpPr>
        <p:spPr>
          <a:xfrm>
            <a:off x="5925312" y="2331720"/>
            <a:ext cx="932688" cy="576072"/>
          </a:xfrm>
          <a:prstGeom prst="rect">
            <a:avLst/>
          </a:prstGeom>
          <a:solidFill>
            <a:srgbClr val="1E3D59"/>
          </a:solidFill>
          <a:ln w="10160">
            <a:solidFill>
              <a:srgbClr val="1E3D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0" y="2350008"/>
            <a:ext cx="896112" cy="539496"/>
          </a:xfrm>
          <a:prstGeom prst="rect">
            <a:avLst/>
          </a:prstGeom>
          <a:noFill/>
        </p:spPr>
        <p:txBody>
          <a:bodyPr wrap="square" anchor="ctr" lIns="27432" rIns="27432" tIns="9144" bIns="9144">
            <a:spAutoFit/>
          </a:bodyPr>
          <a:lstStyle/>
          <a:p>
            <a:pPr algn="ctr">
              <a:spcAft>
                <a:spcPts val="0"/>
              </a:spcAft>
            </a:pPr>
            <a:r>
              <a:rPr sz="919" b="1">
                <a:solidFill>
                  <a:srgbClr val="FFFFFF"/>
                </a:solidFill>
                <a:latin typeface="Noto Sans CJK SC"/>
              </a:rPr>
              <a:t>动作/图</a:t>
            </a:r>
          </a:p>
        </p:txBody>
      </p:sp>
      <p:sp>
        <p:nvSpPr>
          <p:cNvPr id="34" name="Rectangle 33"/>
          <p:cNvSpPr/>
          <p:nvPr/>
        </p:nvSpPr>
        <p:spPr>
          <a:xfrm>
            <a:off x="502920" y="2907791"/>
            <a:ext cx="1481328" cy="576072"/>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9496" y="2916935"/>
            <a:ext cx="1408176" cy="557784"/>
          </a:xfrm>
          <a:prstGeom prst="rect">
            <a:avLst/>
          </a:prstGeom>
          <a:noFill/>
        </p:spPr>
        <p:txBody>
          <a:bodyPr wrap="square" anchor="ctr" lIns="27432" rIns="27432" tIns="9144" bIns="9144">
            <a:spAutoFit/>
          </a:bodyPr>
          <a:lstStyle/>
          <a:p>
            <a:pPr algn="l">
              <a:spcAft>
                <a:spcPts val="0"/>
              </a:spcAft>
            </a:pPr>
            <a:r>
              <a:rPr sz="869" b="1">
                <a:solidFill>
                  <a:srgbClr val="2D70AA"/>
                </a:solidFill>
                <a:latin typeface="Noto Sans CJK SC"/>
              </a:rPr>
              <a:t>Current</a:t>
            </a:r>
          </a:p>
        </p:txBody>
      </p:sp>
      <p:sp>
        <p:nvSpPr>
          <p:cNvPr id="36" name="Rectangle 35"/>
          <p:cNvSpPr/>
          <p:nvPr/>
        </p:nvSpPr>
        <p:spPr>
          <a:xfrm>
            <a:off x="1984248" y="2907791"/>
            <a:ext cx="932688" cy="576072"/>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20824" y="2916935"/>
            <a:ext cx="859536" cy="557784"/>
          </a:xfrm>
          <a:prstGeom prst="rect">
            <a:avLst/>
          </a:prstGeom>
          <a:noFill/>
        </p:spPr>
        <p:txBody>
          <a:bodyPr wrap="square" anchor="ctr" lIns="27432" rIns="27432" tIns="9144" bIns="9144">
            <a:spAutoFit/>
          </a:bodyPr>
          <a:lstStyle/>
          <a:p>
            <a:pPr algn="ctr">
              <a:spcAft>
                <a:spcPts val="0"/>
              </a:spcAft>
            </a:pPr>
            <a:r>
              <a:rPr sz="869" b="1">
                <a:solidFill>
                  <a:srgbClr val="192430"/>
                </a:solidFill>
                <a:latin typeface="Noto Sans CJK SC"/>
              </a:rPr>
              <a:t>0.5297</a:t>
            </a:r>
          </a:p>
        </p:txBody>
      </p:sp>
      <p:sp>
        <p:nvSpPr>
          <p:cNvPr id="38" name="Rectangle 37"/>
          <p:cNvSpPr/>
          <p:nvPr/>
        </p:nvSpPr>
        <p:spPr>
          <a:xfrm>
            <a:off x="2916936" y="2907791"/>
            <a:ext cx="932688" cy="576072"/>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53512" y="2916935"/>
            <a:ext cx="859536" cy="557784"/>
          </a:xfrm>
          <a:prstGeom prst="rect">
            <a:avLst/>
          </a:prstGeom>
          <a:noFill/>
        </p:spPr>
        <p:txBody>
          <a:bodyPr wrap="square" anchor="ctr" lIns="27432" rIns="27432" tIns="9144" bIns="9144">
            <a:spAutoFit/>
          </a:bodyPr>
          <a:lstStyle/>
          <a:p>
            <a:pPr algn="ctr">
              <a:spcAft>
                <a:spcPts val="0"/>
              </a:spcAft>
            </a:pPr>
            <a:r>
              <a:rPr sz="869" b="1">
                <a:solidFill>
                  <a:srgbClr val="192430"/>
                </a:solidFill>
                <a:latin typeface="Noto Sans CJK SC"/>
              </a:rPr>
              <a:t>0.3307</a:t>
            </a:r>
          </a:p>
        </p:txBody>
      </p:sp>
      <p:sp>
        <p:nvSpPr>
          <p:cNvPr id="40" name="Rectangle 39"/>
          <p:cNvSpPr/>
          <p:nvPr/>
        </p:nvSpPr>
        <p:spPr>
          <a:xfrm>
            <a:off x="3849624" y="2907791"/>
            <a:ext cx="932688" cy="576072"/>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86200" y="2916935"/>
            <a:ext cx="859536" cy="557784"/>
          </a:xfrm>
          <a:prstGeom prst="rect">
            <a:avLst/>
          </a:prstGeom>
          <a:noFill/>
        </p:spPr>
        <p:txBody>
          <a:bodyPr wrap="square" anchor="ctr" lIns="27432" rIns="27432" tIns="9144" bIns="9144">
            <a:spAutoFit/>
          </a:bodyPr>
          <a:lstStyle/>
          <a:p>
            <a:pPr algn="ctr">
              <a:spcAft>
                <a:spcPts val="0"/>
              </a:spcAft>
            </a:pPr>
            <a:r>
              <a:rPr sz="869" b="1">
                <a:solidFill>
                  <a:srgbClr val="192430"/>
                </a:solidFill>
                <a:latin typeface="Noto Sans CJK SC"/>
              </a:rPr>
              <a:t>0.1398</a:t>
            </a:r>
          </a:p>
        </p:txBody>
      </p:sp>
      <p:sp>
        <p:nvSpPr>
          <p:cNvPr id="42" name="Rectangle 41"/>
          <p:cNvSpPr/>
          <p:nvPr/>
        </p:nvSpPr>
        <p:spPr>
          <a:xfrm>
            <a:off x="4782312" y="2907791"/>
            <a:ext cx="1143000" cy="576072"/>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18888" y="2916935"/>
            <a:ext cx="1069848" cy="557784"/>
          </a:xfrm>
          <a:prstGeom prst="rect">
            <a:avLst/>
          </a:prstGeom>
          <a:noFill/>
        </p:spPr>
        <p:txBody>
          <a:bodyPr wrap="square" anchor="ctr" lIns="27432" rIns="27432" tIns="9144" bIns="9144">
            <a:spAutoFit/>
          </a:bodyPr>
          <a:lstStyle/>
          <a:p>
            <a:pPr algn="ctr">
              <a:spcAft>
                <a:spcPts val="0"/>
              </a:spcAft>
            </a:pPr>
            <a:r>
              <a:rPr sz="869" b="1">
                <a:solidFill>
                  <a:srgbClr val="192430"/>
                </a:solidFill>
                <a:latin typeface="Noto Sans CJK SC"/>
              </a:rPr>
              <a:t>0.4168</a:t>
            </a:r>
          </a:p>
        </p:txBody>
      </p:sp>
      <p:sp>
        <p:nvSpPr>
          <p:cNvPr id="44" name="Rectangle 43"/>
          <p:cNvSpPr/>
          <p:nvPr/>
        </p:nvSpPr>
        <p:spPr>
          <a:xfrm>
            <a:off x="5925312" y="2907791"/>
            <a:ext cx="932688" cy="576072"/>
          </a:xfrm>
          <a:prstGeom prst="rect">
            <a:avLst/>
          </a:prstGeom>
          <a:solidFill>
            <a:srgbClr val="E1EFFA"/>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61888" y="2916935"/>
            <a:ext cx="859536" cy="557784"/>
          </a:xfrm>
          <a:prstGeom prst="rect">
            <a:avLst/>
          </a:prstGeom>
          <a:noFill/>
        </p:spPr>
        <p:txBody>
          <a:bodyPr wrap="square" anchor="ctr" lIns="27432" rIns="27432" tIns="9144" bIns="9144">
            <a:spAutoFit/>
          </a:bodyPr>
          <a:lstStyle/>
          <a:p>
            <a:pPr algn="ctr">
              <a:spcAft>
                <a:spcPts val="0"/>
              </a:spcAft>
            </a:pPr>
            <a:r>
              <a:rPr sz="869" b="1">
                <a:solidFill>
                  <a:srgbClr val="2D70AA"/>
                </a:solidFill>
                <a:latin typeface="Noto Sans CJK SC"/>
              </a:rPr>
              <a:t>1.362</a:t>
            </a:r>
          </a:p>
        </p:txBody>
      </p:sp>
      <p:sp>
        <p:nvSpPr>
          <p:cNvPr id="46" name="Rectangle 45"/>
          <p:cNvSpPr/>
          <p:nvPr/>
        </p:nvSpPr>
        <p:spPr>
          <a:xfrm>
            <a:off x="502920" y="3483863"/>
            <a:ext cx="1481328" cy="576072"/>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9496" y="3493007"/>
            <a:ext cx="1408176" cy="557784"/>
          </a:xfrm>
          <a:prstGeom prst="rect">
            <a:avLst/>
          </a:prstGeom>
          <a:noFill/>
        </p:spPr>
        <p:txBody>
          <a:bodyPr wrap="square" anchor="ctr" lIns="27432" rIns="27432" tIns="9144" bIns="9144">
            <a:spAutoFit/>
          </a:bodyPr>
          <a:lstStyle/>
          <a:p>
            <a:pPr algn="l">
              <a:spcAft>
                <a:spcPts val="0"/>
              </a:spcAft>
            </a:pPr>
            <a:r>
              <a:rPr sz="869" b="0">
                <a:solidFill>
                  <a:srgbClr val="192430"/>
                </a:solidFill>
                <a:latin typeface="Noto Sans CJK SC"/>
              </a:rPr>
              <a:t>Challenger</a:t>
            </a:r>
          </a:p>
        </p:txBody>
      </p:sp>
      <p:sp>
        <p:nvSpPr>
          <p:cNvPr id="48" name="Rectangle 47"/>
          <p:cNvSpPr/>
          <p:nvPr/>
        </p:nvSpPr>
        <p:spPr>
          <a:xfrm>
            <a:off x="1984248" y="3483863"/>
            <a:ext cx="932688" cy="576072"/>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20824" y="3493007"/>
            <a:ext cx="859536" cy="557784"/>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0.5279</a:t>
            </a:r>
          </a:p>
        </p:txBody>
      </p:sp>
      <p:sp>
        <p:nvSpPr>
          <p:cNvPr id="50" name="Rectangle 49"/>
          <p:cNvSpPr/>
          <p:nvPr/>
        </p:nvSpPr>
        <p:spPr>
          <a:xfrm>
            <a:off x="2916936" y="3483863"/>
            <a:ext cx="932688" cy="576072"/>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53512" y="3493007"/>
            <a:ext cx="859536" cy="557784"/>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0.3301</a:t>
            </a:r>
          </a:p>
        </p:txBody>
      </p:sp>
      <p:sp>
        <p:nvSpPr>
          <p:cNvPr id="52" name="Rectangle 51"/>
          <p:cNvSpPr/>
          <p:nvPr/>
        </p:nvSpPr>
        <p:spPr>
          <a:xfrm>
            <a:off x="3849624" y="3483863"/>
            <a:ext cx="932688" cy="576072"/>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86200" y="3493007"/>
            <a:ext cx="859536" cy="557784"/>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0.1396</a:t>
            </a:r>
          </a:p>
        </p:txBody>
      </p:sp>
      <p:sp>
        <p:nvSpPr>
          <p:cNvPr id="54" name="Rectangle 53"/>
          <p:cNvSpPr/>
          <p:nvPr/>
        </p:nvSpPr>
        <p:spPr>
          <a:xfrm>
            <a:off x="4782312" y="3483863"/>
            <a:ext cx="1143000" cy="576072"/>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818888" y="3493007"/>
            <a:ext cx="1069848" cy="557784"/>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0.4138</a:t>
            </a:r>
          </a:p>
        </p:txBody>
      </p:sp>
      <p:sp>
        <p:nvSpPr>
          <p:cNvPr id="56" name="Rectangle 55"/>
          <p:cNvSpPr/>
          <p:nvPr/>
        </p:nvSpPr>
        <p:spPr>
          <a:xfrm>
            <a:off x="5925312" y="3483863"/>
            <a:ext cx="932688" cy="576072"/>
          </a:xfrm>
          <a:prstGeom prst="rect">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61888" y="3493007"/>
            <a:ext cx="859536" cy="557784"/>
          </a:xfrm>
          <a:prstGeom prst="rect">
            <a:avLst/>
          </a:prstGeom>
          <a:noFill/>
        </p:spPr>
        <p:txBody>
          <a:bodyPr wrap="square" anchor="ctr" lIns="27432" rIns="27432" tIns="9144" bIns="9144">
            <a:spAutoFit/>
          </a:bodyPr>
          <a:lstStyle/>
          <a:p>
            <a:pPr algn="ctr">
              <a:spcAft>
                <a:spcPts val="0"/>
              </a:spcAft>
            </a:pPr>
            <a:r>
              <a:rPr sz="869" b="0">
                <a:solidFill>
                  <a:srgbClr val="192430"/>
                </a:solidFill>
                <a:latin typeface="Noto Sans CJK SC"/>
              </a:rPr>
              <a:t>1.358</a:t>
            </a:r>
          </a:p>
        </p:txBody>
      </p:sp>
      <p:sp>
        <p:nvSpPr>
          <p:cNvPr id="58" name="Rounded Rectangle 57"/>
          <p:cNvSpPr/>
          <p:nvPr/>
        </p:nvSpPr>
        <p:spPr>
          <a:xfrm>
            <a:off x="502920" y="3867912"/>
            <a:ext cx="6355080" cy="106984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1520" y="4069080"/>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9536" y="4005072"/>
            <a:ext cx="1837943"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对照说明</a:t>
            </a:r>
          </a:p>
        </p:txBody>
      </p:sp>
      <p:sp>
        <p:nvSpPr>
          <p:cNvPr id="61" name="TextBox 60"/>
          <p:cNvSpPr txBox="1"/>
          <p:nvPr/>
        </p:nvSpPr>
        <p:spPr>
          <a:xfrm>
            <a:off x="1984248" y="3950208"/>
            <a:ext cx="4626864" cy="310896"/>
          </a:xfrm>
          <a:prstGeom prst="rect">
            <a:avLst/>
          </a:prstGeom>
          <a:noFill/>
        </p:spPr>
        <p:txBody>
          <a:bodyPr wrap="square" anchor="ctr" lIns="27432" rIns="27432" tIns="9144" bIns="9144">
            <a:spAutoFit/>
          </a:bodyPr>
          <a:lstStyle/>
          <a:p>
            <a:pPr algn="l">
              <a:spcAft>
                <a:spcPts val="0"/>
              </a:spcAft>
            </a:pPr>
            <a:r>
              <a:rPr sz="1060" b="1">
                <a:solidFill>
                  <a:srgbClr val="192430"/>
                </a:solidFill>
                <a:latin typeface="Noto Sans CJK SC"/>
              </a:rPr>
              <a:t>Challenger：提高 small 与 precision 相对权重</a:t>
            </a:r>
          </a:p>
        </p:txBody>
      </p:sp>
      <p:sp>
        <p:nvSpPr>
          <p:cNvPr id="62" name="TextBox 61"/>
          <p:cNvSpPr txBox="1"/>
          <p:nvPr/>
        </p:nvSpPr>
        <p:spPr>
          <a:xfrm>
            <a:off x="1984248" y="4315968"/>
            <a:ext cx="4626864" cy="411480"/>
          </a:xfrm>
          <a:prstGeom prst="rect">
            <a:avLst/>
          </a:prstGeom>
          <a:noFill/>
        </p:spPr>
        <p:txBody>
          <a:bodyPr wrap="square" anchor="ctr" lIns="27432" rIns="27432" tIns="9144" bIns="9144">
            <a:spAutoFit/>
          </a:bodyPr>
          <a:lstStyle/>
          <a:p>
            <a:pPr algn="l">
              <a:spcAft>
                <a:spcPts val="0"/>
              </a:spcAft>
            </a:pPr>
            <a:r>
              <a:rPr sz="980" b="0">
                <a:solidFill>
                  <a:srgbClr val="5B6875"/>
                </a:solidFill>
                <a:latin typeface="Noto Sans CJK SC"/>
              </a:rPr>
              <a:t>两者网络、候选源、推理轮数和重评分流程完全相同；仅 reward 权重不同。</a:t>
            </a:r>
          </a:p>
        </p:txBody>
      </p:sp>
      <p:sp>
        <p:nvSpPr>
          <p:cNvPr id="63" name="Rounded Rectangle 62"/>
          <p:cNvSpPr/>
          <p:nvPr/>
        </p:nvSpPr>
        <p:spPr>
          <a:xfrm>
            <a:off x="7059168" y="1947672"/>
            <a:ext cx="4626864" cy="2990088"/>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87768" y="2075688"/>
            <a:ext cx="4169663" cy="292608"/>
          </a:xfrm>
          <a:prstGeom prst="rect">
            <a:avLst/>
          </a:prstGeom>
          <a:noFill/>
        </p:spPr>
        <p:txBody>
          <a:bodyPr wrap="square" anchor="ctr" lIns="27432" rIns="27432" tIns="9144" bIns="9144">
            <a:spAutoFit/>
          </a:bodyPr>
          <a:lstStyle/>
          <a:p>
            <a:pPr algn="l">
              <a:spcAft>
                <a:spcPts val="0"/>
              </a:spcAft>
            </a:pPr>
            <a:r>
              <a:rPr sz="1200" b="1">
                <a:solidFill>
                  <a:srgbClr val="192430"/>
                </a:solidFill>
                <a:latin typeface="Noto Sans CJK SC"/>
              </a:rPr>
              <a:t>配对 Bootstrap：Challenger − Current</a:t>
            </a:r>
          </a:p>
        </p:txBody>
      </p:sp>
      <p:cxnSp>
        <p:nvCxnSpPr>
          <p:cNvPr id="65" name="Connector 64"/>
          <p:cNvCxnSpPr/>
          <p:nvPr/>
        </p:nvCxnSpPr>
        <p:spPr>
          <a:xfrm>
            <a:off x="10910198" y="2569464"/>
            <a:ext cx="0" cy="1938528"/>
          </a:xfrm>
          <a:prstGeom prst="line">
            <a:avLst/>
          </a:prstGeom>
          <a:ln w="15240">
            <a:solidFill>
              <a:srgbClr val="C65049"/>
            </a:solidFill>
            <a:prstDash val="sysDash"/>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0727318" y="2359152"/>
            <a:ext cx="365760" cy="182880"/>
          </a:xfrm>
          <a:prstGeom prst="rect">
            <a:avLst/>
          </a:prstGeom>
          <a:noFill/>
        </p:spPr>
        <p:txBody>
          <a:bodyPr wrap="square" anchor="ctr" lIns="27432" rIns="27432" tIns="9144" bIns="9144">
            <a:spAutoFit/>
          </a:bodyPr>
          <a:lstStyle/>
          <a:p>
            <a:pPr algn="ctr">
              <a:spcAft>
                <a:spcPts val="0"/>
              </a:spcAft>
            </a:pPr>
            <a:r>
              <a:rPr sz="850" b="1">
                <a:solidFill>
                  <a:srgbClr val="C65049"/>
                </a:solidFill>
                <a:latin typeface="Noto Sans CJK SC"/>
              </a:rPr>
              <a:t>0</a:t>
            </a:r>
          </a:p>
        </p:txBody>
      </p:sp>
      <p:sp>
        <p:nvSpPr>
          <p:cNvPr id="67" name="TextBox 66"/>
          <p:cNvSpPr txBox="1"/>
          <p:nvPr/>
        </p:nvSpPr>
        <p:spPr>
          <a:xfrm>
            <a:off x="7205472" y="2660903"/>
            <a:ext cx="1170432" cy="283464"/>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Acc@0.5</a:t>
            </a:r>
          </a:p>
        </p:txBody>
      </p:sp>
      <p:cxnSp>
        <p:nvCxnSpPr>
          <p:cNvPr id="68" name="Connector 67"/>
          <p:cNvCxnSpPr/>
          <p:nvPr/>
        </p:nvCxnSpPr>
        <p:spPr>
          <a:xfrm>
            <a:off x="9855811" y="2807208"/>
            <a:ext cx="1054387" cy="0"/>
          </a:xfrm>
          <a:prstGeom prst="line">
            <a:avLst/>
          </a:prstGeom>
          <a:ln w="38100">
            <a:solidFill>
              <a:srgbClr val="D99124"/>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0363338" y="2756915"/>
            <a:ext cx="100584" cy="100584"/>
          </a:xfrm>
          <a:prstGeom prst="ellipse">
            <a:avLst/>
          </a:prstGeom>
          <a:solidFill>
            <a:srgbClr val="D99124"/>
          </a:solidFill>
          <a:ln>
            <a:solidFill>
              <a:srgbClr val="D99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727830" y="2898648"/>
            <a:ext cx="1371600" cy="182880"/>
          </a:xfrm>
          <a:prstGeom prst="rect">
            <a:avLst/>
          </a:prstGeom>
          <a:noFill/>
        </p:spPr>
        <p:txBody>
          <a:bodyPr wrap="square" anchor="ctr" lIns="27432" rIns="27432" tIns="9144" bIns="9144">
            <a:spAutoFit/>
          </a:bodyPr>
          <a:lstStyle/>
          <a:p>
            <a:pPr algn="ctr">
              <a:spcAft>
                <a:spcPts val="0"/>
              </a:spcAft>
            </a:pPr>
            <a:r>
              <a:rPr sz="730" b="1">
                <a:solidFill>
                  <a:srgbClr val="D99124"/>
                </a:solidFill>
                <a:latin typeface="Noto Sans CJK SC"/>
              </a:rPr>
              <a:t>[-0.0048, +0.0000]</a:t>
            </a:r>
          </a:p>
        </p:txBody>
      </p:sp>
      <p:sp>
        <p:nvSpPr>
          <p:cNvPr id="71" name="TextBox 70"/>
          <p:cNvSpPr txBox="1"/>
          <p:nvPr/>
        </p:nvSpPr>
        <p:spPr>
          <a:xfrm>
            <a:off x="7205472" y="3163824"/>
            <a:ext cx="1170432" cy="283464"/>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Acc@0.75</a:t>
            </a:r>
          </a:p>
        </p:txBody>
      </p:sp>
      <p:cxnSp>
        <p:nvCxnSpPr>
          <p:cNvPr id="72" name="Connector 71"/>
          <p:cNvCxnSpPr/>
          <p:nvPr/>
        </p:nvCxnSpPr>
        <p:spPr>
          <a:xfrm>
            <a:off x="10560194" y="3310128"/>
            <a:ext cx="465943" cy="0"/>
          </a:xfrm>
          <a:prstGeom prst="line">
            <a:avLst/>
          </a:prstGeom>
          <a:ln w="38100">
            <a:solidFill>
              <a:srgbClr val="B5BEC7"/>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10750530" y="3259836"/>
            <a:ext cx="100584" cy="100584"/>
          </a:xfrm>
          <a:prstGeom prst="ellipse">
            <a:avLst/>
          </a:prstGeom>
          <a:solidFill>
            <a:srgbClr val="B5BEC7"/>
          </a:solidFill>
          <a:ln>
            <a:solidFill>
              <a:srgbClr val="B5B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115022" y="3401568"/>
            <a:ext cx="1371600" cy="182880"/>
          </a:xfrm>
          <a:prstGeom prst="rect">
            <a:avLst/>
          </a:prstGeom>
          <a:noFill/>
        </p:spPr>
        <p:txBody>
          <a:bodyPr wrap="square" anchor="ctr" lIns="27432" rIns="27432" tIns="9144" bIns="9144">
            <a:spAutoFit/>
          </a:bodyPr>
          <a:lstStyle/>
          <a:p>
            <a:pPr algn="ctr">
              <a:spcAft>
                <a:spcPts val="0"/>
              </a:spcAft>
            </a:pPr>
            <a:r>
              <a:rPr sz="730" b="1">
                <a:solidFill>
                  <a:srgbClr val="B5BEC7"/>
                </a:solidFill>
                <a:latin typeface="Noto Sans CJK SC"/>
              </a:rPr>
              <a:t>[-0.0016, +0.0005]</a:t>
            </a:r>
          </a:p>
        </p:txBody>
      </p:sp>
      <p:sp>
        <p:nvSpPr>
          <p:cNvPr id="75" name="TextBox 74"/>
          <p:cNvSpPr txBox="1"/>
          <p:nvPr/>
        </p:nvSpPr>
        <p:spPr>
          <a:xfrm>
            <a:off x="7205472" y="3666744"/>
            <a:ext cx="1170432" cy="283464"/>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弱类 Recall</a:t>
            </a:r>
          </a:p>
        </p:txBody>
      </p:sp>
      <p:cxnSp>
        <p:nvCxnSpPr>
          <p:cNvPr id="76" name="Connector 75"/>
          <p:cNvCxnSpPr/>
          <p:nvPr/>
        </p:nvCxnSpPr>
        <p:spPr>
          <a:xfrm>
            <a:off x="8630796" y="3813048"/>
            <a:ext cx="2279402" cy="0"/>
          </a:xfrm>
          <a:prstGeom prst="line">
            <a:avLst/>
          </a:prstGeom>
          <a:ln w="38100">
            <a:solidFill>
              <a:srgbClr val="17857D"/>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9777081" y="3762756"/>
            <a:ext cx="100584" cy="100584"/>
          </a:xfrm>
          <a:prstGeom prst="ellipse">
            <a:avLst/>
          </a:prstGeom>
          <a:solidFill>
            <a:srgbClr val="17857D"/>
          </a:solidFill>
          <a:ln>
            <a:solidFill>
              <a:srgbClr val="178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141573" y="3904487"/>
            <a:ext cx="1371600" cy="182880"/>
          </a:xfrm>
          <a:prstGeom prst="rect">
            <a:avLst/>
          </a:prstGeom>
          <a:noFill/>
        </p:spPr>
        <p:txBody>
          <a:bodyPr wrap="square" anchor="ctr" lIns="27432" rIns="27432" tIns="9144" bIns="9144">
            <a:spAutoFit/>
          </a:bodyPr>
          <a:lstStyle/>
          <a:p>
            <a:pPr algn="ctr">
              <a:spcAft>
                <a:spcPts val="0"/>
              </a:spcAft>
            </a:pPr>
            <a:r>
              <a:rPr sz="730" b="1">
                <a:solidFill>
                  <a:srgbClr val="17857D"/>
                </a:solidFill>
                <a:latin typeface="Noto Sans CJK SC"/>
              </a:rPr>
              <a:t>[-0.0104, +0.0000]</a:t>
            </a:r>
          </a:p>
        </p:txBody>
      </p:sp>
      <p:sp>
        <p:nvSpPr>
          <p:cNvPr id="79" name="TextBox 78"/>
          <p:cNvSpPr txBox="1"/>
          <p:nvPr/>
        </p:nvSpPr>
        <p:spPr>
          <a:xfrm>
            <a:off x="7205472" y="4169663"/>
            <a:ext cx="1170432" cy="283464"/>
          </a:xfrm>
          <a:prstGeom prst="rect">
            <a:avLst/>
          </a:prstGeom>
          <a:noFill/>
        </p:spPr>
        <p:txBody>
          <a:bodyPr wrap="square" anchor="ctr" lIns="27432" rIns="27432" tIns="9144" bIns="9144">
            <a:spAutoFit/>
          </a:bodyPr>
          <a:lstStyle/>
          <a:p>
            <a:pPr algn="r">
              <a:spcAft>
                <a:spcPts val="0"/>
              </a:spcAft>
            </a:pPr>
            <a:r>
              <a:rPr sz="930" b="0">
                <a:solidFill>
                  <a:srgbClr val="5B6875"/>
                </a:solidFill>
                <a:latin typeface="Noto Sans CJK SC"/>
              </a:rPr>
              <a:t>面积小目标</a:t>
            </a:r>
          </a:p>
        </p:txBody>
      </p:sp>
      <p:cxnSp>
        <p:nvCxnSpPr>
          <p:cNvPr id="80" name="Connector 79"/>
          <p:cNvCxnSpPr/>
          <p:nvPr/>
        </p:nvCxnSpPr>
        <p:spPr>
          <a:xfrm>
            <a:off x="9337367" y="4315968"/>
            <a:ext cx="1402204" cy="0"/>
          </a:xfrm>
          <a:prstGeom prst="line">
            <a:avLst/>
          </a:prstGeom>
          <a:ln w="38100">
            <a:solidFill>
              <a:srgbClr val="2D70AA"/>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10063647" y="4265676"/>
            <a:ext cx="100584" cy="100584"/>
          </a:xfrm>
          <a:prstGeom prst="ellipse">
            <a:avLst/>
          </a:prstGeom>
          <a:solidFill>
            <a:srgbClr val="2D70AA"/>
          </a:solidFill>
          <a:ln>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428139" y="4407407"/>
            <a:ext cx="1371600" cy="182880"/>
          </a:xfrm>
          <a:prstGeom prst="rect">
            <a:avLst/>
          </a:prstGeom>
          <a:noFill/>
        </p:spPr>
        <p:txBody>
          <a:bodyPr wrap="square" anchor="ctr" lIns="27432" rIns="27432" tIns="9144" bIns="9144">
            <a:spAutoFit/>
          </a:bodyPr>
          <a:lstStyle/>
          <a:p>
            <a:pPr algn="ctr">
              <a:spcAft>
                <a:spcPts val="0"/>
              </a:spcAft>
            </a:pPr>
            <a:r>
              <a:rPr sz="730" b="1">
                <a:solidFill>
                  <a:srgbClr val="2D70AA"/>
                </a:solidFill>
                <a:latin typeface="Noto Sans CJK SC"/>
              </a:rPr>
              <a:t>[-0.0072, -0.0008]</a:t>
            </a:r>
          </a:p>
        </p:txBody>
      </p:sp>
      <p:sp>
        <p:nvSpPr>
          <p:cNvPr id="83" name="TextBox 82"/>
          <p:cNvSpPr txBox="1"/>
          <p:nvPr/>
        </p:nvSpPr>
        <p:spPr>
          <a:xfrm>
            <a:off x="7287768" y="4690872"/>
            <a:ext cx="4169663" cy="182880"/>
          </a:xfrm>
          <a:prstGeom prst="rect">
            <a:avLst/>
          </a:prstGeom>
          <a:noFill/>
        </p:spPr>
        <p:txBody>
          <a:bodyPr wrap="square" anchor="ctr" lIns="27432" rIns="27432" tIns="9144" bIns="9144">
            <a:spAutoFit/>
          </a:bodyPr>
          <a:lstStyle/>
          <a:p>
            <a:pPr algn="l">
              <a:spcAft>
                <a:spcPts val="0"/>
              </a:spcAft>
            </a:pPr>
            <a:r>
              <a:rPr sz="869" b="0">
                <a:solidFill>
                  <a:srgbClr val="5B6875"/>
                </a:solidFill>
                <a:latin typeface="Noto Sans CJK SC"/>
              </a:rPr>
              <a:t>负值位于左侧 = Current 更好；区间不跨 0 = 差异显著</a:t>
            </a:r>
          </a:p>
        </p:txBody>
      </p:sp>
      <p:sp>
        <p:nvSpPr>
          <p:cNvPr id="84" name="Rounded Rectangle 83"/>
          <p:cNvSpPr/>
          <p:nvPr/>
        </p:nvSpPr>
        <p:spPr>
          <a:xfrm>
            <a:off x="502920" y="5157216"/>
            <a:ext cx="11183112" cy="960120"/>
          </a:xfrm>
          <a:prstGeom prst="roundRect">
            <a:avLst>
              <a:gd name="adj" fmla="val 6000"/>
            </a:avLst>
          </a:prstGeom>
          <a:solidFill>
            <a:srgbClr val="FFFFFF"/>
          </a:solidFill>
          <a:ln w="10160">
            <a:solidFill>
              <a:srgbClr val="DAD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49808" y="5349240"/>
            <a:ext cx="54864" cy="210312"/>
          </a:xfrm>
          <a:prstGeom prst="rect">
            <a:avLst/>
          </a:prstGeom>
          <a:solidFill>
            <a:srgbClr val="2D70AA"/>
          </a:solidFill>
          <a:ln w="10160">
            <a:solidFill>
              <a:srgbClr val="2D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77824" y="5285231"/>
            <a:ext cx="1106424" cy="329184"/>
          </a:xfrm>
          <a:prstGeom prst="rect">
            <a:avLst/>
          </a:prstGeom>
          <a:noFill/>
        </p:spPr>
        <p:txBody>
          <a:bodyPr wrap="square" anchor="ctr" lIns="27432" rIns="27432" tIns="9144" bIns="9144">
            <a:spAutoFit/>
          </a:bodyPr>
          <a:lstStyle/>
          <a:p>
            <a:pPr algn="l">
              <a:spcAft>
                <a:spcPts val="0"/>
              </a:spcAft>
            </a:pPr>
            <a:r>
              <a:rPr sz="1100" b="1">
                <a:solidFill>
                  <a:srgbClr val="192430"/>
                </a:solidFill>
                <a:latin typeface="Noto Sans CJK SC"/>
              </a:rPr>
              <a:t>结论</a:t>
            </a:r>
          </a:p>
        </p:txBody>
      </p:sp>
      <p:sp>
        <p:nvSpPr>
          <p:cNvPr id="87" name="TextBox 86"/>
          <p:cNvSpPr txBox="1"/>
          <p:nvPr/>
        </p:nvSpPr>
        <p:spPr>
          <a:xfrm>
            <a:off x="1874519" y="5239512"/>
            <a:ext cx="9464040" cy="384048"/>
          </a:xfrm>
          <a:prstGeom prst="rect">
            <a:avLst/>
          </a:prstGeom>
          <a:noFill/>
        </p:spPr>
        <p:txBody>
          <a:bodyPr wrap="square" anchor="ctr" lIns="45720" rIns="45720" tIns="9144" bIns="9144">
            <a:spAutoFit/>
          </a:bodyPr>
          <a:lstStyle/>
          <a:p>
            <a:pPr algn="l"/>
            <a:r>
              <a:rPr sz="1300" b="1">
                <a:solidFill>
                  <a:srgbClr val="2D70AA"/>
                </a:solidFill>
                <a:latin typeface="Noto Sans CJK SC"/>
              </a:rPr>
              <a:t>最终保留 Current</a:t>
            </a:r>
            <a:r>
              <a:rPr sz="1300" b="0">
                <a:solidFill>
                  <a:srgbClr val="192430"/>
                </a:solidFill>
                <a:latin typeface="Noto Sans CJK SC"/>
              </a:rPr>
              <a:t>：三种子下 Acc、mAP 和小目标召回均领先；面积小目标 Recall 的 95% CI 不跨 0。</a:t>
            </a:r>
          </a:p>
        </p:txBody>
      </p:sp>
      <p:sp>
        <p:nvSpPr>
          <p:cNvPr id="88" name="TextBox 87"/>
          <p:cNvSpPr txBox="1"/>
          <p:nvPr/>
        </p:nvSpPr>
        <p:spPr>
          <a:xfrm>
            <a:off x="1874519" y="5623559"/>
            <a:ext cx="9464040" cy="274320"/>
          </a:xfrm>
          <a:prstGeom prst="rect">
            <a:avLst/>
          </a:prstGeom>
          <a:noFill/>
        </p:spPr>
        <p:txBody>
          <a:bodyPr wrap="square" anchor="ctr" lIns="27432" rIns="27432" tIns="9144" bIns="9144">
            <a:spAutoFit/>
          </a:bodyPr>
          <a:lstStyle/>
          <a:p>
            <a:pPr algn="l">
              <a:spcAft>
                <a:spcPts val="0"/>
              </a:spcAft>
            </a:pPr>
            <a:r>
              <a:rPr sz="1120" b="0">
                <a:solidFill>
                  <a:srgbClr val="5B6875"/>
                </a:solidFill>
                <a:latin typeface="Noto Sans CJK SC"/>
              </a:rPr>
              <a:t>Acc 区间上界触及 0，因此表述为稳定领先，不夸大为所有指标均显著。</a:t>
            </a:r>
          </a:p>
        </p:txBody>
      </p:sp>
      <p:sp>
        <p:nvSpPr>
          <p:cNvPr id="89" name="TextBox 88"/>
          <p:cNvSpPr txBox="1"/>
          <p:nvPr/>
        </p:nvSpPr>
        <p:spPr>
          <a:xfrm>
            <a:off x="530352" y="6236208"/>
            <a:ext cx="10789920" cy="201168"/>
          </a:xfrm>
          <a:prstGeom prst="rect">
            <a:avLst/>
          </a:prstGeom>
          <a:noFill/>
        </p:spPr>
        <p:txBody>
          <a:bodyPr wrap="square" anchor="ctr" lIns="27432" rIns="27432" tIns="9144" bIns="9144">
            <a:spAutoFit/>
          </a:bodyPr>
          <a:lstStyle/>
          <a:p>
            <a:pPr algn="l">
              <a:spcAft>
                <a:spcPts val="0"/>
              </a:spcAft>
            </a:pPr>
            <a:r>
              <a:rPr sz="900" b="0">
                <a:solidFill>
                  <a:srgbClr val="5B6875"/>
                </a:solidFill>
                <a:latin typeface="Noto Sans CJK SC"/>
              </a:rPr>
              <a:t>结论边界：证明预注册搜索空间内的经验稳健性与局部优势，不声称数学上的全局最优。</a:t>
            </a:r>
          </a:p>
        </p:txBody>
      </p:sp>
    </p:spTree>
  </p:cSld>
  <p:clrMapOvr>
    <a:masterClrMapping/>
  </p:clrMapOvr>
</p:sld>
</file>

<file path=ppt/tags/tag1.xml><?xml version="1.0" encoding="utf-8"?>
<p:tagLst xmlns:p="http://schemas.openxmlformats.org/presentationml/2006/main">
  <p:tag name="TABLE_ENDDRAG_ORIGIN_RECT" val="845*150"/>
  <p:tag name="TABLE_ENDDRAG_RECT" val="60*133*845*150"/>
</p:tagLst>
</file>

<file path=ppt/tags/tag2.xml><?xml version="1.0" encoding="utf-8"?>
<p:tagLst xmlns:p="http://schemas.openxmlformats.org/presentationml/2006/main">
  <p:tag name="KSO_WM_DIAGRAM_VIRTUALLY_FRAME" val="{&quot;height&quot;:311.45,&quot;left&quot;:54,&quot;top&quot;:145.3,&quot;width&quot;:852}"/>
</p:tagLst>
</file>

<file path=ppt/tags/tag3.xml><?xml version="1.0" encoding="utf-8"?>
<p:tagLst xmlns:p="http://schemas.openxmlformats.org/presentationml/2006/main">
  <p:tag name="KSO_WM_DIAGRAM_VIRTUALLY_FRAME" val="{&quot;height&quot;:311.45,&quot;left&quot;:54,&quot;top&quot;:145.3,&quot;width&quot;:852}"/>
</p:tagLst>
</file>

<file path=ppt/tags/tag4.xml><?xml version="1.0" encoding="utf-8"?>
<p:tagLst xmlns:p="http://schemas.openxmlformats.org/presentationml/2006/main">
  <p:tag name="KSO_WM_DIAGRAM_VIRTUALLY_FRAME" val="{&quot;height&quot;:311.45,&quot;left&quot;:54,&quot;top&quot;:145.3,&quot;width&quot;:852}"/>
</p:tagLst>
</file>

<file path=ppt/tags/tag5.xml><?xml version="1.0" encoding="utf-8"?>
<p:tagLst xmlns:p="http://schemas.openxmlformats.org/presentationml/2006/main">
  <p:tag name="KSO_WM_DIAGRAM_VIRTUALLY_FRAME" val="{&quot;height&quot;:311.45,&quot;left&quot;:54,&quot;top&quot;:145.3,&quot;width&quot;:852}"/>
</p:tagLst>
</file>

<file path=ppt/tags/tag6.xml><?xml version="1.0" encoding="utf-8"?>
<p:tagLst xmlns:p="http://schemas.openxmlformats.org/presentationml/2006/main">
  <p:tag name="KSO_WM_DIAGRAM_VIRTUALLY_FRAME" val="{&quot;height&quot;:311.45,&quot;left&quot;:54,&quot;top&quot;:145.3,&quot;width&quot;:852}"/>
</p:tagLst>
</file>

<file path=ppt/tags/tag7.xml><?xml version="1.0" encoding="utf-8"?>
<p:tagLst xmlns:p="http://schemas.openxmlformats.org/presentationml/2006/main">
  <p:tag name="KSO_WM_DIAGRAM_VIRTUALLY_FRAME" val="{&quot;height&quot;:311.45,&quot;left&quot;:54,&quot;top&quot;:145.3,&quot;width&quot;:852}"/>
</p:tagLst>
</file>

<file path=ppt/tags/tag8.xml><?xml version="1.0" encoding="utf-8"?>
<p:tagLst xmlns:p="http://schemas.openxmlformats.org/presentationml/2006/main">
  <p:tag name="KSO_WM_DIAGRAM_VIRTUALLY_FRAME" val="{&quot;height&quot;:311.45,&quot;left&quot;:54,&quot;top&quot;:145.3,&quot;width&quot;:852}"/>
</p:tagLst>
</file>

<file path=ppt/tags/tag9.xml><?xml version="1.0" encoding="utf-8"?>
<p:tagLst xmlns:p="http://schemas.openxmlformats.org/presentationml/2006/main">
  <p:tag name="KSO_WM_DIAGRAM_VIRTUALLY_FRAME" val="{&quot;height&quot;:311.45,&quot;left&quot;:54,&quot;top&quot;:145.3,&quot;width&quot;:852}"/>
</p:tagLst>
</file>

<file path=ppt/tags/tag10.xml><?xml version="1.0" encoding="utf-8"?>
<p:tagLst xmlns:p="http://schemas.openxmlformats.org/presentationml/2006/main">
  <p:tag name="KSO_WM_DIAGRAM_VIRTUALLY_FRAME" val="{&quot;height&quot;:311.45,&quot;left&quot;:54,&quot;top&quot;:145.3,&quot;width&quot;:852}"/>
</p:tagLst>
</file>

<file path=ppt/tags/tag11.xml><?xml version="1.0" encoding="utf-8"?>
<p:tagLst xmlns:p="http://schemas.openxmlformats.org/presentationml/2006/main">
  <p:tag name="KSO_WM_DIAGRAM_VIRTUALLY_FRAME" val="{&quot;height&quot;:311.45,&quot;left&quot;:54,&quot;top&quot;:145.3,&quot;width&quot;:852}"/>
</p:tagLst>
</file>

<file path=ppt/tags/tag12.xml><?xml version="1.0" encoding="utf-8"?>
<p:tagLst xmlns:p="http://schemas.openxmlformats.org/presentationml/2006/main">
  <p:tag name="KSO_WM_DIAGRAM_VIRTUALLY_FRAME" val="{&quot;height&quot;:311.45,&quot;left&quot;:54,&quot;top&quot;:145.3,&quot;width&quot;:852}"/>
</p:tagLst>
</file>

<file path=ppt/tags/tag13.xml><?xml version="1.0" encoding="utf-8"?>
<p:tagLst xmlns:p="http://schemas.openxmlformats.org/presentationml/2006/main">
  <p:tag name="KSO_WM_DIAGRAM_VIRTUALLY_FRAME" val="{&quot;height&quot;:311.45,&quot;left&quot;:54,&quot;top&quot;:145.3,&quot;width&quot;:852}"/>
</p:tagLst>
</file>

<file path=ppt/tags/tag14.xml><?xml version="1.0" encoding="utf-8"?>
<p:tagLst xmlns:p="http://schemas.openxmlformats.org/presentationml/2006/main">
  <p:tag name="KSO_WM_DIAGRAM_VIRTUALLY_FRAME" val="{&quot;height&quot;:311.45,&quot;left&quot;:54,&quot;top&quot;:145.3,&quot;width&quot;:852}"/>
</p:tagLst>
</file>

<file path=ppt/tags/tag15.xml><?xml version="1.0" encoding="utf-8"?>
<p:tagLst xmlns:p="http://schemas.openxmlformats.org/presentationml/2006/main">
  <p:tag name="KSO_WM_DIAGRAM_VIRTUALLY_FRAME" val="{&quot;height&quot;:311.45,&quot;left&quot;:54,&quot;top&quot;:145.3,&quot;width&quot;:852}"/>
</p:tagLst>
</file>

<file path=ppt/tags/tag16.xml><?xml version="1.0" encoding="utf-8"?>
<p:tagLst xmlns:p="http://schemas.openxmlformats.org/presentationml/2006/main">
  <p:tag name="KSO_WM_DIAGRAM_VIRTUALLY_FRAME" val="{&quot;height&quot;:311.45,&quot;left&quot;:54,&quot;top&quot;:145.3,&quot;width&quot;:852}"/>
</p:tagLst>
</file>

<file path=ppt/tags/tag17.xml><?xml version="1.0" encoding="utf-8"?>
<p:tagLst xmlns:p="http://schemas.openxmlformats.org/presentationml/2006/main">
  <p:tag name="KSO_WM_DIAGRAM_VIRTUALLY_FRAME" val="{&quot;height&quot;:311.45,&quot;left&quot;:54,&quot;top&quot;:145.3,&quot;width&quot;:852}"/>
</p:tagLst>
</file>

<file path=ppt/tags/tag18.xml><?xml version="1.0" encoding="utf-8"?>
<p:tagLst xmlns:p="http://schemas.openxmlformats.org/presentationml/2006/main">
  <p:tag name="KSO_WM_DIAGRAM_VIRTUALLY_FRAME" val="{&quot;height&quot;:311.45,&quot;left&quot;:54,&quot;top&quot;:145.3,&quot;width&quot;:852}"/>
</p:tagLst>
</file>

<file path=ppt/tags/tag19.xml><?xml version="1.0" encoding="utf-8"?>
<p:tagLst xmlns:p="http://schemas.openxmlformats.org/presentationml/2006/main">
  <p:tag name="KSO_WM_DIAGRAM_VIRTUALLY_FRAME" val="{&quot;height&quot;:311.45,&quot;left&quot;:54,&quot;top&quot;:145.3,&quot;width&quot;:852}"/>
</p:tagLst>
</file>

<file path=ppt/tags/tag20.xml><?xml version="1.0" encoding="utf-8"?>
<p:tagLst xmlns:p="http://schemas.openxmlformats.org/presentationml/2006/main">
  <p:tag name="KSO_WM_DIAGRAM_VIRTUALLY_FRAME" val="{&quot;height&quot;:187.5,&quot;left&quot;:67.5,&quot;top&quot;:180,&quot;width&quot;:753.75}"/>
</p:tagLst>
</file>

<file path=ppt/tags/tag21.xml><?xml version="1.0" encoding="utf-8"?>
<p:tagLst xmlns:p="http://schemas.openxmlformats.org/presentationml/2006/main">
  <p:tag name="KSO_WM_DIAGRAM_VIRTUALLY_FRAME" val="{&quot;height&quot;:187.5,&quot;left&quot;:67.5,&quot;top&quot;:180,&quot;width&quot;:753.75}"/>
</p:tagLst>
</file>

<file path=ppt/tags/tag22.xml><?xml version="1.0" encoding="utf-8"?>
<p:tagLst xmlns:p="http://schemas.openxmlformats.org/presentationml/2006/main">
  <p:tag name="KSO_WM_DIAGRAM_VIRTUALLY_FRAME" val="{&quot;height&quot;:187.5,&quot;left&quot;:67.5,&quot;top&quot;:180,&quot;width&quot;:753.75}"/>
</p:tagLst>
</file>

<file path=ppt/tags/tag23.xml><?xml version="1.0" encoding="utf-8"?>
<p:tagLst xmlns:p="http://schemas.openxmlformats.org/presentationml/2006/main">
  <p:tag name="KSO_WM_DIAGRAM_VIRTUALLY_FRAME" val="{&quot;height&quot;:187.5,&quot;left&quot;:67.5,&quot;top&quot;:180,&quot;width&quot;:753.75}"/>
</p:tagLst>
</file>

<file path=ppt/tags/tag24.xml><?xml version="1.0" encoding="utf-8"?>
<p:tagLst xmlns:p="http://schemas.openxmlformats.org/presentationml/2006/main">
  <p:tag name="KSO_WM_DIAGRAM_VIRTUALLY_FRAME" val="{&quot;height&quot;:187.5,&quot;left&quot;:67.5,&quot;top&quot;:180,&quot;width&quot;:753.75}"/>
</p:tagLst>
</file>

<file path=ppt/tags/tag25.xml><?xml version="1.0" encoding="utf-8"?>
<p:tagLst xmlns:p="http://schemas.openxmlformats.org/presentationml/2006/main">
  <p:tag name="KSO_WM_DIAGRAM_VIRTUALLY_FRAME" val="{&quot;height&quot;:187.5,&quot;left&quot;:67.5,&quot;top&quot;:180,&quot;width&quot;:753.7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4439</Words>
  <Application>WPS 演示</Application>
  <PresentationFormat>Converted Presentation</PresentationFormat>
  <Paragraphs>804</Paragraphs>
  <Slides>15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15</vt:i4>
      </vt:variant>
    </vt:vector>
  </HeadingPairs>
  <TitlesOfParts>
    <vt:vector size="31" baseType="lpstr">
      <vt:lpstr>Arial</vt:lpstr>
      <vt:lpstr>宋体</vt:lpstr>
      <vt:lpstr>Wingdings</vt:lpstr>
      <vt:lpstr>微软雅黑</vt:lpstr>
      <vt:lpstr>Optima-Regular</vt:lpstr>
      <vt:lpstr>0xProto Nerd Font Mono</vt:lpstr>
      <vt:lpstr>Adobe Gothic Std B</vt:lpstr>
      <vt:lpstr>华文中宋</vt:lpstr>
      <vt:lpstr>华文细黑</vt:lpstr>
      <vt:lpstr>黑体</vt:lpstr>
      <vt:lpstr>Noto Sans CJK SC</vt:lpstr>
      <vt:lpstr>Calibri</vt:lpstr>
      <vt:lpstr>Arial Unicode MS</vt:lpstr>
      <vt:lpstr>Noto Sans CJK SC</vt:lpstr>
      <vt:lpstr>Optima-Regular</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结题答辩：Reward 参数实验补充版</dc:title>
  <dc:creator>Walnut Exporter</dc:creator>
  <cp:lastModifiedBy>王哲</cp:lastModifiedBy>
  <cp:revision>62</cp:revision>
  <dcterms:created xsi:type="dcterms:W3CDTF">2026-08-29T14:39:00Z</dcterms:created>
  <dcterms:modified xsi:type="dcterms:W3CDTF">2026-09-15T13:59:32Z</dcterms:modified>
  <dc:subject>增加 Reward 公式设计、超参数搜索与独立验证</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92321FF83F674E7FBB1B8E6A3F817BAC_12</vt:lpwstr>
  </property>
</Properties>
</file>