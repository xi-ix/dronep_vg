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256032"/>
            <a:ext cx="5029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70AA"/>
                </a:solidFill>
                <a:latin typeface="Noto Sans CJK S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01168"/>
            <a:ext cx="1074420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92430"/>
                </a:solidFill>
                <a:latin typeface="Noto Sans CJK SC"/>
              </a:rPr>
              <a:t>Qwen 动态 RL：以更低成本逼近全展开性能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658368"/>
            <a:ext cx="1069848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875"/>
                </a:solidFill>
                <a:latin typeface="Noto Sans CJK SC"/>
              </a:rPr>
              <a:t>VisDrone test：150 张 / 7,973 GT · 同一候选融合、富元信息重评分与 class-aware 评测流程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3424" y="6510528"/>
            <a:ext cx="347472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78992"/>
            <a:ext cx="20574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864" cy="658368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52144"/>
            <a:ext cx="181051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RL 相对原始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53312"/>
            <a:ext cx="181051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D70AA"/>
                </a:solidFill>
                <a:latin typeface="Noto Sans CJK SC"/>
              </a:rPr>
              <a:t>Acc +3.54 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078992"/>
            <a:ext cx="20574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1078992"/>
            <a:ext cx="54864" cy="658368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1152144"/>
            <a:ext cx="181051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保留全展开增益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1353312"/>
            <a:ext cx="181051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857D"/>
                </a:solidFill>
                <a:latin typeface="Noto Sans CJK SC"/>
              </a:rPr>
              <a:t>66.8%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5464" y="1078992"/>
            <a:ext cx="20574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55464" y="1078992"/>
            <a:ext cx="54864" cy="658368"/>
          </a:xfrm>
          <a:prstGeom prst="rect">
            <a:avLst/>
          </a:prstGeom>
          <a:solidFill>
            <a:srgbClr val="D99124"/>
          </a:solidFill>
          <a:ln w="10160">
            <a:solidFill>
              <a:srgbClr val="D991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5" y="1152144"/>
            <a:ext cx="1810512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B6875"/>
                </a:solidFill>
                <a:latin typeface="Noto Sans CJK SC"/>
              </a:rPr>
              <a:t>相对全展开动作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5" y="1353312"/>
            <a:ext cx="1810512" cy="2834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99124"/>
                </a:solidFill>
                <a:latin typeface="Noto Sans CJK SC"/>
              </a:rPr>
              <a:t>-61.2%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23176" y="1078992"/>
            <a:ext cx="4562856" cy="3319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51775" y="1207007"/>
            <a:ext cx="4105656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2430"/>
                </a:solidFill>
                <a:latin typeface="Noto Sans CJK SC"/>
              </a:rPr>
              <a:t>Acc@0.5：性能逐级提升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1581912"/>
            <a:ext cx="1234440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原始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7072" y="1794784"/>
            <a:ext cx="1861836" cy="354787"/>
          </a:xfrm>
          <a:prstGeom prst="rect">
            <a:avLst/>
          </a:prstGeom>
          <a:solidFill>
            <a:srgbClr val="B5BEC7"/>
          </a:solidFill>
          <a:ln w="10160">
            <a:solidFill>
              <a:srgbClr val="B5BE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02916" y="1581912"/>
            <a:ext cx="658368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B5BEC7"/>
                </a:solidFill>
                <a:latin typeface="Noto Sans CJK SC"/>
              </a:rPr>
              <a:t>0.4651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468880"/>
            <a:ext cx="1234440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动态 RL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77072" y="2681752"/>
            <a:ext cx="2003432" cy="354787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44512" y="2468880"/>
            <a:ext cx="658368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2D70AA"/>
                </a:solidFill>
                <a:latin typeface="Noto Sans CJK SC"/>
              </a:rPr>
              <a:t>0.5004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3355848"/>
            <a:ext cx="1234440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30" b="0">
                <a:solidFill>
                  <a:srgbClr val="5B6875"/>
                </a:solidFill>
                <a:latin typeface="Noto Sans CJK SC"/>
              </a:rPr>
              <a:t>全 Qwen 动作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7072" y="3568720"/>
            <a:ext cx="2073728" cy="354787"/>
          </a:xfrm>
          <a:prstGeom prst="rect">
            <a:avLst/>
          </a:prstGeom>
          <a:solidFill>
            <a:srgbClr val="17857D"/>
          </a:solidFill>
          <a:ln w="10160">
            <a:solidFill>
              <a:srgbClr val="17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14808" y="3355848"/>
            <a:ext cx="658368" cy="75392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7857D"/>
                </a:solidFill>
                <a:latin typeface="Noto Sans CJK SC"/>
              </a:rPr>
              <a:t>0.5180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011679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1947672"/>
            <a:ext cx="622706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三组策略的性能—成本对照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2331720"/>
            <a:ext cx="640994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2331720"/>
            <a:ext cx="1481328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2350008"/>
            <a:ext cx="144475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策略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2331720"/>
            <a:ext cx="1005840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02536" y="2350008"/>
            <a:ext cx="969264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预测框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90088" y="2331720"/>
            <a:ext cx="941832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08376" y="2350008"/>
            <a:ext cx="90525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2331720"/>
            <a:ext cx="941832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0207" y="2350008"/>
            <a:ext cx="90525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Acc@0.75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73752" y="2331720"/>
            <a:ext cx="941832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2350008"/>
            <a:ext cx="90525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mAP@0.5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15584" y="2331720"/>
            <a:ext cx="1097280" cy="493776"/>
          </a:xfrm>
          <a:prstGeom prst="rect">
            <a:avLst/>
          </a:prstGeom>
          <a:solidFill>
            <a:srgbClr val="1E3D59"/>
          </a:solidFill>
          <a:ln w="10160">
            <a:solidFill>
              <a:srgbClr val="1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2" y="2350008"/>
            <a:ext cx="1060704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Noto Sans CJK SC"/>
              </a:rPr>
              <a:t>动作/图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825496"/>
            <a:ext cx="148132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496" y="2834639"/>
            <a:ext cx="1408176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原始 Query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2825496"/>
            <a:ext cx="100584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0824" y="2834639"/>
            <a:ext cx="932688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22,298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90088" y="2825496"/>
            <a:ext cx="94183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26664" y="2834639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0.4651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2825496"/>
            <a:ext cx="94183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68496" y="2834639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0.3131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73752" y="2825496"/>
            <a:ext cx="94183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0328" y="2834639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0.1343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15584" y="2825496"/>
            <a:ext cx="1097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0" y="2834639"/>
            <a:ext cx="1024127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0.000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319272"/>
            <a:ext cx="148132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9496" y="3328415"/>
            <a:ext cx="1408176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全 Qwen 动作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84248" y="3319272"/>
            <a:ext cx="100584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0824" y="3328415"/>
            <a:ext cx="932688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50,895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90088" y="3319272"/>
            <a:ext cx="94183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26664" y="3328415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0.5180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31920" y="3319272"/>
            <a:ext cx="94183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68496" y="3328415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0.3336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73752" y="3319272"/>
            <a:ext cx="94183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10328" y="3328415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0.1465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15584" y="3319272"/>
            <a:ext cx="1097280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60" y="3328415"/>
            <a:ext cx="1024127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0">
                <a:solidFill>
                  <a:srgbClr val="192430"/>
                </a:solidFill>
                <a:latin typeface="Noto Sans CJK SC"/>
              </a:rPr>
              <a:t>2.460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3813048"/>
            <a:ext cx="1481328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9496" y="3822191"/>
            <a:ext cx="1408176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1">
                <a:solidFill>
                  <a:srgbClr val="2D70AA"/>
                </a:solidFill>
                <a:latin typeface="Noto Sans CJK SC"/>
              </a:rPr>
              <a:t>Qwen 动态 RL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84248" y="3813048"/>
            <a:ext cx="1005840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20824" y="3822191"/>
            <a:ext cx="932688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92430"/>
                </a:solidFill>
                <a:latin typeface="Noto Sans CJK SC"/>
              </a:rPr>
              <a:t>35,869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90088" y="3813048"/>
            <a:ext cx="941832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26664" y="3822191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92430"/>
                </a:solidFill>
                <a:latin typeface="Noto Sans CJK SC"/>
              </a:rPr>
              <a:t>0.5004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31920" y="3813048"/>
            <a:ext cx="941832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68496" y="3822191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92430"/>
                </a:solidFill>
                <a:latin typeface="Noto Sans CJK SC"/>
              </a:rPr>
              <a:t>0.3248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73752" y="3813048"/>
            <a:ext cx="941832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10328" y="3822191"/>
            <a:ext cx="868680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92430"/>
                </a:solidFill>
                <a:latin typeface="Noto Sans CJK SC"/>
              </a:rPr>
              <a:t>0.1424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815584" y="3813048"/>
            <a:ext cx="1097280" cy="493776"/>
          </a:xfrm>
          <a:prstGeom prst="rect">
            <a:avLst/>
          </a:prstGeom>
          <a:solidFill>
            <a:srgbClr val="E1EFFA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52160" y="3822191"/>
            <a:ext cx="1024127" cy="4754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2D70AA"/>
                </a:solidFill>
                <a:latin typeface="Noto Sans CJK SC"/>
              </a:rPr>
              <a:t>0.953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02920" y="4553712"/>
            <a:ext cx="11183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9808" y="4764024"/>
            <a:ext cx="54864" cy="210312"/>
          </a:xfrm>
          <a:prstGeom prst="rect">
            <a:avLst/>
          </a:prstGeom>
          <a:solidFill>
            <a:srgbClr val="2D70AA"/>
          </a:solidFill>
          <a:ln w="10160">
            <a:solidFill>
              <a:srgbClr val="2D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7824" y="4700016"/>
            <a:ext cx="179222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2430"/>
                </a:solidFill>
                <a:latin typeface="Noto Sans CJK SC"/>
              </a:rPr>
              <a:t>核心结论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74519" y="4626864"/>
            <a:ext cx="9464040" cy="438912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280" b="1">
                <a:solidFill>
                  <a:srgbClr val="2D70AA"/>
                </a:solidFill>
                <a:latin typeface="Noto Sans CJK SC"/>
              </a:rPr>
              <a:t>动态 RL</a:t>
            </a:r>
            <a:r>
              <a:rPr sz="1280" b="0">
                <a:solidFill>
                  <a:srgbClr val="192430"/>
                </a:solidFill>
                <a:latin typeface="Noto Sans CJK SC"/>
              </a:rPr>
              <a:t> 将 Acc@0.5 提升至 </a:t>
            </a:r>
            <a:r>
              <a:rPr sz="1280" b="1">
                <a:solidFill>
                  <a:srgbClr val="2D70AA"/>
                </a:solidFill>
                <a:latin typeface="Noto Sans CJK SC"/>
              </a:rPr>
              <a:t>50.04%</a:t>
            </a:r>
            <a:r>
              <a:rPr sz="1280" b="0">
                <a:solidFill>
                  <a:srgbClr val="192430"/>
                </a:solidFill>
                <a:latin typeface="Noto Sans CJK SC"/>
              </a:rPr>
              <a:t>，与全展开仅差 1.76 pp；</a:t>
            </a:r>
            <a:r>
              <a:rPr sz="1280" b="0">
                <a:solidFill>
                  <a:srgbClr val="192430"/>
                </a:solidFill>
                <a:latin typeface="Noto Sans CJK SC"/>
              </a:rPr>
              <a:t>但动作开销降低 </a:t>
            </a:r>
            <a:r>
              <a:rPr sz="1280" b="1">
                <a:solidFill>
                  <a:srgbClr val="D99124"/>
                </a:solidFill>
                <a:latin typeface="Noto Sans CJK SC"/>
              </a:rPr>
              <a:t>61.2%</a:t>
            </a:r>
            <a:r>
              <a:rPr sz="1280" b="0">
                <a:solidFill>
                  <a:srgbClr val="192430"/>
                </a:solidFill>
                <a:latin typeface="Noto Sans CJK SC"/>
              </a:rPr>
              <a:t>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74519" y="5065776"/>
            <a:ext cx="9464040" cy="438912"/>
          </a:xfrm>
          <a:prstGeom prst="rect">
            <a:avLst/>
          </a:prstGeom>
          <a:noFill/>
        </p:spPr>
        <p:txBody>
          <a:bodyPr wrap="square" anchor="ctr" lIns="45720" rIns="45720" tIns="9144" bIns="9144">
            <a:spAutoFit/>
          </a:bodyPr>
          <a:lstStyle/>
          <a:p>
            <a:pPr algn="l"/>
            <a:r>
              <a:rPr sz="1170" b="1">
                <a:solidFill>
                  <a:srgbClr val="17857D"/>
                </a:solidFill>
                <a:latin typeface="Noto Sans CJK SC"/>
              </a:rPr>
              <a:t>选择优势：</a:t>
            </a:r>
            <a:r>
              <a:rPr sz="1170" b="0">
                <a:solidFill>
                  <a:srgbClr val="192430"/>
                </a:solidFill>
                <a:latin typeface="Noto Sans CJK SC"/>
              </a:rPr>
              <a:t>仅使用全展开 38.8% 的动作预算，</a:t>
            </a:r>
            <a:r>
              <a:rPr sz="1170" b="1">
                <a:solidFill>
                  <a:srgbClr val="17857D"/>
                </a:solidFill>
                <a:latin typeface="Noto Sans CJK SC"/>
              </a:rPr>
              <a:t>保留 66.8% 的 Acc 增益</a:t>
            </a:r>
            <a:r>
              <a:rPr sz="1170" b="0">
                <a:solidFill>
                  <a:srgbClr val="192430"/>
                </a:solidFill>
                <a:latin typeface="Noto Sans CJK SC"/>
              </a:rPr>
              <a:t>，并减少 29.5% 最终候选框。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0352" y="6153912"/>
            <a:ext cx="1097280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875"/>
                </a:solidFill>
                <a:latin typeface="Noto Sans CJK SC"/>
              </a:rPr>
              <a:t>注：全 Qwen 动作 = 执行每张图缓存 Qwen 输出中的全部唯一映射动作；动作数不包含 STOP。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 动态 RL 性能成本对比</dc:title>
  <dc:subject>原始 Query、全 Qwen 映射动作与 Qwen 动态 RL 对照</dc:subject>
  <dc:creator>DroneP_VG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