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5029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D70AA"/>
                </a:solidFill>
                <a:latin typeface="Noto Sans CJK S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201168"/>
            <a:ext cx="10744200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92430"/>
                </a:solidFill>
                <a:latin typeface="Noto Sans CJK SC"/>
              </a:rPr>
              <a:t>Qwen 动态 RL：同动作池、同预算公平对照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658368"/>
            <a:ext cx="1069848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875"/>
                </a:solidFill>
                <a:latin typeface="Noto Sans CJK SC"/>
              </a:rPr>
              <a:t>VisDrone test：150 张 / 7,973 GT · 每图使用相同 Qwen 映射动作池 · 非 STOP 预算严格一致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93424" y="6510528"/>
            <a:ext cx="347472" cy="1828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B6875"/>
                </a:solidFill>
                <a:latin typeface="Noto Sans CJK SC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78992"/>
            <a:ext cx="20574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78992"/>
            <a:ext cx="54864" cy="658368"/>
          </a:xfrm>
          <a:prstGeom prst="rect">
            <a:avLst/>
          </a:prstGeom>
          <a:solidFill>
            <a:srgbClr val="D99124"/>
          </a:solidFill>
          <a:ln w="10160">
            <a:solidFill>
              <a:srgbClr val="D99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152144"/>
            <a:ext cx="1810512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B6875"/>
                </a:solidFill>
                <a:latin typeface="Noto Sans CJK SC"/>
              </a:rPr>
              <a:t>统一动作预算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353312"/>
            <a:ext cx="1810512" cy="2834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9124"/>
                </a:solidFill>
                <a:latin typeface="Noto Sans CJK SC"/>
              </a:rPr>
              <a:t>0.953 次/图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79192" y="1078992"/>
            <a:ext cx="20574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79192" y="1078992"/>
            <a:ext cx="54864" cy="658368"/>
          </a:xfrm>
          <a:prstGeom prst="rect">
            <a:avLst/>
          </a:prstGeom>
          <a:solidFill>
            <a:srgbClr val="2D70AA"/>
          </a:solidFill>
          <a:ln w="10160">
            <a:solidFill>
              <a:srgbClr val="2D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43784" y="1152144"/>
            <a:ext cx="1810512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B6875"/>
                </a:solidFill>
                <a:latin typeface="Noto Sans CJK SC"/>
              </a:rPr>
              <a:t>动态 RL vs 随机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3784" y="1353312"/>
            <a:ext cx="1810512" cy="2834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D70AA"/>
                </a:solidFill>
                <a:latin typeface="Noto Sans CJK SC"/>
              </a:rPr>
              <a:t>Acc +0.65 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55464" y="1078992"/>
            <a:ext cx="20574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55464" y="1078992"/>
            <a:ext cx="54864" cy="658368"/>
          </a:xfrm>
          <a:prstGeom prst="rect">
            <a:avLst/>
          </a:prstGeom>
          <a:solidFill>
            <a:srgbClr val="17857D"/>
          </a:solidFill>
          <a:ln w="10160">
            <a:solidFill>
              <a:srgbClr val="17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0055" y="1152144"/>
            <a:ext cx="1810512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B6875"/>
                </a:solidFill>
                <a:latin typeface="Noto Sans CJK SC"/>
              </a:rPr>
              <a:t>小目标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0055" y="1353312"/>
            <a:ext cx="1810512" cy="2834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857D"/>
                </a:solidFill>
                <a:latin typeface="Noto Sans CJK SC"/>
              </a:rPr>
              <a:t>+0.99 pp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23176" y="1078992"/>
            <a:ext cx="4562856" cy="3319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51775" y="1207007"/>
            <a:ext cx="4105656" cy="2926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92430"/>
                </a:solidFill>
                <a:latin typeface="Noto Sans CJK SC"/>
              </a:rPr>
              <a:t>Acc@0.5（相同逐图预算）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1192" y="1581912"/>
            <a:ext cx="1234440" cy="75392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30" b="0">
                <a:solidFill>
                  <a:srgbClr val="5B6875"/>
                </a:solidFill>
                <a:latin typeface="Noto Sans CJK SC"/>
              </a:rPr>
              <a:t>随机选择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77072" y="1794784"/>
            <a:ext cx="2025808" cy="354787"/>
          </a:xfrm>
          <a:prstGeom prst="rect">
            <a:avLst/>
          </a:prstGeom>
          <a:solidFill>
            <a:srgbClr val="B5BEC7"/>
          </a:solidFill>
          <a:ln w="10160">
            <a:solidFill>
              <a:srgbClr val="B5B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66888" y="1581912"/>
            <a:ext cx="658368" cy="75392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B5BEC7"/>
                </a:solidFill>
                <a:latin typeface="Noto Sans CJK SC"/>
              </a:rPr>
              <a:t>0.4939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1192" y="2468880"/>
            <a:ext cx="1234440" cy="75392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30" b="0">
                <a:solidFill>
                  <a:srgbClr val="5B6875"/>
                </a:solidFill>
                <a:latin typeface="Noto Sans CJK SC"/>
              </a:rPr>
              <a:t>Qwen 动态 RL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77072" y="2681752"/>
            <a:ext cx="2052636" cy="354787"/>
          </a:xfrm>
          <a:prstGeom prst="rect">
            <a:avLst/>
          </a:prstGeom>
          <a:solidFill>
            <a:srgbClr val="2D70AA"/>
          </a:solidFill>
          <a:ln w="10160">
            <a:solidFill>
              <a:srgbClr val="2D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93716" y="2468880"/>
            <a:ext cx="658368" cy="75392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2D70AA"/>
                </a:solidFill>
                <a:latin typeface="Noto Sans CJK SC"/>
              </a:rPr>
              <a:t>0.5004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1192" y="3355848"/>
            <a:ext cx="1234440" cy="75392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30" b="0">
                <a:solidFill>
                  <a:srgbClr val="5B6875"/>
                </a:solidFill>
                <a:latin typeface="Noto Sans CJK SC"/>
              </a:rPr>
              <a:t>Prompt-rank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77072" y="3568720"/>
            <a:ext cx="2073728" cy="354787"/>
          </a:xfrm>
          <a:prstGeom prst="rect">
            <a:avLst/>
          </a:prstGeom>
          <a:solidFill>
            <a:srgbClr val="17857D"/>
          </a:solidFill>
          <a:ln w="10160">
            <a:solidFill>
              <a:srgbClr val="17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14808" y="3355848"/>
            <a:ext cx="658368" cy="75392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17857D"/>
                </a:solidFill>
                <a:latin typeface="Noto Sans CJK SC"/>
              </a:rPr>
              <a:t>0.5056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011679"/>
            <a:ext cx="54864" cy="210312"/>
          </a:xfrm>
          <a:prstGeom prst="rect">
            <a:avLst/>
          </a:prstGeom>
          <a:solidFill>
            <a:srgbClr val="2D70AA"/>
          </a:solidFill>
          <a:ln w="10160">
            <a:solidFill>
              <a:srgbClr val="2D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" y="1947672"/>
            <a:ext cx="6227064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92430"/>
                </a:solidFill>
                <a:latin typeface="Noto Sans CJK SC"/>
              </a:rPr>
              <a:t>等预算测试结果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2331720"/>
            <a:ext cx="6729984" cy="19751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2331720"/>
            <a:ext cx="1700784" cy="493776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8" y="2350008"/>
            <a:ext cx="1664208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SC"/>
              </a:rPr>
              <a:t>方法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03704" y="2331720"/>
            <a:ext cx="1005840" cy="493776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21992" y="2350008"/>
            <a:ext cx="969264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SC"/>
              </a:rPr>
              <a:t>预测框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9544" y="2331720"/>
            <a:ext cx="950976" cy="493776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27832" y="2350008"/>
            <a:ext cx="91440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SC"/>
              </a:rPr>
              <a:t>Acc@0.5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60520" y="2331720"/>
            <a:ext cx="950976" cy="493776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78808" y="2350008"/>
            <a:ext cx="91440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SC"/>
              </a:rPr>
              <a:t>Acc@0.75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11496" y="2331720"/>
            <a:ext cx="950976" cy="493776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29784" y="2350008"/>
            <a:ext cx="91440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SC"/>
              </a:rPr>
              <a:t>mAP@0.5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62472" y="2331720"/>
            <a:ext cx="1170432" cy="493776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0760" y="2350008"/>
            <a:ext cx="1133856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SC"/>
              </a:rPr>
              <a:t>小目标Recall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2825496"/>
            <a:ext cx="1700784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9496" y="2834639"/>
            <a:ext cx="162763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92430"/>
                </a:solidFill>
                <a:latin typeface="Noto Sans CJK SC"/>
              </a:rPr>
              <a:t>随机选择（20 seeds）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03704" y="2825496"/>
            <a:ext cx="1005840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40280" y="2834639"/>
            <a:ext cx="932688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92430"/>
                </a:solidFill>
                <a:latin typeface="Noto Sans CJK SC"/>
              </a:rPr>
              <a:t>34362±604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9544" y="2825496"/>
            <a:ext cx="9509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46120" y="2834639"/>
            <a:ext cx="877824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92430"/>
                </a:solidFill>
                <a:latin typeface="Noto Sans CJK SC"/>
              </a:rPr>
              <a:t>0.4939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60520" y="2825496"/>
            <a:ext cx="9509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97096" y="2834639"/>
            <a:ext cx="877824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92430"/>
                </a:solidFill>
                <a:latin typeface="Noto Sans CJK SC"/>
              </a:rPr>
              <a:t>0.3240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11496" y="2825496"/>
            <a:ext cx="9509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148072" y="2834639"/>
            <a:ext cx="877824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92430"/>
                </a:solidFill>
                <a:latin typeface="Noto Sans CJK SC"/>
              </a:rPr>
              <a:t>0.1419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62472" y="2825496"/>
            <a:ext cx="1170432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99048" y="2834639"/>
            <a:ext cx="1097280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92430"/>
                </a:solidFill>
                <a:latin typeface="Noto Sans CJK SC"/>
              </a:rPr>
              <a:t>0.3633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3319272"/>
            <a:ext cx="1700784" cy="493776"/>
          </a:xfrm>
          <a:prstGeom prst="rect">
            <a:avLst/>
          </a:prstGeom>
          <a:solidFill>
            <a:srgbClr val="E1EFFA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9496" y="3328415"/>
            <a:ext cx="162763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D70AA"/>
                </a:solidFill>
                <a:latin typeface="Noto Sans CJK SC"/>
              </a:rPr>
              <a:t>Qwen 动态 RL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03704" y="3319272"/>
            <a:ext cx="1005840" cy="493776"/>
          </a:xfrm>
          <a:prstGeom prst="rect">
            <a:avLst/>
          </a:prstGeom>
          <a:solidFill>
            <a:srgbClr val="E1EFFA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240280" y="3328415"/>
            <a:ext cx="932688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92430"/>
                </a:solidFill>
                <a:latin typeface="Noto Sans CJK SC"/>
              </a:rPr>
              <a:t>35869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9544" y="3319272"/>
            <a:ext cx="950976" cy="493776"/>
          </a:xfrm>
          <a:prstGeom prst="rect">
            <a:avLst/>
          </a:prstGeom>
          <a:solidFill>
            <a:srgbClr val="E1EFFA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46120" y="3328415"/>
            <a:ext cx="877824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92430"/>
                </a:solidFill>
                <a:latin typeface="Noto Sans CJK SC"/>
              </a:rPr>
              <a:t>0.5004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60520" y="3319272"/>
            <a:ext cx="950976" cy="493776"/>
          </a:xfrm>
          <a:prstGeom prst="rect">
            <a:avLst/>
          </a:prstGeom>
          <a:solidFill>
            <a:srgbClr val="E1EFFA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97096" y="3328415"/>
            <a:ext cx="877824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92430"/>
                </a:solidFill>
                <a:latin typeface="Noto Sans CJK SC"/>
              </a:rPr>
              <a:t>0.3248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111496" y="3319272"/>
            <a:ext cx="950976" cy="493776"/>
          </a:xfrm>
          <a:prstGeom prst="rect">
            <a:avLst/>
          </a:prstGeom>
          <a:solidFill>
            <a:srgbClr val="E1EFFA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148072" y="3328415"/>
            <a:ext cx="877824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92430"/>
                </a:solidFill>
                <a:latin typeface="Noto Sans CJK SC"/>
              </a:rPr>
              <a:t>0.1424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62472" y="3319272"/>
            <a:ext cx="1170432" cy="493776"/>
          </a:xfrm>
          <a:prstGeom prst="rect">
            <a:avLst/>
          </a:prstGeom>
          <a:solidFill>
            <a:srgbClr val="E1EFFA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099048" y="3328415"/>
            <a:ext cx="1097280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2D70AA"/>
                </a:solidFill>
                <a:latin typeface="Noto Sans CJK SC"/>
              </a:rPr>
              <a:t>0.3732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2920" y="3813048"/>
            <a:ext cx="1700784" cy="493776"/>
          </a:xfrm>
          <a:prstGeom prst="rect">
            <a:avLst/>
          </a:prstGeom>
          <a:solidFill>
            <a:srgbClr val="DEF3E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39496" y="3822191"/>
            <a:ext cx="162763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D70AA"/>
                </a:solidFill>
                <a:latin typeface="Noto Sans CJK SC"/>
              </a:rPr>
              <a:t>Prompt-rank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203704" y="3813048"/>
            <a:ext cx="1005840" cy="493776"/>
          </a:xfrm>
          <a:prstGeom prst="rect">
            <a:avLst/>
          </a:prstGeom>
          <a:solidFill>
            <a:srgbClr val="DEF3E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240280" y="3822191"/>
            <a:ext cx="932688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92430"/>
                </a:solidFill>
                <a:latin typeface="Noto Sans CJK SC"/>
              </a:rPr>
              <a:t>36797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09544" y="3813048"/>
            <a:ext cx="950976" cy="493776"/>
          </a:xfrm>
          <a:prstGeom prst="rect">
            <a:avLst/>
          </a:prstGeom>
          <a:solidFill>
            <a:srgbClr val="DEF3E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246120" y="3822191"/>
            <a:ext cx="877824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92430"/>
                </a:solidFill>
                <a:latin typeface="Noto Sans CJK SC"/>
              </a:rPr>
              <a:t>0.5056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60520" y="3813048"/>
            <a:ext cx="950976" cy="493776"/>
          </a:xfrm>
          <a:prstGeom prst="rect">
            <a:avLst/>
          </a:prstGeom>
          <a:solidFill>
            <a:srgbClr val="DEF3E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97096" y="3822191"/>
            <a:ext cx="877824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92430"/>
                </a:solidFill>
                <a:latin typeface="Noto Sans CJK SC"/>
              </a:rPr>
              <a:t>0.3270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111496" y="3813048"/>
            <a:ext cx="950976" cy="493776"/>
          </a:xfrm>
          <a:prstGeom prst="rect">
            <a:avLst/>
          </a:prstGeom>
          <a:solidFill>
            <a:srgbClr val="DEF3E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148072" y="3822191"/>
            <a:ext cx="877824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92430"/>
                </a:solidFill>
                <a:latin typeface="Noto Sans CJK SC"/>
              </a:rPr>
              <a:t>0.1428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062472" y="3813048"/>
            <a:ext cx="1170432" cy="493776"/>
          </a:xfrm>
          <a:prstGeom prst="rect">
            <a:avLst/>
          </a:prstGeom>
          <a:solidFill>
            <a:srgbClr val="DEF3E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099048" y="3822191"/>
            <a:ext cx="1097280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2D70AA"/>
                </a:solidFill>
                <a:latin typeface="Noto Sans CJK SC"/>
              </a:rPr>
              <a:t>0.3806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02920" y="4553712"/>
            <a:ext cx="1118311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9808" y="4764024"/>
            <a:ext cx="54864" cy="210312"/>
          </a:xfrm>
          <a:prstGeom prst="rect">
            <a:avLst/>
          </a:prstGeom>
          <a:solidFill>
            <a:srgbClr val="2D70AA"/>
          </a:solidFill>
          <a:ln w="10160">
            <a:solidFill>
              <a:srgbClr val="2D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77824" y="4700016"/>
            <a:ext cx="1792224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92430"/>
                </a:solidFill>
                <a:latin typeface="Noto Sans CJK SC"/>
              </a:rPr>
              <a:t>实验结论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874519" y="4636008"/>
            <a:ext cx="9464040" cy="402336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l"/>
            <a:r>
              <a:rPr sz="1280" b="1">
                <a:solidFill>
                  <a:srgbClr val="192430"/>
                </a:solidFill>
                <a:latin typeface="Noto Sans CJK SC"/>
              </a:rPr>
              <a:t>已证明：</a:t>
            </a:r>
            <a:r>
              <a:rPr sz="1280" b="1">
                <a:solidFill>
                  <a:srgbClr val="2D70AA"/>
                </a:solidFill>
                <a:latin typeface="Noto Sans CJK SC"/>
              </a:rPr>
              <a:t>动态 RL 在相同动作池和逐图预算下优于随机选择，说明状态反馈带来有效动作选择。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74519" y="5056632"/>
            <a:ext cx="9464040" cy="47548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l"/>
            <a:r>
              <a:rPr sz="1150" b="1">
                <a:solidFill>
                  <a:srgbClr val="192430"/>
                </a:solidFill>
                <a:latin typeface="Noto Sans CJK SC"/>
              </a:rPr>
              <a:t>尚未证明：</a:t>
            </a:r>
            <a:r>
              <a:rPr sz="1150" b="0">
                <a:solidFill>
                  <a:srgbClr val="17857D"/>
                </a:solidFill>
                <a:latin typeface="Noto Sans CJK SC"/>
              </a:rPr>
              <a:t>Prompt-rank 的 Acc 与 mAP 仍略高（+0.51 pp / +0.0003），当前不能声称动态 RL 整体最优。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30352" y="6153912"/>
            <a:ext cx="10881360" cy="2286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875"/>
                </a:solidFill>
                <a:latin typeface="Noto Sans CJK SC"/>
              </a:rPr>
              <a:t>协议：相同初始候选、候选合并去重、富元信息重评分与 class-aware 评测；随机结果为 seeds 42–61。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Qwen 动态 RL 等预算对照实验</dc:title>
  <dc:subject>动态 RL、Prompt-rank 与随机策略公平比较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