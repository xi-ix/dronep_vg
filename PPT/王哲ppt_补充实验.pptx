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9" r:id="rId6"/>
    <p:sldId id="260" r:id="rId7"/>
    <p:sldId id="261" r:id="rId8"/>
    <p:sldId id="274" r:id="rId9"/>
    <p:sldId id="263" r:id="rId10"/>
    <p:sldId id="276" r:id="rId11"/>
    <p:sldId id="262" r:id="rId12"/>
    <p:sldId id="264" r:id="rId13"/>
    <p:sldId id="265" r:id="rId14"/>
    <p:sldId id="275" r:id="rId15"/>
    <p:sldId id="268" r:id="rId16"/>
    <p:sldId id="266" r:id="rId17"/>
    <p:sldId id="277" r:id="rId23"/>
    <p:sldId id="278" r:id="rId24"/>
    <p:sldId id="279" r:id="rId25"/>
    <p:sldId id="280" r:id="rId26"/>
    <p:sldId id="281" r:id="rId27"/>
    <p:sldId id="271" r:id="rId18"/>
    <p:sldId id="272" r:id="rId19"/>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p>
            <a:r>
              <a:rPr>
                <a:sym typeface="+mn-ea"/>
              </a:rPr>
              <a:t>各位老师好，我是王哲。我的毕业设计题目是《强化学习驱动的闭环航拍图像识别方法》。本文面向无人机航拍图像中的目标识别任务，重点研究在航拍场景下</a:t>
            </a:r>
            <a:r>
              <a:rPr lang="zh-CN">
                <a:sym typeface="+mn-ea"/>
              </a:rPr>
              <a:t>小目标漏检的</a:t>
            </a:r>
            <a:r>
              <a:rPr>
                <a:sym typeface="+mn-ea"/>
              </a:rPr>
              <a:t>问题。本文以已有基础模型产生的候选为起点，通过候选扩展、富元信息建模和反馈式校准，形成一个轻量的闭环优化流程。接下来我将</a:t>
            </a:r>
            <a:r>
              <a:rPr lang="zh-CN">
                <a:sym typeface="+mn-ea"/>
              </a:rPr>
              <a:t>展开进行汇报</a:t>
            </a:r>
            <a:r>
              <a:rPr>
                <a:sym typeface="+mn-ea"/>
              </a:rPr>
              <a:t>。</a:t>
            </a:r>
            <a:endParaRPr>
              <a:sym typeface="+mn-ea"/>
            </a:endParaRPr>
          </a:p>
          <a:p>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r>
              <a:rPr lang="zh-CN"/>
              <a:t>航拍图像目标像素常出现像素占比低、特定视角下特征不明显的特点。由于这一原因，传统识别模型经常会出现漏检错检的问题。</a:t>
            </a:r>
            <a:endParaRPr lang="zh-CN"/>
          </a:p>
          <a:p/>
          <a:p>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r>
              <a:rPr lang="zh-CN"/>
              <a:t>为了解决上述问题，我的思路是放开基础模型的生成标准，提高候选中的目标覆盖，然后再通过重新排序找到最优结果。</a:t>
            </a:r>
            <a:endParaRPr lang="zh-CN"/>
          </a:p>
          <a:p>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sym typeface="+mn-ea"/>
              </a:rPr>
              <a:t>这个是我的模型整体</a:t>
            </a:r>
            <a:r>
              <a:rPr lang="zh-CN">
                <a:sym typeface="+mn-ea"/>
              </a:rPr>
              <a:t>架构。</a:t>
            </a:r>
            <a:endParaRPr lang="zh-CN">
              <a:sym typeface="+mn-ea"/>
            </a:endParaRPr>
          </a:p>
          <a:p>
            <a:endParaRPr lang="zh-CN">
              <a:sym typeface="+mn-ea"/>
            </a:endParaRPr>
          </a:p>
          <a:p>
            <a:r>
              <a:rPr lang="zh-CN">
                <a:sym typeface="+mn-ea"/>
              </a:rPr>
              <a:t>首先，根据上一次老师提出的意见，我不再使用</a:t>
            </a:r>
            <a:r>
              <a:rPr lang="zh-CN" b="1">
                <a:sym typeface="+mn-ea"/>
              </a:rPr>
              <a:t>固定提示词</a:t>
            </a:r>
            <a:r>
              <a:rPr lang="zh-CN">
                <a:sym typeface="+mn-ea"/>
              </a:rPr>
              <a:t>进行候选框扩充，而是采用</a:t>
            </a:r>
            <a:r>
              <a:rPr lang="en-US" altLang="zh-CN" b="1">
                <a:sym typeface="+mn-ea"/>
              </a:rPr>
              <a:t>Qwen3-VL</a:t>
            </a:r>
            <a:r>
              <a:rPr lang="zh-CN" altLang="en-US" b="1">
                <a:sym typeface="+mn-ea"/>
              </a:rPr>
              <a:t>模型</a:t>
            </a:r>
            <a:r>
              <a:rPr lang="zh-CN" altLang="en-US">
                <a:sym typeface="+mn-ea"/>
              </a:rPr>
              <a:t>动态生成提示词和强化学习动作池，提高模型的泛化</a:t>
            </a:r>
            <a:r>
              <a:rPr lang="zh-CN" altLang="en-US">
                <a:sym typeface="+mn-ea"/>
              </a:rPr>
              <a:t>能力。</a:t>
            </a:r>
            <a:endParaRPr lang="zh-CN" altLang="en-US">
              <a:sym typeface="+mn-ea"/>
            </a:endParaRPr>
          </a:p>
          <a:p>
            <a:r>
              <a:rPr lang="zh-CN" altLang="en-US">
                <a:sym typeface="+mn-ea"/>
              </a:rPr>
              <a:t>接下来修改后的提示词指导视觉模型生成第一轮候选，接下来强化学习模块会决定是否增加候选以及增加哪一部分的候选，最多进行三轮</a:t>
            </a:r>
            <a:r>
              <a:rPr lang="zh-CN" altLang="en-US">
                <a:sym typeface="+mn-ea"/>
              </a:rPr>
              <a:t>增强。</a:t>
            </a:r>
            <a:endParaRPr lang="zh-CN" altLang="en-US">
              <a:sym typeface="+mn-ea"/>
            </a:endParaRPr>
          </a:p>
          <a:p>
            <a:r>
              <a:rPr lang="zh-CN" altLang="en-US">
                <a:sym typeface="+mn-ea"/>
              </a:rPr>
              <a:t>最后处理后的候选框连带保留下的富信息一起交给排序器，输出最终</a:t>
            </a:r>
            <a:r>
              <a:rPr lang="zh-CN" altLang="en-US">
                <a:sym typeface="+mn-ea"/>
              </a:rPr>
              <a:t>结果。</a:t>
            </a:r>
            <a:endParaRPr lang="zh-CN" altLang="en-US">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r>
              <a:rPr lang="zh-CN">
                <a:sym typeface="+mn-ea"/>
              </a:rPr>
              <a:t>同种含义的不同表达产生的结果可能完全不同，所以第一步就是以这个思路扩展提示词。让语言模型</a:t>
            </a:r>
            <a:r>
              <a:rPr lang="zh-CN" altLang="en-US">
                <a:sym typeface="+mn-ea"/>
              </a:rPr>
              <a:t>将包含属性和空间关系的长查询，扩展为多组目标短语和同义表达</a:t>
            </a:r>
            <a:endParaRPr lang="zh-CN" altLang="en-US">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r>
              <a:rPr lang="zh-CN" altLang="en-US">
                <a:sym typeface="+mn-ea"/>
              </a:rPr>
              <a:t>从图中的实验结果可以看出将提示词分批交给模型确实能够增加覆盖率，说明这个思路是可行</a:t>
            </a:r>
            <a:r>
              <a:rPr lang="zh-CN" altLang="en-US">
                <a:sym typeface="+mn-ea"/>
              </a:rPr>
              <a:t>的。</a:t>
            </a:r>
            <a:endParaRPr lang="zh-CN" altLang="en-US">
              <a:sym typeface="+mn-ea"/>
            </a:endParaRPr>
          </a:p>
          <a:p>
            <a:r>
              <a:rPr lang="zh-CN" altLang="en-US">
                <a:sym typeface="+mn-ea"/>
              </a:rPr>
              <a:t>但是</a:t>
            </a:r>
            <a:r>
              <a:rPr>
                <a:solidFill>
                  <a:srgbClr val="1F2937"/>
                </a:solidFill>
                <a:latin typeface="微软雅黑" panose="020B0503020204020204" charset="-122"/>
                <a:sym typeface="+mn-ea"/>
              </a:rPr>
              <a:t>一次性加入所有扩展</a:t>
            </a:r>
            <a:r>
              <a:rPr lang="zh-CN">
                <a:solidFill>
                  <a:srgbClr val="1F2937"/>
                </a:solidFill>
                <a:latin typeface="微软雅黑" panose="020B0503020204020204" charset="-122"/>
                <a:ea typeface="宋体" panose="02010600030101010101" pitchFamily="2" charset="-122"/>
                <a:sym typeface="+mn-ea"/>
              </a:rPr>
              <a:t>，</a:t>
            </a:r>
            <a:r>
              <a:rPr b="1">
                <a:solidFill>
                  <a:srgbClr val="1F2937"/>
                </a:solidFill>
                <a:latin typeface="微软雅黑" panose="020B0503020204020204" charset="-122"/>
                <a:sym typeface="+mn-ea"/>
              </a:rPr>
              <a:t>候选数量膨胀</a:t>
            </a:r>
            <a:r>
              <a:rPr lang="zh-CN">
                <a:solidFill>
                  <a:srgbClr val="1F2937"/>
                </a:solidFill>
                <a:latin typeface="微软雅黑" panose="020B0503020204020204" charset="-122"/>
                <a:ea typeface="宋体" panose="02010600030101010101" pitchFamily="2" charset="-122"/>
                <a:sym typeface="+mn-ea"/>
              </a:rPr>
              <a:t>，</a:t>
            </a:r>
            <a:r>
              <a:rPr>
                <a:solidFill>
                  <a:srgbClr val="1F2937"/>
                </a:solidFill>
                <a:latin typeface="微软雅黑" panose="020B0503020204020204" charset="-122"/>
                <a:sym typeface="+mn-ea"/>
              </a:rPr>
              <a:t>误检、重复框和计算成本增加</a:t>
            </a:r>
            <a:r>
              <a:rPr lang="zh-CN" altLang="en-US">
                <a:sym typeface="+mn-ea"/>
              </a:rPr>
              <a:t>。所以设计了后续的强化学习反馈模块，根据当前的状态决定是否扩充、扩充</a:t>
            </a:r>
            <a:r>
              <a:rPr lang="zh-CN" altLang="en-US">
                <a:sym typeface="+mn-ea"/>
              </a:rPr>
              <a:t>什么。以提高</a:t>
            </a:r>
            <a:r>
              <a:rPr lang="zh-CN" altLang="en-US">
                <a:sym typeface="+mn-ea"/>
              </a:rPr>
              <a:t>效率。</a:t>
            </a:r>
            <a:endParaRPr lang="zh-CN" altLang="en-US">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强化学习</a:t>
            </a:r>
            <a:endParaRPr lang="zh-CN"/>
          </a:p>
          <a:p>
            <a:r>
              <a:rPr lang="zh-CN"/>
              <a:t>正如前面提到的，动作空间不是固定的，而是由语言模型动态生成</a:t>
            </a:r>
            <a:r>
              <a:rPr lang="zh-CN"/>
              <a:t>的。</a:t>
            </a:r>
            <a:endParaRPr lang="zh-CN"/>
          </a:p>
          <a:p>
            <a:r>
              <a:rPr lang="en-US" altLang="zh-CN"/>
              <a:t>r</a:t>
            </a:r>
            <a:r>
              <a:rPr lang="zh-CN" altLang="en-US">
                <a:sym typeface="+mn-ea"/>
              </a:rPr>
              <a:t>eward 同时考虑小目标收益与候选数量成本，而不是单纯追求“生成更多框</a:t>
            </a:r>
            <a:r>
              <a:rPr lang="en-US" altLang="zh-CN">
                <a:sym typeface="+mn-ea"/>
              </a:rPr>
              <a:t>“</a:t>
            </a:r>
            <a:r>
              <a:rPr lang="zh-CN" altLang="en-US">
                <a:sym typeface="+mn-ea"/>
              </a:rPr>
              <a:t>。</a:t>
            </a:r>
            <a:endParaRPr lang="zh-CN" altLang="en-US">
              <a:sym typeface="+mn-ea"/>
            </a:endParaRPr>
          </a:p>
          <a:p>
            <a:r>
              <a:rPr lang="zh-CN" altLang="en-US">
                <a:sym typeface="+mn-ea"/>
              </a:rPr>
              <a:t>这一部分通过输入的状态信息，判断候选是否确实，选择是否继续补充候选以及补充那一部分的</a:t>
            </a:r>
            <a:r>
              <a:rPr lang="zh-CN" altLang="en-US">
                <a:sym typeface="+mn-ea"/>
              </a:rPr>
              <a:t>候选</a:t>
            </a:r>
            <a:endParaRPr lang="zh-CN" altLang="en-US">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之前的候选框生成和扩展这是保证了候选集已经覆盖了目标，但是不代表目标最后会被选出来，原因在于基础模型对候选框的打分未必准确，高准确度的结果未必有高</a:t>
            </a:r>
            <a:r>
              <a:rPr lang="zh-CN"/>
              <a:t>分，</a:t>
            </a:r>
            <a:endParaRPr lang="zh-CN"/>
          </a:p>
          <a:p>
            <a:r>
              <a:rPr lang="zh-CN"/>
              <a:t>所以最后一步我设计了一个重新打分的模块，，通过保留比一般目标识别更丰富的元信息，通过最终排序器输出新的保留</a:t>
            </a:r>
            <a:r>
              <a:rPr lang="zh-CN"/>
              <a:t>概率。</a:t>
            </a:r>
            <a:endParaRPr 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p>
            <a:r>
              <a:rPr>
                <a:sym typeface="+mn-ea"/>
              </a:rPr>
              <a:t>校准阶段的输入是固定候选集中的状态特征，图中列出了分数、几何、类别、来源、排名和小目标特征等信息。轻量校准器输出保留概率 p_keep，再将其用于候选分数重标定。</a:t>
            </a:r>
            <a:endParaRPr>
              <a:sym typeface="+mn-ea"/>
            </a:endParaRPr>
          </a:p>
          <a:p>
            <a:r>
              <a:rPr>
                <a:sym typeface="+mn-ea"/>
              </a:rPr>
              <a:t>这里有三个边界需要明确：</a:t>
            </a:r>
            <a:endParaRPr>
              <a:sym typeface="+mn-ea"/>
            </a:endParaRPr>
          </a:p>
          <a:p>
            <a:r>
              <a:rPr>
                <a:sym typeface="+mn-ea"/>
              </a:rPr>
              <a:t>第一，候选框坐标固定，校准不进行回归；</a:t>
            </a:r>
            <a:endParaRPr>
              <a:sym typeface="+mn-ea"/>
            </a:endParaRPr>
          </a:p>
          <a:p>
            <a:r>
              <a:rPr>
                <a:sym typeface="+mn-ea"/>
              </a:rPr>
              <a:t>第二，类别映射固定，校准不重新分类；</a:t>
            </a:r>
            <a:endParaRPr>
              <a:sym typeface="+mn-ea"/>
            </a:endParaRPr>
          </a:p>
          <a:p>
            <a:r>
              <a:rPr>
                <a:sym typeface="+mn-ea"/>
              </a:rPr>
              <a:t>第三，候选集合固定，校准不额外产生框。</a:t>
            </a:r>
            <a:endParaRPr>
              <a:sym typeface="+mn-ea"/>
            </a:endParaRPr>
          </a:p>
          <a:p>
            <a:r>
              <a:rPr>
                <a:sym typeface="+mn-ea"/>
              </a:rPr>
              <a:t>因此该模块回答的问题不是“哪里有目标”，而是“已有候选中哪些更值得优先保留”。这也使实验能够严格区分候选数量带来的收益与排序质量带来的收益。</a:t>
            </a:r>
            <a:endParaRPr>
              <a:sym typeface="+mn-ea"/>
            </a:endParaRPr>
          </a:p>
          <a:p/>
          <a:p>
            <a:r>
              <a:rPr>
                <a:sym typeface="+mn-ea"/>
              </a:rPr>
              <a:t>【提问备答】</a:t>
            </a:r>
            <a:endParaRPr>
              <a:sym typeface="+mn-ea"/>
            </a:endParaRPr>
          </a:p>
          <a:p/>
          <a:p>
            <a:r>
              <a:rPr>
                <a:sym typeface="+mn-ea"/>
              </a:rPr>
              <a:t>【备答：强化学习边界】严格来说，本文当前实现是检测反馈驱动的反馈式校准近似，而不是完整的策略梯度强化学习训练。候选框、保留动作和匹配反馈具有强化学习解释，但推理阶段没有重新执行策略梯度更新。</a:t>
            </a:r>
            <a:endParaRPr>
              <a:sym typeface="+mn-ea"/>
            </a:endParaRPr>
          </a:p>
          <a:p/>
          <a:p>
            <a:r>
              <a:rPr>
                <a:sym typeface="+mn-ea"/>
              </a:rPr>
              <a:t>【备答：状态与动作】状态包括原始分数、查询匹配、几何属性、类别、来源和排名等；动作可以理解为保留、抑制或调整分数；反馈由类别一致和IoU匹配结果构造。</a:t>
            </a:r>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【主讲稿】</a:t>
            </a:r>
          </a:p>
          <a:p/>
          <a:p>
            <a:r>
              <a:t>实验采用 VisDroneSplit1000Guarded 数据集，校准对比使用 150 张固定测试图像。所有方法在统一类别映射、真实标注和评价脚本下比较。预测框只有在类别正确且 IoU 达到对应阈值时才被视为命中，因此 Acc@0.5 反映基本命中能力，Acc@0.75 更关注定位质量，mAP@0.5 则进一步衡量不同置信度排序下的整体精确率和召回率。</a:t>
            </a:r>
          </a:p>
          <a:p/>
          <a:p>
            <a:r>
              <a:t>【提问备答】</a:t>
            </a:r>
          </a:p>
          <a:p/>
          <a:p>
            <a:r>
              <a:t>【备答：实验公平性】不同方法使用相同候选坐标、类别映射、来源字段、真实标注和评价脚本。融合只使用已有分数，规则筛选只删除候选，反馈校准只调整分数。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【主讲稿】</a:t>
            </a:r>
          </a:p>
          <a:p/>
          <a:p>
            <a:r>
              <a:t>总体结果表明，完整在线流程在候选数量不变的条件下，将 mAP@0.5 提升至 0.1690，同时 Acc@0.75 达到 0.3491。</a:t>
            </a:r>
          </a:p>
          <a:p>
            <a:r>
              <a:t>这个结果说明，方法的收益并不依赖不断增加候选框数量，</a:t>
            </a:r>
            <a:r>
              <a:rPr>
                <a:sym typeface="+mn-ea"/>
              </a:rPr>
              <a:t>候选层面的校准能够在不改变基础模型的前提下提升最终输出质量。</a:t>
            </a:r>
            <a:endParaRPr>
              <a:sym typeface="+mn-ea"/>
            </a:endParaRPr>
          </a:p>
          <a:p/>
          <a:p>
            <a:r>
              <a:t>【提问备答】</a:t>
            </a:r>
          </a:p>
          <a:p/>
          <a:p>
            <a:r>
              <a:t>【备答：mAP提升】候选数量不变时，mAP仍可通过改变置信度排序提升。只要真实命中框在排序中更靠前，PR曲线就会改善；本实验mAP从0.1464提升到0.1690正体现了这一点。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【主讲稿】</a:t>
            </a:r>
          </a:p>
          <a:p/>
          <a:p>
            <a:r>
              <a:t>消融实验在完全相同的 52872 个候选框上比较不同后处理方式。</a:t>
            </a:r>
          </a:p>
          <a:p>
            <a:r>
              <a:t>富元信息融合的 mAP@0.5 为 0.1464，加入反馈式校准后提升到 0.1690。</a:t>
            </a:r>
          </a:p>
          <a:p>
            <a:r>
              <a:t>相比之下，规则筛选虽然将候选数压缩到 9586 个，但同时删除了部分有效候选，mAP 降至 0.1187。</a:t>
            </a:r>
          </a:p>
          <a:p>
            <a:r>
              <a:t>因此，在航拍小目标场景中，基于反馈的分数校准比固定规则直接删框更稳健。</a:t>
            </a:r>
          </a:p>
          <a:p/>
          <a:p>
            <a:r>
              <a:t>【提问备答】</a:t>
            </a:r>
          </a:p>
          <a:p/>
          <a:p>
            <a:r>
              <a:t>【备答：规则筛选】规则筛选减少候选框，但固定阈值难以区分低分真实小目标与低分误检，可能删除有效候选。因此候选数从52872降到9586后，mAP反而下降到0.1187。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p>
            <a:r>
              <a:rPr>
                <a:sym typeface="+mn-ea"/>
              </a:rPr>
              <a:t>接下来观察小目标召回的变化。开放词表基线的 Acc@0.5 为 0.3607；加入在线小目标召回后提升到 0.5383；直接小目标召回进一步达到 0.5477。同时，TP@0.5 从 4285 增加到 4367。</a:t>
            </a:r>
            <a:endParaRPr>
              <a:sym typeface="+mn-ea"/>
            </a:endParaRPr>
          </a:p>
          <a:p>
            <a:r>
              <a:rPr>
                <a:sym typeface="+mn-ea"/>
              </a:rPr>
              <a:t>这个结果说明提示扩展确实能让更多真实小目标进入候选池。</a:t>
            </a:r>
            <a:endParaRPr>
              <a:sym typeface="+mn-ea"/>
            </a:endParaRPr>
          </a:p>
          <a:p>
            <a:r>
              <a:rPr>
                <a:sym typeface="+mn-ea"/>
              </a:rPr>
              <a:t>但也要看到，直接扩展候选会同时引入噪声，因此它更适合作为“召回增强”阶段，而不是最终输出。</a:t>
            </a:r>
            <a:endParaRPr>
              <a:sym typeface="+mn-ea"/>
            </a:endParaRPr>
          </a:p>
          <a:p>
            <a:r>
              <a:rPr>
                <a:sym typeface="+mn-ea"/>
              </a:rPr>
              <a:t>后续的候选融合与反馈校准正是为了解决召回提高后可能出现的冗余和排序问题。</a:t>
            </a:r>
            <a:endParaRPr>
              <a:sym typeface="+mn-ea"/>
            </a:endParaRPr>
          </a:p>
          <a:p/>
          <a:p>
            <a:r>
              <a:rPr>
                <a:sym typeface="+mn-ea"/>
              </a:rPr>
              <a:t>【提问备答】</a:t>
            </a:r>
            <a:endParaRPr>
              <a:sym typeface="+mn-ea"/>
            </a:endParaRPr>
          </a:p>
          <a:p/>
          <a:p>
            <a:r>
              <a:rPr>
                <a:sym typeface="+mn-ea"/>
              </a:rPr>
              <a:t>【备答：小目标召回】候选扩展的作用是让更多真实小目标进入候选池。直接小目标召回的Acc@0.5和TP提高，但也会引入低质量候选，因此不能直接作为最终输出。</a:t>
            </a:r>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sym typeface="+mn-ea"/>
              </a:rPr>
              <a:t>【主讲稿】</a:t>
            </a:r>
            <a:endParaRPr>
              <a:sym typeface="+mn-ea"/>
            </a:endParaRPr>
          </a:p>
          <a:p/>
          <a:p>
            <a:r>
              <a:rPr>
                <a:sym typeface="+mn-ea"/>
              </a:rPr>
              <a:t>最后总结。本文针对航拍开放词表识别中小目标漏检和候选排序不稳定的问题，提出了由候选扩展、富元信息融合和反馈式校准组成的轻量闭环方法。实验表明，候选扩展能够提高小目标命中，富元信息与反馈校准能够在固定候选集上改善 mAP 排序质量。整体方法不要求微调大型基础模型，具有较好的模块化和可解释性，也为后续进一步引入完整强化学习策略提供了基础。</a:t>
            </a:r>
            <a:endParaRPr>
              <a:sym typeface="+mn-ea"/>
            </a:endParaRPr>
          </a:p>
          <a:p/>
          <a:p>
            <a:r>
              <a:rPr>
                <a:sym typeface="+mn-ea"/>
              </a:rPr>
              <a:t>【提问备答】</a:t>
            </a:r>
            <a:endParaRPr>
              <a:sym typeface="+mn-ea"/>
            </a:endParaRPr>
          </a:p>
          <a:p/>
          <a:p>
            <a:r>
              <a:rPr>
                <a:sym typeface="+mn-ea"/>
              </a:rPr>
              <a:t>【备答：结果口径】0.1690是在本文固定测试协议、类别集合和评价脚本下得到的结果，主要用于本文不同方法之间的相对比较，不能与不同数据划分或评测实现的结果直接横向等同。</a:t>
            </a:r>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【主讲稿】</a:t>
            </a:r>
          </a:p>
          <a:p/>
          <a:p>
            <a:r>
              <a:t>我的汇报完毕，感谢各位老师聆听，恳请批评指正。</a:t>
            </a:r>
          </a:p>
          <a:p/>
          <a:p>
            <a:r>
              <a:t>【提问备答】</a:t>
            </a:r>
          </a:p>
          <a:p/>
          <a:p>
            <a:r>
              <a:t>【备答：致谢】感谢老师聆听，如有问题将结合实验设置、方法结构和消融结果进一步说明。</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tags" Target="../tags/tag6.xml"/><Relationship Id="rId6" Type="http://schemas.openxmlformats.org/officeDocument/2006/relationships/tags" Target="../tags/tag7.xml"/><Relationship Id="rId7" Type="http://schemas.openxmlformats.org/officeDocument/2006/relationships/tags" Target="../tags/tag8.xml"/><Relationship Id="rId8" Type="http://schemas.openxmlformats.org/officeDocument/2006/relationships/tags" Target="../tags/tag9.xml"/><Relationship Id="rId9" Type="http://schemas.openxmlformats.org/officeDocument/2006/relationships/tags" Target="../tags/tag10.xml"/><Relationship Id="rId10" Type="http://schemas.openxmlformats.org/officeDocument/2006/relationships/tags" Target="../tags/tag11.xml"/><Relationship Id="rId11" Type="http://schemas.openxmlformats.org/officeDocument/2006/relationships/tags" Target="../tags/tag12.xml"/><Relationship Id="rId12" Type="http://schemas.openxmlformats.org/officeDocument/2006/relationships/tags" Target="../tags/tag13.xml"/><Relationship Id="rId13" Type="http://schemas.openxmlformats.org/officeDocument/2006/relationships/tags" Target="../tags/tag14.xml"/><Relationship Id="rId14" Type="http://schemas.openxmlformats.org/officeDocument/2006/relationships/tags" Target="../tags/tag15.xml"/><Relationship Id="rId15" Type="http://schemas.openxmlformats.org/officeDocument/2006/relationships/tags" Target="../tags/tag16.xml"/><Relationship Id="rId16" Type="http://schemas.openxmlformats.org/officeDocument/2006/relationships/tags" Target="../tags/tag17.xml"/><Relationship Id="rId17" Type="http://schemas.openxmlformats.org/officeDocument/2006/relationships/tags" Target="../tags/tag18.xml"/><Relationship Id="rId18" Type="http://schemas.openxmlformats.org/officeDocument/2006/relationships/tags" Target="../tags/tag19.xml"/><Relationship Id="rId19" Type="http://schemas.openxmlformats.org/officeDocument/2006/relationships/slideLayout" Target="../slideLayouts/slideLayout1.xml"/><Relationship Id="rId2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 Id="rId6" Type="http://schemas.openxmlformats.org/officeDocument/2006/relationships/tags" Target="../tags/tag25.xml"/><Relationship Id="rId7" Type="http://schemas.openxmlformats.org/officeDocument/2006/relationships/tags" Target="../tags/tag26.xml"/><Relationship Id="rId8" Type="http://schemas.openxmlformats.org/officeDocument/2006/relationships/tags" Target="../tags/tag27.xml"/><Relationship Id="rId9" Type="http://schemas.openxmlformats.org/officeDocument/2006/relationships/tags" Target="../tags/tag28.xml"/><Relationship Id="rId10" Type="http://schemas.openxmlformats.org/officeDocument/2006/relationships/tags" Target="../tags/tag29.xml"/><Relationship Id="rId11" Type="http://schemas.openxmlformats.org/officeDocument/2006/relationships/tags" Target="../tags/tag30.xml"/><Relationship Id="rId12" Type="http://schemas.openxmlformats.org/officeDocument/2006/relationships/tags" Target="../tags/tag31.xml"/><Relationship Id="rId13" Type="http://schemas.openxmlformats.org/officeDocument/2006/relationships/tags" Target="../tags/tag32.xml"/><Relationship Id="rId14" Type="http://schemas.openxmlformats.org/officeDocument/2006/relationships/tags" Target="../tags/tag33.xml"/><Relationship Id="rId15" Type="http://schemas.openxmlformats.org/officeDocument/2006/relationships/tags" Target="../tags/tag34.xml"/><Relationship Id="rId16" Type="http://schemas.openxmlformats.org/officeDocument/2006/relationships/tags" Target="../tags/tag35.xml"/><Relationship Id="rId17" Type="http://schemas.openxmlformats.org/officeDocument/2006/relationships/tags" Target="../tags/tag36.xml"/><Relationship Id="rId18" Type="http://schemas.openxmlformats.org/officeDocument/2006/relationships/tags" Target="../tags/tag37.xml"/><Relationship Id="rId19" Type="http://schemas.openxmlformats.org/officeDocument/2006/relationships/slideLayout" Target="../slideLayouts/slideLayout1.xml"/><Relationship Id="rId2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p:sp>
        <p:nvSpPr>
          <p:cNvPr id="9" name="矩形 8"/>
          <p:cNvSpPr>
            <a:spLocks noGrp="1"/>
          </p:cNvSpPr>
          <p:nvPr/>
        </p:nvSpPr>
        <p:spPr>
          <a:xfrm>
            <a:off x="0" y="0"/>
            <a:ext cx="12192000" cy="6858000"/>
          </a:xfrm>
          <a:prstGeom prst="rect">
            <a:avLst/>
          </a:prstGeom>
          <a:solidFill>
            <a:srgbClr val="102A43"/>
          </a:solidFill>
          <a:ln w="0">
            <a:noFill/>
            <a:prstDash val="solid"/>
          </a:ln>
        </p:spPr>
      </p:sp>
      <p:sp>
        <p:nvSpPr>
          <p:cNvPr id="2" name="圆角矩形 1"/>
          <p:cNvSpPr>
            <a:spLocks noGrp="1"/>
          </p:cNvSpPr>
          <p:nvPr/>
        </p:nvSpPr>
        <p:spPr>
          <a:xfrm>
            <a:off x="685800" y="857250"/>
            <a:ext cx="114300" cy="3714750"/>
          </a:xfrm>
          <a:prstGeom prst="roundRect">
            <a:avLst>
              <a:gd name="adj" fmla="val 50000"/>
            </a:avLst>
          </a:prstGeom>
          <a:solidFill>
            <a:srgbClr val="18A999"/>
          </a:solidFill>
          <a:ln w="0">
            <a:noFill/>
            <a:prstDash val="solid"/>
          </a:ln>
        </p:spPr>
      </p:sp>
      <p:sp>
        <p:nvSpPr>
          <p:cNvPr id="3" name="矩形 2"/>
          <p:cNvSpPr>
            <a:spLocks noGrp="1"/>
          </p:cNvSpPr>
          <p:nvPr/>
        </p:nvSpPr>
        <p:spPr>
          <a:xfrm>
            <a:off x="1066800" y="1066800"/>
            <a:ext cx="7239000" cy="1714500"/>
          </a:xfrm>
          <a:prstGeom prst="rect">
            <a:avLst/>
          </a:prstGeom>
          <a:noFill/>
          <a:ln w="0">
            <a:noFill/>
            <a:prstDash val="solid"/>
          </a:ln>
        </p:spPr>
        <p:txBody>
          <a:bodyPr anchor="ctr"/>
          <a:lstStyle/>
          <a:p>
            <a:pPr algn="l">
              <a:buNone/>
              <a:defRPr sz="3900" b="1">
                <a:solidFill>
                  <a:srgbClr val="FFFFFF"/>
                </a:solidFill>
              </a:defRPr>
            </a:pPr>
            <a:r>
              <a:rPr sz="3900" b="1">
                <a:solidFill>
                  <a:srgbClr val="FFFFFF"/>
                </a:solidFill>
              </a:rPr>
              <a:t>强化学习驱动的</a:t>
            </a:r>
            <a:endParaRPr sz="3900" b="1">
              <a:solidFill>
                <a:srgbClr val="FFFFFF"/>
              </a:solidFill>
            </a:endParaRPr>
          </a:p>
          <a:p>
            <a:pPr algn="l">
              <a:buNone/>
              <a:defRPr sz="3900" b="1">
                <a:solidFill>
                  <a:srgbClr val="FFFFFF"/>
                </a:solidFill>
              </a:defRPr>
            </a:pPr>
            <a:r>
              <a:rPr sz="3900" b="1">
                <a:solidFill>
                  <a:srgbClr val="FFFFFF"/>
                </a:solidFill>
              </a:rPr>
              <a:t>闭环航拍图像识别方法</a:t>
            </a:r>
            <a:endParaRPr sz="3900" b="1">
              <a:solidFill>
                <a:srgbClr val="FFFFFF"/>
              </a:solidFill>
            </a:endParaRPr>
          </a:p>
        </p:txBody>
      </p:sp>
      <p:sp>
        <p:nvSpPr>
          <p:cNvPr id="4" name="矩形 3"/>
          <p:cNvSpPr>
            <a:spLocks noGrp="1"/>
          </p:cNvSpPr>
          <p:nvPr/>
        </p:nvSpPr>
        <p:spPr>
          <a:xfrm>
            <a:off x="1085850" y="3000375"/>
            <a:ext cx="6191250" cy="552450"/>
          </a:xfrm>
          <a:prstGeom prst="rect">
            <a:avLst/>
          </a:prstGeom>
          <a:noFill/>
          <a:ln w="0">
            <a:noFill/>
            <a:prstDash val="solid"/>
          </a:ln>
        </p:spPr>
        <p:txBody>
          <a:bodyPr anchor="ctr"/>
          <a:lstStyle/>
          <a:p>
            <a:pPr algn="l">
              <a:buNone/>
              <a:defRPr sz="1725" b="0">
                <a:solidFill>
                  <a:srgbClr val="B9D9F1"/>
                </a:solidFill>
              </a:defRPr>
            </a:pPr>
            <a:r>
              <a:rPr sz="1725" b="0">
                <a:solidFill>
                  <a:srgbClr val="B9D9F1"/>
                </a:solidFill>
              </a:rPr>
              <a:t>Reinforcement Learning-Driven Closed-Loop</a:t>
            </a:r>
            <a:endParaRPr sz="1725" b="0">
              <a:solidFill>
                <a:srgbClr val="B9D9F1"/>
              </a:solidFill>
            </a:endParaRPr>
          </a:p>
          <a:p>
            <a:pPr algn="l">
              <a:buNone/>
              <a:defRPr sz="1725" b="0">
                <a:solidFill>
                  <a:srgbClr val="B9D9F1"/>
                </a:solidFill>
              </a:defRPr>
            </a:pPr>
            <a:r>
              <a:rPr sz="1725" b="0">
                <a:solidFill>
                  <a:srgbClr val="B9D9F1"/>
                </a:solidFill>
              </a:rPr>
              <a:t>Aerial Image Recognition Method</a:t>
            </a:r>
            <a:endParaRPr sz="1725" b="0">
              <a:solidFill>
                <a:srgbClr val="B9D9F1"/>
              </a:solidFill>
            </a:endParaRPr>
          </a:p>
        </p:txBody>
      </p:sp>
      <p:sp>
        <p:nvSpPr>
          <p:cNvPr id="5" name="矩形 4"/>
          <p:cNvSpPr>
            <a:spLocks noGrp="1"/>
          </p:cNvSpPr>
          <p:nvPr/>
        </p:nvSpPr>
        <p:spPr>
          <a:xfrm>
            <a:off x="1085850" y="4057650"/>
            <a:ext cx="2857500" cy="304800"/>
          </a:xfrm>
          <a:prstGeom prst="rect">
            <a:avLst/>
          </a:prstGeom>
          <a:noFill/>
          <a:ln w="0">
            <a:noFill/>
            <a:prstDash val="solid"/>
          </a:ln>
        </p:spPr>
        <p:txBody>
          <a:bodyPr anchor="ctr"/>
          <a:lstStyle/>
          <a:p>
            <a:pPr algn="l">
              <a:buNone/>
              <a:defRPr sz="1650" b="1">
                <a:solidFill>
                  <a:srgbClr val="D5E6F5"/>
                </a:solidFill>
              </a:defRPr>
            </a:pPr>
            <a:r>
              <a:rPr sz="1650" b="1">
                <a:solidFill>
                  <a:srgbClr val="D5E6F5"/>
                </a:solidFill>
              </a:rPr>
              <a:t>本科毕业设计答辩</a:t>
            </a:r>
            <a:endParaRPr sz="1650" b="1">
              <a:solidFill>
                <a:srgbClr val="D5E6F5"/>
              </a:solidFill>
            </a:endParaRPr>
          </a:p>
        </p:txBody>
      </p:sp>
      <p:sp>
        <p:nvSpPr>
          <p:cNvPr id="6" name="矩形 5"/>
          <p:cNvSpPr>
            <a:spLocks noGrp="1"/>
          </p:cNvSpPr>
          <p:nvPr/>
        </p:nvSpPr>
        <p:spPr>
          <a:xfrm>
            <a:off x="1085850" y="4495800"/>
            <a:ext cx="6000750" cy="285750"/>
          </a:xfrm>
          <a:prstGeom prst="rect">
            <a:avLst/>
          </a:prstGeom>
          <a:noFill/>
          <a:ln w="0">
            <a:noFill/>
            <a:prstDash val="solid"/>
          </a:ln>
        </p:spPr>
        <p:txBody>
          <a:bodyPr anchor="ctr"/>
          <a:lstStyle/>
          <a:p>
            <a:pPr algn="l">
              <a:buNone/>
              <a:defRPr sz="1350" b="0">
                <a:solidFill>
                  <a:srgbClr val="B9D9F1"/>
                </a:solidFill>
              </a:defRPr>
            </a:pPr>
            <a:r>
              <a:rPr sz="1350" b="0">
                <a:solidFill>
                  <a:srgbClr val="B9D9F1"/>
                </a:solidFill>
              </a:rPr>
              <a:t>王哲  |  计算机科学与技术  |  指导教师：王耀威</a:t>
            </a:r>
            <a:r>
              <a:rPr lang="zh-CN" sz="1350" b="0">
                <a:solidFill>
                  <a:srgbClr val="B9D9F1"/>
                </a:solidFill>
                <a:ea typeface="宋体" panose="02010600030101010101" pitchFamily="2" charset="-122"/>
              </a:rPr>
              <a:t>、蓝湘源</a:t>
            </a:r>
            <a:r>
              <a:rPr>
                <a:sym typeface="+mn-ea"/>
              </a:rPr>
              <a:t>教授</a:t>
            </a:r>
            <a:endParaRPr lang="zh-CN" b="0">
              <a:solidFill>
                <a:srgbClr val="B9D9F1"/>
              </a:solidFill>
              <a:ea typeface="宋体" panose="02010600030101010101" pitchFamily="2" charset="-122"/>
              <a:sym typeface="+mn-ea"/>
            </a:endParaRPr>
          </a:p>
        </p:txBody>
      </p:sp>
      <p:sp>
        <p:nvSpPr>
          <p:cNvPr id="8" name="矩形 7"/>
          <p:cNvSpPr>
            <a:spLocks noGrp="1"/>
          </p:cNvSpPr>
          <p:nvPr/>
        </p:nvSpPr>
        <p:spPr>
          <a:xfrm>
            <a:off x="685800" y="6381750"/>
            <a:ext cx="3619500" cy="171450"/>
          </a:xfrm>
          <a:prstGeom prst="rect">
            <a:avLst/>
          </a:prstGeom>
          <a:noFill/>
          <a:ln w="0">
            <a:noFill/>
            <a:prstDash val="solid"/>
          </a:ln>
        </p:spPr>
        <p:txBody>
          <a:bodyPr anchor="ctr"/>
          <a:lstStyle/>
          <a:p>
            <a:pPr algn="l">
              <a:buNone/>
              <a:defRPr sz="1050" b="0">
                <a:solidFill>
                  <a:srgbClr val="B9D9F1"/>
                </a:solidFill>
              </a:defRPr>
            </a:pPr>
            <a:r>
              <a:rPr sz="1050" b="0">
                <a:solidFill>
                  <a:srgbClr val="B9D9F1"/>
                </a:solidFill>
              </a:rPr>
              <a:t>哈尔滨工业大学（深圳）</a:t>
            </a:r>
            <a:endParaRPr sz="1050" b="0">
              <a:solidFill>
                <a:srgbClr val="B9D9F1"/>
              </a:solidFill>
            </a:endParaRPr>
          </a:p>
        </p:txBody>
      </p:sp>
      <p:pic>
        <p:nvPicPr>
          <p:cNvPr id="25" name="图片 23"/>
          <p:cNvPicPr>
            <a:picLocks noChangeAspect="1"/>
          </p:cNvPicPr>
          <p:nvPr/>
        </p:nvPicPr>
        <p:blipFill>
          <a:blip r:embed="rId1"/>
          <a:srcRect t="12" b="12"/>
          <a:stretch>
            <a:fillRect/>
          </a:stretch>
        </p:blipFill>
        <p:spPr>
          <a:xfrm>
            <a:off x="7981950" y="2180630"/>
            <a:ext cx="3524250" cy="1982391"/>
          </a:xfrm>
          <a:prstGeom prst="roundRect">
            <a:avLst/>
          </a:prstGeom>
        </p:spPr>
      </p:pic>
      <p:sp>
        <p:nvSpPr>
          <p:cNvPr id="11" name="矩形 10"/>
          <p:cNvSpPr>
            <a:spLocks noGrp="1"/>
          </p:cNvSpPr>
          <p:nvPr/>
        </p:nvSpPr>
        <p:spPr>
          <a:xfrm>
            <a:off x="8763000" y="3390900"/>
            <a:ext cx="371475" cy="333375"/>
          </a:xfrm>
          <a:prstGeom prst="rect">
            <a:avLst/>
          </a:prstGeom>
          <a:ln w="19050">
            <a:solidFill>
              <a:srgbClr val="19B6A7"/>
            </a:solidFill>
            <a:prstDash val="solid"/>
          </a:ln>
        </p:spPr>
      </p:sp>
      <p:sp>
        <p:nvSpPr>
          <p:cNvPr id="12" name="矩形 11"/>
          <p:cNvSpPr>
            <a:spLocks noGrp="1"/>
          </p:cNvSpPr>
          <p:nvPr/>
        </p:nvSpPr>
        <p:spPr>
          <a:xfrm>
            <a:off x="8763000" y="3286125"/>
            <a:ext cx="333375" cy="104775"/>
          </a:xfrm>
          <a:prstGeom prst="rect">
            <a:avLst/>
          </a:prstGeom>
          <a:solidFill>
            <a:srgbClr val="19B6A7"/>
          </a:solidFill>
          <a:ln w="0">
            <a:solidFill>
              <a:srgbClr val="19B6A7"/>
            </a:solidFill>
            <a:prstDash val="solid"/>
          </a:ln>
        </p:spPr>
        <p:txBody>
          <a:bodyPr anchor="ctr"/>
          <a:lstStyle/>
          <a:p>
            <a:pPr>
              <a:buNone/>
              <a:defRPr sz="525" b="1">
                <a:solidFill>
                  <a:srgbClr val="FFFFFF"/>
                </a:solidFill>
              </a:defRPr>
            </a:pPr>
            <a:r>
              <a:rPr sz="525" b="1">
                <a:solidFill>
                  <a:srgbClr val="FFFFFF"/>
                </a:solidFill>
              </a:rPr>
              <a:t>CAR</a:t>
            </a:r>
            <a:endParaRPr sz="525" b="1">
              <a:solidFill>
                <a:srgbClr val="FFFFFF"/>
              </a:solidFill>
            </a:endParaRPr>
          </a:p>
        </p:txBody>
      </p:sp>
      <p:sp>
        <p:nvSpPr>
          <p:cNvPr id="13" name="矩形 12"/>
          <p:cNvSpPr>
            <a:spLocks noGrp="1"/>
          </p:cNvSpPr>
          <p:nvPr/>
        </p:nvSpPr>
        <p:spPr>
          <a:xfrm>
            <a:off x="9401175" y="3829050"/>
            <a:ext cx="247650" cy="209550"/>
          </a:xfrm>
          <a:prstGeom prst="rect">
            <a:avLst/>
          </a:prstGeom>
          <a:ln w="19050">
            <a:solidFill>
              <a:srgbClr val="19B6A7"/>
            </a:solidFill>
            <a:prstDash val="solid"/>
          </a:ln>
        </p:spPr>
      </p:sp>
      <p:sp>
        <p:nvSpPr>
          <p:cNvPr id="14" name="矩形 13"/>
          <p:cNvSpPr>
            <a:spLocks noGrp="1"/>
          </p:cNvSpPr>
          <p:nvPr/>
        </p:nvSpPr>
        <p:spPr>
          <a:xfrm>
            <a:off x="9401175" y="3724275"/>
            <a:ext cx="333375" cy="104775"/>
          </a:xfrm>
          <a:prstGeom prst="rect">
            <a:avLst/>
          </a:prstGeom>
          <a:solidFill>
            <a:srgbClr val="19B6A7"/>
          </a:solidFill>
          <a:ln w="0">
            <a:solidFill>
              <a:srgbClr val="19B6A7"/>
            </a:solidFill>
            <a:prstDash val="solid"/>
          </a:ln>
        </p:spPr>
        <p:txBody>
          <a:bodyPr anchor="ctr"/>
          <a:lstStyle/>
          <a:p>
            <a:pPr>
              <a:buNone/>
              <a:defRPr sz="525" b="1">
                <a:solidFill>
                  <a:srgbClr val="FFFFFF"/>
                </a:solidFill>
              </a:defRPr>
            </a:pPr>
            <a:r>
              <a:rPr sz="525" b="1">
                <a:solidFill>
                  <a:srgbClr val="FFFFFF"/>
                </a:solidFill>
              </a:rPr>
              <a:t>CAR</a:t>
            </a:r>
            <a:endParaRPr sz="525" b="1">
              <a:solidFill>
                <a:srgbClr val="FFFFFF"/>
              </a:solidFill>
            </a:endParaRPr>
          </a:p>
        </p:txBody>
      </p:sp>
      <p:sp>
        <p:nvSpPr>
          <p:cNvPr id="15" name="矩形 14"/>
          <p:cNvSpPr>
            <a:spLocks noGrp="1"/>
          </p:cNvSpPr>
          <p:nvPr/>
        </p:nvSpPr>
        <p:spPr>
          <a:xfrm>
            <a:off x="10553700" y="3771900"/>
            <a:ext cx="285750" cy="200025"/>
          </a:xfrm>
          <a:prstGeom prst="rect">
            <a:avLst/>
          </a:prstGeom>
          <a:ln w="19050">
            <a:solidFill>
              <a:srgbClr val="19B6A7"/>
            </a:solidFill>
            <a:prstDash val="solid"/>
          </a:ln>
        </p:spPr>
      </p:sp>
      <p:sp>
        <p:nvSpPr>
          <p:cNvPr id="16" name="矩形 15"/>
          <p:cNvSpPr>
            <a:spLocks noGrp="1"/>
          </p:cNvSpPr>
          <p:nvPr/>
        </p:nvSpPr>
        <p:spPr>
          <a:xfrm>
            <a:off x="10553700" y="3667125"/>
            <a:ext cx="333375" cy="104775"/>
          </a:xfrm>
          <a:prstGeom prst="rect">
            <a:avLst/>
          </a:prstGeom>
          <a:solidFill>
            <a:srgbClr val="19B6A7"/>
          </a:solidFill>
          <a:ln w="0">
            <a:solidFill>
              <a:srgbClr val="19B6A7"/>
            </a:solidFill>
            <a:prstDash val="solid"/>
          </a:ln>
        </p:spPr>
        <p:txBody>
          <a:bodyPr anchor="ctr"/>
          <a:lstStyle/>
          <a:p>
            <a:pPr>
              <a:buNone/>
              <a:defRPr sz="525" b="1">
                <a:solidFill>
                  <a:srgbClr val="FFFFFF"/>
                </a:solidFill>
              </a:defRPr>
            </a:pPr>
            <a:r>
              <a:rPr sz="525" b="1">
                <a:solidFill>
                  <a:srgbClr val="FFFFFF"/>
                </a:solidFill>
              </a:rPr>
              <a:t>CAR</a:t>
            </a:r>
            <a:endParaRPr sz="525" b="1">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15" name="矩形 14"/>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BACKGROUND</a:t>
            </a:r>
            <a:endParaRPr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航拍识别需求增长，但小目标仍是核心瓶颈</a:t>
            </a:r>
            <a:endParaRPr sz="2700" b="1">
              <a:solidFill>
                <a:srgbClr val="102A43"/>
              </a:solidFill>
            </a:endParaRPr>
          </a:p>
        </p:txBody>
      </p:sp>
      <p:sp>
        <p:nvSpPr>
          <p:cNvPr id="3" name="矩形 2"/>
          <p:cNvSpPr>
            <a:spLocks noGrp="1"/>
          </p:cNvSpPr>
          <p:nvPr/>
        </p:nvSpPr>
        <p:spPr>
          <a:xfrm>
            <a:off x="685800" y="1181100"/>
            <a:ext cx="10477500" cy="266700"/>
          </a:xfrm>
          <a:prstGeom prst="rect">
            <a:avLst/>
          </a:prstGeom>
          <a:noFill/>
          <a:ln w="0">
            <a:noFill/>
            <a:prstDash val="solid"/>
          </a:ln>
        </p:spPr>
        <p:txBody>
          <a:bodyPr anchor="ctr"/>
          <a:lstStyle/>
          <a:p>
            <a:pPr algn="l">
              <a:buNone/>
              <a:defRPr sz="1275" b="0">
                <a:solidFill>
                  <a:srgbClr val="64748B"/>
                </a:solidFill>
              </a:defRPr>
            </a:pPr>
            <a:r>
              <a:rPr sz="1275" b="0">
                <a:solidFill>
                  <a:srgbClr val="64748B"/>
                </a:solidFill>
              </a:rPr>
              <a:t>面向交通监测、巡检和低空遥感中的视觉定位任务</a:t>
            </a:r>
            <a:endParaRPr sz="1275" b="0">
              <a:solidFill>
                <a:srgbClr val="64748B"/>
              </a:solidFill>
            </a:endParaRPr>
          </a:p>
        </p:txBody>
      </p:sp>
      <p:sp>
        <p:nvSpPr>
          <p:cNvPr id="4" name="直接连接符 3"/>
          <p:cNvSpPr>
            <a:spLocks noGrp="1"/>
          </p:cNvSpPr>
          <p:nvPr/>
        </p:nvSpPr>
        <p:spPr>
          <a:xfrm>
            <a:off x="685800" y="1543050"/>
            <a:ext cx="10820400" cy="0"/>
          </a:xfrm>
          <a:prstGeom prst="line">
            <a:avLst/>
          </a:prstGeom>
          <a:ln w="9525">
            <a:solidFill>
              <a:srgbClr val="D7E1EA"/>
            </a:solidFill>
            <a:prstDash val="solid"/>
          </a:ln>
        </p:spPr>
      </p:sp>
      <p:sp>
        <p:nvSpPr>
          <p:cNvPr id="6" name="矩形 5"/>
          <p:cNvSpPr>
            <a:spLocks noGrp="1"/>
          </p:cNvSpPr>
          <p:nvPr/>
        </p:nvSpPr>
        <p:spPr>
          <a:xfrm>
            <a:off x="7680325" y="2714625"/>
            <a:ext cx="3714750" cy="285750"/>
          </a:xfrm>
          <a:prstGeom prst="rect">
            <a:avLst/>
          </a:prstGeom>
          <a:noFill/>
          <a:ln w="0">
            <a:noFill/>
            <a:prstDash val="solid"/>
          </a:ln>
        </p:spPr>
        <p:txBody>
          <a:bodyPr anchor="ctr"/>
          <a:lstStyle/>
          <a:p>
            <a:pPr algn="l">
              <a:buNone/>
              <a:defRPr sz="1875" b="1">
                <a:solidFill>
                  <a:srgbClr val="102A43"/>
                </a:solidFill>
              </a:defRPr>
            </a:pPr>
            <a:r>
              <a:rPr sz="1875" b="1">
                <a:solidFill>
                  <a:srgbClr val="102A43"/>
                </a:solidFill>
              </a:rPr>
              <a:t>航拍场景的三类典型困难</a:t>
            </a:r>
            <a:endParaRPr sz="1875" b="1">
              <a:solidFill>
                <a:srgbClr val="102A43"/>
              </a:solidFill>
            </a:endParaRPr>
          </a:p>
        </p:txBody>
      </p:sp>
      <p:sp>
        <p:nvSpPr>
          <p:cNvPr id="7" name="圆角矩形 6"/>
          <p:cNvSpPr>
            <a:spLocks noGrp="1"/>
          </p:cNvSpPr>
          <p:nvPr/>
        </p:nvSpPr>
        <p:spPr>
          <a:xfrm>
            <a:off x="7680325" y="3422015"/>
            <a:ext cx="95250" cy="95250"/>
          </a:xfrm>
          <a:prstGeom prst="roundRect">
            <a:avLst>
              <a:gd name="adj" fmla="val 50000"/>
            </a:avLst>
          </a:prstGeom>
          <a:solidFill>
            <a:srgbClr val="18A999"/>
          </a:solidFill>
          <a:ln w="0">
            <a:noFill/>
            <a:prstDash val="solid"/>
          </a:ln>
        </p:spPr>
      </p:sp>
      <p:sp>
        <p:nvSpPr>
          <p:cNvPr id="8" name="矩形 7"/>
          <p:cNvSpPr>
            <a:spLocks noGrp="1"/>
          </p:cNvSpPr>
          <p:nvPr/>
        </p:nvSpPr>
        <p:spPr>
          <a:xfrm>
            <a:off x="7908925" y="3238500"/>
            <a:ext cx="3486150" cy="457200"/>
          </a:xfrm>
          <a:prstGeom prst="rect">
            <a:avLst/>
          </a:prstGeom>
          <a:noFill/>
          <a:ln w="0">
            <a:noFill/>
            <a:prstDash val="solid"/>
          </a:ln>
        </p:spPr>
        <p:txBody>
          <a:bodyPr anchor="ctr"/>
          <a:lstStyle/>
          <a:p>
            <a:pPr algn="l">
              <a:buNone/>
              <a:defRPr sz="1575" b="0">
                <a:solidFill>
                  <a:srgbClr val="152536"/>
                </a:solidFill>
              </a:defRPr>
            </a:pPr>
            <a:r>
              <a:rPr sz="1575" b="0">
                <a:solidFill>
                  <a:srgbClr val="152536"/>
                </a:solidFill>
              </a:rPr>
              <a:t>高空俯视导致目标像素占比低</a:t>
            </a:r>
            <a:endParaRPr sz="1575" b="0">
              <a:solidFill>
                <a:srgbClr val="152536"/>
              </a:solidFill>
            </a:endParaRPr>
          </a:p>
        </p:txBody>
      </p:sp>
      <p:sp>
        <p:nvSpPr>
          <p:cNvPr id="9" name="圆角矩形 8"/>
          <p:cNvSpPr>
            <a:spLocks noGrp="1"/>
          </p:cNvSpPr>
          <p:nvPr/>
        </p:nvSpPr>
        <p:spPr>
          <a:xfrm>
            <a:off x="7680325" y="3938905"/>
            <a:ext cx="95250" cy="95250"/>
          </a:xfrm>
          <a:prstGeom prst="roundRect">
            <a:avLst>
              <a:gd name="adj" fmla="val 50000"/>
            </a:avLst>
          </a:prstGeom>
          <a:solidFill>
            <a:srgbClr val="18A999"/>
          </a:solidFill>
          <a:ln w="0">
            <a:noFill/>
            <a:prstDash val="solid"/>
          </a:ln>
        </p:spPr>
      </p:sp>
      <p:sp>
        <p:nvSpPr>
          <p:cNvPr id="10" name="矩形 9"/>
          <p:cNvSpPr>
            <a:spLocks noGrp="1"/>
          </p:cNvSpPr>
          <p:nvPr/>
        </p:nvSpPr>
        <p:spPr>
          <a:xfrm>
            <a:off x="7908925" y="3790950"/>
            <a:ext cx="3486150" cy="457200"/>
          </a:xfrm>
          <a:prstGeom prst="rect">
            <a:avLst/>
          </a:prstGeom>
          <a:noFill/>
          <a:ln w="0">
            <a:noFill/>
            <a:prstDash val="solid"/>
          </a:ln>
        </p:spPr>
        <p:txBody>
          <a:bodyPr anchor="ctr"/>
          <a:lstStyle/>
          <a:p>
            <a:pPr algn="l">
              <a:buNone/>
              <a:defRPr sz="1575" b="0">
                <a:solidFill>
                  <a:srgbClr val="152536"/>
                </a:solidFill>
              </a:defRPr>
            </a:pPr>
            <a:r>
              <a:rPr sz="1575" b="0">
                <a:solidFill>
                  <a:srgbClr val="152536"/>
                </a:solidFill>
              </a:rPr>
              <a:t>密集分布与遮挡增加定位难度</a:t>
            </a:r>
            <a:endParaRPr sz="1575" b="0">
              <a:solidFill>
                <a:srgbClr val="152536"/>
              </a:solidFill>
            </a:endParaRPr>
          </a:p>
        </p:txBody>
      </p:sp>
      <p:sp>
        <p:nvSpPr>
          <p:cNvPr id="11" name="圆角矩形 10"/>
          <p:cNvSpPr>
            <a:spLocks noGrp="1"/>
          </p:cNvSpPr>
          <p:nvPr/>
        </p:nvSpPr>
        <p:spPr>
          <a:xfrm>
            <a:off x="7680325" y="4562475"/>
            <a:ext cx="95250" cy="95250"/>
          </a:xfrm>
          <a:prstGeom prst="roundRect">
            <a:avLst>
              <a:gd name="adj" fmla="val 50000"/>
            </a:avLst>
          </a:prstGeom>
          <a:solidFill>
            <a:srgbClr val="18A999"/>
          </a:solidFill>
          <a:ln w="0">
            <a:noFill/>
            <a:prstDash val="solid"/>
          </a:ln>
        </p:spPr>
      </p:sp>
      <p:sp>
        <p:nvSpPr>
          <p:cNvPr id="12" name="矩形 11"/>
          <p:cNvSpPr>
            <a:spLocks noGrp="1"/>
          </p:cNvSpPr>
          <p:nvPr/>
        </p:nvSpPr>
        <p:spPr>
          <a:xfrm>
            <a:off x="7908925" y="4343400"/>
            <a:ext cx="3486150" cy="457200"/>
          </a:xfrm>
          <a:prstGeom prst="rect">
            <a:avLst/>
          </a:prstGeom>
          <a:noFill/>
          <a:ln w="0">
            <a:noFill/>
            <a:prstDash val="solid"/>
          </a:ln>
        </p:spPr>
        <p:txBody>
          <a:bodyPr anchor="ctr"/>
          <a:lstStyle/>
          <a:p>
            <a:pPr algn="l">
              <a:buNone/>
              <a:defRPr sz="1575" b="0">
                <a:solidFill>
                  <a:srgbClr val="152536"/>
                </a:solidFill>
              </a:defRPr>
            </a:pPr>
            <a:r>
              <a:rPr sz="1575" b="0">
                <a:solidFill>
                  <a:srgbClr val="152536"/>
                </a:solidFill>
              </a:rPr>
              <a:t>相近类别外观差异被进一步压缩</a:t>
            </a:r>
            <a:endParaRPr sz="1575" b="0">
              <a:solidFill>
                <a:srgbClr val="152536"/>
              </a:solidFill>
            </a:endParaRPr>
          </a:p>
        </p:txBody>
      </p:sp>
      <p:sp>
        <p:nvSpPr>
          <p:cNvPr id="13" name="矩形 12"/>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4" name="矩形 13"/>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02</a:t>
            </a:r>
            <a:endParaRPr sz="900" b="1">
              <a:solidFill>
                <a:srgbClr val="18A999"/>
              </a:solidFill>
            </a:endParaRPr>
          </a:p>
        </p:txBody>
      </p:sp>
      <p:pic>
        <p:nvPicPr>
          <p:cNvPr id="5" name="图片 4" descr="original_0000193_01705_d_0000112"/>
          <p:cNvPicPr>
            <a:picLocks noChangeAspect="1"/>
          </p:cNvPicPr>
          <p:nvPr/>
        </p:nvPicPr>
        <p:blipFill>
          <a:blip r:embed="rId1"/>
          <a:stretch>
            <a:fillRect/>
          </a:stretch>
        </p:blipFill>
        <p:spPr>
          <a:xfrm>
            <a:off x="506095" y="2387600"/>
            <a:ext cx="5840095" cy="3285490"/>
          </a:xfrm>
          <a:prstGeom prst="rect">
            <a:avLst/>
          </a:prstGeom>
        </p:spPr>
      </p:pic>
      <p:pic>
        <p:nvPicPr>
          <p:cNvPr id="16" name="图片 15" descr="zoomed_0000193_01705_d_0000112"/>
          <p:cNvPicPr>
            <a:picLocks noChangeAspect="1"/>
          </p:cNvPicPr>
          <p:nvPr/>
        </p:nvPicPr>
        <p:blipFill>
          <a:blip r:embed="rId2"/>
          <a:srcRect r="66979" b="4700"/>
          <a:stretch>
            <a:fillRect/>
          </a:stretch>
        </p:blipFill>
        <p:spPr>
          <a:xfrm>
            <a:off x="4164965" y="1657350"/>
            <a:ext cx="3131820" cy="3285490"/>
          </a:xfrm>
          <a:prstGeom prst="rect">
            <a:avLst/>
          </a:prstGeom>
          <a:ln w="38100">
            <a:solidFill>
              <a:schemeClr val="bg1"/>
            </a:solidFill>
          </a:ln>
        </p:spPr>
      </p:pic>
      <p:cxnSp>
        <p:nvCxnSpPr>
          <p:cNvPr id="17" name="直接连接符 16"/>
          <p:cNvCxnSpPr/>
          <p:nvPr/>
        </p:nvCxnSpPr>
        <p:spPr>
          <a:xfrm>
            <a:off x="2207260" y="4220845"/>
            <a:ext cx="1944370" cy="792480"/>
          </a:xfrm>
          <a:prstGeom prst="line">
            <a:avLst/>
          </a:prstGeom>
          <a:ln w="31750" cap="rnd">
            <a:solidFill>
              <a:srgbClr val="FF0000"/>
            </a:solidFill>
            <a:round/>
          </a:ln>
        </p:spPr>
        <p:style>
          <a:lnRef idx="0">
            <a:srgbClr val="FFFFFF"/>
          </a:lnRef>
          <a:fillRef idx="0">
            <a:srgbClr val="FFFFFF"/>
          </a:fillRef>
          <a:effectRef idx="0">
            <a:srgbClr val="FFFFFF"/>
          </a:effectRef>
          <a:fontRef idx="minor">
            <a:schemeClr val="tx1"/>
          </a:fontRef>
        </p:style>
      </p:cxnSp>
      <p:cxnSp>
        <p:nvCxnSpPr>
          <p:cNvPr id="18" name="直接连接符 17"/>
          <p:cNvCxnSpPr/>
          <p:nvPr/>
        </p:nvCxnSpPr>
        <p:spPr>
          <a:xfrm flipV="1">
            <a:off x="2207260" y="1700530"/>
            <a:ext cx="1944370" cy="1376045"/>
          </a:xfrm>
          <a:prstGeom prst="line">
            <a:avLst/>
          </a:prstGeom>
          <a:ln w="31750" cap="rnd">
            <a:solidFill>
              <a:srgbClr val="FF0000"/>
            </a:solidFill>
            <a:roun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18" name="矩形 17"/>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OBJECTIVE</a:t>
            </a:r>
            <a:endParaRPr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构建“候选生成—反馈优化</a:t>
            </a:r>
            <a:r>
              <a:rPr>
                <a:sym typeface="+mn-ea"/>
              </a:rPr>
              <a:t>—排序校准</a:t>
            </a:r>
            <a:r>
              <a:rPr sz="2700" b="1">
                <a:solidFill>
                  <a:srgbClr val="102A43"/>
                </a:solidFill>
              </a:rPr>
              <a:t>”的闭环识别流程</a:t>
            </a:r>
            <a:endParaRPr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4" name="矩形 3"/>
          <p:cNvSpPr>
            <a:spLocks noGrp="1"/>
          </p:cNvSpPr>
          <p:nvPr/>
        </p:nvSpPr>
        <p:spPr>
          <a:xfrm>
            <a:off x="857250" y="2286000"/>
            <a:ext cx="2894965" cy="361950"/>
          </a:xfrm>
          <a:prstGeom prst="rect">
            <a:avLst/>
          </a:prstGeom>
          <a:noFill/>
          <a:ln w="0">
            <a:noFill/>
            <a:prstDash val="solid"/>
          </a:ln>
        </p:spPr>
        <p:txBody>
          <a:bodyPr anchor="ctr"/>
          <a:lstStyle/>
          <a:p>
            <a:pPr algn="ctr">
              <a:buNone/>
              <a:defRPr sz="1800" b="1">
                <a:solidFill>
                  <a:srgbClr val="102A43"/>
                </a:solidFill>
              </a:defRPr>
            </a:pPr>
            <a:r>
              <a:rPr sz="1800" b="1">
                <a:solidFill>
                  <a:srgbClr val="102A43"/>
                </a:solidFill>
              </a:rPr>
              <a:t>输入航拍图像与文本提示</a:t>
            </a:r>
            <a:endParaRPr sz="1800" b="1">
              <a:solidFill>
                <a:srgbClr val="102A43"/>
              </a:solidFill>
            </a:endParaRPr>
          </a:p>
        </p:txBody>
      </p:sp>
      <p:sp>
        <p:nvSpPr>
          <p:cNvPr id="5" name="矩形 4"/>
          <p:cNvSpPr>
            <a:spLocks noGrp="1"/>
          </p:cNvSpPr>
          <p:nvPr/>
        </p:nvSpPr>
        <p:spPr>
          <a:xfrm>
            <a:off x="4799965" y="2286000"/>
            <a:ext cx="2381250" cy="361950"/>
          </a:xfrm>
          <a:prstGeom prst="rect">
            <a:avLst/>
          </a:prstGeom>
          <a:noFill/>
          <a:ln w="0">
            <a:noFill/>
            <a:prstDash val="solid"/>
          </a:ln>
        </p:spPr>
        <p:txBody>
          <a:bodyPr anchor="ctr"/>
          <a:lstStyle/>
          <a:p>
            <a:pPr algn="ctr">
              <a:buNone/>
              <a:defRPr sz="1800" b="1">
                <a:solidFill>
                  <a:srgbClr val="102A43"/>
                </a:solidFill>
              </a:defRPr>
            </a:pPr>
            <a:r>
              <a:rPr sz="1800" b="1">
                <a:solidFill>
                  <a:srgbClr val="102A43"/>
                </a:solidFill>
              </a:rPr>
              <a:t>提高小目标候选覆盖</a:t>
            </a:r>
            <a:endParaRPr sz="1800" b="1">
              <a:solidFill>
                <a:srgbClr val="102A43"/>
              </a:solidFill>
            </a:endParaRPr>
          </a:p>
        </p:txBody>
      </p:sp>
      <p:sp>
        <p:nvSpPr>
          <p:cNvPr id="6" name="矩形 5"/>
          <p:cNvSpPr>
            <a:spLocks noGrp="1"/>
          </p:cNvSpPr>
          <p:nvPr/>
        </p:nvSpPr>
        <p:spPr>
          <a:xfrm>
            <a:off x="8228965" y="2286000"/>
            <a:ext cx="3238500" cy="361950"/>
          </a:xfrm>
          <a:prstGeom prst="rect">
            <a:avLst/>
          </a:prstGeom>
          <a:noFill/>
          <a:ln w="0">
            <a:noFill/>
            <a:prstDash val="solid"/>
          </a:ln>
        </p:spPr>
        <p:txBody>
          <a:bodyPr anchor="ctr"/>
          <a:lstStyle/>
          <a:p>
            <a:pPr algn="ctr">
              <a:buNone/>
              <a:defRPr sz="1800" b="1">
                <a:solidFill>
                  <a:srgbClr val="102A43"/>
                </a:solidFill>
              </a:defRPr>
            </a:pPr>
            <a:r>
              <a:rPr sz="1800" b="1">
                <a:solidFill>
                  <a:srgbClr val="102A43"/>
                </a:solidFill>
              </a:rPr>
              <a:t>改善候选排序与输出质量</a:t>
            </a:r>
            <a:endParaRPr sz="1800" b="1">
              <a:solidFill>
                <a:srgbClr val="102A43"/>
              </a:solidFill>
            </a:endParaRPr>
          </a:p>
        </p:txBody>
      </p:sp>
      <p:sp>
        <p:nvSpPr>
          <p:cNvPr id="7" name="直接连接符 6"/>
          <p:cNvSpPr>
            <a:spLocks noGrp="1"/>
          </p:cNvSpPr>
          <p:nvPr/>
        </p:nvSpPr>
        <p:spPr>
          <a:xfrm>
            <a:off x="4085590" y="2476500"/>
            <a:ext cx="571500" cy="0"/>
          </a:xfrm>
          <a:prstGeom prst="line">
            <a:avLst/>
          </a:prstGeom>
          <a:ln w="38100">
            <a:solidFill>
              <a:srgbClr val="18A999"/>
            </a:solidFill>
            <a:prstDash val="solid"/>
          </a:ln>
        </p:spPr>
      </p:sp>
      <p:sp>
        <p:nvSpPr>
          <p:cNvPr id="8" name="直接连接符 7"/>
          <p:cNvSpPr>
            <a:spLocks noGrp="1"/>
          </p:cNvSpPr>
          <p:nvPr/>
        </p:nvSpPr>
        <p:spPr>
          <a:xfrm>
            <a:off x="7228840" y="2476500"/>
            <a:ext cx="762000" cy="0"/>
          </a:xfrm>
          <a:prstGeom prst="line">
            <a:avLst/>
          </a:prstGeom>
          <a:ln w="38100">
            <a:solidFill>
              <a:srgbClr val="18A999"/>
            </a:solidFill>
            <a:prstDash val="solid"/>
          </a:ln>
        </p:spPr>
      </p:sp>
      <p:sp>
        <p:nvSpPr>
          <p:cNvPr id="9" name="圆角矩形 8"/>
          <p:cNvSpPr>
            <a:spLocks noGrp="1"/>
          </p:cNvSpPr>
          <p:nvPr/>
        </p:nvSpPr>
        <p:spPr>
          <a:xfrm>
            <a:off x="1415415" y="2978785"/>
            <a:ext cx="1714500" cy="838200"/>
          </a:xfrm>
          <a:prstGeom prst="roundRect">
            <a:avLst>
              <a:gd name="adj" fmla="val 13636"/>
            </a:avLst>
          </a:prstGeom>
          <a:solidFill>
            <a:srgbClr val="E8F5F2"/>
          </a:solidFill>
          <a:ln w="0">
            <a:noFill/>
            <a:prstDash val="solid"/>
          </a:ln>
        </p:spPr>
      </p:sp>
      <p:sp>
        <p:nvSpPr>
          <p:cNvPr id="10" name="矩形 9"/>
          <p:cNvSpPr>
            <a:spLocks noGrp="1"/>
          </p:cNvSpPr>
          <p:nvPr/>
        </p:nvSpPr>
        <p:spPr>
          <a:xfrm>
            <a:off x="1415415" y="3140710"/>
            <a:ext cx="1714500" cy="476250"/>
          </a:xfrm>
          <a:prstGeom prst="rect">
            <a:avLst/>
          </a:prstGeom>
          <a:noFill/>
          <a:ln w="0">
            <a:noFill/>
            <a:prstDash val="solid"/>
          </a:ln>
        </p:spPr>
        <p:txBody>
          <a:bodyPr anchor="ctr"/>
          <a:lstStyle/>
          <a:p>
            <a:pPr algn="ctr">
              <a:buNone/>
              <a:defRPr sz="1725" b="1">
                <a:solidFill>
                  <a:srgbClr val="102A43"/>
                </a:solidFill>
              </a:defRPr>
            </a:pPr>
            <a:r>
              <a:rPr sz="1725" b="1">
                <a:solidFill>
                  <a:srgbClr val="102A43"/>
                </a:solidFill>
              </a:rPr>
              <a:t>开放词表</a:t>
            </a:r>
            <a:endParaRPr sz="1725" b="1">
              <a:solidFill>
                <a:srgbClr val="102A43"/>
              </a:solidFill>
            </a:endParaRPr>
          </a:p>
          <a:p>
            <a:pPr algn="ctr">
              <a:buNone/>
              <a:defRPr sz="1725" b="1">
                <a:solidFill>
                  <a:srgbClr val="102A43"/>
                </a:solidFill>
              </a:defRPr>
            </a:pPr>
            <a:r>
              <a:rPr sz="1725" b="1">
                <a:solidFill>
                  <a:srgbClr val="102A43"/>
                </a:solidFill>
              </a:rPr>
              <a:t>候选生成</a:t>
            </a:r>
            <a:endParaRPr sz="1725" b="1">
              <a:solidFill>
                <a:srgbClr val="102A43"/>
              </a:solidFill>
            </a:endParaRPr>
          </a:p>
        </p:txBody>
      </p:sp>
      <p:sp>
        <p:nvSpPr>
          <p:cNvPr id="11" name="圆角矩形 10"/>
          <p:cNvSpPr>
            <a:spLocks noGrp="1"/>
          </p:cNvSpPr>
          <p:nvPr/>
        </p:nvSpPr>
        <p:spPr>
          <a:xfrm>
            <a:off x="5160010" y="2994025"/>
            <a:ext cx="1714500" cy="838200"/>
          </a:xfrm>
          <a:prstGeom prst="roundRect">
            <a:avLst>
              <a:gd name="adj" fmla="val 13636"/>
            </a:avLst>
          </a:prstGeom>
          <a:solidFill>
            <a:srgbClr val="E9F4FD"/>
          </a:solidFill>
          <a:ln w="0">
            <a:noFill/>
            <a:prstDash val="solid"/>
          </a:ln>
        </p:spPr>
      </p:sp>
      <p:sp>
        <p:nvSpPr>
          <p:cNvPr id="12" name="矩形 11"/>
          <p:cNvSpPr>
            <a:spLocks noGrp="1"/>
          </p:cNvSpPr>
          <p:nvPr/>
        </p:nvSpPr>
        <p:spPr>
          <a:xfrm>
            <a:off x="5160010" y="3155950"/>
            <a:ext cx="1714500" cy="476250"/>
          </a:xfrm>
          <a:prstGeom prst="rect">
            <a:avLst/>
          </a:prstGeom>
          <a:noFill/>
          <a:ln w="0">
            <a:noFill/>
            <a:prstDash val="solid"/>
          </a:ln>
        </p:spPr>
        <p:txBody>
          <a:bodyPr anchor="ctr"/>
          <a:lstStyle/>
          <a:p>
            <a:pPr algn="ctr">
              <a:buNone/>
              <a:defRPr sz="1725" b="1">
                <a:solidFill>
                  <a:srgbClr val="102A43"/>
                </a:solidFill>
              </a:defRPr>
            </a:pPr>
            <a:r>
              <a:rPr>
                <a:sym typeface="+mn-ea"/>
              </a:rPr>
              <a:t>反馈式</a:t>
            </a:r>
            <a:r>
              <a:rPr sz="1725" b="1">
                <a:solidFill>
                  <a:srgbClr val="102A43"/>
                </a:solidFill>
              </a:rPr>
              <a:t>小目标</a:t>
            </a:r>
            <a:endParaRPr sz="1725" b="1">
              <a:solidFill>
                <a:srgbClr val="102A43"/>
              </a:solidFill>
            </a:endParaRPr>
          </a:p>
          <a:p>
            <a:pPr algn="ctr">
              <a:buNone/>
              <a:defRPr sz="1725" b="1">
                <a:solidFill>
                  <a:srgbClr val="102A43"/>
                </a:solidFill>
              </a:defRPr>
            </a:pPr>
            <a:r>
              <a:rPr sz="1725" b="1">
                <a:solidFill>
                  <a:srgbClr val="102A43"/>
                </a:solidFill>
              </a:rPr>
              <a:t>召回增强</a:t>
            </a:r>
            <a:endParaRPr sz="1725" b="1">
              <a:solidFill>
                <a:srgbClr val="102A43"/>
              </a:solidFill>
            </a:endParaRPr>
          </a:p>
        </p:txBody>
      </p:sp>
      <p:sp>
        <p:nvSpPr>
          <p:cNvPr id="13" name="圆角矩形 12"/>
          <p:cNvSpPr>
            <a:spLocks noGrp="1"/>
          </p:cNvSpPr>
          <p:nvPr/>
        </p:nvSpPr>
        <p:spPr>
          <a:xfrm>
            <a:off x="8760460" y="2981325"/>
            <a:ext cx="2095500" cy="838200"/>
          </a:xfrm>
          <a:prstGeom prst="roundRect">
            <a:avLst>
              <a:gd name="adj" fmla="val 13636"/>
            </a:avLst>
          </a:prstGeom>
          <a:solidFill>
            <a:srgbClr val="FCEFE2"/>
          </a:solidFill>
          <a:ln w="0">
            <a:noFill/>
            <a:prstDash val="solid"/>
          </a:ln>
        </p:spPr>
      </p:sp>
      <p:sp>
        <p:nvSpPr>
          <p:cNvPr id="14" name="矩形 13"/>
          <p:cNvSpPr>
            <a:spLocks noGrp="1"/>
          </p:cNvSpPr>
          <p:nvPr/>
        </p:nvSpPr>
        <p:spPr>
          <a:xfrm>
            <a:off x="8760460" y="3143250"/>
            <a:ext cx="2095500" cy="476250"/>
          </a:xfrm>
          <a:prstGeom prst="rect">
            <a:avLst/>
          </a:prstGeom>
          <a:noFill/>
          <a:ln w="0">
            <a:noFill/>
            <a:prstDash val="solid"/>
          </a:ln>
        </p:spPr>
        <p:txBody>
          <a:bodyPr anchor="ctr"/>
          <a:lstStyle/>
          <a:p>
            <a:pPr algn="ctr">
              <a:buNone/>
              <a:defRPr sz="1725" b="1">
                <a:solidFill>
                  <a:srgbClr val="102A43"/>
                </a:solidFill>
              </a:defRPr>
            </a:pPr>
            <a:r>
              <a:rPr sz="1725" b="1">
                <a:solidFill>
                  <a:srgbClr val="102A43"/>
                </a:solidFill>
              </a:rPr>
              <a:t>富元信息融合</a:t>
            </a:r>
            <a:endParaRPr sz="1725" b="1">
              <a:solidFill>
                <a:srgbClr val="102A43"/>
              </a:solidFill>
            </a:endParaRPr>
          </a:p>
          <a:p>
            <a:pPr algn="ctr">
              <a:buNone/>
              <a:defRPr sz="1725" b="1">
                <a:solidFill>
                  <a:srgbClr val="102A43"/>
                </a:solidFill>
              </a:defRPr>
            </a:pPr>
            <a:r>
              <a:rPr sz="1725" b="1">
                <a:solidFill>
                  <a:srgbClr val="102A43"/>
                </a:solidFill>
              </a:rPr>
              <a:t>校准</a:t>
            </a:r>
            <a:endParaRPr sz="1725" b="1">
              <a:solidFill>
                <a:srgbClr val="102A43"/>
              </a:solidFill>
            </a:endParaRPr>
          </a:p>
        </p:txBody>
      </p:sp>
      <p:sp>
        <p:nvSpPr>
          <p:cNvPr id="15" name="矩形 14"/>
          <p:cNvSpPr>
            <a:spLocks noGrp="1"/>
          </p:cNvSpPr>
          <p:nvPr/>
        </p:nvSpPr>
        <p:spPr>
          <a:xfrm>
            <a:off x="1647190" y="4796790"/>
            <a:ext cx="8686800" cy="400050"/>
          </a:xfrm>
          <a:prstGeom prst="rect">
            <a:avLst/>
          </a:prstGeom>
          <a:noFill/>
          <a:ln w="0">
            <a:noFill/>
            <a:prstDash val="solid"/>
          </a:ln>
        </p:spPr>
        <p:txBody>
          <a:bodyPr anchor="ctr"/>
          <a:lstStyle/>
          <a:p>
            <a:pPr algn="ctr">
              <a:buNone/>
              <a:defRPr sz="1950" b="1">
                <a:solidFill>
                  <a:srgbClr val="18A999"/>
                </a:solidFill>
              </a:defRPr>
            </a:pPr>
            <a:r>
              <a:rPr sz="1950" b="1">
                <a:solidFill>
                  <a:srgbClr val="18A999"/>
                </a:solidFill>
              </a:rPr>
              <a:t>设计原则：冻结基础模型，学习轻量级候选框后处理模块</a:t>
            </a:r>
            <a:endParaRPr sz="1950" b="1">
              <a:solidFill>
                <a:srgbClr val="18A999"/>
              </a:solidFill>
            </a:endParaRPr>
          </a:p>
        </p:txBody>
      </p:sp>
      <p:sp>
        <p:nvSpPr>
          <p:cNvPr id="16" name="矩形 15"/>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7" name="矩形 16"/>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a:t>
            </a:r>
            <a:r>
              <a:rPr lang="en-US" sz="900" b="1">
                <a:solidFill>
                  <a:srgbClr val="18A999"/>
                </a:solidFill>
              </a:rPr>
              <a:t>3</a:t>
            </a:r>
            <a:endParaRPr lang="en-US" sz="900" b="1">
              <a:solidFill>
                <a:srgbClr val="18A999"/>
              </a:solidFill>
            </a:endParaRPr>
          </a:p>
        </p:txBody>
      </p:sp>
      <p:sp>
        <p:nvSpPr>
          <p:cNvPr id="19" name="矩形 18"/>
          <p:cNvSpPr>
            <a:spLocks noGrp="1"/>
          </p:cNvSpPr>
          <p:nvPr/>
        </p:nvSpPr>
        <p:spPr>
          <a:xfrm>
            <a:off x="1453515" y="4055110"/>
            <a:ext cx="323850" cy="38100"/>
          </a:xfrm>
          <a:prstGeom prst="rect">
            <a:avLst/>
          </a:prstGeom>
          <a:solidFill>
            <a:srgbClr val="2AAE9B"/>
          </a:solidFill>
          <a:ln w="0">
            <a:solidFill>
              <a:srgbClr val="2AAE9B"/>
            </a:solidFill>
            <a:prstDash val="solid"/>
          </a:ln>
        </p:spPr>
      </p:sp>
      <p:sp>
        <p:nvSpPr>
          <p:cNvPr id="20" name="矩形 19"/>
          <p:cNvSpPr>
            <a:spLocks noGrp="1"/>
          </p:cNvSpPr>
          <p:nvPr/>
        </p:nvSpPr>
        <p:spPr>
          <a:xfrm>
            <a:off x="1415415" y="4131310"/>
            <a:ext cx="1714500" cy="266700"/>
          </a:xfrm>
          <a:prstGeom prst="rect">
            <a:avLst/>
          </a:prstGeom>
          <a:noFill/>
          <a:ln w="0">
            <a:noFill/>
            <a:prstDash val="solid"/>
          </a:ln>
        </p:spPr>
        <p:txBody>
          <a:bodyPr anchor="ctr"/>
          <a:lstStyle/>
          <a:p>
            <a:pPr>
              <a:buNone/>
              <a:defRPr sz="1125" b="1">
                <a:solidFill>
                  <a:srgbClr val="64748B"/>
                </a:solidFill>
              </a:defRPr>
            </a:pPr>
            <a:r>
              <a:rPr sz="1200" b="1">
                <a:solidFill>
                  <a:srgbClr val="64748B"/>
                </a:solidFill>
              </a:rPr>
              <a:t>基础类别 + 场景别名</a:t>
            </a:r>
            <a:endParaRPr sz="1200" b="1">
              <a:solidFill>
                <a:srgbClr val="64748B"/>
              </a:solidFill>
            </a:endParaRPr>
          </a:p>
        </p:txBody>
      </p:sp>
      <p:sp>
        <p:nvSpPr>
          <p:cNvPr id="21" name="矩形 20"/>
          <p:cNvSpPr>
            <a:spLocks noGrp="1"/>
          </p:cNvSpPr>
          <p:nvPr/>
        </p:nvSpPr>
        <p:spPr>
          <a:xfrm>
            <a:off x="5188585" y="4070350"/>
            <a:ext cx="323850" cy="38100"/>
          </a:xfrm>
          <a:prstGeom prst="rect">
            <a:avLst/>
          </a:prstGeom>
          <a:solidFill>
            <a:srgbClr val="3988C9"/>
          </a:solidFill>
          <a:ln w="0">
            <a:solidFill>
              <a:srgbClr val="3988C9"/>
            </a:solidFill>
            <a:prstDash val="solid"/>
          </a:ln>
        </p:spPr>
      </p:sp>
      <p:sp>
        <p:nvSpPr>
          <p:cNvPr id="22" name="矩形 21"/>
          <p:cNvSpPr>
            <a:spLocks noGrp="1"/>
          </p:cNvSpPr>
          <p:nvPr/>
        </p:nvSpPr>
        <p:spPr>
          <a:xfrm>
            <a:off x="5150485" y="4221480"/>
            <a:ext cx="2381250" cy="266700"/>
          </a:xfrm>
          <a:prstGeom prst="rect">
            <a:avLst/>
          </a:prstGeom>
          <a:noFill/>
          <a:ln w="0">
            <a:noFill/>
            <a:prstDash val="solid"/>
          </a:ln>
        </p:spPr>
        <p:txBody>
          <a:bodyPr anchor="ctr"/>
          <a:lstStyle/>
          <a:p>
            <a:pPr>
              <a:buNone/>
              <a:defRPr sz="1125" b="1">
                <a:solidFill>
                  <a:srgbClr val="64748B"/>
                </a:solidFill>
              </a:defRPr>
            </a:pPr>
            <a:r>
              <a:rPr sz="1125" b="1">
                <a:solidFill>
                  <a:srgbClr val="64748B"/>
                </a:solidFill>
              </a:rPr>
              <a:t>候选框 + 类别 + 分数 + 来源</a:t>
            </a:r>
            <a:br>
              <a:rPr sz="1125" b="1">
                <a:solidFill>
                  <a:srgbClr val="64748B"/>
                </a:solidFill>
              </a:rPr>
            </a:br>
            <a:r>
              <a:rPr lang="en-US" sz="1125" b="1">
                <a:solidFill>
                  <a:srgbClr val="64748B"/>
                </a:solidFill>
              </a:rPr>
              <a:t>RL_loop</a:t>
            </a:r>
            <a:endParaRPr lang="en-US" sz="1125" b="1">
              <a:solidFill>
                <a:srgbClr val="64748B"/>
              </a:solidFill>
            </a:endParaRPr>
          </a:p>
        </p:txBody>
      </p:sp>
      <p:sp>
        <p:nvSpPr>
          <p:cNvPr id="23" name="矩形 22"/>
          <p:cNvSpPr>
            <a:spLocks noGrp="1"/>
          </p:cNvSpPr>
          <p:nvPr/>
        </p:nvSpPr>
        <p:spPr>
          <a:xfrm>
            <a:off x="8798560" y="4057650"/>
            <a:ext cx="323850" cy="38100"/>
          </a:xfrm>
          <a:prstGeom prst="rect">
            <a:avLst/>
          </a:prstGeom>
          <a:solidFill>
            <a:srgbClr val="F49A45"/>
          </a:solidFill>
          <a:ln w="0">
            <a:solidFill>
              <a:srgbClr val="F49A45"/>
            </a:solidFill>
            <a:prstDash val="solid"/>
          </a:ln>
        </p:spPr>
      </p:sp>
      <p:sp>
        <p:nvSpPr>
          <p:cNvPr id="24" name="矩形 23"/>
          <p:cNvSpPr>
            <a:spLocks noGrp="1"/>
          </p:cNvSpPr>
          <p:nvPr/>
        </p:nvSpPr>
        <p:spPr>
          <a:xfrm>
            <a:off x="8760460" y="4133850"/>
            <a:ext cx="2095500" cy="266700"/>
          </a:xfrm>
          <a:prstGeom prst="rect">
            <a:avLst/>
          </a:prstGeom>
          <a:noFill/>
          <a:ln w="0">
            <a:noFill/>
            <a:prstDash val="solid"/>
          </a:ln>
        </p:spPr>
        <p:txBody>
          <a:bodyPr anchor="ctr"/>
          <a:lstStyle/>
          <a:p>
            <a:pPr>
              <a:buNone/>
              <a:defRPr sz="1125" b="1">
                <a:solidFill>
                  <a:srgbClr val="64748B"/>
                </a:solidFill>
              </a:defRPr>
            </a:pPr>
            <a:r>
              <a:rPr sz="1125" b="1">
                <a:solidFill>
                  <a:srgbClr val="64748B"/>
                </a:solidFill>
              </a:rPr>
              <a:t>重排序分数 + 最终检测输出</a:t>
            </a:r>
            <a:endParaRPr sz="1125" b="1">
              <a:solidFill>
                <a:srgbClr val="64748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7" name="矩形 6"/>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FRAMEWORK</a:t>
            </a:r>
            <a:endParaRPr sz="975" b="1">
              <a:solidFill>
                <a:srgbClr val="18A999"/>
              </a:solidFill>
            </a:endParaRPr>
          </a:p>
        </p:txBody>
      </p:sp>
      <p:sp>
        <p:nvSpPr>
          <p:cNvPr id="3" name="直接连接符 2"/>
          <p:cNvSpPr>
            <a:spLocks noGrp="1"/>
          </p:cNvSpPr>
          <p:nvPr/>
        </p:nvSpPr>
        <p:spPr>
          <a:xfrm>
            <a:off x="695325" y="765175"/>
            <a:ext cx="10820400" cy="0"/>
          </a:xfrm>
          <a:prstGeom prst="line">
            <a:avLst/>
          </a:prstGeom>
          <a:ln w="9525">
            <a:solidFill>
              <a:srgbClr val="D7E1EA"/>
            </a:solidFill>
            <a:prstDash val="solid"/>
          </a:ln>
        </p:spPr>
      </p:sp>
      <p:sp>
        <p:nvSpPr>
          <p:cNvPr id="5" name="矩形 4"/>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6" name="矩形 5"/>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a:t>
            </a:r>
            <a:r>
              <a:rPr lang="en-US" sz="900" b="1">
                <a:solidFill>
                  <a:srgbClr val="18A999"/>
                </a:solidFill>
              </a:rPr>
              <a:t>4</a:t>
            </a:r>
            <a:endParaRPr lang="en-US" sz="900" b="1">
              <a:solidFill>
                <a:srgbClr val="18A999"/>
              </a:solidFill>
            </a:endParaRPr>
          </a:p>
        </p:txBody>
      </p:sp>
      <p:pic>
        <p:nvPicPr>
          <p:cNvPr id="2" name="图片 1" descr="图片8"/>
          <p:cNvPicPr>
            <a:picLocks noChangeAspect="1"/>
          </p:cNvPicPr>
          <p:nvPr/>
        </p:nvPicPr>
        <p:blipFill>
          <a:blip r:embed="rId1"/>
          <a:stretch>
            <a:fillRect/>
          </a:stretch>
        </p:blipFill>
        <p:spPr>
          <a:xfrm>
            <a:off x="1631950" y="116205"/>
            <a:ext cx="9185275" cy="64173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20" name="矩形 19"/>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CANDIDATE GENERATION</a:t>
            </a:r>
            <a:endParaRPr sz="975" b="1">
              <a:solidFill>
                <a:srgbClr val="18A999"/>
              </a:solidFill>
            </a:endParaRPr>
          </a:p>
        </p:txBody>
      </p:sp>
      <p:sp>
        <p:nvSpPr>
          <p:cNvPr id="2" name="矩形 1"/>
          <p:cNvSpPr>
            <a:spLocks noGrp="1"/>
          </p:cNvSpPr>
          <p:nvPr/>
        </p:nvSpPr>
        <p:spPr>
          <a:xfrm>
            <a:off x="666750" y="666750"/>
            <a:ext cx="10858500" cy="476250"/>
          </a:xfrm>
          <a:prstGeom prst="rect">
            <a:avLst/>
          </a:prstGeom>
          <a:noFill/>
          <a:ln w="0">
            <a:noFill/>
            <a:prstDash val="solid"/>
          </a:ln>
        </p:spPr>
        <p:txBody>
          <a:bodyPr anchor="ctr"/>
          <a:lstStyle/>
          <a:p>
            <a:pPr algn="l">
              <a:buNone/>
              <a:defRPr sz="2700" b="1">
                <a:solidFill>
                  <a:srgbClr val="102A43"/>
                </a:solidFill>
              </a:defRPr>
            </a:pPr>
            <a:r>
              <a:rPr lang="zh-CN" sz="2700" b="1">
                <a:solidFill>
                  <a:srgbClr val="102A43"/>
                </a:solidFill>
              </a:rPr>
              <a:t>语义扩展和动作空间生</a:t>
            </a:r>
            <a:r>
              <a:rPr lang="zh-CN" sz="2700" b="1">
                <a:solidFill>
                  <a:srgbClr val="102A43"/>
                </a:solidFill>
              </a:rPr>
              <a:t>成</a:t>
            </a:r>
            <a:endParaRPr lang="zh-CN" sz="2700" b="1">
              <a:solidFill>
                <a:srgbClr val="102A43"/>
              </a:solidFill>
            </a:endParaRPr>
          </a:p>
        </p:txBody>
      </p:sp>
      <p:sp>
        <p:nvSpPr>
          <p:cNvPr id="3" name="直接连接符 2"/>
          <p:cNvSpPr>
            <a:spLocks noGrp="1"/>
          </p:cNvSpPr>
          <p:nvPr/>
        </p:nvSpPr>
        <p:spPr>
          <a:xfrm>
            <a:off x="623570" y="1268730"/>
            <a:ext cx="10820400" cy="0"/>
          </a:xfrm>
          <a:prstGeom prst="line">
            <a:avLst/>
          </a:prstGeom>
          <a:ln w="9525">
            <a:solidFill>
              <a:srgbClr val="D7E1EA"/>
            </a:solidFill>
            <a:prstDash val="solid"/>
          </a:ln>
        </p:spPr>
      </p:sp>
      <p:sp>
        <p:nvSpPr>
          <p:cNvPr id="18" name="矩形 17"/>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9" name="矩形 18"/>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a:t>
            </a:r>
            <a:r>
              <a:rPr lang="en-US" sz="900" b="1">
                <a:solidFill>
                  <a:srgbClr val="18A999"/>
                </a:solidFill>
              </a:rPr>
              <a:t>5</a:t>
            </a:r>
            <a:endParaRPr lang="en-US" sz="900" b="1">
              <a:solidFill>
                <a:srgbClr val="18A999"/>
              </a:solidFill>
            </a:endParaRPr>
          </a:p>
        </p:txBody>
      </p:sp>
      <p:sp>
        <p:nvSpPr>
          <p:cNvPr id="4" name="文本框 3"/>
          <p:cNvSpPr txBox="1"/>
          <p:nvPr/>
        </p:nvSpPr>
        <p:spPr>
          <a:xfrm>
            <a:off x="685800" y="2204720"/>
            <a:ext cx="3369310" cy="1086485"/>
          </a:xfrm>
          <a:prstGeom prst="rect">
            <a:avLst/>
          </a:prstGeom>
        </p:spPr>
        <p:txBody>
          <a:bodyPr>
            <a:noAutofit/>
          </a:bodyPr>
          <a:p>
            <a:pPr marL="0" indent="0" algn="l"/>
            <a:r>
              <a:rPr lang="en-US" altLang="zh-CN" sz="2400" b="1" i="0">
                <a:solidFill>
                  <a:srgbClr val="555555"/>
                </a:solidFill>
                <a:latin typeface="Optima-Regular"/>
                <a:ea typeface="Optima-Regular"/>
              </a:rPr>
              <a:t>Query</a:t>
            </a:r>
            <a:endParaRPr lang="en-US" altLang="zh-CN" sz="2400" b="1" i="0">
              <a:solidFill>
                <a:srgbClr val="555555"/>
              </a:solidFill>
              <a:latin typeface="Optima-Regular"/>
              <a:ea typeface="Optima-Regular"/>
            </a:endParaRPr>
          </a:p>
          <a:p>
            <a:pPr marL="0" indent="0" algn="l"/>
            <a:r>
              <a:rPr lang="en-US" altLang="zh-CN" sz="1600" b="0" i="0">
                <a:solidFill>
                  <a:srgbClr val="555555"/>
                </a:solidFill>
                <a:latin typeface="Optima-Regular"/>
                <a:ea typeface="Optima-Regular"/>
              </a:rPr>
              <a:t>A black-clad cyclist is crossing the intersection. There is a red tricycle at the top left.</a:t>
            </a:r>
            <a:endParaRPr lang="en-US" altLang="zh-CN" sz="1600" b="0" i="0">
              <a:solidFill>
                <a:srgbClr val="555555"/>
              </a:solidFill>
              <a:latin typeface="Optima-Regular"/>
              <a:ea typeface="Optima-Regular"/>
            </a:endParaRPr>
          </a:p>
        </p:txBody>
      </p:sp>
      <p:cxnSp>
        <p:nvCxnSpPr>
          <p:cNvPr id="7" name="直接箭头连接符 6"/>
          <p:cNvCxnSpPr/>
          <p:nvPr/>
        </p:nvCxnSpPr>
        <p:spPr>
          <a:xfrm>
            <a:off x="4511675" y="3068955"/>
            <a:ext cx="201612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6600190" y="1508760"/>
            <a:ext cx="5318125" cy="3909695"/>
          </a:xfrm>
          <a:prstGeom prst="rect">
            <a:avLst/>
          </a:prstGeom>
        </p:spPr>
        <p:txBody>
          <a:bodyPr wrap="square">
            <a:noAutofit/>
          </a:bodyPr>
          <a:p>
            <a:pPr marL="63500" indent="0" algn="l">
              <a:spcBef>
                <a:spcPts val="500"/>
              </a:spcBef>
              <a:spcAft>
                <a:spcPts val="500"/>
              </a:spcAft>
              <a:buNone/>
            </a:pPr>
            <a:r>
              <a:rPr lang="en-US" altLang="zh-CN" sz="2000" b="1" i="0">
                <a:solidFill>
                  <a:srgbClr val="333333"/>
                </a:solidFill>
                <a:latin typeface="Optima-Regular"/>
                <a:ea typeface="Optima-Regular"/>
              </a:rPr>
              <a:t>Extended prompt</a:t>
            </a:r>
            <a:endParaRPr lang="en-US" altLang="zh-CN" sz="2000" b="1"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black-clad cyclist crossing an intersection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cyclist in dark clothing moving through an intersection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person in black attire crossing a road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cyclist wearing dark clothing navigating an intersection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cyclist in dark clothing traversing an intersection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cyclist in dark clothing crossing a street </a:t>
            </a:r>
            <a:endParaRPr lang="en-US" altLang="zh-CN" sz="1400" b="0" i="0">
              <a:solidFill>
                <a:srgbClr val="333333"/>
              </a:solidFill>
              <a:latin typeface="Optima-Regular"/>
              <a:ea typeface="Optima-Regular"/>
            </a:endParaRPr>
          </a:p>
          <a:p>
            <a:pPr marL="63500" indent="0" algn="l">
              <a:spcBef>
                <a:spcPts val="500"/>
              </a:spcBef>
              <a:spcAft>
                <a:spcPts val="500"/>
              </a:spcAft>
              <a:buAutoNum type="arabicPeriod"/>
            </a:pPr>
            <a:r>
              <a:rPr lang="en-US" altLang="zh-CN" sz="1400" b="0" i="0">
                <a:solidFill>
                  <a:srgbClr val="333333"/>
                </a:solidFill>
                <a:latin typeface="Optima-Regular"/>
                <a:ea typeface="Optima-Regular"/>
              </a:rPr>
              <a:t>a cyclist in dark clothing crossing a road </a:t>
            </a:r>
            <a:endParaRPr lang="en-US" altLang="zh-CN" sz="1400" b="0" i="0">
              <a:solidFill>
                <a:srgbClr val="333333"/>
              </a:solidFill>
              <a:latin typeface="Optima-Regular"/>
              <a:ea typeface="Optima-Regular"/>
            </a:endParaRPr>
          </a:p>
        </p:txBody>
      </p:sp>
      <p:pic>
        <p:nvPicPr>
          <p:cNvPr id="9" name="图片 8" descr="qwen-colo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88255" y="2132965"/>
            <a:ext cx="821690" cy="8216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CANDIDATE GENERATION</a:t>
            </a:r>
            <a:endParaRPr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lang="zh-CN" sz="2700" b="1">
                <a:solidFill>
                  <a:srgbClr val="102A43"/>
                </a:solidFill>
              </a:rPr>
              <a:t>语义扩展和动作空间生</a:t>
            </a:r>
            <a:r>
              <a:rPr lang="zh-CN" sz="2700" b="1">
                <a:solidFill>
                  <a:srgbClr val="102A43"/>
                </a:solidFill>
              </a:rPr>
              <a:t>成</a:t>
            </a:r>
            <a:endParaRPr lang="zh-CN" sz="2700" b="1">
              <a:solidFill>
                <a:srgbClr val="102A43"/>
              </a:solidFill>
            </a:endParaRPr>
          </a:p>
        </p:txBody>
      </p:sp>
      <p:sp>
        <p:nvSpPr>
          <p:cNvPr id="3" name="直接连接符 2"/>
          <p:cNvSpPr>
            <a:spLocks noGrp="1"/>
          </p:cNvSpPr>
          <p:nvPr/>
        </p:nvSpPr>
        <p:spPr>
          <a:xfrm>
            <a:off x="623570" y="1268730"/>
            <a:ext cx="10820400" cy="0"/>
          </a:xfrm>
          <a:prstGeom prst="line">
            <a:avLst/>
          </a:prstGeom>
          <a:ln w="9525">
            <a:solidFill>
              <a:srgbClr val="D7E1EA"/>
            </a:solidFill>
            <a:prstDash val="solid"/>
          </a:ln>
        </p:spPr>
      </p:sp>
      <p:sp>
        <p:nvSpPr>
          <p:cNvPr id="18" name="矩形 17"/>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9" name="矩形 18"/>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a:t>
            </a:r>
            <a:r>
              <a:rPr lang="en-US" sz="900" b="1">
                <a:solidFill>
                  <a:srgbClr val="18A999"/>
                </a:solidFill>
              </a:rPr>
              <a:t>5</a:t>
            </a:r>
            <a:endParaRPr lang="en-US" sz="900" b="1">
              <a:solidFill>
                <a:srgbClr val="18A999"/>
              </a:solidFill>
            </a:endParaRPr>
          </a:p>
        </p:txBody>
      </p:sp>
      <p:graphicFrame>
        <p:nvGraphicFramePr>
          <p:cNvPr id="5" name="表格 4"/>
          <p:cNvGraphicFramePr/>
          <p:nvPr>
            <p:custDataLst>
              <p:tags r:id="rId1"/>
            </p:custDataLst>
          </p:nvPr>
        </p:nvGraphicFramePr>
        <p:xfrm>
          <a:off x="685800" y="1484630"/>
          <a:ext cx="10738485" cy="3017520"/>
        </p:xfrm>
        <a:graphic>
          <a:graphicData uri="http://schemas.openxmlformats.org/drawingml/2006/table">
            <a:tbl>
              <a:tblPr firstRow="1" bandRow="1">
                <a:tableStyleId>{5C22544A-7EE6-4342-B048-85BDC9FD1C3A}</a:tableStyleId>
              </a:tblPr>
              <a:tblGrid>
                <a:gridCol w="3688715"/>
                <a:gridCol w="3512185"/>
                <a:gridCol w="3537585"/>
              </a:tblGrid>
              <a:tr h="381000">
                <a:tc>
                  <a:txBody>
                    <a:bodyPr/>
                    <a:p>
                      <a:pPr>
                        <a:buNone/>
                      </a:pPr>
                      <a:r>
                        <a:rPr lang="zh-CN" altLang="en-US" sz="2400"/>
                        <a:t>方法</a:t>
                      </a:r>
                      <a:endParaRPr lang="zh-CN" altLang="en-US" sz="2400"/>
                    </a:p>
                  </a:txBody>
                  <a:tcPr/>
                </a:tc>
                <a:tc>
                  <a:txBody>
                    <a:bodyPr/>
                    <a:p>
                      <a:pPr>
                        <a:buNone/>
                      </a:pPr>
                      <a:r>
                        <a:rPr lang="zh-CN" altLang="en-US" sz="2400"/>
                        <a:t>候选总数</a:t>
                      </a:r>
                      <a:endParaRPr lang="zh-CN" altLang="en-US" sz="2400"/>
                    </a:p>
                  </a:txBody>
                  <a:tcPr/>
                </a:tc>
                <a:tc>
                  <a:txBody>
                    <a:bodyPr/>
                    <a:p>
                      <a:pPr>
                        <a:buNone/>
                      </a:pPr>
                      <a:r>
                        <a:rPr lang="en-US" altLang="zh-CN" sz="2400"/>
                        <a:t>GT</a:t>
                      </a:r>
                      <a:r>
                        <a:rPr lang="zh-CN" altLang="en-US" sz="2400"/>
                        <a:t>覆盖率</a:t>
                      </a:r>
                      <a:endParaRPr lang="zh-CN" altLang="en-US" sz="2400"/>
                    </a:p>
                  </a:txBody>
                  <a:tcPr/>
                </a:tc>
              </a:tr>
              <a:tr h="381000">
                <a:tc>
                  <a:txBody>
                    <a:bodyPr/>
                    <a:p>
                      <a:pPr>
                        <a:buNone/>
                      </a:pPr>
                      <a:r>
                        <a:rPr lang="en-US" altLang="zh-CN" sz="2000">
                          <a:latin typeface="Adobe Gothic Std B" panose="020B0800000000000000" charset="-128"/>
                          <a:ea typeface="Adobe Gothic Std B" panose="020B0800000000000000" charset="-128"/>
                        </a:rPr>
                        <a:t>only_query</a:t>
                      </a:r>
                      <a:endParaRPr lang="en-US" altLang="zh-CN" sz="2000">
                        <a:latin typeface="Adobe Gothic Std B" panose="020B0800000000000000" charset="-128"/>
                        <a:ea typeface="Adobe Gothic Std B" panose="020B0800000000000000" charset="-128"/>
                      </a:endParaRPr>
                    </a:p>
                  </a:txBody>
                  <a:tcPr/>
                </a:tc>
                <a:tc>
                  <a:txBody>
                    <a:bodyPr/>
                    <a:p>
                      <a:pPr>
                        <a:buNone/>
                      </a:pPr>
                      <a:r>
                        <a:rPr lang="en-US" altLang="zh-CN" sz="2400"/>
                        <a:t>9413</a:t>
                      </a:r>
                      <a:endParaRPr lang="en-US" altLang="zh-CN" sz="2400"/>
                    </a:p>
                  </a:txBody>
                  <a:tcPr/>
                </a:tc>
                <a:tc>
                  <a:txBody>
                    <a:bodyPr/>
                    <a:p>
                      <a:pPr>
                        <a:buNone/>
                      </a:pPr>
                      <a:r>
                        <a:rPr lang="en-US" altLang="zh-CN" sz="2400"/>
                        <a:t>38.53%</a:t>
                      </a:r>
                      <a:endParaRPr lang="en-US" altLang="zh-CN" sz="2400"/>
                    </a:p>
                  </a:txBody>
                  <a:tcPr/>
                </a:tc>
              </a:tr>
              <a:tr h="381000">
                <a:tc>
                  <a:txBody>
                    <a:bodyPr/>
                    <a:p>
                      <a:pPr>
                        <a:buNone/>
                      </a:pPr>
                      <a:r>
                        <a:rPr lang="en-US" altLang="zh-CN" sz="2000">
                          <a:latin typeface="Adobe Gothic Std B" panose="020B0800000000000000" charset="-128"/>
                          <a:ea typeface="Adobe Gothic Std B" panose="020B0800000000000000" charset="-128"/>
                          <a:cs typeface="华文中宋" panose="02010600040101010101" charset="-122"/>
                        </a:rPr>
                        <a:t>Qwen_prompt </a:t>
                      </a:r>
                      <a:r>
                        <a:rPr lang="zh-CN" altLang="en-US" sz="2000">
                          <a:latin typeface="华文中宋" panose="02010600040101010101" charset="-122"/>
                          <a:ea typeface="华文中宋" panose="02010600040101010101" charset="-122"/>
                          <a:cs typeface="华文中宋" panose="02010600040101010101" charset="-122"/>
                        </a:rPr>
                        <a:t>一次性候选</a:t>
                      </a:r>
                      <a:endParaRPr lang="zh-CN" altLang="en-US" sz="2000">
                        <a:latin typeface="华文中宋" panose="02010600040101010101" charset="-122"/>
                        <a:ea typeface="华文中宋" panose="02010600040101010101" charset="-122"/>
                        <a:cs typeface="华文中宋" panose="02010600040101010101" charset="-122"/>
                      </a:endParaRPr>
                    </a:p>
                  </a:txBody>
                  <a:tcPr/>
                </a:tc>
                <a:tc>
                  <a:txBody>
                    <a:bodyPr/>
                    <a:p>
                      <a:pPr>
                        <a:buNone/>
                      </a:pPr>
                      <a:r>
                        <a:rPr lang="en-US" altLang="zh-CN" sz="2400"/>
                        <a:t>10837</a:t>
                      </a:r>
                      <a:endParaRPr lang="en-US" altLang="zh-CN" sz="2400"/>
                    </a:p>
                  </a:txBody>
                  <a:tcPr/>
                </a:tc>
                <a:tc>
                  <a:txBody>
                    <a:bodyPr/>
                    <a:p>
                      <a:pPr>
                        <a:buNone/>
                      </a:pPr>
                      <a:r>
                        <a:rPr lang="en-US" altLang="zh-CN" sz="2400"/>
                        <a:t>36.18%</a:t>
                      </a:r>
                      <a:endParaRPr lang="en-US" altLang="zh-CN" sz="2400"/>
                    </a:p>
                  </a:txBody>
                  <a:tcPr/>
                </a:tc>
              </a:tr>
              <a:tr h="381000">
                <a:tc>
                  <a:txBody>
                    <a:bodyPr/>
                    <a:p>
                      <a:pPr>
                        <a:buNone/>
                      </a:pPr>
                      <a:r>
                        <a:rPr lang="en-US" altLang="zh-CN" sz="2000">
                          <a:latin typeface="Adobe Gothic Std B" panose="020B0800000000000000" charset="-128"/>
                          <a:ea typeface="Adobe Gothic Std B" panose="020B0800000000000000" charset="-128"/>
                          <a:cs typeface="华文中宋" panose="02010600040101010101" charset="-122"/>
                        </a:rPr>
                        <a:t>Qwen_prompt</a:t>
                      </a:r>
                      <a:r>
                        <a:rPr lang="en-US" altLang="zh-CN" sz="2000">
                          <a:latin typeface="华文中宋" panose="02010600040101010101" charset="-122"/>
                          <a:ea typeface="华文中宋" panose="02010600040101010101" charset="-122"/>
                          <a:cs typeface="华文中宋" panose="02010600040101010101" charset="-122"/>
                        </a:rPr>
                        <a:t> </a:t>
                      </a:r>
                      <a:r>
                        <a:rPr lang="zh-CN" altLang="en-US" sz="2000">
                          <a:latin typeface="华文中宋" panose="02010600040101010101" charset="-122"/>
                          <a:ea typeface="华文中宋" panose="02010600040101010101" charset="-122"/>
                          <a:cs typeface="华文中宋" panose="02010600040101010101" charset="-122"/>
                        </a:rPr>
                        <a:t>分批候选</a:t>
                      </a:r>
                      <a:endParaRPr lang="zh-CN" altLang="en-US" sz="2000">
                        <a:latin typeface="华文中宋" panose="02010600040101010101" charset="-122"/>
                        <a:ea typeface="华文中宋" panose="02010600040101010101" charset="-122"/>
                        <a:cs typeface="华文中宋" panose="02010600040101010101" charset="-122"/>
                      </a:endParaRPr>
                    </a:p>
                  </a:txBody>
                  <a:tcPr/>
                </a:tc>
                <a:tc>
                  <a:txBody>
                    <a:bodyPr/>
                    <a:p>
                      <a:pPr>
                        <a:buNone/>
                      </a:pPr>
                      <a:r>
                        <a:rPr lang="en-US" altLang="zh-CN" sz="2400"/>
                        <a:t>124492</a:t>
                      </a:r>
                      <a:endParaRPr lang="en-US" altLang="zh-CN" sz="2400"/>
                    </a:p>
                  </a:txBody>
                  <a:tcPr/>
                </a:tc>
                <a:tc>
                  <a:txBody>
                    <a:bodyPr/>
                    <a:p>
                      <a:pPr>
                        <a:buNone/>
                      </a:pPr>
                      <a:r>
                        <a:rPr lang="en-US" altLang="zh-CN" sz="2400">
                          <a:sym typeface="+mn-ea"/>
                        </a:rPr>
                        <a:t>51.22%</a:t>
                      </a:r>
                      <a:endParaRPr lang="en-US" altLang="zh-CN" sz="2400">
                        <a:sym typeface="+mn-ea"/>
                      </a:endParaRPr>
                    </a:p>
                  </a:txBody>
                  <a:tcPr/>
                </a:tc>
              </a:tr>
              <a:tr h="381000">
                <a:tc>
                  <a:txBody>
                    <a:bodyPr/>
                    <a:p>
                      <a:pPr>
                        <a:buNone/>
                      </a:pPr>
                      <a:r>
                        <a:rPr lang="en-US" altLang="zh-CN" sz="2000">
                          <a:latin typeface="Adobe Gothic Std B" panose="020B0800000000000000" charset="-128"/>
                          <a:ea typeface="Adobe Gothic Std B" panose="020B0800000000000000" charset="-128"/>
                          <a:cs typeface="华文中宋" panose="02010600040101010101" charset="-122"/>
                        </a:rPr>
                        <a:t>Qwen_prompt+RL</a:t>
                      </a:r>
                      <a:r>
                        <a:rPr lang="zh-CN" altLang="en-US" sz="2000">
                          <a:latin typeface="华文中宋" panose="02010600040101010101" charset="-122"/>
                          <a:ea typeface="华文中宋" panose="02010600040101010101" charset="-122"/>
                          <a:cs typeface="华文中宋" panose="02010600040101010101" charset="-122"/>
                        </a:rPr>
                        <a:t>动态输出</a:t>
                      </a:r>
                      <a:endParaRPr lang="zh-CN" altLang="en-US" sz="2000">
                        <a:latin typeface="华文中宋" panose="02010600040101010101" charset="-122"/>
                        <a:ea typeface="华文中宋" panose="02010600040101010101" charset="-122"/>
                        <a:cs typeface="华文中宋" panose="02010600040101010101" charset="-122"/>
                      </a:endParaRPr>
                    </a:p>
                  </a:txBody>
                  <a:tcPr/>
                </a:tc>
                <a:tc>
                  <a:txBody>
                    <a:bodyPr/>
                    <a:p>
                      <a:pPr>
                        <a:buNone/>
                      </a:pPr>
                      <a:r>
                        <a:rPr lang="en-US" altLang="zh-CN" sz="2400"/>
                        <a:t>35869</a:t>
                      </a:r>
                      <a:endParaRPr lang="en-US" altLang="zh-CN" sz="2400"/>
                    </a:p>
                  </a:txBody>
                  <a:tcPr/>
                </a:tc>
                <a:tc>
                  <a:txBody>
                    <a:bodyPr/>
                    <a:p>
                      <a:pPr>
                        <a:buNone/>
                      </a:pPr>
                      <a:r>
                        <a:rPr lang="en-US" altLang="zh-CN" sz="2400"/>
                        <a:t>50.38%</a:t>
                      </a:r>
                      <a:endParaRPr lang="en-US" altLang="zh-CN" sz="2400"/>
                    </a:p>
                  </a:txBody>
                  <a:tcPr/>
                </a:tc>
              </a:tr>
            </a:tbl>
          </a:graphicData>
        </a:graphic>
      </p:graphicFrame>
      <p:sp>
        <p:nvSpPr>
          <p:cNvPr id="6" name="文本框 5"/>
          <p:cNvSpPr txBox="1"/>
          <p:nvPr/>
        </p:nvSpPr>
        <p:spPr>
          <a:xfrm>
            <a:off x="8239125" y="3789045"/>
            <a:ext cx="3185160" cy="284480"/>
          </a:xfrm>
          <a:prstGeom prst="rect">
            <a:avLst/>
          </a:prstGeom>
          <a:noFill/>
        </p:spPr>
        <p:txBody>
          <a:bodyPr wrap="square" rtlCol="0">
            <a:noAutofit/>
          </a:bodyPr>
          <a:p>
            <a:r>
              <a:rPr lang="zh-CN" altLang="en-US" sz="1600">
                <a:solidFill>
                  <a:schemeClr val="bg2">
                    <a:lumMod val="50000"/>
                  </a:schemeClr>
                </a:solidFill>
                <a:latin typeface="华文细黑" panose="02010600040101010101" charset="-122"/>
                <a:ea typeface="华文细黑" panose="02010600040101010101" charset="-122"/>
                <a:cs typeface="华文细黑" panose="02010600040101010101" charset="-122"/>
              </a:rPr>
              <a:t>实验结果为测试集中的</a:t>
            </a:r>
            <a:r>
              <a:rPr lang="en-US" altLang="zh-CN" sz="1600">
                <a:solidFill>
                  <a:schemeClr val="bg2">
                    <a:lumMod val="50000"/>
                  </a:schemeClr>
                </a:solidFill>
                <a:latin typeface="华文细黑" panose="02010600040101010101" charset="-122"/>
                <a:ea typeface="华文细黑" panose="02010600040101010101" charset="-122"/>
                <a:cs typeface="华文细黑" panose="02010600040101010101" charset="-122"/>
              </a:rPr>
              <a:t>150</a:t>
            </a:r>
            <a:r>
              <a:rPr lang="zh-CN" altLang="en-US" sz="1600">
                <a:solidFill>
                  <a:schemeClr val="bg2">
                    <a:lumMod val="50000"/>
                  </a:schemeClr>
                </a:solidFill>
                <a:latin typeface="华文细黑" panose="02010600040101010101" charset="-122"/>
                <a:ea typeface="华文细黑" panose="02010600040101010101" charset="-122"/>
                <a:cs typeface="华文细黑" panose="02010600040101010101" charset="-122"/>
              </a:rPr>
              <a:t>张图片</a:t>
            </a:r>
            <a:endParaRPr lang="zh-CN" altLang="en-US" sz="1600">
              <a:solidFill>
                <a:schemeClr val="bg2">
                  <a:lumMod val="50000"/>
                </a:schemeClr>
              </a:solidFill>
              <a:latin typeface="华文细黑" panose="02010600040101010101" charset="-122"/>
              <a:ea typeface="华文细黑" panose="02010600040101010101" charset="-122"/>
              <a:cs typeface="华文细黑" panose="02010600040101010101" charset="-122"/>
            </a:endParaRPr>
          </a:p>
        </p:txBody>
      </p:sp>
      <p:sp>
        <p:nvSpPr>
          <p:cNvPr id="4" name="Rounded Rectangle 3"/>
          <p:cNvSpPr/>
          <p:nvPr/>
        </p:nvSpPr>
        <p:spPr>
          <a:xfrm>
            <a:off x="479425" y="4626610"/>
            <a:ext cx="3246120" cy="1234440"/>
          </a:xfrm>
          <a:prstGeom prst="roundRect">
            <a:avLst/>
          </a:prstGeom>
          <a:noFill/>
          <a:ln w="13970">
            <a:solidFill>
              <a:srgbClr val="C44848"/>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pPr>
            <a:r>
              <a:rPr sz="1600" b="1">
                <a:solidFill>
                  <a:srgbClr val="1F2937"/>
                </a:solidFill>
                <a:latin typeface="微软雅黑" panose="020B0503020204020204" charset="-122"/>
              </a:rPr>
              <a:t>固定类别提示词</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候选覆盖不足</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小目标与易混类别容易漏检</a:t>
            </a:r>
            <a:endParaRPr sz="1600" b="1">
              <a:solidFill>
                <a:srgbClr val="1F2937"/>
              </a:solidFill>
              <a:latin typeface="微软雅黑" panose="020B0503020204020204" charset="-122"/>
            </a:endParaRPr>
          </a:p>
        </p:txBody>
      </p:sp>
      <p:sp>
        <p:nvSpPr>
          <p:cNvPr id="7" name="Rounded Rectangle 4"/>
          <p:cNvSpPr/>
          <p:nvPr/>
        </p:nvSpPr>
        <p:spPr>
          <a:xfrm>
            <a:off x="4365625" y="4626610"/>
            <a:ext cx="3246120" cy="1234440"/>
          </a:xfrm>
          <a:prstGeom prst="roundRect">
            <a:avLst/>
          </a:prstGeom>
          <a:noFill/>
          <a:ln w="13970">
            <a:solidFill>
              <a:srgbClr val="C27518"/>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pPr>
            <a:r>
              <a:rPr sz="1600" b="1">
                <a:solidFill>
                  <a:srgbClr val="1F2937"/>
                </a:solidFill>
                <a:latin typeface="微软雅黑" panose="020B0503020204020204" charset="-122"/>
              </a:rPr>
              <a:t>一次性加入所有扩展</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候选数量膨胀</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误检、重复框和计算成本增加</a:t>
            </a:r>
            <a:endParaRPr sz="1600" b="1">
              <a:solidFill>
                <a:srgbClr val="1F2937"/>
              </a:solidFill>
              <a:latin typeface="微软雅黑" panose="020B0503020204020204" charset="-122"/>
            </a:endParaRPr>
          </a:p>
        </p:txBody>
      </p:sp>
      <p:sp>
        <p:nvSpPr>
          <p:cNvPr id="8" name="Rounded Rectangle 5"/>
          <p:cNvSpPr/>
          <p:nvPr/>
        </p:nvSpPr>
        <p:spPr>
          <a:xfrm>
            <a:off x="8251825" y="4626610"/>
            <a:ext cx="3246120" cy="1234440"/>
          </a:xfrm>
          <a:prstGeom prst="roundRect">
            <a:avLst/>
          </a:prstGeom>
          <a:noFill/>
          <a:ln w="13970">
            <a:solidFill>
              <a:srgbClr val="2A8F5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pPr>
            <a:r>
              <a:rPr sz="1600" b="1">
                <a:solidFill>
                  <a:srgbClr val="1F2937"/>
                </a:solidFill>
                <a:latin typeface="微软雅黑" panose="020B0503020204020204" charset="-122"/>
              </a:rPr>
              <a:t>自适应候选扩充</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根据当前状态决定</a:t>
            </a:r>
            <a:endParaRPr sz="1600" b="1">
              <a:solidFill>
                <a:srgbClr val="1F2937"/>
              </a:solidFill>
              <a:latin typeface="微软雅黑" panose="020B0503020204020204" charset="-122"/>
            </a:endParaRPr>
          </a:p>
          <a:p>
            <a:pPr algn="ctr">
              <a:spcAft>
                <a:spcPts val="200"/>
              </a:spcAft>
            </a:pPr>
            <a:r>
              <a:rPr sz="1600" b="1">
                <a:solidFill>
                  <a:srgbClr val="1F2937"/>
                </a:solidFill>
                <a:latin typeface="微软雅黑" panose="020B0503020204020204" charset="-122"/>
              </a:rPr>
              <a:t>是否扩充、扩充什么</a:t>
            </a:r>
            <a:endParaRPr sz="1600" b="1">
              <a:solidFill>
                <a:srgbClr val="1F2937"/>
              </a:solidFill>
              <a:latin typeface="微软雅黑" panose="020B0503020204020204" charset="-122"/>
            </a:endParaRPr>
          </a:p>
        </p:txBody>
      </p:sp>
      <p:cxnSp>
        <p:nvCxnSpPr>
          <p:cNvPr id="9" name="Connector 6"/>
          <p:cNvCxnSpPr/>
          <p:nvPr/>
        </p:nvCxnSpPr>
        <p:spPr>
          <a:xfrm>
            <a:off x="3816985" y="5239258"/>
            <a:ext cx="475488" cy="0"/>
          </a:xfrm>
          <a:prstGeom prst="line">
            <a:avLst/>
          </a:prstGeom>
          <a:ln w="21590">
            <a:solidFill>
              <a:srgbClr val="97A2B1"/>
            </a:solidFill>
          </a:ln>
        </p:spPr>
        <p:style>
          <a:lnRef idx="2">
            <a:schemeClr val="accent1"/>
          </a:lnRef>
          <a:fillRef idx="0">
            <a:schemeClr val="accent1"/>
          </a:fillRef>
          <a:effectRef idx="1">
            <a:schemeClr val="accent1"/>
          </a:effectRef>
          <a:fontRef idx="minor">
            <a:schemeClr val="tx1"/>
          </a:fontRef>
        </p:style>
      </p:cxnSp>
      <p:cxnSp>
        <p:nvCxnSpPr>
          <p:cNvPr id="10" name="Connector 7"/>
          <p:cNvCxnSpPr/>
          <p:nvPr/>
        </p:nvCxnSpPr>
        <p:spPr>
          <a:xfrm>
            <a:off x="7703185" y="5239258"/>
            <a:ext cx="475488" cy="0"/>
          </a:xfrm>
          <a:prstGeom prst="line">
            <a:avLst/>
          </a:prstGeom>
          <a:ln w="21590">
            <a:solidFill>
              <a:srgbClr val="97A2B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4" name="圆角矩形 3"/>
          <p:cNvSpPr>
            <a:spLocks noGrp="1"/>
          </p:cNvSpPr>
          <p:nvPr>
            <p:custDataLst>
              <p:tags r:id="rId1"/>
            </p:custDataLst>
          </p:nvPr>
        </p:nvSpPr>
        <p:spPr>
          <a:xfrm>
            <a:off x="685800" y="1845310"/>
            <a:ext cx="3238500" cy="3633470"/>
          </a:xfrm>
          <a:prstGeom prst="roundRect">
            <a:avLst>
              <a:gd name="adj" fmla="val 4800"/>
            </a:avLst>
          </a:prstGeom>
          <a:solidFill>
            <a:srgbClr val="FFFFFF"/>
          </a:solidFill>
          <a:ln w="9525">
            <a:solidFill>
              <a:srgbClr val="D7E1EA"/>
            </a:solidFill>
            <a:prstDash val="solid"/>
          </a:ln>
        </p:spPr>
      </p:sp>
      <p:sp>
        <p:nvSpPr>
          <p:cNvPr id="7" name="矩形 6"/>
          <p:cNvSpPr>
            <a:spLocks noGrp="1"/>
          </p:cNvSpPr>
          <p:nvPr>
            <p:custDataLst>
              <p:tags r:id="rId2"/>
            </p:custDataLst>
          </p:nvPr>
        </p:nvSpPr>
        <p:spPr>
          <a:xfrm>
            <a:off x="914400" y="2378710"/>
            <a:ext cx="2857500" cy="1752600"/>
          </a:xfrm>
          <a:prstGeom prst="rect">
            <a:avLst/>
          </a:prstGeom>
          <a:noFill/>
          <a:ln w="0">
            <a:noFill/>
            <a:prstDash val="solid"/>
          </a:ln>
        </p:spPr>
        <p:txBody>
          <a:bodyPr anchor="ctr"/>
          <a:lstStyle/>
          <a:p>
            <a:pPr algn="l">
              <a:buNone/>
              <a:defRPr sz="1200" b="0">
                <a:solidFill>
                  <a:srgbClr val="64748B"/>
                </a:solidFill>
              </a:defRPr>
            </a:pPr>
            <a:r>
              <a:rPr lang="zh-CN" altLang="en-US" sz="1600" b="0">
                <a:solidFill>
                  <a:srgbClr val="64748B"/>
                </a:solidFill>
              </a:rPr>
              <a:t>候选数量、平均分、最高分、分数方差、平均面积、小目标</a:t>
            </a:r>
            <a:r>
              <a:rPr lang="zh-CN" altLang="en-US" sz="1600" b="0">
                <a:solidFill>
                  <a:srgbClr val="64748B"/>
                </a:solidFill>
              </a:rPr>
              <a:t>比例。</a:t>
            </a:r>
            <a:endParaRPr lang="zh-CN" altLang="en-US" sz="1600" b="0">
              <a:solidFill>
                <a:srgbClr val="64748B"/>
              </a:solidFill>
            </a:endParaRPr>
          </a:p>
          <a:p>
            <a:pPr algn="l">
              <a:buNone/>
              <a:defRPr sz="1200" b="0">
                <a:solidFill>
                  <a:srgbClr val="64748B"/>
                </a:solidFill>
              </a:defRPr>
            </a:pPr>
            <a:r>
              <a:rPr lang="zh-CN" altLang="en-US" sz="1600" b="0">
                <a:solidFill>
                  <a:srgbClr val="64748B"/>
                </a:solidFill>
              </a:rPr>
              <a:t>类别侯选数量、最高分、</a:t>
            </a:r>
            <a:r>
              <a:rPr lang="zh-CN" altLang="en-US" sz="1600" b="0">
                <a:solidFill>
                  <a:srgbClr val="64748B"/>
                </a:solidFill>
              </a:rPr>
              <a:t>平均面积。</a:t>
            </a:r>
            <a:endParaRPr lang="zh-CN" altLang="en-US" sz="1600" b="0">
              <a:solidFill>
                <a:srgbClr val="64748B"/>
              </a:solidFill>
            </a:endParaRPr>
          </a:p>
          <a:p>
            <a:pPr algn="l">
              <a:buNone/>
              <a:defRPr sz="1200" b="0">
                <a:solidFill>
                  <a:srgbClr val="64748B"/>
                </a:solidFill>
              </a:defRPr>
            </a:pPr>
            <a:r>
              <a:rPr lang="zh-CN" altLang="en-US" sz="1600" b="0">
                <a:solidFill>
                  <a:srgbClr val="64748B"/>
                </a:solidFill>
              </a:rPr>
              <a:t>当前轮次、</a:t>
            </a:r>
            <a:r>
              <a:rPr lang="zh-CN" altLang="en-US" sz="1600" b="0">
                <a:solidFill>
                  <a:srgbClr val="64748B"/>
                </a:solidFill>
              </a:rPr>
              <a:t>剩余预算。</a:t>
            </a:r>
            <a:endParaRPr lang="zh-CN" altLang="en-US" sz="1600" b="0">
              <a:solidFill>
                <a:srgbClr val="64748B"/>
              </a:solidFill>
            </a:endParaRPr>
          </a:p>
        </p:txBody>
      </p:sp>
      <p:sp>
        <p:nvSpPr>
          <p:cNvPr id="19" name="矩形 18"/>
          <p:cNvSpPr>
            <a:spLocks noGrp="1"/>
          </p:cNvSpPr>
          <p:nvPr/>
        </p:nvSpPr>
        <p:spPr>
          <a:xfrm>
            <a:off x="685800" y="419100"/>
            <a:ext cx="1905000" cy="177800"/>
          </a:xfrm>
          <a:prstGeom prst="rect">
            <a:avLst/>
          </a:prstGeom>
          <a:noFill/>
          <a:ln w="0">
            <a:noFill/>
            <a:prstDash val="solid"/>
          </a:ln>
        </p:spPr>
        <p:txBody>
          <a:bodyPr anchor="ctr"/>
          <a:lstStyle/>
          <a:p>
            <a:pPr algn="l">
              <a:buNone/>
              <a:defRPr sz="975" b="1">
                <a:solidFill>
                  <a:srgbClr val="18A999"/>
                </a:solidFill>
              </a:defRPr>
            </a:pPr>
            <a:r>
              <a:rPr lang="en-US" sz="975" b="1">
                <a:solidFill>
                  <a:srgbClr val="18A999"/>
                </a:solidFill>
              </a:rPr>
              <a:t>ACTION </a:t>
            </a:r>
            <a:r>
              <a:rPr lang="en-US" sz="975" b="1">
                <a:solidFill>
                  <a:srgbClr val="18A999"/>
                </a:solidFill>
              </a:rPr>
              <a:t>REWARD</a:t>
            </a:r>
            <a:endParaRPr lang="en-US"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lang="zh-CN" sz="2700" b="1">
                <a:solidFill>
                  <a:srgbClr val="102A43"/>
                </a:solidFill>
              </a:rPr>
              <a:t>强化学习模块的动作空间和</a:t>
            </a:r>
            <a:r>
              <a:rPr lang="zh-CN" sz="2700" b="1">
                <a:solidFill>
                  <a:srgbClr val="102A43"/>
                </a:solidFill>
              </a:rPr>
              <a:t>奖励函数</a:t>
            </a:r>
            <a:endParaRPr lang="zh-CN"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5" name="矩形 4"/>
          <p:cNvSpPr>
            <a:spLocks noGrp="1"/>
          </p:cNvSpPr>
          <p:nvPr>
            <p:custDataLst>
              <p:tags r:id="rId3"/>
            </p:custDataLst>
          </p:nvPr>
        </p:nvSpPr>
        <p:spPr>
          <a:xfrm>
            <a:off x="685800" y="1845310"/>
            <a:ext cx="83820" cy="3653790"/>
          </a:xfrm>
          <a:prstGeom prst="rect">
            <a:avLst/>
          </a:prstGeom>
          <a:solidFill>
            <a:srgbClr val="F28C28"/>
          </a:solidFill>
          <a:ln w="0">
            <a:noFill/>
            <a:prstDash val="solid"/>
          </a:ln>
        </p:spPr>
      </p:sp>
      <p:sp>
        <p:nvSpPr>
          <p:cNvPr id="6" name="矩形 5"/>
          <p:cNvSpPr>
            <a:spLocks noGrp="1"/>
          </p:cNvSpPr>
          <p:nvPr>
            <p:custDataLst>
              <p:tags r:id="rId4"/>
            </p:custDataLst>
          </p:nvPr>
        </p:nvSpPr>
        <p:spPr>
          <a:xfrm>
            <a:off x="914400" y="2016760"/>
            <a:ext cx="2895600" cy="285750"/>
          </a:xfrm>
          <a:prstGeom prst="rect">
            <a:avLst/>
          </a:prstGeom>
          <a:noFill/>
          <a:ln w="0">
            <a:noFill/>
            <a:prstDash val="solid"/>
          </a:ln>
        </p:spPr>
        <p:txBody>
          <a:bodyPr anchor="ctr"/>
          <a:lstStyle/>
          <a:p>
            <a:pPr algn="l">
              <a:buNone/>
              <a:defRPr sz="1575" b="1">
                <a:solidFill>
                  <a:srgbClr val="102A43"/>
                </a:solidFill>
              </a:defRPr>
            </a:pPr>
            <a:r>
              <a:rPr sz="1575" b="1">
                <a:solidFill>
                  <a:srgbClr val="102A43"/>
                </a:solidFill>
              </a:rPr>
              <a:t>01  </a:t>
            </a:r>
            <a:r>
              <a:rPr lang="en-US" sz="1800" b="1">
                <a:solidFill>
                  <a:srgbClr val="102A43"/>
                </a:solidFill>
                <a:latin typeface="Adobe Gothic Std B" panose="020B0800000000000000" charset="-128"/>
                <a:ea typeface="Adobe Gothic Std B" panose="020B0800000000000000" charset="-128"/>
              </a:rPr>
              <a:t>state</a:t>
            </a:r>
            <a:endParaRPr lang="en-US" sz="1800" b="1">
              <a:solidFill>
                <a:srgbClr val="102A43"/>
              </a:solidFill>
              <a:latin typeface="Adobe Gothic Std B" panose="020B0800000000000000" charset="-128"/>
              <a:ea typeface="Adobe Gothic Std B" panose="020B0800000000000000" charset="-128"/>
            </a:endParaRPr>
          </a:p>
        </p:txBody>
      </p:sp>
      <p:sp>
        <p:nvSpPr>
          <p:cNvPr id="8" name="圆角矩形 7"/>
          <p:cNvSpPr>
            <a:spLocks noGrp="1"/>
          </p:cNvSpPr>
          <p:nvPr>
            <p:custDataLst>
              <p:tags r:id="rId5"/>
            </p:custDataLst>
          </p:nvPr>
        </p:nvSpPr>
        <p:spPr>
          <a:xfrm>
            <a:off x="4476750" y="1845310"/>
            <a:ext cx="3238500" cy="3653790"/>
          </a:xfrm>
          <a:prstGeom prst="roundRect">
            <a:avLst>
              <a:gd name="adj" fmla="val 4800"/>
            </a:avLst>
          </a:prstGeom>
          <a:solidFill>
            <a:srgbClr val="FFFFFF"/>
          </a:solidFill>
          <a:ln w="9525">
            <a:solidFill>
              <a:srgbClr val="D7E1EA"/>
            </a:solidFill>
            <a:prstDash val="solid"/>
          </a:ln>
        </p:spPr>
      </p:sp>
      <p:sp>
        <p:nvSpPr>
          <p:cNvPr id="9" name="矩形 8"/>
          <p:cNvSpPr>
            <a:spLocks noGrp="1"/>
          </p:cNvSpPr>
          <p:nvPr>
            <p:custDataLst>
              <p:tags r:id="rId6"/>
            </p:custDataLst>
          </p:nvPr>
        </p:nvSpPr>
        <p:spPr>
          <a:xfrm>
            <a:off x="4476750" y="1845310"/>
            <a:ext cx="76200" cy="3657600"/>
          </a:xfrm>
          <a:prstGeom prst="rect">
            <a:avLst/>
          </a:prstGeom>
          <a:solidFill>
            <a:srgbClr val="18A999"/>
          </a:solidFill>
          <a:ln w="0">
            <a:noFill/>
            <a:prstDash val="solid"/>
          </a:ln>
        </p:spPr>
      </p:sp>
      <p:sp>
        <p:nvSpPr>
          <p:cNvPr id="10" name="矩形 9"/>
          <p:cNvSpPr>
            <a:spLocks noGrp="1"/>
          </p:cNvSpPr>
          <p:nvPr>
            <p:custDataLst>
              <p:tags r:id="rId7"/>
            </p:custDataLst>
          </p:nvPr>
        </p:nvSpPr>
        <p:spPr>
          <a:xfrm>
            <a:off x="4705350" y="2016760"/>
            <a:ext cx="2895600" cy="285750"/>
          </a:xfrm>
          <a:prstGeom prst="rect">
            <a:avLst/>
          </a:prstGeom>
          <a:noFill/>
          <a:ln w="0">
            <a:noFill/>
            <a:prstDash val="solid"/>
          </a:ln>
        </p:spPr>
        <p:txBody>
          <a:bodyPr anchor="ctr"/>
          <a:lstStyle/>
          <a:p>
            <a:pPr algn="l">
              <a:buNone/>
              <a:defRPr sz="1575" b="1">
                <a:solidFill>
                  <a:srgbClr val="102A43"/>
                </a:solidFill>
              </a:defRPr>
            </a:pPr>
            <a:r>
              <a:rPr sz="1575" b="1">
                <a:solidFill>
                  <a:srgbClr val="102A43"/>
                </a:solidFill>
              </a:rPr>
              <a:t>02  </a:t>
            </a:r>
            <a:r>
              <a:rPr lang="en-US" sz="1800" b="1">
                <a:solidFill>
                  <a:srgbClr val="102A43"/>
                </a:solidFill>
                <a:latin typeface="Adobe Gothic Std B" panose="020B0800000000000000" charset="-128"/>
                <a:ea typeface="Adobe Gothic Std B" panose="020B0800000000000000" charset="-128"/>
              </a:rPr>
              <a:t>action</a:t>
            </a:r>
            <a:endParaRPr lang="en-US" sz="1800" b="1">
              <a:solidFill>
                <a:srgbClr val="102A43"/>
              </a:solidFill>
              <a:latin typeface="Adobe Gothic Std B" panose="020B0800000000000000" charset="-128"/>
              <a:ea typeface="Adobe Gothic Std B" panose="020B0800000000000000" charset="-128"/>
            </a:endParaRPr>
          </a:p>
        </p:txBody>
      </p:sp>
      <p:sp>
        <p:nvSpPr>
          <p:cNvPr id="11" name="矩形 10"/>
          <p:cNvSpPr>
            <a:spLocks noGrp="1"/>
          </p:cNvSpPr>
          <p:nvPr>
            <p:custDataLst>
              <p:tags r:id="rId8"/>
            </p:custDataLst>
          </p:nvPr>
        </p:nvSpPr>
        <p:spPr>
          <a:xfrm>
            <a:off x="4705350" y="2378710"/>
            <a:ext cx="2857500" cy="1752600"/>
          </a:xfrm>
          <a:prstGeom prst="rect">
            <a:avLst/>
          </a:prstGeom>
          <a:noFill/>
          <a:ln w="0">
            <a:noFill/>
            <a:prstDash val="solid"/>
          </a:ln>
        </p:spPr>
        <p:txBody>
          <a:bodyPr anchor="ctr"/>
          <a:lstStyle/>
          <a:p>
            <a:pPr algn="l">
              <a:buNone/>
              <a:defRPr sz="1200" b="0">
                <a:solidFill>
                  <a:srgbClr val="64748B"/>
                </a:solidFill>
              </a:defRPr>
            </a:pPr>
            <a:r>
              <a:rPr lang="zh-CN" sz="1600" b="0">
                <a:solidFill>
                  <a:srgbClr val="64748B"/>
                </a:solidFill>
              </a:rPr>
              <a:t>终止</a:t>
            </a:r>
            <a:r>
              <a:rPr lang="zh-CN" sz="1600" b="0">
                <a:solidFill>
                  <a:srgbClr val="64748B"/>
                </a:solidFill>
              </a:rPr>
              <a:t>指令</a:t>
            </a:r>
            <a:endParaRPr lang="zh-CN" sz="1600" b="0">
              <a:solidFill>
                <a:srgbClr val="64748B"/>
              </a:solidFill>
            </a:endParaRPr>
          </a:p>
          <a:p>
            <a:pPr algn="l">
              <a:buNone/>
              <a:defRPr sz="1200" b="0">
                <a:solidFill>
                  <a:srgbClr val="64748B"/>
                </a:solidFill>
              </a:defRPr>
            </a:pPr>
            <a:r>
              <a:rPr lang="en-US" altLang="zh-CN" sz="1600" b="0">
                <a:solidFill>
                  <a:srgbClr val="64748B"/>
                </a:solidFill>
              </a:rPr>
              <a:t>Qwen</a:t>
            </a:r>
            <a:r>
              <a:rPr lang="zh-CN" altLang="en-US" sz="1600" b="0">
                <a:solidFill>
                  <a:srgbClr val="64748B"/>
                </a:solidFill>
              </a:rPr>
              <a:t>动态生成的</a:t>
            </a:r>
            <a:r>
              <a:rPr lang="en-US" altLang="zh-CN" sz="1600" b="0">
                <a:solidFill>
                  <a:srgbClr val="64748B"/>
                </a:solidFill>
              </a:rPr>
              <a:t>action </a:t>
            </a:r>
            <a:r>
              <a:rPr lang="en-US" altLang="zh-CN" sz="1600" b="0">
                <a:solidFill>
                  <a:srgbClr val="64748B"/>
                </a:solidFill>
              </a:rPr>
              <a:t>pool</a:t>
            </a:r>
            <a:endParaRPr lang="en-US" altLang="zh-CN" sz="1600" b="0">
              <a:solidFill>
                <a:srgbClr val="64748B"/>
              </a:solidFill>
            </a:endParaRPr>
          </a:p>
        </p:txBody>
      </p:sp>
      <p:sp>
        <p:nvSpPr>
          <p:cNvPr id="12" name="圆角矩形 11"/>
          <p:cNvSpPr>
            <a:spLocks noGrp="1"/>
          </p:cNvSpPr>
          <p:nvPr>
            <p:custDataLst>
              <p:tags r:id="rId9"/>
            </p:custDataLst>
          </p:nvPr>
        </p:nvSpPr>
        <p:spPr>
          <a:xfrm>
            <a:off x="8183880" y="1845310"/>
            <a:ext cx="3238500" cy="3653790"/>
          </a:xfrm>
          <a:prstGeom prst="roundRect">
            <a:avLst>
              <a:gd name="adj" fmla="val 4800"/>
            </a:avLst>
          </a:prstGeom>
          <a:solidFill>
            <a:srgbClr val="FFFFFF"/>
          </a:solidFill>
          <a:ln w="9525">
            <a:solidFill>
              <a:srgbClr val="D7E1EA"/>
            </a:solidFill>
            <a:prstDash val="solid"/>
          </a:ln>
        </p:spPr>
      </p:sp>
      <p:sp>
        <p:nvSpPr>
          <p:cNvPr id="13" name="矩形 12"/>
          <p:cNvSpPr>
            <a:spLocks noGrp="1"/>
          </p:cNvSpPr>
          <p:nvPr>
            <p:custDataLst>
              <p:tags r:id="rId10"/>
            </p:custDataLst>
          </p:nvPr>
        </p:nvSpPr>
        <p:spPr>
          <a:xfrm>
            <a:off x="8181975" y="1845310"/>
            <a:ext cx="76200" cy="3653790"/>
          </a:xfrm>
          <a:prstGeom prst="rect">
            <a:avLst/>
          </a:prstGeom>
          <a:solidFill>
            <a:srgbClr val="E85D75"/>
          </a:solidFill>
          <a:ln w="0">
            <a:noFill/>
            <a:prstDash val="solid"/>
          </a:ln>
        </p:spPr>
      </p:sp>
      <p:sp>
        <p:nvSpPr>
          <p:cNvPr id="14" name="矩形 13"/>
          <p:cNvSpPr>
            <a:spLocks noGrp="1"/>
          </p:cNvSpPr>
          <p:nvPr>
            <p:custDataLst>
              <p:tags r:id="rId11"/>
            </p:custDataLst>
          </p:nvPr>
        </p:nvSpPr>
        <p:spPr>
          <a:xfrm>
            <a:off x="8496300" y="2016760"/>
            <a:ext cx="2895600" cy="285750"/>
          </a:xfrm>
          <a:prstGeom prst="rect">
            <a:avLst/>
          </a:prstGeom>
          <a:noFill/>
          <a:ln w="0">
            <a:noFill/>
            <a:prstDash val="solid"/>
          </a:ln>
        </p:spPr>
        <p:txBody>
          <a:bodyPr anchor="ctr"/>
          <a:lstStyle/>
          <a:p>
            <a:pPr algn="l">
              <a:buNone/>
              <a:defRPr sz="1575" b="1">
                <a:solidFill>
                  <a:srgbClr val="102A43"/>
                </a:solidFill>
              </a:defRPr>
            </a:pPr>
            <a:r>
              <a:rPr sz="1575" b="1">
                <a:solidFill>
                  <a:srgbClr val="102A43"/>
                </a:solidFill>
              </a:rPr>
              <a:t>03 </a:t>
            </a:r>
            <a:r>
              <a:rPr sz="1800" b="1">
                <a:solidFill>
                  <a:srgbClr val="102A43"/>
                </a:solidFill>
                <a:latin typeface="Adobe Gothic Std B" panose="020B0800000000000000" charset="-128"/>
                <a:ea typeface="Adobe Gothic Std B" panose="020B0800000000000000" charset="-128"/>
              </a:rPr>
              <a:t> </a:t>
            </a:r>
            <a:r>
              <a:rPr lang="en-US" sz="1800" b="1">
                <a:solidFill>
                  <a:srgbClr val="102A43"/>
                </a:solidFill>
                <a:latin typeface="Adobe Gothic Std B" panose="020B0800000000000000" charset="-128"/>
                <a:ea typeface="Adobe Gothic Std B" panose="020B0800000000000000" charset="-128"/>
              </a:rPr>
              <a:t>reward</a:t>
            </a:r>
            <a:endParaRPr lang="en-US" sz="1800" b="1">
              <a:solidFill>
                <a:srgbClr val="102A43"/>
              </a:solidFill>
              <a:latin typeface="Adobe Gothic Std B" panose="020B0800000000000000" charset="-128"/>
              <a:ea typeface="Adobe Gothic Std B" panose="020B0800000000000000" charset="-128"/>
            </a:endParaRPr>
          </a:p>
        </p:txBody>
      </p:sp>
      <p:sp>
        <p:nvSpPr>
          <p:cNvPr id="15" name="矩形 14"/>
          <p:cNvSpPr>
            <a:spLocks noGrp="1"/>
          </p:cNvSpPr>
          <p:nvPr>
            <p:custDataLst>
              <p:tags r:id="rId12"/>
            </p:custDataLst>
          </p:nvPr>
        </p:nvSpPr>
        <p:spPr>
          <a:xfrm>
            <a:off x="8496300" y="2378710"/>
            <a:ext cx="2857500" cy="1752600"/>
          </a:xfrm>
          <a:prstGeom prst="rect">
            <a:avLst/>
          </a:prstGeom>
          <a:noFill/>
          <a:ln w="0">
            <a:noFill/>
            <a:prstDash val="solid"/>
          </a:ln>
        </p:spPr>
        <p:txBody>
          <a:bodyPr anchor="ctr"/>
          <a:lstStyle/>
          <a:p>
            <a:pPr algn="l">
              <a:buNone/>
              <a:defRPr sz="1200" b="0">
                <a:solidFill>
                  <a:srgbClr val="64748B"/>
                </a:solidFill>
              </a:defRPr>
            </a:pPr>
            <a:r>
              <a:rPr lang="en-US" altLang="zh-CN" sz="1600" b="0">
                <a:solidFill>
                  <a:srgbClr val="64748B"/>
                </a:solidFill>
              </a:rPr>
              <a:t>R =</a:t>
            </a:r>
            <a:endParaRPr lang="en-US" altLang="zh-CN" sz="1600" b="0">
              <a:solidFill>
                <a:srgbClr val="64748B"/>
              </a:solidFill>
            </a:endParaRPr>
          </a:p>
          <a:p>
            <a:pPr algn="l">
              <a:buNone/>
              <a:defRPr sz="1200" b="0">
                <a:solidFill>
                  <a:srgbClr val="64748B"/>
                </a:solidFill>
              </a:defRPr>
            </a:pPr>
            <a:r>
              <a:rPr lang="en-US" altLang="zh-CN" sz="1600" b="0">
                <a:solidFill>
                  <a:srgbClr val="64748B"/>
                </a:solidFill>
              </a:rPr>
              <a:t>0.40 ΔRecall</a:t>
            </a:r>
            <a:endParaRPr lang="en-US" altLang="zh-CN" sz="1600" b="0">
              <a:solidFill>
                <a:srgbClr val="64748B"/>
              </a:solidFill>
            </a:endParaRPr>
          </a:p>
          <a:p>
            <a:pPr algn="l">
              <a:buNone/>
              <a:defRPr sz="1200" b="0">
                <a:solidFill>
                  <a:srgbClr val="64748B"/>
                </a:solidFill>
              </a:defRPr>
            </a:pPr>
            <a:r>
              <a:rPr lang="en-US" altLang="zh-CN" sz="1600" b="0">
                <a:solidFill>
                  <a:srgbClr val="64748B"/>
                </a:solidFill>
              </a:rPr>
              <a:t>+ 0.22 ΔRecall@0.75</a:t>
            </a:r>
            <a:endParaRPr lang="en-US" altLang="zh-CN" sz="1600" b="0">
              <a:solidFill>
                <a:srgbClr val="64748B"/>
              </a:solidFill>
            </a:endParaRPr>
          </a:p>
          <a:p>
            <a:pPr algn="l">
              <a:buNone/>
              <a:defRPr sz="1200" b="0">
                <a:solidFill>
                  <a:srgbClr val="64748B"/>
                </a:solidFill>
              </a:defRPr>
            </a:pPr>
            <a:r>
              <a:rPr lang="en-US" altLang="zh-CN" sz="1600" b="0">
                <a:solidFill>
                  <a:srgbClr val="64748B"/>
                </a:solidFill>
              </a:rPr>
              <a:t>+ 0.45 ΔSmallRecall</a:t>
            </a:r>
            <a:endParaRPr lang="en-US" altLang="zh-CN" sz="1600" b="0">
              <a:solidFill>
                <a:srgbClr val="64748B"/>
              </a:solidFill>
            </a:endParaRPr>
          </a:p>
          <a:p>
            <a:pPr algn="l">
              <a:buNone/>
              <a:defRPr sz="1200" b="0">
                <a:solidFill>
                  <a:srgbClr val="64748B"/>
                </a:solidFill>
              </a:defRPr>
            </a:pPr>
            <a:r>
              <a:rPr lang="en-US" altLang="zh-CN" sz="1600" b="0">
                <a:solidFill>
                  <a:srgbClr val="64748B"/>
                </a:solidFill>
              </a:rPr>
              <a:t>+ 0.15 ΔPrecision</a:t>
            </a:r>
            <a:endParaRPr lang="en-US" altLang="zh-CN" sz="1600" b="0">
              <a:solidFill>
                <a:srgbClr val="64748B"/>
              </a:solidFill>
            </a:endParaRPr>
          </a:p>
          <a:p>
            <a:pPr algn="l">
              <a:buNone/>
              <a:defRPr sz="1200" b="0">
                <a:solidFill>
                  <a:srgbClr val="64748B"/>
                </a:solidFill>
              </a:defRPr>
            </a:pPr>
            <a:r>
              <a:rPr lang="zh-CN" altLang="en-US" sz="1600" b="0">
                <a:solidFill>
                  <a:srgbClr val="64748B"/>
                </a:solidFill>
              </a:rPr>
              <a:t>- 候选数量成本</a:t>
            </a:r>
            <a:endParaRPr lang="zh-CN" altLang="en-US" sz="1600" b="0">
              <a:solidFill>
                <a:srgbClr val="64748B"/>
              </a:solidFill>
            </a:endParaRPr>
          </a:p>
          <a:p>
            <a:pPr algn="l">
              <a:buNone/>
              <a:defRPr sz="1200" b="0">
                <a:solidFill>
                  <a:srgbClr val="64748B"/>
                </a:solidFill>
              </a:defRPr>
            </a:pPr>
            <a:r>
              <a:rPr lang="zh-CN" altLang="en-US" sz="1600" b="0">
                <a:solidFill>
                  <a:srgbClr val="64748B"/>
                </a:solidFill>
              </a:rPr>
              <a:t>- 动作成本</a:t>
            </a:r>
            <a:endParaRPr lang="zh-CN" altLang="en-US" sz="1600" b="0">
              <a:solidFill>
                <a:srgbClr val="64748B"/>
              </a:solidFill>
            </a:endParaRPr>
          </a:p>
          <a:p>
            <a:pPr algn="l">
              <a:buNone/>
              <a:defRPr sz="1200" b="0">
                <a:solidFill>
                  <a:srgbClr val="64748B"/>
                </a:solidFill>
              </a:defRPr>
            </a:pPr>
            <a:r>
              <a:rPr lang="en-US" altLang="zh-CN" sz="1600" b="0">
                <a:solidFill>
                  <a:srgbClr val="64748B"/>
                </a:solidFill>
              </a:rPr>
              <a:t>- STOP </a:t>
            </a:r>
            <a:r>
              <a:rPr lang="zh-CN" altLang="en-US" sz="1600" b="0">
                <a:solidFill>
                  <a:srgbClr val="64748B"/>
                </a:solidFill>
              </a:rPr>
              <a:t>惩罚</a:t>
            </a:r>
            <a:endParaRPr lang="zh-CN" altLang="en-US" sz="1600" b="0">
              <a:solidFill>
                <a:srgbClr val="64748B"/>
              </a:solidFill>
            </a:endParaRPr>
          </a:p>
        </p:txBody>
      </p:sp>
      <p:sp>
        <p:nvSpPr>
          <p:cNvPr id="17" name="矩形 16"/>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8" name="矩形 17"/>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10</a:t>
            </a:r>
            <a:endParaRPr sz="900" b="1">
              <a:solidFill>
                <a:srgbClr val="18A999"/>
              </a:solidFill>
            </a:endParaRPr>
          </a:p>
        </p:txBody>
      </p:sp>
      <p:sp>
        <p:nvSpPr>
          <p:cNvPr id="20" name="矩形 19"/>
          <p:cNvSpPr>
            <a:spLocks noGrp="1"/>
          </p:cNvSpPr>
          <p:nvPr>
            <p:custDataLst>
              <p:tags r:id="rId13"/>
            </p:custDataLst>
          </p:nvPr>
        </p:nvSpPr>
        <p:spPr>
          <a:xfrm>
            <a:off x="1028700" y="5147310"/>
            <a:ext cx="323850" cy="38100"/>
          </a:xfrm>
          <a:prstGeom prst="rect">
            <a:avLst/>
          </a:prstGeom>
          <a:solidFill>
            <a:srgbClr val="F58A29"/>
          </a:solidFill>
          <a:ln w="0">
            <a:solidFill>
              <a:srgbClr val="F58A29"/>
            </a:solidFill>
            <a:prstDash val="solid"/>
          </a:ln>
        </p:spPr>
      </p:sp>
      <p:sp>
        <p:nvSpPr>
          <p:cNvPr id="21" name="矩形 20"/>
          <p:cNvSpPr>
            <a:spLocks noGrp="1"/>
          </p:cNvSpPr>
          <p:nvPr>
            <p:custDataLst>
              <p:tags r:id="rId14"/>
            </p:custDataLst>
          </p:nvPr>
        </p:nvSpPr>
        <p:spPr>
          <a:xfrm>
            <a:off x="839470" y="5185410"/>
            <a:ext cx="2476500" cy="266700"/>
          </a:xfrm>
          <a:prstGeom prst="rect">
            <a:avLst/>
          </a:prstGeom>
          <a:noFill/>
          <a:ln w="0">
            <a:noFill/>
            <a:prstDash val="solid"/>
          </a:ln>
        </p:spPr>
        <p:txBody>
          <a:bodyPr anchor="ctr"/>
          <a:lstStyle/>
          <a:p>
            <a:pPr>
              <a:buNone/>
              <a:defRPr sz="1125" b="1">
                <a:solidFill>
                  <a:srgbClr val="F58A29"/>
                </a:solidFill>
              </a:defRPr>
            </a:pPr>
            <a:r>
              <a:rPr lang="en-US" altLang="zh-CN" sz="1125" b="1">
                <a:solidFill>
                  <a:srgbClr val="F58A29"/>
                </a:solidFill>
              </a:rPr>
              <a:t>     </a:t>
            </a:r>
            <a:r>
              <a:rPr lang="zh-CN" altLang="en-US" sz="1125" b="1">
                <a:solidFill>
                  <a:srgbClr val="F58A29"/>
                </a:solidFill>
              </a:rPr>
              <a:t>全局</a:t>
            </a:r>
            <a:r>
              <a:rPr lang="en-US" altLang="zh-CN" sz="1125" b="1">
                <a:solidFill>
                  <a:srgbClr val="F58A29"/>
                </a:solidFill>
              </a:rPr>
              <a:t>+</a:t>
            </a:r>
            <a:r>
              <a:rPr lang="zh-CN" altLang="en-US" sz="1125" b="1">
                <a:solidFill>
                  <a:srgbClr val="F58A29"/>
                </a:solidFill>
              </a:rPr>
              <a:t>类别</a:t>
            </a:r>
            <a:r>
              <a:rPr lang="zh-CN" altLang="en-US" sz="1125" b="1">
                <a:solidFill>
                  <a:srgbClr val="F58A29"/>
                </a:solidFill>
              </a:rPr>
              <a:t>信息</a:t>
            </a:r>
            <a:endParaRPr lang="zh-CN" altLang="en-US" sz="1125" b="1">
              <a:solidFill>
                <a:srgbClr val="F58A29"/>
              </a:solidFill>
            </a:endParaRPr>
          </a:p>
        </p:txBody>
      </p:sp>
      <p:sp>
        <p:nvSpPr>
          <p:cNvPr id="22" name="矩形 21"/>
          <p:cNvSpPr>
            <a:spLocks noGrp="1"/>
          </p:cNvSpPr>
          <p:nvPr>
            <p:custDataLst>
              <p:tags r:id="rId15"/>
            </p:custDataLst>
          </p:nvPr>
        </p:nvSpPr>
        <p:spPr>
          <a:xfrm>
            <a:off x="4799965" y="5109210"/>
            <a:ext cx="323850" cy="38100"/>
          </a:xfrm>
          <a:prstGeom prst="rect">
            <a:avLst/>
          </a:prstGeom>
          <a:solidFill>
            <a:srgbClr val="1FAF9F"/>
          </a:solidFill>
          <a:ln w="0">
            <a:solidFill>
              <a:srgbClr val="1FAF9F"/>
            </a:solidFill>
            <a:prstDash val="solid"/>
          </a:ln>
        </p:spPr>
      </p:sp>
      <p:sp>
        <p:nvSpPr>
          <p:cNvPr id="23" name="矩形 22"/>
          <p:cNvSpPr>
            <a:spLocks noGrp="1"/>
          </p:cNvSpPr>
          <p:nvPr>
            <p:custDataLst>
              <p:tags r:id="rId16"/>
            </p:custDataLst>
          </p:nvPr>
        </p:nvSpPr>
        <p:spPr>
          <a:xfrm>
            <a:off x="4705350" y="5147310"/>
            <a:ext cx="2476500" cy="266700"/>
          </a:xfrm>
          <a:prstGeom prst="rect">
            <a:avLst/>
          </a:prstGeom>
          <a:noFill/>
          <a:ln w="0">
            <a:noFill/>
            <a:prstDash val="solid"/>
          </a:ln>
        </p:spPr>
        <p:txBody>
          <a:bodyPr anchor="ctr"/>
          <a:lstStyle/>
          <a:p>
            <a:pPr>
              <a:buNone/>
              <a:defRPr sz="1125" b="1">
                <a:solidFill>
                  <a:srgbClr val="1FAF9F"/>
                </a:solidFill>
              </a:defRPr>
            </a:pPr>
            <a:r>
              <a:rPr lang="zh-CN" sz="1125" b="1">
                <a:solidFill>
                  <a:srgbClr val="1FAF9F"/>
                </a:solidFill>
              </a:rPr>
              <a:t>动态生成、提示</a:t>
            </a:r>
            <a:r>
              <a:rPr lang="zh-CN" sz="1125" b="1">
                <a:solidFill>
                  <a:srgbClr val="1FAF9F"/>
                </a:solidFill>
              </a:rPr>
              <a:t>选择</a:t>
            </a:r>
            <a:endParaRPr lang="zh-CN" sz="1125" b="1">
              <a:solidFill>
                <a:srgbClr val="1FAF9F"/>
              </a:solidFill>
            </a:endParaRPr>
          </a:p>
        </p:txBody>
      </p:sp>
      <p:sp>
        <p:nvSpPr>
          <p:cNvPr id="24" name="矩形 23"/>
          <p:cNvSpPr>
            <a:spLocks noGrp="1"/>
          </p:cNvSpPr>
          <p:nvPr>
            <p:custDataLst>
              <p:tags r:id="rId17"/>
            </p:custDataLst>
          </p:nvPr>
        </p:nvSpPr>
        <p:spPr>
          <a:xfrm>
            <a:off x="8448675" y="5071110"/>
            <a:ext cx="323850" cy="38100"/>
          </a:xfrm>
          <a:prstGeom prst="rect">
            <a:avLst/>
          </a:prstGeom>
          <a:solidFill>
            <a:srgbClr val="EF5A78"/>
          </a:solidFill>
          <a:ln w="0">
            <a:solidFill>
              <a:srgbClr val="EF5A78"/>
            </a:solidFill>
            <a:prstDash val="solid"/>
          </a:ln>
        </p:spPr>
      </p:sp>
      <p:sp>
        <p:nvSpPr>
          <p:cNvPr id="25" name="矩形 24"/>
          <p:cNvSpPr>
            <a:spLocks noGrp="1"/>
          </p:cNvSpPr>
          <p:nvPr>
            <p:custDataLst>
              <p:tags r:id="rId18"/>
            </p:custDataLst>
          </p:nvPr>
        </p:nvSpPr>
        <p:spPr>
          <a:xfrm>
            <a:off x="8420100" y="5147310"/>
            <a:ext cx="2476500" cy="266700"/>
          </a:xfrm>
          <a:prstGeom prst="rect">
            <a:avLst/>
          </a:prstGeom>
          <a:noFill/>
          <a:ln w="0">
            <a:noFill/>
            <a:prstDash val="solid"/>
          </a:ln>
        </p:spPr>
        <p:txBody>
          <a:bodyPr anchor="ctr"/>
          <a:lstStyle/>
          <a:p>
            <a:pPr>
              <a:buNone/>
              <a:defRPr sz="1125" b="1">
                <a:solidFill>
                  <a:srgbClr val="EF5A78"/>
                </a:solidFill>
              </a:defRPr>
            </a:pPr>
            <a:r>
              <a:rPr lang="zh-CN" sz="1125" b="1">
                <a:solidFill>
                  <a:srgbClr val="EF5A78"/>
                </a:solidFill>
              </a:rPr>
              <a:t>小目标收益、候选</a:t>
            </a:r>
            <a:r>
              <a:rPr lang="zh-CN" sz="1125" b="1">
                <a:solidFill>
                  <a:srgbClr val="EF5A78"/>
                </a:solidFill>
              </a:rPr>
              <a:t>数量</a:t>
            </a:r>
            <a:endParaRPr lang="zh-CN" sz="1125" b="1">
              <a:solidFill>
                <a:srgbClr val="EF5A78"/>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矩形 18"/>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lang="en-US" sz="975" b="1">
                <a:solidFill>
                  <a:srgbClr val="18A999"/>
                </a:solidFill>
              </a:rPr>
              <a:t>RESRTORING</a:t>
            </a:r>
            <a:endParaRPr lang="en-US"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lang="zh-CN" sz="2700" b="1">
                <a:solidFill>
                  <a:srgbClr val="102A43"/>
                </a:solidFill>
              </a:rPr>
              <a:t>融合富元信息重新</a:t>
            </a:r>
            <a:r>
              <a:rPr lang="zh-CN" sz="2700" b="1">
                <a:solidFill>
                  <a:srgbClr val="102A43"/>
                </a:solidFill>
              </a:rPr>
              <a:t>排序</a:t>
            </a:r>
            <a:endParaRPr lang="zh-CN"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17" name="矩形 16"/>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1">
                <a:solidFill>
                  <a:srgbClr val="64748B"/>
                </a:solidFill>
              </a:rPr>
              <a:t>HIT Shenzhen  |  毕业答辩</a:t>
            </a:r>
            <a:endParaRPr sz="825" b="1">
              <a:solidFill>
                <a:srgbClr val="64748B"/>
              </a:solidFill>
            </a:endParaRPr>
          </a:p>
        </p:txBody>
      </p:sp>
      <p:sp>
        <p:nvSpPr>
          <p:cNvPr id="18" name="矩形 17"/>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a:solidFill>
                  <a:srgbClr val="18A999"/>
                </a:solidFill>
              </a:rPr>
              <a:t>11</a:t>
            </a:r>
            <a:endParaRPr sz="900">
              <a:solidFill>
                <a:srgbClr val="18A999"/>
              </a:solidFill>
            </a:endParaRPr>
          </a:p>
        </p:txBody>
      </p:sp>
      <p:cxnSp>
        <p:nvCxnSpPr>
          <p:cNvPr id="21" name="直接箭头连接符 20"/>
          <p:cNvCxnSpPr/>
          <p:nvPr/>
        </p:nvCxnSpPr>
        <p:spPr>
          <a:xfrm flipV="1">
            <a:off x="948690" y="1522095"/>
            <a:ext cx="10295255" cy="20955"/>
          </a:xfrm>
          <a:prstGeom prst="straightConnector1">
            <a:avLst/>
          </a:prstGeom>
          <a:ln>
            <a:solidFill>
              <a:schemeClr val="accent3">
                <a:lumMod val="75000"/>
              </a:schemeClr>
            </a:solidFill>
            <a:headEnd type="oval"/>
            <a:tailEnd type="oval"/>
          </a:ln>
        </p:spPr>
        <p:style>
          <a:lnRef idx="2">
            <a:schemeClr val="accent1"/>
          </a:lnRef>
          <a:fillRef idx="0">
            <a:srgbClr val="FFFFFF"/>
          </a:fillRef>
          <a:effectRef idx="0">
            <a:srgbClr val="FFFFFF"/>
          </a:effectRef>
          <a:fontRef idx="minor">
            <a:schemeClr val="tx1"/>
          </a:fontRef>
        </p:style>
      </p:cxnSp>
      <p:sp>
        <p:nvSpPr>
          <p:cNvPr id="22" name="文本框 21"/>
          <p:cNvSpPr txBox="1"/>
          <p:nvPr/>
        </p:nvSpPr>
        <p:spPr>
          <a:xfrm>
            <a:off x="407670" y="1340485"/>
            <a:ext cx="417195" cy="364490"/>
          </a:xfrm>
          <a:prstGeom prst="rect">
            <a:avLst/>
          </a:prstGeom>
          <a:noFill/>
        </p:spPr>
        <p:txBody>
          <a:bodyPr wrap="square" rtlCol="0">
            <a:noAutofit/>
          </a:bodyPr>
          <a:p>
            <a:r>
              <a:rPr lang="zh-CN" altLang="en-US" b="1"/>
              <a:t>低</a:t>
            </a:r>
            <a:endParaRPr lang="zh-CN" altLang="en-US" b="1"/>
          </a:p>
        </p:txBody>
      </p:sp>
      <p:sp>
        <p:nvSpPr>
          <p:cNvPr id="23" name="文本框 22"/>
          <p:cNvSpPr txBox="1"/>
          <p:nvPr/>
        </p:nvSpPr>
        <p:spPr>
          <a:xfrm>
            <a:off x="11496675" y="1271905"/>
            <a:ext cx="4064000" cy="368300"/>
          </a:xfrm>
          <a:prstGeom prst="rect">
            <a:avLst/>
          </a:prstGeom>
          <a:noFill/>
        </p:spPr>
        <p:txBody>
          <a:bodyPr wrap="square" rtlCol="0">
            <a:spAutoFit/>
          </a:bodyPr>
          <a:p>
            <a:r>
              <a:rPr lang="zh-CN" altLang="en-US" b="1"/>
              <a:t>高</a:t>
            </a:r>
            <a:endParaRPr lang="zh-CN" altLang="en-US" b="1"/>
          </a:p>
        </p:txBody>
      </p:sp>
      <p:sp>
        <p:nvSpPr>
          <p:cNvPr id="24" name="矩形 23"/>
          <p:cNvSpPr/>
          <p:nvPr/>
        </p:nvSpPr>
        <p:spPr>
          <a:xfrm>
            <a:off x="695325" y="1701165"/>
            <a:ext cx="4608195" cy="36779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b="1"/>
          </a:p>
        </p:txBody>
      </p:sp>
      <p:sp>
        <p:nvSpPr>
          <p:cNvPr id="26" name="矩形 25"/>
          <p:cNvSpPr/>
          <p:nvPr/>
        </p:nvSpPr>
        <p:spPr>
          <a:xfrm>
            <a:off x="983615" y="2560955"/>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1</a:t>
            </a:r>
            <a:endParaRPr lang="en-US" altLang="zh-CN" b="1"/>
          </a:p>
        </p:txBody>
      </p:sp>
      <p:sp>
        <p:nvSpPr>
          <p:cNvPr id="27" name="矩形 26"/>
          <p:cNvSpPr/>
          <p:nvPr/>
        </p:nvSpPr>
        <p:spPr>
          <a:xfrm>
            <a:off x="983615" y="3209290"/>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2</a:t>
            </a:r>
            <a:endParaRPr lang="en-US" altLang="zh-CN" b="1"/>
          </a:p>
        </p:txBody>
      </p:sp>
      <p:sp>
        <p:nvSpPr>
          <p:cNvPr id="29" name="矩形 28"/>
          <p:cNvSpPr/>
          <p:nvPr/>
        </p:nvSpPr>
        <p:spPr>
          <a:xfrm>
            <a:off x="983615" y="4581525"/>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n</a:t>
            </a:r>
            <a:endParaRPr lang="en-US" altLang="zh-CN" b="1"/>
          </a:p>
        </p:txBody>
      </p:sp>
      <p:sp>
        <p:nvSpPr>
          <p:cNvPr id="30" name="文本框 29"/>
          <p:cNvSpPr txBox="1"/>
          <p:nvPr/>
        </p:nvSpPr>
        <p:spPr>
          <a:xfrm>
            <a:off x="2192020" y="1915160"/>
            <a:ext cx="1614805" cy="521970"/>
          </a:xfrm>
          <a:prstGeom prst="rect">
            <a:avLst/>
          </a:prstGeom>
          <a:noFill/>
        </p:spPr>
        <p:txBody>
          <a:bodyPr wrap="square" rtlCol="0">
            <a:spAutoFit/>
          </a:bodyPr>
          <a:p>
            <a:r>
              <a:rPr lang="zh-CN" altLang="en-US" sz="2800" b="1">
                <a:solidFill>
                  <a:schemeClr val="bg1"/>
                </a:solidFill>
                <a:latin typeface="黑体" panose="02010609060101010101" charset="-122"/>
                <a:ea typeface="黑体" panose="02010609060101010101" charset="-122"/>
              </a:rPr>
              <a:t>初始状态</a:t>
            </a:r>
            <a:endParaRPr lang="zh-CN" altLang="en-US" sz="2800" b="1">
              <a:solidFill>
                <a:schemeClr val="bg1"/>
              </a:solidFill>
              <a:latin typeface="黑体" panose="02010609060101010101" charset="-122"/>
              <a:ea typeface="黑体" panose="02010609060101010101" charset="-122"/>
            </a:endParaRPr>
          </a:p>
        </p:txBody>
      </p:sp>
      <p:sp>
        <p:nvSpPr>
          <p:cNvPr id="31" name="矩形 30"/>
          <p:cNvSpPr/>
          <p:nvPr/>
        </p:nvSpPr>
        <p:spPr>
          <a:xfrm>
            <a:off x="3143885" y="2560955"/>
            <a:ext cx="1830070" cy="452755"/>
          </a:xfrm>
          <a:prstGeom prst="rect">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rPr>
              <a:t>候选框</a:t>
            </a:r>
            <a:endParaRPr lang="zh-CN" altLang="en-US" b="1">
              <a:solidFill>
                <a:schemeClr val="tx1"/>
              </a:solidFill>
            </a:endParaRPr>
          </a:p>
        </p:txBody>
      </p:sp>
      <p:sp>
        <p:nvSpPr>
          <p:cNvPr id="32" name="矩形 31"/>
          <p:cNvSpPr/>
          <p:nvPr/>
        </p:nvSpPr>
        <p:spPr>
          <a:xfrm>
            <a:off x="3143885" y="3209290"/>
            <a:ext cx="1830070" cy="452755"/>
          </a:xfrm>
          <a:prstGeom prst="rect">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sym typeface="+mn-ea"/>
              </a:rPr>
              <a:t>候选框</a:t>
            </a:r>
            <a:endParaRPr lang="zh-CN" altLang="en-US" b="1">
              <a:solidFill>
                <a:schemeClr val="tx1"/>
              </a:solidFill>
              <a:sym typeface="+mn-ea"/>
            </a:endParaRPr>
          </a:p>
        </p:txBody>
      </p:sp>
      <p:sp>
        <p:nvSpPr>
          <p:cNvPr id="33" name="矩形 32"/>
          <p:cNvSpPr/>
          <p:nvPr/>
        </p:nvSpPr>
        <p:spPr>
          <a:xfrm>
            <a:off x="3143885" y="4581525"/>
            <a:ext cx="1830070" cy="452755"/>
          </a:xfrm>
          <a:prstGeom prst="rect">
            <a:avLst/>
          </a:prstGeom>
          <a:solidFill>
            <a:schemeClr val="accent6">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rPr>
              <a:t>真实框</a:t>
            </a:r>
            <a:endParaRPr lang="zh-CN" altLang="en-US" b="1">
              <a:solidFill>
                <a:schemeClr val="tx1"/>
              </a:solidFill>
            </a:endParaRPr>
          </a:p>
        </p:txBody>
      </p:sp>
      <p:sp>
        <p:nvSpPr>
          <p:cNvPr id="34" name="右箭头 33"/>
          <p:cNvSpPr/>
          <p:nvPr/>
        </p:nvSpPr>
        <p:spPr>
          <a:xfrm>
            <a:off x="5520055" y="2636520"/>
            <a:ext cx="1291590" cy="157289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黑体" panose="02010609060101010101" charset="-122"/>
                <a:ea typeface="黑体" panose="02010609060101010101" charset="-122"/>
              </a:rPr>
              <a:t>排序</a:t>
            </a:r>
            <a:endParaRPr lang="zh-CN" altLang="en-US" sz="2400" b="1">
              <a:latin typeface="黑体" panose="02010609060101010101" charset="-122"/>
              <a:ea typeface="黑体" panose="02010609060101010101" charset="-122"/>
            </a:endParaRPr>
          </a:p>
          <a:p>
            <a:pPr algn="ctr"/>
            <a:r>
              <a:rPr lang="zh-CN" altLang="en-US" sz="2400" b="1">
                <a:latin typeface="黑体" panose="02010609060101010101" charset="-122"/>
                <a:ea typeface="黑体" panose="02010609060101010101" charset="-122"/>
              </a:rPr>
              <a:t>优化</a:t>
            </a:r>
            <a:endParaRPr lang="zh-CN" altLang="en-US" sz="2400" b="1">
              <a:latin typeface="黑体" panose="02010609060101010101" charset="-122"/>
              <a:ea typeface="黑体" panose="02010609060101010101" charset="-122"/>
            </a:endParaRPr>
          </a:p>
        </p:txBody>
      </p:sp>
      <p:cxnSp>
        <p:nvCxnSpPr>
          <p:cNvPr id="35" name="直接连接符 34"/>
          <p:cNvCxnSpPr/>
          <p:nvPr/>
        </p:nvCxnSpPr>
        <p:spPr>
          <a:xfrm>
            <a:off x="2999740" y="3860800"/>
            <a:ext cx="0" cy="648335"/>
          </a:xfrm>
          <a:prstGeom prst="line">
            <a:avLst/>
          </a:prstGeom>
          <a:ln w="57150">
            <a:solidFill>
              <a:schemeClr val="bg1"/>
            </a:solidFill>
            <a:prstDash val="sysDot"/>
          </a:ln>
        </p:spPr>
        <p:style>
          <a:lnRef idx="2">
            <a:schemeClr val="accent1"/>
          </a:lnRef>
          <a:fillRef idx="0">
            <a:srgbClr val="FFFFFF"/>
          </a:fillRef>
          <a:effectRef idx="0">
            <a:srgbClr val="FFFFFF"/>
          </a:effectRef>
          <a:fontRef idx="minor">
            <a:schemeClr val="tx1"/>
          </a:fontRef>
        </p:style>
      </p:cxnSp>
      <p:sp>
        <p:nvSpPr>
          <p:cNvPr id="36" name="矩形 35"/>
          <p:cNvSpPr/>
          <p:nvPr/>
        </p:nvSpPr>
        <p:spPr>
          <a:xfrm>
            <a:off x="6888480" y="1746250"/>
            <a:ext cx="4608195" cy="36322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b="1"/>
          </a:p>
        </p:txBody>
      </p:sp>
      <p:sp>
        <p:nvSpPr>
          <p:cNvPr id="37" name="矩形 36"/>
          <p:cNvSpPr/>
          <p:nvPr/>
        </p:nvSpPr>
        <p:spPr>
          <a:xfrm>
            <a:off x="7176770" y="2606040"/>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1</a:t>
            </a:r>
            <a:endParaRPr lang="en-US" altLang="zh-CN" b="1"/>
          </a:p>
        </p:txBody>
      </p:sp>
      <p:sp>
        <p:nvSpPr>
          <p:cNvPr id="38" name="矩形 37"/>
          <p:cNvSpPr/>
          <p:nvPr/>
        </p:nvSpPr>
        <p:spPr>
          <a:xfrm>
            <a:off x="7176770" y="3254375"/>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2</a:t>
            </a:r>
            <a:endParaRPr lang="en-US" altLang="zh-CN" b="1"/>
          </a:p>
        </p:txBody>
      </p:sp>
      <p:sp>
        <p:nvSpPr>
          <p:cNvPr id="39" name="矩形 38"/>
          <p:cNvSpPr/>
          <p:nvPr/>
        </p:nvSpPr>
        <p:spPr>
          <a:xfrm>
            <a:off x="7176770" y="4626610"/>
            <a:ext cx="1830070" cy="452755"/>
          </a:xfrm>
          <a:prstGeom prst="rect">
            <a:avLst/>
          </a:prstGeom>
          <a:solidFill>
            <a:schemeClr val="tx2">
              <a:lumMod val="90000"/>
              <a:lumOff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t>n</a:t>
            </a:r>
            <a:endParaRPr lang="en-US" altLang="zh-CN" b="1"/>
          </a:p>
        </p:txBody>
      </p:sp>
      <p:sp>
        <p:nvSpPr>
          <p:cNvPr id="40" name="文本框 39"/>
          <p:cNvSpPr txBox="1"/>
          <p:nvPr/>
        </p:nvSpPr>
        <p:spPr>
          <a:xfrm>
            <a:off x="8183880" y="1933575"/>
            <a:ext cx="2080895" cy="521970"/>
          </a:xfrm>
          <a:prstGeom prst="rect">
            <a:avLst/>
          </a:prstGeom>
          <a:noFill/>
        </p:spPr>
        <p:txBody>
          <a:bodyPr wrap="square" rtlCol="0">
            <a:spAutoFit/>
          </a:bodyPr>
          <a:p>
            <a:r>
              <a:rPr lang="zh-CN" altLang="en-US" sz="2800" b="1">
                <a:solidFill>
                  <a:schemeClr val="bg1"/>
                </a:solidFill>
                <a:latin typeface="黑体" panose="02010609060101010101" charset="-122"/>
                <a:ea typeface="黑体" panose="02010609060101010101" charset="-122"/>
              </a:rPr>
              <a:t>优化后状态</a:t>
            </a:r>
            <a:endParaRPr lang="zh-CN" altLang="en-US" sz="2800" b="1">
              <a:solidFill>
                <a:schemeClr val="bg1"/>
              </a:solidFill>
              <a:latin typeface="黑体" panose="02010609060101010101" charset="-122"/>
              <a:ea typeface="黑体" panose="02010609060101010101" charset="-122"/>
            </a:endParaRPr>
          </a:p>
        </p:txBody>
      </p:sp>
      <p:sp>
        <p:nvSpPr>
          <p:cNvPr id="41" name="矩形 40"/>
          <p:cNvSpPr/>
          <p:nvPr/>
        </p:nvSpPr>
        <p:spPr>
          <a:xfrm>
            <a:off x="9331960" y="3246120"/>
            <a:ext cx="1830070" cy="452755"/>
          </a:xfrm>
          <a:prstGeom prst="rect">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rPr>
              <a:t>候选框</a:t>
            </a:r>
            <a:endParaRPr lang="zh-CN" altLang="en-US" b="1">
              <a:solidFill>
                <a:schemeClr val="tx1"/>
              </a:solidFill>
            </a:endParaRPr>
          </a:p>
        </p:txBody>
      </p:sp>
      <p:sp>
        <p:nvSpPr>
          <p:cNvPr id="42" name="矩形 41"/>
          <p:cNvSpPr/>
          <p:nvPr/>
        </p:nvSpPr>
        <p:spPr>
          <a:xfrm>
            <a:off x="9331960" y="4626610"/>
            <a:ext cx="1830070" cy="452755"/>
          </a:xfrm>
          <a:prstGeom prst="rect">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sym typeface="+mn-ea"/>
              </a:rPr>
              <a:t>候选框</a:t>
            </a:r>
            <a:endParaRPr lang="zh-CN" altLang="en-US" b="1">
              <a:solidFill>
                <a:schemeClr val="tx1"/>
              </a:solidFill>
              <a:sym typeface="+mn-ea"/>
            </a:endParaRPr>
          </a:p>
        </p:txBody>
      </p:sp>
      <p:cxnSp>
        <p:nvCxnSpPr>
          <p:cNvPr id="44" name="直接连接符 43"/>
          <p:cNvCxnSpPr/>
          <p:nvPr/>
        </p:nvCxnSpPr>
        <p:spPr>
          <a:xfrm>
            <a:off x="9192895" y="3905885"/>
            <a:ext cx="0" cy="648335"/>
          </a:xfrm>
          <a:prstGeom prst="line">
            <a:avLst/>
          </a:prstGeom>
          <a:ln w="57150">
            <a:solidFill>
              <a:schemeClr val="bg1"/>
            </a:solidFill>
            <a:prstDash val="sysDot"/>
          </a:ln>
        </p:spPr>
        <p:style>
          <a:lnRef idx="2">
            <a:schemeClr val="accent1"/>
          </a:lnRef>
          <a:fillRef idx="0">
            <a:srgbClr val="FFFFFF"/>
          </a:fillRef>
          <a:effectRef idx="0">
            <a:srgbClr val="FFFFFF"/>
          </a:effectRef>
          <a:fontRef idx="minor">
            <a:schemeClr val="tx1"/>
          </a:fontRef>
        </p:style>
      </p:cxnSp>
      <p:sp>
        <p:nvSpPr>
          <p:cNvPr id="45" name="矩形 44"/>
          <p:cNvSpPr/>
          <p:nvPr/>
        </p:nvSpPr>
        <p:spPr>
          <a:xfrm>
            <a:off x="9335770" y="2606040"/>
            <a:ext cx="1830070" cy="452755"/>
          </a:xfrm>
          <a:prstGeom prst="rect">
            <a:avLst/>
          </a:prstGeom>
          <a:solidFill>
            <a:schemeClr val="accent6">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tx1"/>
                </a:solidFill>
              </a:rPr>
              <a:t>真实框</a:t>
            </a:r>
            <a:endParaRPr lang="zh-CN" altLang="en-US" b="1">
              <a:solidFill>
                <a:schemeClr val="tx1"/>
              </a:solidFill>
            </a:endParaRPr>
          </a:p>
        </p:txBody>
      </p:sp>
      <p:sp>
        <p:nvSpPr>
          <p:cNvPr id="46" name="文本框 45"/>
          <p:cNvSpPr txBox="1"/>
          <p:nvPr/>
        </p:nvSpPr>
        <p:spPr>
          <a:xfrm>
            <a:off x="4007485" y="5937250"/>
            <a:ext cx="4064000" cy="460375"/>
          </a:xfrm>
          <a:prstGeom prst="rect">
            <a:avLst/>
          </a:prstGeom>
          <a:noFill/>
        </p:spPr>
        <p:txBody>
          <a:bodyPr wrap="square" rtlCol="0">
            <a:spAutoFit/>
          </a:bodyPr>
          <a:p>
            <a:r>
              <a:rPr lang="zh-CN" altLang="en-US" sz="2400">
                <a:solidFill>
                  <a:srgbClr val="FF0000"/>
                </a:solidFill>
              </a:rPr>
              <a:t>优化后真实数据的排名提高</a:t>
            </a:r>
            <a:endParaRPr lang="zh-CN" altLang="en-US" sz="2400">
              <a:solidFill>
                <a:srgbClr val="FF0000"/>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p:cNvGrpSpPr/>
        <p:nvPr/>
      </p:nvGrpSpPr>
      <p:grpSpPr/>
      <p:sp>
        <p:nvSpPr>
          <p:cNvPr id="18" name="矩形 17"/>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CALIBRATION</a:t>
            </a:r>
            <a:endParaRPr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反馈式校准通过重标定分数改善候选排序</a:t>
            </a:r>
            <a:endParaRPr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4" name="矩形 3"/>
          <p:cNvSpPr>
            <a:spLocks noGrp="1"/>
          </p:cNvSpPr>
          <p:nvPr/>
        </p:nvSpPr>
        <p:spPr>
          <a:xfrm>
            <a:off x="1123950" y="2381250"/>
            <a:ext cx="2047875" cy="342900"/>
          </a:xfrm>
          <a:prstGeom prst="rect">
            <a:avLst/>
          </a:prstGeom>
          <a:noFill/>
          <a:ln w="0">
            <a:noFill/>
            <a:prstDash val="solid"/>
          </a:ln>
        </p:spPr>
        <p:txBody>
          <a:bodyPr anchor="ctr"/>
          <a:lstStyle/>
          <a:p>
            <a:pPr algn="ctr">
              <a:buNone/>
              <a:defRPr sz="1875" b="1">
                <a:solidFill>
                  <a:srgbClr val="102A43"/>
                </a:solidFill>
              </a:defRPr>
            </a:pPr>
            <a:r>
              <a:rPr sz="1875" b="1">
                <a:solidFill>
                  <a:srgbClr val="102A43"/>
                </a:solidFill>
              </a:rPr>
              <a:t>候选状态特征</a:t>
            </a:r>
            <a:endParaRPr sz="1875" b="1">
              <a:solidFill>
                <a:srgbClr val="102A43"/>
              </a:solidFill>
            </a:endParaRPr>
          </a:p>
        </p:txBody>
      </p:sp>
      <p:sp>
        <p:nvSpPr>
          <p:cNvPr id="5" name="矩形 4"/>
          <p:cNvSpPr>
            <a:spLocks noGrp="1"/>
          </p:cNvSpPr>
          <p:nvPr/>
        </p:nvSpPr>
        <p:spPr>
          <a:xfrm>
            <a:off x="5048250" y="2381250"/>
            <a:ext cx="2095500" cy="342900"/>
          </a:xfrm>
          <a:prstGeom prst="rect">
            <a:avLst/>
          </a:prstGeom>
          <a:noFill/>
          <a:ln w="0">
            <a:noFill/>
            <a:prstDash val="solid"/>
          </a:ln>
        </p:spPr>
        <p:txBody>
          <a:bodyPr anchor="ctr"/>
          <a:lstStyle/>
          <a:p>
            <a:pPr algn="ctr">
              <a:buNone/>
              <a:defRPr sz="1875" b="1">
                <a:solidFill>
                  <a:srgbClr val="102A43"/>
                </a:solidFill>
              </a:defRPr>
            </a:pPr>
            <a:r>
              <a:rPr sz="1875" b="1">
                <a:solidFill>
                  <a:srgbClr val="102A43"/>
                </a:solidFill>
              </a:rPr>
              <a:t>保留概率 p_keep</a:t>
            </a:r>
            <a:endParaRPr sz="1875" b="1">
              <a:solidFill>
                <a:srgbClr val="102A43"/>
              </a:solidFill>
            </a:endParaRPr>
          </a:p>
        </p:txBody>
      </p:sp>
      <p:sp>
        <p:nvSpPr>
          <p:cNvPr id="6" name="矩形 5"/>
          <p:cNvSpPr>
            <a:spLocks noGrp="1"/>
          </p:cNvSpPr>
          <p:nvPr/>
        </p:nvSpPr>
        <p:spPr>
          <a:xfrm>
            <a:off x="8858250" y="2381250"/>
            <a:ext cx="2095500" cy="342900"/>
          </a:xfrm>
          <a:prstGeom prst="rect">
            <a:avLst/>
          </a:prstGeom>
          <a:noFill/>
          <a:ln w="0">
            <a:noFill/>
            <a:prstDash val="solid"/>
          </a:ln>
        </p:spPr>
        <p:txBody>
          <a:bodyPr anchor="ctr"/>
          <a:lstStyle/>
          <a:p>
            <a:pPr algn="ctr">
              <a:buNone/>
              <a:defRPr sz="1875" b="1">
                <a:solidFill>
                  <a:srgbClr val="102A43"/>
                </a:solidFill>
              </a:defRPr>
            </a:pPr>
            <a:r>
              <a:rPr sz="1875" b="1">
                <a:solidFill>
                  <a:srgbClr val="102A43"/>
                </a:solidFill>
              </a:rPr>
              <a:t>校准后分数</a:t>
            </a:r>
            <a:endParaRPr sz="1875" b="1">
              <a:solidFill>
                <a:srgbClr val="102A43"/>
              </a:solidFill>
            </a:endParaRPr>
          </a:p>
        </p:txBody>
      </p:sp>
      <p:sp>
        <p:nvSpPr>
          <p:cNvPr id="7" name="直接连接符 6"/>
          <p:cNvSpPr>
            <a:spLocks noGrp="1"/>
          </p:cNvSpPr>
          <p:nvPr/>
        </p:nvSpPr>
        <p:spPr>
          <a:xfrm>
            <a:off x="3333750" y="2571750"/>
            <a:ext cx="1333500" cy="0"/>
          </a:xfrm>
          <a:prstGeom prst="line">
            <a:avLst/>
          </a:prstGeom>
          <a:ln w="38100">
            <a:solidFill>
              <a:srgbClr val="18A999"/>
            </a:solidFill>
            <a:prstDash val="solid"/>
          </a:ln>
        </p:spPr>
      </p:sp>
      <p:sp>
        <p:nvSpPr>
          <p:cNvPr id="8" name="直接连接符 7"/>
          <p:cNvSpPr>
            <a:spLocks noGrp="1"/>
          </p:cNvSpPr>
          <p:nvPr/>
        </p:nvSpPr>
        <p:spPr>
          <a:xfrm>
            <a:off x="7286625" y="2571750"/>
            <a:ext cx="1238250" cy="0"/>
          </a:xfrm>
          <a:prstGeom prst="line">
            <a:avLst/>
          </a:prstGeom>
          <a:ln w="38100">
            <a:solidFill>
              <a:srgbClr val="18A999"/>
            </a:solidFill>
            <a:prstDash val="solid"/>
          </a:ln>
        </p:spPr>
      </p:sp>
      <p:sp>
        <p:nvSpPr>
          <p:cNvPr id="9" name="圆角矩形 8"/>
          <p:cNvSpPr>
            <a:spLocks noGrp="1"/>
          </p:cNvSpPr>
          <p:nvPr/>
        </p:nvSpPr>
        <p:spPr>
          <a:xfrm>
            <a:off x="952500" y="3000375"/>
            <a:ext cx="2381250" cy="1257300"/>
          </a:xfrm>
          <a:prstGeom prst="roundRect">
            <a:avLst>
              <a:gd name="adj" fmla="val 9091"/>
            </a:avLst>
          </a:prstGeom>
          <a:solidFill>
            <a:srgbClr val="FFFFFF"/>
          </a:solidFill>
          <a:ln w="9525">
            <a:solidFill>
              <a:srgbClr val="D7E1EA"/>
            </a:solidFill>
            <a:prstDash val="solid"/>
          </a:ln>
        </p:spPr>
      </p:sp>
      <p:sp>
        <p:nvSpPr>
          <p:cNvPr id="10" name="矩形 9"/>
          <p:cNvSpPr>
            <a:spLocks noGrp="1"/>
          </p:cNvSpPr>
          <p:nvPr/>
        </p:nvSpPr>
        <p:spPr>
          <a:xfrm>
            <a:off x="1095375" y="3305175"/>
            <a:ext cx="2095500" cy="571500"/>
          </a:xfrm>
          <a:prstGeom prst="rect">
            <a:avLst/>
          </a:prstGeom>
          <a:noFill/>
          <a:ln w="0">
            <a:noFill/>
            <a:prstDash val="solid"/>
          </a:ln>
        </p:spPr>
        <p:txBody>
          <a:bodyPr anchor="ctr"/>
          <a:lstStyle/>
          <a:p>
            <a:pPr algn="ctr">
              <a:buNone/>
              <a:defRPr sz="1500" b="1">
                <a:solidFill>
                  <a:srgbClr val="64748B"/>
                </a:solidFill>
              </a:defRPr>
            </a:pPr>
            <a:r>
              <a:rPr sz="1500" b="1">
                <a:solidFill>
                  <a:srgbClr val="64748B"/>
                </a:solidFill>
              </a:rPr>
              <a:t>分数 · 几何 · 类别</a:t>
            </a:r>
            <a:endParaRPr sz="1500" b="1">
              <a:solidFill>
                <a:srgbClr val="64748B"/>
              </a:solidFill>
            </a:endParaRPr>
          </a:p>
          <a:p>
            <a:pPr algn="ctr">
              <a:buNone/>
              <a:defRPr sz="1500" b="1">
                <a:solidFill>
                  <a:srgbClr val="64748B"/>
                </a:solidFill>
              </a:defRPr>
            </a:pPr>
            <a:r>
              <a:rPr sz="1500" b="1">
                <a:solidFill>
                  <a:srgbClr val="64748B"/>
                </a:solidFill>
              </a:rPr>
              <a:t>来源 · 排名 · 小目标特征</a:t>
            </a:r>
            <a:endParaRPr sz="1500" b="1">
              <a:solidFill>
                <a:srgbClr val="64748B"/>
              </a:solidFill>
            </a:endParaRPr>
          </a:p>
        </p:txBody>
      </p:sp>
      <p:sp>
        <p:nvSpPr>
          <p:cNvPr id="11" name="圆角矩形 10"/>
          <p:cNvSpPr>
            <a:spLocks noGrp="1"/>
          </p:cNvSpPr>
          <p:nvPr/>
        </p:nvSpPr>
        <p:spPr>
          <a:xfrm>
            <a:off x="4810125" y="3000375"/>
            <a:ext cx="2571750" cy="1257300"/>
          </a:xfrm>
          <a:prstGeom prst="roundRect">
            <a:avLst>
              <a:gd name="adj" fmla="val 9091"/>
            </a:avLst>
          </a:prstGeom>
          <a:solidFill>
            <a:srgbClr val="E9F4FD"/>
          </a:solidFill>
          <a:ln w="0">
            <a:noFill/>
            <a:prstDash val="solid"/>
          </a:ln>
        </p:spPr>
      </p:sp>
      <p:sp>
        <p:nvSpPr>
          <p:cNvPr id="12" name="矩形 11"/>
          <p:cNvSpPr>
            <a:spLocks noGrp="1"/>
          </p:cNvSpPr>
          <p:nvPr/>
        </p:nvSpPr>
        <p:spPr>
          <a:xfrm>
            <a:off x="4953000" y="3305175"/>
            <a:ext cx="2286000" cy="571500"/>
          </a:xfrm>
          <a:prstGeom prst="rect">
            <a:avLst/>
          </a:prstGeom>
          <a:noFill/>
          <a:ln w="0">
            <a:noFill/>
            <a:prstDash val="solid"/>
          </a:ln>
        </p:spPr>
        <p:txBody>
          <a:bodyPr anchor="ctr"/>
          <a:lstStyle/>
          <a:p>
            <a:pPr algn="ctr">
              <a:buNone/>
              <a:defRPr sz="1800" b="1">
                <a:solidFill>
                  <a:srgbClr val="18A999"/>
                </a:solidFill>
              </a:defRPr>
            </a:pPr>
            <a:r>
              <a:rPr sz="1800" b="1">
                <a:solidFill>
                  <a:srgbClr val="18A999"/>
                </a:solidFill>
              </a:rPr>
              <a:t>轻量校准器</a:t>
            </a:r>
            <a:endParaRPr sz="1800" b="1">
              <a:solidFill>
                <a:srgbClr val="18A999"/>
              </a:solidFill>
            </a:endParaRPr>
          </a:p>
          <a:p>
            <a:pPr algn="ctr">
              <a:buNone/>
              <a:defRPr sz="1800" b="1">
                <a:solidFill>
                  <a:srgbClr val="18A999"/>
                </a:solidFill>
              </a:defRPr>
            </a:pPr>
            <a:r>
              <a:rPr sz="1800" b="1">
                <a:solidFill>
                  <a:srgbClr val="18A999"/>
                </a:solidFill>
              </a:rPr>
              <a:t>输出候选保留概率</a:t>
            </a:r>
            <a:endParaRPr sz="1800" b="1">
              <a:solidFill>
                <a:srgbClr val="18A999"/>
              </a:solidFill>
            </a:endParaRPr>
          </a:p>
        </p:txBody>
      </p:sp>
      <p:sp>
        <p:nvSpPr>
          <p:cNvPr id="13" name="圆角矩形 12"/>
          <p:cNvSpPr>
            <a:spLocks noGrp="1"/>
          </p:cNvSpPr>
          <p:nvPr/>
        </p:nvSpPr>
        <p:spPr>
          <a:xfrm>
            <a:off x="8667750" y="3000375"/>
            <a:ext cx="2381250" cy="1257300"/>
          </a:xfrm>
          <a:prstGeom prst="roundRect">
            <a:avLst>
              <a:gd name="adj" fmla="val 9091"/>
            </a:avLst>
          </a:prstGeom>
          <a:solidFill>
            <a:srgbClr val="FCEFE2"/>
          </a:solidFill>
          <a:ln w="0">
            <a:noFill/>
            <a:prstDash val="solid"/>
          </a:ln>
        </p:spPr>
      </p:sp>
      <p:sp>
        <p:nvSpPr>
          <p:cNvPr id="14" name="矩形 13"/>
          <p:cNvSpPr>
            <a:spLocks noGrp="1"/>
          </p:cNvSpPr>
          <p:nvPr/>
        </p:nvSpPr>
        <p:spPr>
          <a:xfrm>
            <a:off x="8810625" y="3305175"/>
            <a:ext cx="2095500" cy="571500"/>
          </a:xfrm>
          <a:prstGeom prst="rect">
            <a:avLst/>
          </a:prstGeom>
          <a:noFill/>
          <a:ln w="0">
            <a:noFill/>
            <a:prstDash val="solid"/>
          </a:ln>
        </p:spPr>
        <p:txBody>
          <a:bodyPr anchor="ctr"/>
          <a:lstStyle/>
          <a:p>
            <a:pPr algn="ctr">
              <a:buNone/>
              <a:defRPr sz="1800" b="1">
                <a:solidFill>
                  <a:srgbClr val="F28C28"/>
                </a:solidFill>
              </a:defRPr>
            </a:pPr>
            <a:r>
              <a:rPr sz="1800" b="1">
                <a:solidFill>
                  <a:srgbClr val="F28C28"/>
                </a:solidFill>
              </a:rPr>
              <a:t>重排序</a:t>
            </a:r>
            <a:endParaRPr sz="1800" b="1">
              <a:solidFill>
                <a:srgbClr val="F28C28"/>
              </a:solidFill>
            </a:endParaRPr>
          </a:p>
          <a:p>
            <a:pPr algn="ctr">
              <a:buNone/>
              <a:defRPr sz="1800" b="1">
                <a:solidFill>
                  <a:srgbClr val="F28C28"/>
                </a:solidFill>
              </a:defRPr>
            </a:pPr>
            <a:r>
              <a:rPr sz="1800" b="1">
                <a:solidFill>
                  <a:srgbClr val="F28C28"/>
                </a:solidFill>
              </a:rPr>
              <a:t>得到最终输出</a:t>
            </a:r>
            <a:endParaRPr sz="1800" b="1">
              <a:solidFill>
                <a:srgbClr val="F28C28"/>
              </a:solidFill>
            </a:endParaRPr>
          </a:p>
        </p:txBody>
      </p:sp>
      <p:sp>
        <p:nvSpPr>
          <p:cNvPr id="16" name="矩形 15"/>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7" name="矩形 16"/>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09</a:t>
            </a:r>
            <a:endParaRPr sz="900" b="1">
              <a:solidFill>
                <a:srgbClr val="18A999"/>
              </a:solidFill>
            </a:endParaRPr>
          </a:p>
        </p:txBody>
      </p:sp>
      <p:sp>
        <p:nvSpPr>
          <p:cNvPr id="19" name="矩形 18"/>
          <p:cNvSpPr>
            <a:spLocks noGrp="1"/>
          </p:cNvSpPr>
          <p:nvPr/>
        </p:nvSpPr>
        <p:spPr>
          <a:xfrm>
            <a:off x="952500" y="4495800"/>
            <a:ext cx="323850" cy="38100"/>
          </a:xfrm>
          <a:prstGeom prst="rect">
            <a:avLst/>
          </a:prstGeom>
          <a:solidFill>
            <a:srgbClr val="1FAF9F"/>
          </a:solidFill>
          <a:ln w="0">
            <a:solidFill>
              <a:srgbClr val="1FAF9F"/>
            </a:solidFill>
            <a:prstDash val="solid"/>
          </a:ln>
        </p:spPr>
      </p:sp>
      <p:sp>
        <p:nvSpPr>
          <p:cNvPr id="20" name="矩形 19"/>
          <p:cNvSpPr>
            <a:spLocks noGrp="1"/>
          </p:cNvSpPr>
          <p:nvPr/>
        </p:nvSpPr>
        <p:spPr>
          <a:xfrm>
            <a:off x="876300" y="4572000"/>
            <a:ext cx="2286000" cy="228600"/>
          </a:xfrm>
          <a:prstGeom prst="rect">
            <a:avLst/>
          </a:prstGeom>
          <a:noFill/>
          <a:ln w="0">
            <a:noFill/>
            <a:prstDash val="solid"/>
          </a:ln>
        </p:spPr>
        <p:txBody>
          <a:bodyPr anchor="ctr"/>
          <a:lstStyle/>
          <a:p>
            <a:pPr>
              <a:buNone/>
              <a:defRPr sz="1125" b="1">
                <a:solidFill>
                  <a:srgbClr val="64748B"/>
                </a:solidFill>
              </a:defRPr>
            </a:pPr>
            <a:r>
              <a:rPr sz="1125" b="1">
                <a:solidFill>
                  <a:srgbClr val="64748B"/>
                </a:solidFill>
              </a:rPr>
              <a:t>固定候选集</a:t>
            </a:r>
            <a:endParaRPr sz="1125" b="1">
              <a:solidFill>
                <a:srgbClr val="64748B"/>
              </a:solidFill>
            </a:endParaRPr>
          </a:p>
        </p:txBody>
      </p:sp>
      <p:sp>
        <p:nvSpPr>
          <p:cNvPr id="21" name="矩形 20"/>
          <p:cNvSpPr>
            <a:spLocks noGrp="1"/>
          </p:cNvSpPr>
          <p:nvPr/>
        </p:nvSpPr>
        <p:spPr>
          <a:xfrm>
            <a:off x="4800600" y="4495800"/>
            <a:ext cx="323850" cy="38100"/>
          </a:xfrm>
          <a:prstGeom prst="rect">
            <a:avLst/>
          </a:prstGeom>
          <a:solidFill>
            <a:srgbClr val="1FAF9F"/>
          </a:solidFill>
          <a:ln w="0">
            <a:solidFill>
              <a:srgbClr val="1FAF9F"/>
            </a:solidFill>
            <a:prstDash val="solid"/>
          </a:ln>
        </p:spPr>
      </p:sp>
      <p:sp>
        <p:nvSpPr>
          <p:cNvPr id="22" name="矩形 21"/>
          <p:cNvSpPr>
            <a:spLocks noGrp="1"/>
          </p:cNvSpPr>
          <p:nvPr/>
        </p:nvSpPr>
        <p:spPr>
          <a:xfrm>
            <a:off x="4724400" y="4572000"/>
            <a:ext cx="2286000" cy="228600"/>
          </a:xfrm>
          <a:prstGeom prst="rect">
            <a:avLst/>
          </a:prstGeom>
          <a:noFill/>
          <a:ln w="0">
            <a:noFill/>
            <a:prstDash val="solid"/>
          </a:ln>
        </p:spPr>
        <p:txBody>
          <a:bodyPr anchor="ctr"/>
          <a:lstStyle/>
          <a:p>
            <a:pPr>
              <a:buNone/>
              <a:defRPr sz="1125" b="1">
                <a:solidFill>
                  <a:srgbClr val="64748B"/>
                </a:solidFill>
              </a:defRPr>
            </a:pPr>
            <a:r>
              <a:rPr sz="1125" b="1">
                <a:solidFill>
                  <a:srgbClr val="64748B"/>
                </a:solidFill>
              </a:rPr>
              <a:t>仅重标定分数</a:t>
            </a:r>
            <a:endParaRPr sz="1125" b="1">
              <a:solidFill>
                <a:srgbClr val="64748B"/>
              </a:solidFill>
            </a:endParaRPr>
          </a:p>
        </p:txBody>
      </p:sp>
      <p:sp>
        <p:nvSpPr>
          <p:cNvPr id="23" name="矩形 22"/>
          <p:cNvSpPr>
            <a:spLocks noGrp="1"/>
          </p:cNvSpPr>
          <p:nvPr/>
        </p:nvSpPr>
        <p:spPr>
          <a:xfrm>
            <a:off x="8648700" y="4495800"/>
            <a:ext cx="323850" cy="38100"/>
          </a:xfrm>
          <a:prstGeom prst="rect">
            <a:avLst/>
          </a:prstGeom>
          <a:solidFill>
            <a:srgbClr val="1FAF9F"/>
          </a:solidFill>
          <a:ln w="0">
            <a:solidFill>
              <a:srgbClr val="1FAF9F"/>
            </a:solidFill>
            <a:prstDash val="solid"/>
          </a:ln>
        </p:spPr>
      </p:sp>
      <p:sp>
        <p:nvSpPr>
          <p:cNvPr id="24" name="矩形 23"/>
          <p:cNvSpPr>
            <a:spLocks noGrp="1"/>
          </p:cNvSpPr>
          <p:nvPr/>
        </p:nvSpPr>
        <p:spPr>
          <a:xfrm>
            <a:off x="8572500" y="4572000"/>
            <a:ext cx="2286000" cy="228600"/>
          </a:xfrm>
          <a:prstGeom prst="rect">
            <a:avLst/>
          </a:prstGeom>
          <a:noFill/>
          <a:ln w="0">
            <a:noFill/>
            <a:prstDash val="solid"/>
          </a:ln>
        </p:spPr>
        <p:txBody>
          <a:bodyPr anchor="ctr"/>
          <a:lstStyle/>
          <a:p>
            <a:pPr>
              <a:buNone/>
              <a:defRPr sz="1125" b="1">
                <a:solidFill>
                  <a:srgbClr val="64748B"/>
                </a:solidFill>
              </a:defRPr>
            </a:pPr>
            <a:r>
              <a:rPr sz="1125" b="1">
                <a:solidFill>
                  <a:srgbClr val="64748B"/>
                </a:solidFill>
              </a:rPr>
              <a:t>类别与位置保持不变</a:t>
            </a:r>
            <a:endParaRPr sz="1125" b="1">
              <a:solidFill>
                <a:srgbClr val="64748B"/>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p:cNvGrpSpPr/>
        <p:nvPr/>
      </p:nvGrpSpPr>
      <p:grpSpPr/>
      <p:sp>
        <p:nvSpPr>
          <p:cNvPr id="19" name="矩形 18"/>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EXPERIMENT</a:t>
            </a:r>
            <a:endParaRPr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在固定测试集和统一评价协议下进行比较</a:t>
            </a:r>
            <a:endParaRPr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17" name="矩形 16"/>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8" name="矩形 17"/>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11</a:t>
            </a:r>
            <a:endParaRPr sz="900" b="1">
              <a:solidFill>
                <a:srgbClr val="18A999"/>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p:cNvGrpSpPr/>
        <p:nvPr/>
      </p:nvGrpSpPr>
      <p:grpSpPr/>
      <p:sp>
        <p:nvSpPr>
          <p:cNvPr id="14" name="矩形 13"/>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MAIN RESULTS</a:t>
            </a:r>
            <a:endParaRPr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完整在线流程在候选数量不变时将 mAP@0.5 提升至 0.1690</a:t>
            </a:r>
            <a:endParaRPr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pic>
        <p:nvPicPr>
          <p:cNvPr id="19" name="图片 18"/>
          <p:cNvPicPr>
            <a:picLocks noChangeAspect="1"/>
          </p:cNvPicPr>
          <p:nvPr/>
        </p:nvPicPr>
        <p:blipFill>
          <a:blip r:embed="rId1"/>
          <a:stretch>
            <a:fillRect/>
          </a:stretch>
        </p:blipFill>
        <p:spPr>
          <a:xfrm>
            <a:off x="685800" y="1920623"/>
            <a:ext cx="6667500" cy="3645404"/>
          </a:xfrm>
          <a:prstGeom prst="roundRect">
            <a:avLst>
              <a:gd name="adj" fmla="val 3077"/>
            </a:avLst>
          </a:prstGeom>
        </p:spPr>
      </p:pic>
      <p:sp>
        <p:nvSpPr>
          <p:cNvPr id="5" name="圆角矩形 4"/>
          <p:cNvSpPr>
            <a:spLocks noGrp="1"/>
          </p:cNvSpPr>
          <p:nvPr/>
        </p:nvSpPr>
        <p:spPr>
          <a:xfrm>
            <a:off x="7858125" y="2143125"/>
            <a:ext cx="3143250" cy="1143000"/>
          </a:xfrm>
          <a:prstGeom prst="roundRect">
            <a:avLst>
              <a:gd name="adj" fmla="val 10000"/>
            </a:avLst>
          </a:prstGeom>
          <a:solidFill>
            <a:srgbClr val="E8F5F2"/>
          </a:solidFill>
          <a:ln w="0">
            <a:noFill/>
            <a:prstDash val="solid"/>
          </a:ln>
        </p:spPr>
      </p:sp>
      <p:sp>
        <p:nvSpPr>
          <p:cNvPr id="6" name="矩形 5"/>
          <p:cNvSpPr>
            <a:spLocks noGrp="1"/>
          </p:cNvSpPr>
          <p:nvPr/>
        </p:nvSpPr>
        <p:spPr>
          <a:xfrm>
            <a:off x="8115300" y="2362200"/>
            <a:ext cx="1524000" cy="266700"/>
          </a:xfrm>
          <a:prstGeom prst="rect">
            <a:avLst/>
          </a:prstGeom>
          <a:noFill/>
          <a:ln w="0">
            <a:noFill/>
            <a:prstDash val="solid"/>
          </a:ln>
        </p:spPr>
        <p:txBody>
          <a:bodyPr anchor="ctr"/>
          <a:lstStyle/>
          <a:p>
            <a:pPr algn="l">
              <a:buNone/>
              <a:defRPr sz="1500" b="1">
                <a:solidFill>
                  <a:srgbClr val="64748B"/>
                </a:solidFill>
              </a:defRPr>
            </a:pPr>
            <a:r>
              <a:rPr sz="1500" b="1">
                <a:solidFill>
                  <a:srgbClr val="64748B"/>
                </a:solidFill>
              </a:rPr>
              <a:t>mAP@0.5</a:t>
            </a:r>
            <a:endParaRPr sz="1500" b="1">
              <a:solidFill>
                <a:srgbClr val="64748B"/>
              </a:solidFill>
            </a:endParaRPr>
          </a:p>
        </p:txBody>
      </p:sp>
      <p:sp>
        <p:nvSpPr>
          <p:cNvPr id="7" name="矩形 6"/>
          <p:cNvSpPr>
            <a:spLocks noGrp="1"/>
          </p:cNvSpPr>
          <p:nvPr/>
        </p:nvSpPr>
        <p:spPr>
          <a:xfrm>
            <a:off x="8115300" y="2667000"/>
            <a:ext cx="2095500" cy="495300"/>
          </a:xfrm>
          <a:prstGeom prst="rect">
            <a:avLst/>
          </a:prstGeom>
          <a:noFill/>
          <a:ln w="0">
            <a:noFill/>
            <a:prstDash val="solid"/>
          </a:ln>
        </p:spPr>
        <p:txBody>
          <a:bodyPr anchor="ctr"/>
          <a:lstStyle/>
          <a:p>
            <a:pPr algn="l">
              <a:buNone/>
              <a:defRPr sz="3150" b="1">
                <a:solidFill>
                  <a:srgbClr val="18A999"/>
                </a:solidFill>
              </a:defRPr>
            </a:pPr>
            <a:r>
              <a:rPr sz="3150" b="1">
                <a:solidFill>
                  <a:srgbClr val="18A999"/>
                </a:solidFill>
              </a:rPr>
              <a:t>0.1690</a:t>
            </a:r>
            <a:endParaRPr sz="3150" b="1">
              <a:solidFill>
                <a:srgbClr val="18A999"/>
              </a:solidFill>
            </a:endParaRPr>
          </a:p>
        </p:txBody>
      </p:sp>
      <p:sp>
        <p:nvSpPr>
          <p:cNvPr id="8" name="圆角矩形 7"/>
          <p:cNvSpPr>
            <a:spLocks noGrp="1"/>
          </p:cNvSpPr>
          <p:nvPr/>
        </p:nvSpPr>
        <p:spPr>
          <a:xfrm>
            <a:off x="7858125" y="3571875"/>
            <a:ext cx="3143250" cy="1143000"/>
          </a:xfrm>
          <a:prstGeom prst="roundRect">
            <a:avLst>
              <a:gd name="adj" fmla="val 10000"/>
            </a:avLst>
          </a:prstGeom>
          <a:solidFill>
            <a:srgbClr val="FCEFE2"/>
          </a:solidFill>
          <a:ln w="0">
            <a:noFill/>
            <a:prstDash val="solid"/>
          </a:ln>
        </p:spPr>
      </p:sp>
      <p:sp>
        <p:nvSpPr>
          <p:cNvPr id="9" name="矩形 8"/>
          <p:cNvSpPr>
            <a:spLocks noGrp="1"/>
          </p:cNvSpPr>
          <p:nvPr/>
        </p:nvSpPr>
        <p:spPr>
          <a:xfrm>
            <a:off x="8115300" y="3790950"/>
            <a:ext cx="1524000" cy="266700"/>
          </a:xfrm>
          <a:prstGeom prst="rect">
            <a:avLst/>
          </a:prstGeom>
          <a:noFill/>
          <a:ln w="0">
            <a:noFill/>
            <a:prstDash val="solid"/>
          </a:ln>
        </p:spPr>
        <p:txBody>
          <a:bodyPr anchor="ctr"/>
          <a:lstStyle/>
          <a:p>
            <a:pPr algn="l">
              <a:buNone/>
              <a:defRPr sz="1500" b="1">
                <a:solidFill>
                  <a:srgbClr val="64748B"/>
                </a:solidFill>
              </a:defRPr>
            </a:pPr>
            <a:r>
              <a:rPr sz="1500" b="1">
                <a:solidFill>
                  <a:srgbClr val="64748B"/>
                </a:solidFill>
              </a:rPr>
              <a:t>Acc@0.75</a:t>
            </a:r>
            <a:endParaRPr sz="1500" b="1">
              <a:solidFill>
                <a:srgbClr val="64748B"/>
              </a:solidFill>
            </a:endParaRPr>
          </a:p>
        </p:txBody>
      </p:sp>
      <p:sp>
        <p:nvSpPr>
          <p:cNvPr id="10" name="矩形 9"/>
          <p:cNvSpPr>
            <a:spLocks noGrp="1"/>
          </p:cNvSpPr>
          <p:nvPr/>
        </p:nvSpPr>
        <p:spPr>
          <a:xfrm>
            <a:off x="8115300" y="4095750"/>
            <a:ext cx="2095500" cy="495300"/>
          </a:xfrm>
          <a:prstGeom prst="rect">
            <a:avLst/>
          </a:prstGeom>
          <a:noFill/>
          <a:ln w="0">
            <a:noFill/>
            <a:prstDash val="solid"/>
          </a:ln>
        </p:spPr>
        <p:txBody>
          <a:bodyPr anchor="ctr"/>
          <a:lstStyle/>
          <a:p>
            <a:pPr algn="l">
              <a:buNone/>
              <a:defRPr sz="3150" b="1">
                <a:solidFill>
                  <a:srgbClr val="F28C28"/>
                </a:solidFill>
              </a:defRPr>
            </a:pPr>
            <a:r>
              <a:rPr sz="3150" b="1">
                <a:solidFill>
                  <a:srgbClr val="F28C28"/>
                </a:solidFill>
              </a:rPr>
              <a:t>0.3491</a:t>
            </a:r>
            <a:endParaRPr sz="3150" b="1">
              <a:solidFill>
                <a:srgbClr val="F28C28"/>
              </a:solidFill>
            </a:endParaRPr>
          </a:p>
        </p:txBody>
      </p:sp>
      <p:sp>
        <p:nvSpPr>
          <p:cNvPr id="11" name="矩形 10"/>
          <p:cNvSpPr>
            <a:spLocks noGrp="1"/>
          </p:cNvSpPr>
          <p:nvPr/>
        </p:nvSpPr>
        <p:spPr>
          <a:xfrm>
            <a:off x="7524750" y="5286375"/>
            <a:ext cx="3714750" cy="514350"/>
          </a:xfrm>
          <a:prstGeom prst="rect">
            <a:avLst/>
          </a:prstGeom>
          <a:noFill/>
          <a:ln w="0">
            <a:noFill/>
            <a:prstDash val="solid"/>
          </a:ln>
        </p:spPr>
        <p:txBody>
          <a:bodyPr anchor="ctr"/>
          <a:lstStyle/>
          <a:p>
            <a:pPr algn="ctr">
              <a:buNone/>
              <a:defRPr sz="1500" b="1">
                <a:solidFill>
                  <a:srgbClr val="102A43"/>
                </a:solidFill>
              </a:defRPr>
            </a:pPr>
            <a:r>
              <a:rPr sz="1500" b="1">
                <a:solidFill>
                  <a:srgbClr val="102A43"/>
                </a:solidFill>
              </a:rPr>
              <a:t>说明：提升主要来自候选排序质量，而非额外生成候选框。</a:t>
            </a:r>
            <a:endParaRPr sz="1500" b="1">
              <a:solidFill>
                <a:srgbClr val="102A43"/>
              </a:solidFill>
            </a:endParaRPr>
          </a:p>
        </p:txBody>
      </p:sp>
      <p:sp>
        <p:nvSpPr>
          <p:cNvPr id="12" name="矩形 11"/>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3" name="矩形 12"/>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12</a:t>
            </a:r>
            <a:endParaRPr sz="900" b="1">
              <a:solidFill>
                <a:srgbClr val="18A999"/>
              </a:solidFil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9" name="矩形 18"/>
          <p:cNvSpPr>
            <a:spLocks noGrp="1"/>
          </p:cNvSpPr>
          <p:nvPr/>
        </p:nvSpPr>
        <p:spPr>
          <a:xfrm>
            <a:off x="685800" y="419100"/>
            <a:ext cx="1905000" cy="177800"/>
          </a:xfrm>
          <a:prstGeom prst="rect">
            <a:avLst/>
          </a:prstGeom>
          <a:noFill/>
          <a:ln w="0">
            <a:noFill/>
            <a:prstDash val="solid"/>
          </a:ln>
        </p:spPr>
        <p:txBody>
          <a:bodyPr anchor="ctr"/>
          <a:lstStyle/>
          <a:p>
            <a:pPr algn="l">
              <a:buNone/>
              <a:defRPr sz="975" b="1">
                <a:solidFill>
                  <a:srgbClr val="18A999"/>
                </a:solidFill>
              </a:defRPr>
            </a:pPr>
            <a:r>
              <a:rPr lang="en-US" sz="975" b="1">
                <a:solidFill>
                  <a:srgbClr val="18A999"/>
                </a:solidFill>
              </a:rPr>
              <a:t>ACTION </a:t>
            </a:r>
            <a:r>
              <a:rPr lang="en-US" sz="975" b="1">
                <a:solidFill>
                  <a:srgbClr val="18A999"/>
                </a:solidFill>
              </a:rPr>
              <a:t>REWARD</a:t>
            </a:r>
            <a:endParaRPr lang="en-US"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lang="zh-CN" sz="2700" b="1">
                <a:solidFill>
                  <a:srgbClr val="102A43"/>
                </a:solidFill>
              </a:rPr>
              <a:t>强化学习模块的动作空间和</a:t>
            </a:r>
            <a:r>
              <a:rPr lang="zh-CN" sz="2700" b="1">
                <a:solidFill>
                  <a:srgbClr val="102A43"/>
                </a:solidFill>
              </a:rPr>
              <a:t>奖励函数</a:t>
            </a:r>
            <a:endParaRPr lang="zh-CN"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4" name="圆角矩形 3"/>
          <p:cNvSpPr>
            <a:spLocks noGrp="1"/>
          </p:cNvSpPr>
          <p:nvPr>
            <p:custDataLst>
              <p:tags r:id="rId1"/>
            </p:custDataLst>
          </p:nvPr>
        </p:nvSpPr>
        <p:spPr>
          <a:xfrm>
            <a:off x="685800" y="2143125"/>
            <a:ext cx="3238500" cy="2381250"/>
          </a:xfrm>
          <a:prstGeom prst="roundRect">
            <a:avLst>
              <a:gd name="adj" fmla="val 4800"/>
            </a:avLst>
          </a:prstGeom>
          <a:solidFill>
            <a:srgbClr val="FFFFFF"/>
          </a:solidFill>
          <a:ln w="9525">
            <a:solidFill>
              <a:srgbClr val="D7E1EA"/>
            </a:solidFill>
            <a:prstDash val="solid"/>
          </a:ln>
        </p:spPr>
      </p:sp>
      <p:sp>
        <p:nvSpPr>
          <p:cNvPr id="5" name="矩形 4"/>
          <p:cNvSpPr>
            <a:spLocks noGrp="1"/>
          </p:cNvSpPr>
          <p:nvPr>
            <p:custDataLst>
              <p:tags r:id="rId2"/>
            </p:custDataLst>
          </p:nvPr>
        </p:nvSpPr>
        <p:spPr>
          <a:xfrm>
            <a:off x="685800" y="2143125"/>
            <a:ext cx="66675" cy="2381250"/>
          </a:xfrm>
          <a:prstGeom prst="rect">
            <a:avLst/>
          </a:prstGeom>
          <a:solidFill>
            <a:srgbClr val="F28C28"/>
          </a:solidFill>
          <a:ln w="0">
            <a:noFill/>
            <a:prstDash val="solid"/>
          </a:ln>
        </p:spPr>
      </p:sp>
      <p:sp>
        <p:nvSpPr>
          <p:cNvPr id="6" name="矩形 5"/>
          <p:cNvSpPr>
            <a:spLocks noGrp="1"/>
          </p:cNvSpPr>
          <p:nvPr>
            <p:custDataLst>
              <p:tags r:id="rId3"/>
            </p:custDataLst>
          </p:nvPr>
        </p:nvSpPr>
        <p:spPr>
          <a:xfrm>
            <a:off x="914400" y="2314575"/>
            <a:ext cx="2895600" cy="285750"/>
          </a:xfrm>
          <a:prstGeom prst="rect">
            <a:avLst/>
          </a:prstGeom>
          <a:noFill/>
          <a:ln w="0">
            <a:noFill/>
            <a:prstDash val="solid"/>
          </a:ln>
        </p:spPr>
        <p:txBody>
          <a:bodyPr anchor="ctr"/>
          <a:lstStyle/>
          <a:p>
            <a:pPr algn="l">
              <a:buNone/>
              <a:defRPr sz="1575" b="1">
                <a:solidFill>
                  <a:srgbClr val="102A43"/>
                </a:solidFill>
              </a:defRPr>
            </a:pPr>
            <a:r>
              <a:rPr sz="1575" b="1">
                <a:solidFill>
                  <a:srgbClr val="102A43"/>
                </a:solidFill>
              </a:rPr>
              <a:t>01  场景化候选扩展</a:t>
            </a:r>
            <a:endParaRPr sz="1575" b="1">
              <a:solidFill>
                <a:srgbClr val="102A43"/>
              </a:solidFill>
            </a:endParaRPr>
          </a:p>
        </p:txBody>
      </p:sp>
      <p:sp>
        <p:nvSpPr>
          <p:cNvPr id="7" name="矩形 6"/>
          <p:cNvSpPr>
            <a:spLocks noGrp="1"/>
          </p:cNvSpPr>
          <p:nvPr>
            <p:custDataLst>
              <p:tags r:id="rId4"/>
            </p:custDataLst>
          </p:nvPr>
        </p:nvSpPr>
        <p:spPr>
          <a:xfrm>
            <a:off x="914400" y="2676525"/>
            <a:ext cx="2857500" cy="1752600"/>
          </a:xfrm>
          <a:prstGeom prst="rect">
            <a:avLst/>
          </a:prstGeom>
          <a:noFill/>
          <a:ln w="0">
            <a:noFill/>
            <a:prstDash val="solid"/>
          </a:ln>
        </p:spPr>
        <p:txBody>
          <a:bodyPr anchor="ctr"/>
          <a:lstStyle/>
          <a:p>
            <a:pPr algn="l">
              <a:buNone/>
              <a:defRPr sz="1200" b="0">
                <a:solidFill>
                  <a:srgbClr val="64748B"/>
                </a:solidFill>
              </a:defRPr>
            </a:pPr>
            <a:r>
              <a:rPr sz="1600" b="0">
                <a:solidFill>
                  <a:srgbClr val="64748B"/>
                </a:solidFill>
              </a:rPr>
              <a:t>针对航拍小目标构建类别别名提示与低阈值候选生成策略，提升弱类别候选覆盖。</a:t>
            </a:r>
            <a:endParaRPr sz="1600" b="0">
              <a:solidFill>
                <a:srgbClr val="64748B"/>
              </a:solidFill>
            </a:endParaRPr>
          </a:p>
        </p:txBody>
      </p:sp>
      <p:sp>
        <p:nvSpPr>
          <p:cNvPr id="8" name="圆角矩形 7"/>
          <p:cNvSpPr>
            <a:spLocks noGrp="1"/>
          </p:cNvSpPr>
          <p:nvPr>
            <p:custDataLst>
              <p:tags r:id="rId5"/>
            </p:custDataLst>
          </p:nvPr>
        </p:nvSpPr>
        <p:spPr>
          <a:xfrm>
            <a:off x="4476750" y="2143125"/>
            <a:ext cx="3238500" cy="2381250"/>
          </a:xfrm>
          <a:prstGeom prst="roundRect">
            <a:avLst>
              <a:gd name="adj" fmla="val 4800"/>
            </a:avLst>
          </a:prstGeom>
          <a:solidFill>
            <a:srgbClr val="FFFFFF"/>
          </a:solidFill>
          <a:ln w="9525">
            <a:solidFill>
              <a:srgbClr val="D7E1EA"/>
            </a:solidFill>
            <a:prstDash val="solid"/>
          </a:ln>
        </p:spPr>
      </p:sp>
      <p:sp>
        <p:nvSpPr>
          <p:cNvPr id="9" name="矩形 8"/>
          <p:cNvSpPr>
            <a:spLocks noGrp="1"/>
          </p:cNvSpPr>
          <p:nvPr>
            <p:custDataLst>
              <p:tags r:id="rId6"/>
            </p:custDataLst>
          </p:nvPr>
        </p:nvSpPr>
        <p:spPr>
          <a:xfrm>
            <a:off x="4476750" y="2143125"/>
            <a:ext cx="66675" cy="2381250"/>
          </a:xfrm>
          <a:prstGeom prst="rect">
            <a:avLst/>
          </a:prstGeom>
          <a:solidFill>
            <a:srgbClr val="18A999"/>
          </a:solidFill>
          <a:ln w="0">
            <a:noFill/>
            <a:prstDash val="solid"/>
          </a:ln>
        </p:spPr>
      </p:sp>
      <p:sp>
        <p:nvSpPr>
          <p:cNvPr id="10" name="矩形 9"/>
          <p:cNvSpPr>
            <a:spLocks noGrp="1"/>
          </p:cNvSpPr>
          <p:nvPr>
            <p:custDataLst>
              <p:tags r:id="rId7"/>
            </p:custDataLst>
          </p:nvPr>
        </p:nvSpPr>
        <p:spPr>
          <a:xfrm>
            <a:off x="4705350" y="2314575"/>
            <a:ext cx="2895600" cy="285750"/>
          </a:xfrm>
          <a:prstGeom prst="rect">
            <a:avLst/>
          </a:prstGeom>
          <a:noFill/>
          <a:ln w="0">
            <a:noFill/>
            <a:prstDash val="solid"/>
          </a:ln>
        </p:spPr>
        <p:txBody>
          <a:bodyPr anchor="ctr"/>
          <a:lstStyle/>
          <a:p>
            <a:pPr algn="l">
              <a:buNone/>
              <a:defRPr sz="1575" b="1">
                <a:solidFill>
                  <a:srgbClr val="102A43"/>
                </a:solidFill>
              </a:defRPr>
            </a:pPr>
            <a:r>
              <a:rPr sz="1575" b="1">
                <a:solidFill>
                  <a:srgbClr val="102A43"/>
                </a:solidFill>
              </a:rPr>
              <a:t>02  富元信息重排序</a:t>
            </a:r>
            <a:endParaRPr sz="1575" b="1">
              <a:solidFill>
                <a:srgbClr val="102A43"/>
              </a:solidFill>
            </a:endParaRPr>
          </a:p>
        </p:txBody>
      </p:sp>
      <p:sp>
        <p:nvSpPr>
          <p:cNvPr id="11" name="矩形 10"/>
          <p:cNvSpPr>
            <a:spLocks noGrp="1"/>
          </p:cNvSpPr>
          <p:nvPr>
            <p:custDataLst>
              <p:tags r:id="rId8"/>
            </p:custDataLst>
          </p:nvPr>
        </p:nvSpPr>
        <p:spPr>
          <a:xfrm>
            <a:off x="4705350" y="2676525"/>
            <a:ext cx="2857500" cy="1752600"/>
          </a:xfrm>
          <a:prstGeom prst="rect">
            <a:avLst/>
          </a:prstGeom>
          <a:noFill/>
          <a:ln w="0">
            <a:noFill/>
            <a:prstDash val="solid"/>
          </a:ln>
        </p:spPr>
        <p:txBody>
          <a:bodyPr anchor="ctr"/>
          <a:lstStyle/>
          <a:p>
            <a:pPr algn="l">
              <a:buNone/>
              <a:defRPr sz="1200" b="0">
                <a:solidFill>
                  <a:srgbClr val="64748B"/>
                </a:solidFill>
              </a:defRPr>
            </a:pPr>
            <a:r>
              <a:rPr sz="1600" b="0">
                <a:solidFill>
                  <a:srgbClr val="64748B"/>
                </a:solidFill>
              </a:rPr>
              <a:t>融合原始分数、几何特征、类别与来源信息，显式刻画候选可靠性。</a:t>
            </a:r>
            <a:endParaRPr sz="1600" b="0">
              <a:solidFill>
                <a:srgbClr val="64748B"/>
              </a:solidFill>
            </a:endParaRPr>
          </a:p>
        </p:txBody>
      </p:sp>
      <p:sp>
        <p:nvSpPr>
          <p:cNvPr id="12" name="圆角矩形 11"/>
          <p:cNvSpPr>
            <a:spLocks noGrp="1"/>
          </p:cNvSpPr>
          <p:nvPr>
            <p:custDataLst>
              <p:tags r:id="rId9"/>
            </p:custDataLst>
          </p:nvPr>
        </p:nvSpPr>
        <p:spPr>
          <a:xfrm>
            <a:off x="8183880" y="2143125"/>
            <a:ext cx="3238500" cy="2381250"/>
          </a:xfrm>
          <a:prstGeom prst="roundRect">
            <a:avLst>
              <a:gd name="adj" fmla="val 4800"/>
            </a:avLst>
          </a:prstGeom>
          <a:solidFill>
            <a:srgbClr val="FFFFFF"/>
          </a:solidFill>
          <a:ln w="9525">
            <a:solidFill>
              <a:srgbClr val="D7E1EA"/>
            </a:solidFill>
            <a:prstDash val="solid"/>
          </a:ln>
        </p:spPr>
      </p:sp>
      <p:sp>
        <p:nvSpPr>
          <p:cNvPr id="13" name="矩形 12"/>
          <p:cNvSpPr>
            <a:spLocks noGrp="1"/>
          </p:cNvSpPr>
          <p:nvPr>
            <p:custDataLst>
              <p:tags r:id="rId10"/>
            </p:custDataLst>
          </p:nvPr>
        </p:nvSpPr>
        <p:spPr>
          <a:xfrm>
            <a:off x="8267700" y="2143125"/>
            <a:ext cx="66675" cy="2381250"/>
          </a:xfrm>
          <a:prstGeom prst="rect">
            <a:avLst/>
          </a:prstGeom>
          <a:solidFill>
            <a:srgbClr val="E85D75"/>
          </a:solidFill>
          <a:ln w="0">
            <a:noFill/>
            <a:prstDash val="solid"/>
          </a:ln>
        </p:spPr>
      </p:sp>
      <p:sp>
        <p:nvSpPr>
          <p:cNvPr id="14" name="矩形 13"/>
          <p:cNvSpPr>
            <a:spLocks noGrp="1"/>
          </p:cNvSpPr>
          <p:nvPr>
            <p:custDataLst>
              <p:tags r:id="rId11"/>
            </p:custDataLst>
          </p:nvPr>
        </p:nvSpPr>
        <p:spPr>
          <a:xfrm>
            <a:off x="8496300" y="2314575"/>
            <a:ext cx="2895600" cy="285750"/>
          </a:xfrm>
          <a:prstGeom prst="rect">
            <a:avLst/>
          </a:prstGeom>
          <a:noFill/>
          <a:ln w="0">
            <a:noFill/>
            <a:prstDash val="solid"/>
          </a:ln>
        </p:spPr>
        <p:txBody>
          <a:bodyPr anchor="ctr"/>
          <a:lstStyle/>
          <a:p>
            <a:pPr algn="l">
              <a:buNone/>
              <a:defRPr sz="1575" b="1">
                <a:solidFill>
                  <a:srgbClr val="102A43"/>
                </a:solidFill>
              </a:defRPr>
            </a:pPr>
            <a:r>
              <a:rPr sz="1575" b="1">
                <a:solidFill>
                  <a:srgbClr val="102A43"/>
                </a:solidFill>
              </a:rPr>
              <a:t>03  反馈式闭环校准</a:t>
            </a:r>
            <a:endParaRPr sz="1575" b="1">
              <a:solidFill>
                <a:srgbClr val="102A43"/>
              </a:solidFill>
            </a:endParaRPr>
          </a:p>
        </p:txBody>
      </p:sp>
      <p:sp>
        <p:nvSpPr>
          <p:cNvPr id="15" name="矩形 14"/>
          <p:cNvSpPr>
            <a:spLocks noGrp="1"/>
          </p:cNvSpPr>
          <p:nvPr>
            <p:custDataLst>
              <p:tags r:id="rId12"/>
            </p:custDataLst>
          </p:nvPr>
        </p:nvSpPr>
        <p:spPr>
          <a:xfrm>
            <a:off x="8496300" y="2676525"/>
            <a:ext cx="2857500" cy="1752600"/>
          </a:xfrm>
          <a:prstGeom prst="rect">
            <a:avLst/>
          </a:prstGeom>
          <a:noFill/>
          <a:ln w="0">
            <a:noFill/>
            <a:prstDash val="solid"/>
          </a:ln>
        </p:spPr>
        <p:txBody>
          <a:bodyPr anchor="ctr"/>
          <a:lstStyle/>
          <a:p>
            <a:pPr algn="l">
              <a:buNone/>
              <a:defRPr sz="1200" b="0">
                <a:solidFill>
                  <a:srgbClr val="64748B"/>
                </a:solidFill>
              </a:defRPr>
            </a:pPr>
            <a:r>
              <a:rPr sz="1600" b="0">
                <a:solidFill>
                  <a:srgbClr val="64748B"/>
                </a:solidFill>
              </a:rPr>
              <a:t>利用检测反馈标签学习候选保留概率，在不改变候选集合的条件下优化排序。</a:t>
            </a:r>
            <a:endParaRPr sz="1600" b="0">
              <a:solidFill>
                <a:srgbClr val="64748B"/>
              </a:solidFill>
            </a:endParaRPr>
          </a:p>
        </p:txBody>
      </p:sp>
      <p:sp>
        <p:nvSpPr>
          <p:cNvPr id="16" name="矩形 15"/>
          <p:cNvSpPr>
            <a:spLocks noGrp="1"/>
          </p:cNvSpPr>
          <p:nvPr/>
        </p:nvSpPr>
        <p:spPr>
          <a:xfrm>
            <a:off x="685800" y="5334000"/>
            <a:ext cx="10820400" cy="323850"/>
          </a:xfrm>
          <a:prstGeom prst="rect">
            <a:avLst/>
          </a:prstGeom>
          <a:noFill/>
          <a:ln w="0">
            <a:noFill/>
            <a:prstDash val="solid"/>
          </a:ln>
        </p:spPr>
        <p:txBody>
          <a:bodyPr anchor="ctr"/>
          <a:lstStyle/>
          <a:p>
            <a:pPr algn="ctr">
              <a:buNone/>
              <a:defRPr sz="1875" b="1">
                <a:solidFill>
                  <a:srgbClr val="102A43"/>
                </a:solidFill>
              </a:defRPr>
            </a:pPr>
            <a:r>
              <a:rPr sz="1875" b="1">
                <a:solidFill>
                  <a:srgbClr val="102A43"/>
                </a:solidFill>
              </a:rPr>
              <a:t>重点：不微调大型基础模型，以轻量模块适配航拍领域。</a:t>
            </a:r>
            <a:endParaRPr sz="1875" b="1">
              <a:solidFill>
                <a:srgbClr val="102A43"/>
              </a:solidFill>
            </a:endParaRPr>
          </a:p>
        </p:txBody>
      </p:sp>
      <p:sp>
        <p:nvSpPr>
          <p:cNvPr id="17" name="矩形 16"/>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8" name="矩形 17"/>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10</a:t>
            </a:r>
            <a:endParaRPr sz="900" b="1">
              <a:solidFill>
                <a:srgbClr val="18A999"/>
              </a:solidFill>
            </a:endParaRPr>
          </a:p>
        </p:txBody>
      </p:sp>
      <p:sp>
        <p:nvSpPr>
          <p:cNvPr id="20" name="矩形 19"/>
          <p:cNvSpPr>
            <a:spLocks noGrp="1"/>
          </p:cNvSpPr>
          <p:nvPr>
            <p:custDataLst>
              <p:tags r:id="rId13"/>
            </p:custDataLst>
          </p:nvPr>
        </p:nvSpPr>
        <p:spPr>
          <a:xfrm>
            <a:off x="1028700" y="4076700"/>
            <a:ext cx="323850" cy="38100"/>
          </a:xfrm>
          <a:prstGeom prst="rect">
            <a:avLst/>
          </a:prstGeom>
          <a:solidFill>
            <a:srgbClr val="F58A29"/>
          </a:solidFill>
          <a:ln w="0">
            <a:solidFill>
              <a:srgbClr val="F58A29"/>
            </a:solidFill>
            <a:prstDash val="solid"/>
          </a:ln>
        </p:spPr>
      </p:sp>
      <p:sp>
        <p:nvSpPr>
          <p:cNvPr id="21" name="矩形 20"/>
          <p:cNvSpPr>
            <a:spLocks noGrp="1"/>
          </p:cNvSpPr>
          <p:nvPr>
            <p:custDataLst>
              <p:tags r:id="rId14"/>
            </p:custDataLst>
          </p:nvPr>
        </p:nvSpPr>
        <p:spPr>
          <a:xfrm>
            <a:off x="838200" y="4152900"/>
            <a:ext cx="2476500" cy="266700"/>
          </a:xfrm>
          <a:prstGeom prst="rect">
            <a:avLst/>
          </a:prstGeom>
          <a:noFill/>
          <a:ln w="0">
            <a:noFill/>
            <a:prstDash val="solid"/>
          </a:ln>
        </p:spPr>
        <p:txBody>
          <a:bodyPr anchor="ctr"/>
          <a:lstStyle/>
          <a:p>
            <a:pPr>
              <a:buNone/>
              <a:defRPr sz="1125" b="1">
                <a:solidFill>
                  <a:srgbClr val="F58A29"/>
                </a:solidFill>
              </a:defRPr>
            </a:pPr>
            <a:r>
              <a:rPr sz="1125" b="1">
                <a:solidFill>
                  <a:srgbClr val="F58A29"/>
                </a:solidFill>
              </a:rPr>
              <a:t>别名提示 · 低阈值候选</a:t>
            </a:r>
            <a:endParaRPr sz="1125" b="1">
              <a:solidFill>
                <a:srgbClr val="F58A29"/>
              </a:solidFill>
            </a:endParaRPr>
          </a:p>
        </p:txBody>
      </p:sp>
      <p:sp>
        <p:nvSpPr>
          <p:cNvPr id="22" name="矩形 21"/>
          <p:cNvSpPr>
            <a:spLocks noGrp="1"/>
          </p:cNvSpPr>
          <p:nvPr>
            <p:custDataLst>
              <p:tags r:id="rId15"/>
            </p:custDataLst>
          </p:nvPr>
        </p:nvSpPr>
        <p:spPr>
          <a:xfrm>
            <a:off x="4819650" y="4076700"/>
            <a:ext cx="323850" cy="38100"/>
          </a:xfrm>
          <a:prstGeom prst="rect">
            <a:avLst/>
          </a:prstGeom>
          <a:solidFill>
            <a:srgbClr val="1FAF9F"/>
          </a:solidFill>
          <a:ln w="0">
            <a:solidFill>
              <a:srgbClr val="1FAF9F"/>
            </a:solidFill>
            <a:prstDash val="solid"/>
          </a:ln>
        </p:spPr>
      </p:sp>
      <p:sp>
        <p:nvSpPr>
          <p:cNvPr id="23" name="矩形 22"/>
          <p:cNvSpPr>
            <a:spLocks noGrp="1"/>
          </p:cNvSpPr>
          <p:nvPr>
            <p:custDataLst>
              <p:tags r:id="rId16"/>
            </p:custDataLst>
          </p:nvPr>
        </p:nvSpPr>
        <p:spPr>
          <a:xfrm>
            <a:off x="4629150" y="4152900"/>
            <a:ext cx="2476500" cy="266700"/>
          </a:xfrm>
          <a:prstGeom prst="rect">
            <a:avLst/>
          </a:prstGeom>
          <a:noFill/>
          <a:ln w="0">
            <a:noFill/>
            <a:prstDash val="solid"/>
          </a:ln>
        </p:spPr>
        <p:txBody>
          <a:bodyPr anchor="ctr"/>
          <a:lstStyle/>
          <a:p>
            <a:pPr>
              <a:buNone/>
              <a:defRPr sz="1125" b="1">
                <a:solidFill>
                  <a:srgbClr val="1FAF9F"/>
                </a:solidFill>
              </a:defRPr>
            </a:pPr>
            <a:r>
              <a:rPr sz="1125" b="1">
                <a:solidFill>
                  <a:srgbClr val="1FAF9F"/>
                </a:solidFill>
              </a:rPr>
              <a:t>分数 · 几何 · 类别 · 来源</a:t>
            </a:r>
            <a:endParaRPr sz="1125" b="1">
              <a:solidFill>
                <a:srgbClr val="1FAF9F"/>
              </a:solidFill>
            </a:endParaRPr>
          </a:p>
        </p:txBody>
      </p:sp>
      <p:sp>
        <p:nvSpPr>
          <p:cNvPr id="24" name="矩形 23"/>
          <p:cNvSpPr>
            <a:spLocks noGrp="1"/>
          </p:cNvSpPr>
          <p:nvPr>
            <p:custDataLst>
              <p:tags r:id="rId17"/>
            </p:custDataLst>
          </p:nvPr>
        </p:nvSpPr>
        <p:spPr>
          <a:xfrm>
            <a:off x="8448675" y="4076700"/>
            <a:ext cx="323850" cy="38100"/>
          </a:xfrm>
          <a:prstGeom prst="rect">
            <a:avLst/>
          </a:prstGeom>
          <a:solidFill>
            <a:srgbClr val="EF5A78"/>
          </a:solidFill>
          <a:ln w="0">
            <a:solidFill>
              <a:srgbClr val="EF5A78"/>
            </a:solidFill>
            <a:prstDash val="solid"/>
          </a:ln>
        </p:spPr>
      </p:sp>
      <p:sp>
        <p:nvSpPr>
          <p:cNvPr id="25" name="矩形 24"/>
          <p:cNvSpPr>
            <a:spLocks noGrp="1"/>
          </p:cNvSpPr>
          <p:nvPr>
            <p:custDataLst>
              <p:tags r:id="rId18"/>
            </p:custDataLst>
          </p:nvPr>
        </p:nvSpPr>
        <p:spPr>
          <a:xfrm>
            <a:off x="8258175" y="4152900"/>
            <a:ext cx="2476500" cy="266700"/>
          </a:xfrm>
          <a:prstGeom prst="rect">
            <a:avLst/>
          </a:prstGeom>
          <a:noFill/>
          <a:ln w="0">
            <a:noFill/>
            <a:prstDash val="solid"/>
          </a:ln>
        </p:spPr>
        <p:txBody>
          <a:bodyPr anchor="ctr"/>
          <a:lstStyle/>
          <a:p>
            <a:pPr>
              <a:buNone/>
              <a:defRPr sz="1125" b="1">
                <a:solidFill>
                  <a:srgbClr val="EF5A78"/>
                </a:solidFill>
              </a:defRPr>
            </a:pPr>
            <a:r>
              <a:rPr sz="1125" b="1">
                <a:solidFill>
                  <a:srgbClr val="EF5A78"/>
                </a:solidFill>
              </a:rPr>
              <a:t>反馈信号 · 概率重标定</a:t>
            </a:r>
            <a:endParaRPr sz="1125" b="1">
              <a:solidFill>
                <a:srgbClr val="EF5A78"/>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p:cNvGrpSpPr/>
        <p:nvPr/>
      </p:nvGrpSpPr>
      <p:grpSpPr/>
      <p:sp>
        <p:nvSpPr>
          <p:cNvPr id="28" name="矩形 27"/>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ABLATION</a:t>
            </a:r>
            <a:endParaRPr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反馈式校准优于简单规则筛选</a:t>
            </a:r>
            <a:endParaRPr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4" name="矩形 3"/>
          <p:cNvSpPr>
            <a:spLocks noGrp="1"/>
          </p:cNvSpPr>
          <p:nvPr/>
        </p:nvSpPr>
        <p:spPr>
          <a:xfrm>
            <a:off x="685800" y="1809750"/>
            <a:ext cx="7048500" cy="266700"/>
          </a:xfrm>
          <a:prstGeom prst="rect">
            <a:avLst/>
          </a:prstGeom>
          <a:noFill/>
          <a:ln w="0">
            <a:noFill/>
            <a:prstDash val="solid"/>
          </a:ln>
        </p:spPr>
        <p:txBody>
          <a:bodyPr anchor="ctr"/>
          <a:lstStyle/>
          <a:p>
            <a:pPr algn="l">
              <a:buNone/>
              <a:defRPr sz="1650" b="1">
                <a:solidFill>
                  <a:srgbClr val="64748B"/>
                </a:solidFill>
              </a:defRPr>
            </a:pPr>
            <a:r>
              <a:rPr sz="1650" b="1">
                <a:solidFill>
                  <a:srgbClr val="64748B"/>
                </a:solidFill>
              </a:rPr>
              <a:t>固定候选框数量：52,872（融合与反馈校准）</a:t>
            </a:r>
            <a:endParaRPr sz="1650" b="1">
              <a:solidFill>
                <a:srgbClr val="64748B"/>
              </a:solidFill>
            </a:endParaRPr>
          </a:p>
        </p:txBody>
      </p:sp>
      <p:sp>
        <p:nvSpPr>
          <p:cNvPr id="5" name="矩形 4"/>
          <p:cNvSpPr>
            <a:spLocks noGrp="1"/>
          </p:cNvSpPr>
          <p:nvPr/>
        </p:nvSpPr>
        <p:spPr>
          <a:xfrm>
            <a:off x="1047750" y="2381250"/>
            <a:ext cx="2095500" cy="304800"/>
          </a:xfrm>
          <a:prstGeom prst="rect">
            <a:avLst/>
          </a:prstGeom>
          <a:noFill/>
          <a:ln w="0">
            <a:noFill/>
            <a:prstDash val="solid"/>
          </a:ln>
        </p:spPr>
        <p:txBody>
          <a:bodyPr anchor="ctr"/>
          <a:lstStyle/>
          <a:p>
            <a:pPr algn="ctr">
              <a:buNone/>
              <a:defRPr sz="1500" b="1">
                <a:solidFill>
                  <a:srgbClr val="FFFFFF"/>
                </a:solidFill>
              </a:defRPr>
            </a:pPr>
            <a:r>
              <a:rPr sz="1500" b="1">
                <a:solidFill>
                  <a:srgbClr val="FFFFFF"/>
                </a:solidFill>
              </a:rPr>
              <a:t>方法</a:t>
            </a:r>
            <a:endParaRPr sz="1500" b="1">
              <a:solidFill>
                <a:srgbClr val="FFFFFF"/>
              </a:solidFill>
            </a:endParaRPr>
          </a:p>
        </p:txBody>
      </p:sp>
      <p:sp>
        <p:nvSpPr>
          <p:cNvPr id="6" name="矩形 5"/>
          <p:cNvSpPr>
            <a:spLocks noGrp="1"/>
          </p:cNvSpPr>
          <p:nvPr/>
        </p:nvSpPr>
        <p:spPr>
          <a:xfrm>
            <a:off x="3905250" y="2381250"/>
            <a:ext cx="2095500" cy="304800"/>
          </a:xfrm>
          <a:prstGeom prst="rect">
            <a:avLst/>
          </a:prstGeom>
          <a:noFill/>
          <a:ln w="0">
            <a:noFill/>
            <a:prstDash val="solid"/>
          </a:ln>
        </p:spPr>
        <p:txBody>
          <a:bodyPr anchor="ctr"/>
          <a:lstStyle/>
          <a:p>
            <a:pPr algn="ctr">
              <a:buNone/>
              <a:defRPr sz="1500" b="1">
                <a:solidFill>
                  <a:srgbClr val="FFFFFF"/>
                </a:solidFill>
              </a:defRPr>
            </a:pPr>
            <a:r>
              <a:rPr sz="1500" b="1">
                <a:solidFill>
                  <a:srgbClr val="FFFFFF"/>
                </a:solidFill>
              </a:rPr>
              <a:t>预测框数量</a:t>
            </a:r>
            <a:endParaRPr sz="1500" b="1">
              <a:solidFill>
                <a:srgbClr val="FFFFFF"/>
              </a:solidFill>
            </a:endParaRPr>
          </a:p>
        </p:txBody>
      </p:sp>
      <p:sp>
        <p:nvSpPr>
          <p:cNvPr id="7" name="矩形 6"/>
          <p:cNvSpPr>
            <a:spLocks noGrp="1"/>
          </p:cNvSpPr>
          <p:nvPr/>
        </p:nvSpPr>
        <p:spPr>
          <a:xfrm>
            <a:off x="6572250" y="2381250"/>
            <a:ext cx="2095500" cy="304800"/>
          </a:xfrm>
          <a:prstGeom prst="rect">
            <a:avLst/>
          </a:prstGeom>
          <a:noFill/>
          <a:ln w="0">
            <a:noFill/>
            <a:prstDash val="solid"/>
          </a:ln>
        </p:spPr>
        <p:txBody>
          <a:bodyPr anchor="ctr"/>
          <a:lstStyle/>
          <a:p>
            <a:pPr algn="ctr">
              <a:buNone/>
              <a:defRPr sz="1500" b="1">
                <a:solidFill>
                  <a:srgbClr val="FFFFFF"/>
                </a:solidFill>
              </a:defRPr>
            </a:pPr>
            <a:r>
              <a:rPr sz="1500" b="1">
                <a:solidFill>
                  <a:srgbClr val="FFFFFF"/>
                </a:solidFill>
              </a:rPr>
              <a:t>mAP@0.5</a:t>
            </a:r>
            <a:endParaRPr sz="1500" b="1">
              <a:solidFill>
                <a:srgbClr val="FFFFFF"/>
              </a:solidFill>
            </a:endParaRPr>
          </a:p>
        </p:txBody>
      </p:sp>
      <p:sp>
        <p:nvSpPr>
          <p:cNvPr id="8" name="矩形 7"/>
          <p:cNvSpPr>
            <a:spLocks noGrp="1"/>
          </p:cNvSpPr>
          <p:nvPr/>
        </p:nvSpPr>
        <p:spPr>
          <a:xfrm>
            <a:off x="8858250" y="2381250"/>
            <a:ext cx="2095500" cy="304800"/>
          </a:xfrm>
          <a:prstGeom prst="rect">
            <a:avLst/>
          </a:prstGeom>
          <a:noFill/>
          <a:ln w="0">
            <a:noFill/>
            <a:prstDash val="solid"/>
          </a:ln>
        </p:spPr>
        <p:txBody>
          <a:bodyPr anchor="ctr"/>
          <a:lstStyle/>
          <a:p>
            <a:pPr algn="ctr">
              <a:buNone/>
              <a:defRPr sz="1500" b="1">
                <a:solidFill>
                  <a:srgbClr val="FFFFFF"/>
                </a:solidFill>
              </a:defRPr>
            </a:pPr>
            <a:r>
              <a:rPr sz="1500" b="1">
                <a:solidFill>
                  <a:srgbClr val="FFFFFF"/>
                </a:solidFill>
              </a:rPr>
              <a:t>Acc@0.75</a:t>
            </a:r>
            <a:endParaRPr sz="1500" b="1">
              <a:solidFill>
                <a:srgbClr val="FFFFFF"/>
              </a:solidFill>
            </a:endParaRPr>
          </a:p>
        </p:txBody>
      </p:sp>
      <p:sp>
        <p:nvSpPr>
          <p:cNvPr id="9" name="圆角矩形 8"/>
          <p:cNvSpPr>
            <a:spLocks noGrp="1"/>
          </p:cNvSpPr>
          <p:nvPr/>
        </p:nvSpPr>
        <p:spPr>
          <a:xfrm>
            <a:off x="762000" y="2266950"/>
            <a:ext cx="10668000" cy="457200"/>
          </a:xfrm>
          <a:prstGeom prst="roundRect">
            <a:avLst>
              <a:gd name="adj" fmla="val 25000"/>
            </a:avLst>
          </a:prstGeom>
          <a:solidFill>
            <a:srgbClr val="102A43"/>
          </a:solidFill>
          <a:ln w="0">
            <a:noFill/>
            <a:prstDash val="solid"/>
          </a:ln>
        </p:spPr>
        <p:txBody>
          <a:bodyPr/>
          <a:lstStyle/>
          <a:p/>
        </p:txBody>
      </p:sp>
      <p:sp>
        <p:nvSpPr>
          <p:cNvPr id="10" name="圆角矩形 9"/>
          <p:cNvSpPr>
            <a:spLocks noGrp="1"/>
          </p:cNvSpPr>
          <p:nvPr/>
        </p:nvSpPr>
        <p:spPr>
          <a:xfrm>
            <a:off x="762000" y="2952750"/>
            <a:ext cx="10668000" cy="552450"/>
          </a:xfrm>
          <a:prstGeom prst="roundRect">
            <a:avLst>
              <a:gd name="adj" fmla="val 20690"/>
            </a:avLst>
          </a:prstGeom>
          <a:solidFill>
            <a:srgbClr val="FFFFFF"/>
          </a:solidFill>
          <a:ln w="9525">
            <a:solidFill>
              <a:srgbClr val="D7E1EA"/>
            </a:solidFill>
            <a:prstDash val="solid"/>
          </a:ln>
        </p:spPr>
      </p:sp>
      <p:sp>
        <p:nvSpPr>
          <p:cNvPr id="11" name="矩形 10"/>
          <p:cNvSpPr>
            <a:spLocks noGrp="1"/>
          </p:cNvSpPr>
          <p:nvPr/>
        </p:nvSpPr>
        <p:spPr>
          <a:xfrm>
            <a:off x="1047750" y="3067050"/>
            <a:ext cx="2095500" cy="285750"/>
          </a:xfrm>
          <a:prstGeom prst="rect">
            <a:avLst/>
          </a:prstGeom>
          <a:noFill/>
          <a:ln w="0">
            <a:noFill/>
            <a:prstDash val="solid"/>
          </a:ln>
        </p:spPr>
        <p:txBody>
          <a:bodyPr anchor="ctr"/>
          <a:lstStyle/>
          <a:p>
            <a:pPr algn="ctr">
              <a:buNone/>
              <a:defRPr sz="1575" b="0">
                <a:solidFill>
                  <a:srgbClr val="102A43"/>
                </a:solidFill>
              </a:defRPr>
            </a:pPr>
            <a:r>
              <a:rPr sz="1575" b="0">
                <a:solidFill>
                  <a:srgbClr val="102A43"/>
                </a:solidFill>
              </a:rPr>
              <a:t>富元信息融合</a:t>
            </a:r>
            <a:endParaRPr sz="1575" b="0">
              <a:solidFill>
                <a:srgbClr val="102A43"/>
              </a:solidFill>
            </a:endParaRPr>
          </a:p>
        </p:txBody>
      </p:sp>
      <p:sp>
        <p:nvSpPr>
          <p:cNvPr id="12" name="矩形 11"/>
          <p:cNvSpPr>
            <a:spLocks noGrp="1"/>
          </p:cNvSpPr>
          <p:nvPr/>
        </p:nvSpPr>
        <p:spPr>
          <a:xfrm>
            <a:off x="3905250" y="3067050"/>
            <a:ext cx="2095500" cy="285750"/>
          </a:xfrm>
          <a:prstGeom prst="rect">
            <a:avLst/>
          </a:prstGeom>
          <a:noFill/>
          <a:ln w="0">
            <a:noFill/>
            <a:prstDash val="solid"/>
          </a:ln>
        </p:spPr>
        <p:txBody>
          <a:bodyPr anchor="ctr"/>
          <a:lstStyle/>
          <a:p>
            <a:pPr algn="ctr">
              <a:buNone/>
              <a:defRPr sz="1575" b="0">
                <a:solidFill>
                  <a:srgbClr val="152536"/>
                </a:solidFill>
              </a:defRPr>
            </a:pPr>
            <a:r>
              <a:rPr sz="1575" b="0">
                <a:solidFill>
                  <a:srgbClr val="152536"/>
                </a:solidFill>
              </a:rPr>
              <a:t>52,872</a:t>
            </a:r>
            <a:endParaRPr sz="1575" b="0">
              <a:solidFill>
                <a:srgbClr val="152536"/>
              </a:solidFill>
            </a:endParaRPr>
          </a:p>
        </p:txBody>
      </p:sp>
      <p:sp>
        <p:nvSpPr>
          <p:cNvPr id="13" name="矩形 12"/>
          <p:cNvSpPr>
            <a:spLocks noGrp="1"/>
          </p:cNvSpPr>
          <p:nvPr/>
        </p:nvSpPr>
        <p:spPr>
          <a:xfrm>
            <a:off x="6572250" y="3067050"/>
            <a:ext cx="2095500" cy="285750"/>
          </a:xfrm>
          <a:prstGeom prst="rect">
            <a:avLst/>
          </a:prstGeom>
          <a:noFill/>
          <a:ln w="0">
            <a:noFill/>
            <a:prstDash val="solid"/>
          </a:ln>
        </p:spPr>
        <p:txBody>
          <a:bodyPr anchor="ctr"/>
          <a:lstStyle/>
          <a:p>
            <a:pPr algn="ctr">
              <a:buNone/>
              <a:defRPr sz="1575" b="0">
                <a:solidFill>
                  <a:srgbClr val="152536"/>
                </a:solidFill>
              </a:defRPr>
            </a:pPr>
            <a:r>
              <a:rPr sz="1575" b="0">
                <a:solidFill>
                  <a:srgbClr val="152536"/>
                </a:solidFill>
              </a:rPr>
              <a:t>0.1464</a:t>
            </a:r>
            <a:endParaRPr sz="1575" b="0">
              <a:solidFill>
                <a:srgbClr val="152536"/>
              </a:solidFill>
            </a:endParaRPr>
          </a:p>
        </p:txBody>
      </p:sp>
      <p:sp>
        <p:nvSpPr>
          <p:cNvPr id="14" name="矩形 13"/>
          <p:cNvSpPr>
            <a:spLocks noGrp="1"/>
          </p:cNvSpPr>
          <p:nvPr/>
        </p:nvSpPr>
        <p:spPr>
          <a:xfrm>
            <a:off x="8858250" y="3067050"/>
            <a:ext cx="2095500" cy="285750"/>
          </a:xfrm>
          <a:prstGeom prst="rect">
            <a:avLst/>
          </a:prstGeom>
          <a:noFill/>
          <a:ln w="0">
            <a:noFill/>
            <a:prstDash val="solid"/>
          </a:ln>
        </p:spPr>
        <p:txBody>
          <a:bodyPr anchor="ctr"/>
          <a:lstStyle/>
          <a:p>
            <a:pPr algn="ctr">
              <a:buNone/>
              <a:defRPr sz="1575" b="0">
                <a:solidFill>
                  <a:srgbClr val="152536"/>
                </a:solidFill>
              </a:defRPr>
            </a:pPr>
            <a:r>
              <a:rPr sz="1575" b="0">
                <a:solidFill>
                  <a:srgbClr val="152536"/>
                </a:solidFill>
              </a:rPr>
              <a:t>0.3463</a:t>
            </a:r>
            <a:endParaRPr sz="1575" b="0">
              <a:solidFill>
                <a:srgbClr val="152536"/>
              </a:solidFill>
            </a:endParaRPr>
          </a:p>
        </p:txBody>
      </p:sp>
      <p:sp>
        <p:nvSpPr>
          <p:cNvPr id="15" name="圆角矩形 14"/>
          <p:cNvSpPr>
            <a:spLocks noGrp="1"/>
          </p:cNvSpPr>
          <p:nvPr/>
        </p:nvSpPr>
        <p:spPr>
          <a:xfrm>
            <a:off x="762000" y="3676650"/>
            <a:ext cx="10668000" cy="552450"/>
          </a:xfrm>
          <a:prstGeom prst="roundRect">
            <a:avLst>
              <a:gd name="adj" fmla="val 20690"/>
            </a:avLst>
          </a:prstGeom>
          <a:solidFill>
            <a:srgbClr val="FFFFFF"/>
          </a:solidFill>
          <a:ln w="9525">
            <a:solidFill>
              <a:srgbClr val="D7E1EA"/>
            </a:solidFill>
            <a:prstDash val="solid"/>
          </a:ln>
        </p:spPr>
      </p:sp>
      <p:sp>
        <p:nvSpPr>
          <p:cNvPr id="16" name="矩形 15"/>
          <p:cNvSpPr>
            <a:spLocks noGrp="1"/>
          </p:cNvSpPr>
          <p:nvPr/>
        </p:nvSpPr>
        <p:spPr>
          <a:xfrm>
            <a:off x="1047750" y="3790950"/>
            <a:ext cx="2095500" cy="285750"/>
          </a:xfrm>
          <a:prstGeom prst="rect">
            <a:avLst/>
          </a:prstGeom>
          <a:noFill/>
          <a:ln w="0">
            <a:noFill/>
            <a:prstDash val="solid"/>
          </a:ln>
        </p:spPr>
        <p:txBody>
          <a:bodyPr anchor="ctr"/>
          <a:lstStyle/>
          <a:p>
            <a:pPr algn="ctr">
              <a:buNone/>
              <a:defRPr sz="1575" b="0">
                <a:solidFill>
                  <a:srgbClr val="102A43"/>
                </a:solidFill>
              </a:defRPr>
            </a:pPr>
            <a:r>
              <a:rPr sz="1575" b="0">
                <a:solidFill>
                  <a:srgbClr val="102A43"/>
                </a:solidFill>
              </a:rPr>
              <a:t>规则筛选对照</a:t>
            </a:r>
            <a:endParaRPr sz="1575" b="0">
              <a:solidFill>
                <a:srgbClr val="102A43"/>
              </a:solidFill>
            </a:endParaRPr>
          </a:p>
        </p:txBody>
      </p:sp>
      <p:sp>
        <p:nvSpPr>
          <p:cNvPr id="17" name="矩形 16"/>
          <p:cNvSpPr>
            <a:spLocks noGrp="1"/>
          </p:cNvSpPr>
          <p:nvPr/>
        </p:nvSpPr>
        <p:spPr>
          <a:xfrm>
            <a:off x="3905250" y="3790950"/>
            <a:ext cx="2095500" cy="285750"/>
          </a:xfrm>
          <a:prstGeom prst="rect">
            <a:avLst/>
          </a:prstGeom>
          <a:noFill/>
          <a:ln w="0">
            <a:noFill/>
            <a:prstDash val="solid"/>
          </a:ln>
        </p:spPr>
        <p:txBody>
          <a:bodyPr anchor="ctr"/>
          <a:lstStyle/>
          <a:p>
            <a:pPr algn="ctr">
              <a:buNone/>
              <a:defRPr sz="1575" b="0">
                <a:solidFill>
                  <a:srgbClr val="152536"/>
                </a:solidFill>
              </a:defRPr>
            </a:pPr>
            <a:r>
              <a:rPr sz="1575" b="0">
                <a:solidFill>
                  <a:srgbClr val="152536"/>
                </a:solidFill>
              </a:rPr>
              <a:t>9,586</a:t>
            </a:r>
            <a:endParaRPr sz="1575" b="0">
              <a:solidFill>
                <a:srgbClr val="152536"/>
              </a:solidFill>
            </a:endParaRPr>
          </a:p>
        </p:txBody>
      </p:sp>
      <p:sp>
        <p:nvSpPr>
          <p:cNvPr id="18" name="矩形 17"/>
          <p:cNvSpPr>
            <a:spLocks noGrp="1"/>
          </p:cNvSpPr>
          <p:nvPr/>
        </p:nvSpPr>
        <p:spPr>
          <a:xfrm>
            <a:off x="6572250" y="3790950"/>
            <a:ext cx="2095500" cy="285750"/>
          </a:xfrm>
          <a:prstGeom prst="rect">
            <a:avLst/>
          </a:prstGeom>
          <a:noFill/>
          <a:ln w="0">
            <a:noFill/>
            <a:prstDash val="solid"/>
          </a:ln>
        </p:spPr>
        <p:txBody>
          <a:bodyPr anchor="ctr"/>
          <a:lstStyle/>
          <a:p>
            <a:pPr algn="ctr">
              <a:buNone/>
              <a:defRPr sz="1575" b="0">
                <a:solidFill>
                  <a:srgbClr val="152536"/>
                </a:solidFill>
              </a:defRPr>
            </a:pPr>
            <a:r>
              <a:rPr sz="1575" b="0">
                <a:solidFill>
                  <a:srgbClr val="152536"/>
                </a:solidFill>
              </a:rPr>
              <a:t>0.1187</a:t>
            </a:r>
            <a:endParaRPr sz="1575" b="0">
              <a:solidFill>
                <a:srgbClr val="152536"/>
              </a:solidFill>
            </a:endParaRPr>
          </a:p>
        </p:txBody>
      </p:sp>
      <p:sp>
        <p:nvSpPr>
          <p:cNvPr id="19" name="矩形 18"/>
          <p:cNvSpPr>
            <a:spLocks noGrp="1"/>
          </p:cNvSpPr>
          <p:nvPr/>
        </p:nvSpPr>
        <p:spPr>
          <a:xfrm>
            <a:off x="8858250" y="3790950"/>
            <a:ext cx="2095500" cy="285750"/>
          </a:xfrm>
          <a:prstGeom prst="rect">
            <a:avLst/>
          </a:prstGeom>
          <a:noFill/>
          <a:ln w="0">
            <a:noFill/>
            <a:prstDash val="solid"/>
          </a:ln>
        </p:spPr>
        <p:txBody>
          <a:bodyPr anchor="ctr"/>
          <a:lstStyle/>
          <a:p>
            <a:pPr algn="ctr">
              <a:buNone/>
              <a:defRPr sz="1575" b="0">
                <a:solidFill>
                  <a:srgbClr val="152536"/>
                </a:solidFill>
              </a:defRPr>
            </a:pPr>
            <a:r>
              <a:rPr sz="1575" b="0">
                <a:solidFill>
                  <a:srgbClr val="152536"/>
                </a:solidFill>
              </a:rPr>
              <a:t>0.2491</a:t>
            </a:r>
            <a:endParaRPr sz="1575" b="0">
              <a:solidFill>
                <a:srgbClr val="152536"/>
              </a:solidFill>
            </a:endParaRPr>
          </a:p>
        </p:txBody>
      </p:sp>
      <p:sp>
        <p:nvSpPr>
          <p:cNvPr id="20" name="圆角矩形 19"/>
          <p:cNvSpPr>
            <a:spLocks noGrp="1"/>
          </p:cNvSpPr>
          <p:nvPr/>
        </p:nvSpPr>
        <p:spPr>
          <a:xfrm>
            <a:off x="762000" y="4400550"/>
            <a:ext cx="10668000" cy="552450"/>
          </a:xfrm>
          <a:prstGeom prst="roundRect">
            <a:avLst>
              <a:gd name="adj" fmla="val 20690"/>
            </a:avLst>
          </a:prstGeom>
          <a:solidFill>
            <a:srgbClr val="E8F5F2"/>
          </a:solidFill>
          <a:ln w="9525">
            <a:solidFill>
              <a:srgbClr val="D7E1EA"/>
            </a:solidFill>
            <a:prstDash val="solid"/>
          </a:ln>
        </p:spPr>
      </p:sp>
      <p:sp>
        <p:nvSpPr>
          <p:cNvPr id="21" name="矩形 20"/>
          <p:cNvSpPr>
            <a:spLocks noGrp="1"/>
          </p:cNvSpPr>
          <p:nvPr/>
        </p:nvSpPr>
        <p:spPr>
          <a:xfrm>
            <a:off x="1047750" y="4514850"/>
            <a:ext cx="2095500" cy="285750"/>
          </a:xfrm>
          <a:prstGeom prst="rect">
            <a:avLst/>
          </a:prstGeom>
          <a:noFill/>
          <a:ln w="0">
            <a:noFill/>
            <a:prstDash val="solid"/>
          </a:ln>
        </p:spPr>
        <p:txBody>
          <a:bodyPr anchor="ctr"/>
          <a:lstStyle/>
          <a:p>
            <a:pPr algn="ctr">
              <a:buNone/>
              <a:defRPr sz="1575" b="1">
                <a:solidFill>
                  <a:srgbClr val="102A43"/>
                </a:solidFill>
              </a:defRPr>
            </a:pPr>
            <a:r>
              <a:rPr sz="1575" b="1">
                <a:solidFill>
                  <a:srgbClr val="102A43"/>
                </a:solidFill>
              </a:rPr>
              <a:t>反馈式校准</a:t>
            </a:r>
            <a:endParaRPr sz="1575" b="1">
              <a:solidFill>
                <a:srgbClr val="102A43"/>
              </a:solidFill>
            </a:endParaRPr>
          </a:p>
        </p:txBody>
      </p:sp>
      <p:sp>
        <p:nvSpPr>
          <p:cNvPr id="22" name="矩形 21"/>
          <p:cNvSpPr>
            <a:spLocks noGrp="1"/>
          </p:cNvSpPr>
          <p:nvPr/>
        </p:nvSpPr>
        <p:spPr>
          <a:xfrm>
            <a:off x="3905250" y="4514850"/>
            <a:ext cx="2095500" cy="285750"/>
          </a:xfrm>
          <a:prstGeom prst="rect">
            <a:avLst/>
          </a:prstGeom>
          <a:noFill/>
          <a:ln w="0">
            <a:noFill/>
            <a:prstDash val="solid"/>
          </a:ln>
        </p:spPr>
        <p:txBody>
          <a:bodyPr anchor="ctr"/>
          <a:lstStyle/>
          <a:p>
            <a:pPr algn="ctr">
              <a:buNone/>
              <a:defRPr sz="1575" b="1">
                <a:solidFill>
                  <a:srgbClr val="18A999"/>
                </a:solidFill>
              </a:defRPr>
            </a:pPr>
            <a:r>
              <a:rPr sz="1575" b="1">
                <a:solidFill>
                  <a:srgbClr val="18A999"/>
                </a:solidFill>
              </a:rPr>
              <a:t>52,872</a:t>
            </a:r>
            <a:endParaRPr sz="1575" b="1">
              <a:solidFill>
                <a:srgbClr val="18A999"/>
              </a:solidFill>
            </a:endParaRPr>
          </a:p>
        </p:txBody>
      </p:sp>
      <p:sp>
        <p:nvSpPr>
          <p:cNvPr id="23" name="矩形 22"/>
          <p:cNvSpPr>
            <a:spLocks noGrp="1"/>
          </p:cNvSpPr>
          <p:nvPr/>
        </p:nvSpPr>
        <p:spPr>
          <a:xfrm>
            <a:off x="6572250" y="4514850"/>
            <a:ext cx="2095500" cy="285750"/>
          </a:xfrm>
          <a:prstGeom prst="rect">
            <a:avLst/>
          </a:prstGeom>
          <a:noFill/>
          <a:ln w="0">
            <a:noFill/>
            <a:prstDash val="solid"/>
          </a:ln>
        </p:spPr>
        <p:txBody>
          <a:bodyPr anchor="ctr"/>
          <a:lstStyle/>
          <a:p>
            <a:pPr algn="ctr">
              <a:buNone/>
              <a:defRPr sz="1575" b="1">
                <a:solidFill>
                  <a:srgbClr val="18A999"/>
                </a:solidFill>
              </a:defRPr>
            </a:pPr>
            <a:r>
              <a:rPr sz="1575" b="1">
                <a:solidFill>
                  <a:srgbClr val="18A999"/>
                </a:solidFill>
              </a:rPr>
              <a:t>0.1690</a:t>
            </a:r>
            <a:endParaRPr sz="1575" b="1">
              <a:solidFill>
                <a:srgbClr val="18A999"/>
              </a:solidFill>
            </a:endParaRPr>
          </a:p>
        </p:txBody>
      </p:sp>
      <p:sp>
        <p:nvSpPr>
          <p:cNvPr id="24" name="矩形 23"/>
          <p:cNvSpPr>
            <a:spLocks noGrp="1"/>
          </p:cNvSpPr>
          <p:nvPr/>
        </p:nvSpPr>
        <p:spPr>
          <a:xfrm>
            <a:off x="8858250" y="4514850"/>
            <a:ext cx="2095500" cy="285750"/>
          </a:xfrm>
          <a:prstGeom prst="rect">
            <a:avLst/>
          </a:prstGeom>
          <a:noFill/>
          <a:ln w="0">
            <a:noFill/>
            <a:prstDash val="solid"/>
          </a:ln>
        </p:spPr>
        <p:txBody>
          <a:bodyPr anchor="ctr"/>
          <a:lstStyle/>
          <a:p>
            <a:pPr algn="ctr">
              <a:buNone/>
              <a:defRPr sz="1575" b="1">
                <a:solidFill>
                  <a:srgbClr val="18A999"/>
                </a:solidFill>
              </a:defRPr>
            </a:pPr>
            <a:r>
              <a:rPr sz="1575" b="1">
                <a:solidFill>
                  <a:srgbClr val="18A999"/>
                </a:solidFill>
              </a:rPr>
              <a:t>0.3491</a:t>
            </a:r>
            <a:endParaRPr sz="1575" b="1">
              <a:solidFill>
                <a:srgbClr val="18A999"/>
              </a:solidFill>
            </a:endParaRPr>
          </a:p>
        </p:txBody>
      </p:sp>
      <p:sp>
        <p:nvSpPr>
          <p:cNvPr id="25" name="矩形 24"/>
          <p:cNvSpPr>
            <a:spLocks noGrp="1"/>
          </p:cNvSpPr>
          <p:nvPr/>
        </p:nvSpPr>
        <p:spPr>
          <a:xfrm>
            <a:off x="1190625" y="5381625"/>
            <a:ext cx="9810750" cy="323850"/>
          </a:xfrm>
          <a:prstGeom prst="rect">
            <a:avLst/>
          </a:prstGeom>
          <a:noFill/>
          <a:ln w="0">
            <a:noFill/>
            <a:prstDash val="solid"/>
          </a:ln>
        </p:spPr>
        <p:txBody>
          <a:bodyPr anchor="ctr"/>
          <a:lstStyle/>
          <a:p>
            <a:pPr algn="ctr">
              <a:buNone/>
              <a:defRPr sz="1875" b="1">
                <a:solidFill>
                  <a:srgbClr val="E85D75"/>
                </a:solidFill>
              </a:defRPr>
            </a:pPr>
            <a:r>
              <a:rPr sz="1875" b="1">
                <a:solidFill>
                  <a:srgbClr val="E85D75"/>
                </a:solidFill>
              </a:rPr>
              <a:t>固定候选集上，反馈式校准仅改变排序，即可将 mAP@0.5 提升 15.4%。</a:t>
            </a:r>
            <a:endParaRPr sz="1875" b="1">
              <a:solidFill>
                <a:srgbClr val="E85D75"/>
              </a:solidFill>
            </a:endParaRPr>
          </a:p>
        </p:txBody>
      </p:sp>
      <p:sp>
        <p:nvSpPr>
          <p:cNvPr id="26" name="矩形 25"/>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27" name="矩形 26"/>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15</a:t>
            </a:r>
            <a:endParaRPr sz="900" b="1">
              <a:solidFill>
                <a:srgbClr val="18A999"/>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p:cNvGrpSpPr/>
        <p:nvPr/>
      </p:nvGrpSpPr>
      <p:grpSpPr/>
      <p:sp>
        <p:nvSpPr>
          <p:cNvPr id="19" name="矩形 18"/>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RECALL GAIN</a:t>
            </a:r>
            <a:endParaRPr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候选扩展显著提升小目标命中能力</a:t>
            </a:r>
            <a:endParaRPr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4" name="矩形 3"/>
          <p:cNvSpPr>
            <a:spLocks noGrp="1"/>
          </p:cNvSpPr>
          <p:nvPr/>
        </p:nvSpPr>
        <p:spPr>
          <a:xfrm>
            <a:off x="952500" y="2333625"/>
            <a:ext cx="2190750" cy="285750"/>
          </a:xfrm>
          <a:prstGeom prst="rect">
            <a:avLst/>
          </a:prstGeom>
          <a:noFill/>
          <a:ln w="0">
            <a:noFill/>
            <a:prstDash val="solid"/>
          </a:ln>
        </p:spPr>
        <p:txBody>
          <a:bodyPr anchor="ctr"/>
          <a:lstStyle/>
          <a:p>
            <a:pPr algn="ctr">
              <a:buNone/>
              <a:defRPr sz="1650" b="1">
                <a:solidFill>
                  <a:srgbClr val="64748B"/>
                </a:solidFill>
              </a:defRPr>
            </a:pPr>
            <a:r>
              <a:rPr sz="1650" b="1">
                <a:solidFill>
                  <a:srgbClr val="64748B"/>
                </a:solidFill>
              </a:rPr>
              <a:t>开放词表基线</a:t>
            </a:r>
            <a:endParaRPr sz="1650" b="1">
              <a:solidFill>
                <a:srgbClr val="64748B"/>
              </a:solidFill>
            </a:endParaRPr>
          </a:p>
        </p:txBody>
      </p:sp>
      <p:sp>
        <p:nvSpPr>
          <p:cNvPr id="5" name="矩形 4"/>
          <p:cNvSpPr>
            <a:spLocks noGrp="1"/>
          </p:cNvSpPr>
          <p:nvPr/>
        </p:nvSpPr>
        <p:spPr>
          <a:xfrm>
            <a:off x="4619625" y="2333625"/>
            <a:ext cx="2381250" cy="285750"/>
          </a:xfrm>
          <a:prstGeom prst="rect">
            <a:avLst/>
          </a:prstGeom>
          <a:noFill/>
          <a:ln w="0">
            <a:noFill/>
            <a:prstDash val="solid"/>
          </a:ln>
        </p:spPr>
        <p:txBody>
          <a:bodyPr anchor="ctr"/>
          <a:lstStyle/>
          <a:p>
            <a:pPr algn="ctr">
              <a:buNone/>
              <a:defRPr sz="1650" b="1">
                <a:solidFill>
                  <a:srgbClr val="18A999"/>
                </a:solidFill>
              </a:defRPr>
            </a:pPr>
            <a:r>
              <a:rPr sz="1650" b="1">
                <a:solidFill>
                  <a:srgbClr val="18A999"/>
                </a:solidFill>
              </a:rPr>
              <a:t>在线小目标召回</a:t>
            </a:r>
            <a:endParaRPr sz="1650" b="1">
              <a:solidFill>
                <a:srgbClr val="18A999"/>
              </a:solidFill>
            </a:endParaRPr>
          </a:p>
        </p:txBody>
      </p:sp>
      <p:sp>
        <p:nvSpPr>
          <p:cNvPr id="6" name="矩形 5"/>
          <p:cNvSpPr>
            <a:spLocks noGrp="1"/>
          </p:cNvSpPr>
          <p:nvPr/>
        </p:nvSpPr>
        <p:spPr>
          <a:xfrm>
            <a:off x="8286750" y="2333625"/>
            <a:ext cx="2381250" cy="285750"/>
          </a:xfrm>
          <a:prstGeom prst="rect">
            <a:avLst/>
          </a:prstGeom>
          <a:noFill/>
          <a:ln w="0">
            <a:noFill/>
            <a:prstDash val="solid"/>
          </a:ln>
        </p:spPr>
        <p:txBody>
          <a:bodyPr anchor="ctr"/>
          <a:lstStyle/>
          <a:p>
            <a:pPr algn="ctr">
              <a:buNone/>
              <a:defRPr sz="1650" b="1">
                <a:solidFill>
                  <a:srgbClr val="F28C28"/>
                </a:solidFill>
              </a:defRPr>
            </a:pPr>
            <a:r>
              <a:rPr sz="1650" b="1">
                <a:solidFill>
                  <a:srgbClr val="F28C28"/>
                </a:solidFill>
              </a:rPr>
              <a:t>直接小目标召回</a:t>
            </a:r>
            <a:endParaRPr sz="1650" b="1">
              <a:solidFill>
                <a:srgbClr val="F28C28"/>
              </a:solidFill>
            </a:endParaRPr>
          </a:p>
        </p:txBody>
      </p:sp>
      <p:sp>
        <p:nvSpPr>
          <p:cNvPr id="7" name="矩形 6"/>
          <p:cNvSpPr>
            <a:spLocks noGrp="1"/>
          </p:cNvSpPr>
          <p:nvPr/>
        </p:nvSpPr>
        <p:spPr>
          <a:xfrm>
            <a:off x="952500" y="2762250"/>
            <a:ext cx="2190750" cy="590550"/>
          </a:xfrm>
          <a:prstGeom prst="rect">
            <a:avLst/>
          </a:prstGeom>
          <a:noFill/>
          <a:ln w="0">
            <a:noFill/>
            <a:prstDash val="solid"/>
          </a:ln>
        </p:spPr>
        <p:txBody>
          <a:bodyPr anchor="ctr"/>
          <a:lstStyle/>
          <a:p>
            <a:pPr algn="ctr">
              <a:buNone/>
              <a:defRPr sz="3450" b="1">
                <a:solidFill>
                  <a:srgbClr val="102A43"/>
                </a:solidFill>
              </a:defRPr>
            </a:pPr>
            <a:r>
              <a:rPr sz="3450" b="1">
                <a:solidFill>
                  <a:srgbClr val="102A43"/>
                </a:solidFill>
              </a:rPr>
              <a:t>0.3607</a:t>
            </a:r>
            <a:endParaRPr sz="3450" b="1">
              <a:solidFill>
                <a:srgbClr val="102A43"/>
              </a:solidFill>
            </a:endParaRPr>
          </a:p>
        </p:txBody>
      </p:sp>
      <p:sp>
        <p:nvSpPr>
          <p:cNvPr id="8" name="矩形 7"/>
          <p:cNvSpPr>
            <a:spLocks noGrp="1"/>
          </p:cNvSpPr>
          <p:nvPr/>
        </p:nvSpPr>
        <p:spPr>
          <a:xfrm>
            <a:off x="4619625" y="2762250"/>
            <a:ext cx="2381250" cy="590550"/>
          </a:xfrm>
          <a:prstGeom prst="rect">
            <a:avLst/>
          </a:prstGeom>
          <a:noFill/>
          <a:ln w="0">
            <a:noFill/>
            <a:prstDash val="solid"/>
          </a:ln>
        </p:spPr>
        <p:txBody>
          <a:bodyPr anchor="ctr"/>
          <a:lstStyle/>
          <a:p>
            <a:pPr algn="ctr">
              <a:buNone/>
              <a:defRPr sz="3450" b="1">
                <a:solidFill>
                  <a:srgbClr val="18A999"/>
                </a:solidFill>
              </a:defRPr>
            </a:pPr>
            <a:r>
              <a:rPr sz="3450" b="1">
                <a:solidFill>
                  <a:srgbClr val="18A999"/>
                </a:solidFill>
              </a:rPr>
              <a:t>0.5383</a:t>
            </a:r>
            <a:endParaRPr sz="3450" b="1">
              <a:solidFill>
                <a:srgbClr val="18A999"/>
              </a:solidFill>
            </a:endParaRPr>
          </a:p>
        </p:txBody>
      </p:sp>
      <p:sp>
        <p:nvSpPr>
          <p:cNvPr id="9" name="矩形 8"/>
          <p:cNvSpPr>
            <a:spLocks noGrp="1"/>
          </p:cNvSpPr>
          <p:nvPr/>
        </p:nvSpPr>
        <p:spPr>
          <a:xfrm>
            <a:off x="8286750" y="2762250"/>
            <a:ext cx="2381250" cy="590550"/>
          </a:xfrm>
          <a:prstGeom prst="rect">
            <a:avLst/>
          </a:prstGeom>
          <a:noFill/>
          <a:ln w="0">
            <a:noFill/>
            <a:prstDash val="solid"/>
          </a:ln>
        </p:spPr>
        <p:txBody>
          <a:bodyPr anchor="ctr"/>
          <a:lstStyle/>
          <a:p>
            <a:pPr algn="ctr">
              <a:buNone/>
              <a:defRPr sz="3450" b="1">
                <a:solidFill>
                  <a:srgbClr val="F28C28"/>
                </a:solidFill>
              </a:defRPr>
            </a:pPr>
            <a:r>
              <a:rPr sz="3450" b="1">
                <a:solidFill>
                  <a:srgbClr val="F28C28"/>
                </a:solidFill>
              </a:rPr>
              <a:t>0.5477</a:t>
            </a:r>
            <a:endParaRPr sz="3450" b="1">
              <a:solidFill>
                <a:srgbClr val="F28C28"/>
              </a:solidFill>
            </a:endParaRPr>
          </a:p>
        </p:txBody>
      </p:sp>
      <p:sp>
        <p:nvSpPr>
          <p:cNvPr id="10" name="矩形 9"/>
          <p:cNvSpPr>
            <a:spLocks noGrp="1"/>
          </p:cNvSpPr>
          <p:nvPr/>
        </p:nvSpPr>
        <p:spPr>
          <a:xfrm>
            <a:off x="952500" y="3429000"/>
            <a:ext cx="2190750" cy="266700"/>
          </a:xfrm>
          <a:prstGeom prst="rect">
            <a:avLst/>
          </a:prstGeom>
          <a:noFill/>
          <a:ln w="0">
            <a:noFill/>
            <a:prstDash val="solid"/>
          </a:ln>
        </p:spPr>
        <p:txBody>
          <a:bodyPr anchor="ctr"/>
          <a:lstStyle/>
          <a:p>
            <a:pPr algn="ctr">
              <a:buNone/>
              <a:defRPr sz="1350" b="0">
                <a:solidFill>
                  <a:srgbClr val="64748B"/>
                </a:solidFill>
              </a:defRPr>
            </a:pPr>
            <a:r>
              <a:rPr sz="1350" b="0">
                <a:solidFill>
                  <a:srgbClr val="64748B"/>
                </a:solidFill>
              </a:rPr>
              <a:t>Acc@0.5</a:t>
            </a:r>
            <a:endParaRPr sz="1350" b="0">
              <a:solidFill>
                <a:srgbClr val="64748B"/>
              </a:solidFill>
            </a:endParaRPr>
          </a:p>
        </p:txBody>
      </p:sp>
      <p:sp>
        <p:nvSpPr>
          <p:cNvPr id="11" name="矩形 10"/>
          <p:cNvSpPr>
            <a:spLocks noGrp="1"/>
          </p:cNvSpPr>
          <p:nvPr/>
        </p:nvSpPr>
        <p:spPr>
          <a:xfrm>
            <a:off x="4619625" y="3429000"/>
            <a:ext cx="2381250" cy="266700"/>
          </a:xfrm>
          <a:prstGeom prst="rect">
            <a:avLst/>
          </a:prstGeom>
          <a:noFill/>
          <a:ln w="0">
            <a:noFill/>
            <a:prstDash val="solid"/>
          </a:ln>
        </p:spPr>
        <p:txBody>
          <a:bodyPr anchor="ctr"/>
          <a:lstStyle/>
          <a:p>
            <a:pPr algn="ctr">
              <a:buNone/>
              <a:defRPr sz="1350" b="0">
                <a:solidFill>
                  <a:srgbClr val="64748B"/>
                </a:solidFill>
              </a:defRPr>
            </a:pPr>
            <a:r>
              <a:rPr sz="1350" b="0">
                <a:solidFill>
                  <a:srgbClr val="64748B"/>
                </a:solidFill>
              </a:rPr>
              <a:t>Acc@0.5</a:t>
            </a:r>
            <a:endParaRPr sz="1350" b="0">
              <a:solidFill>
                <a:srgbClr val="64748B"/>
              </a:solidFill>
            </a:endParaRPr>
          </a:p>
        </p:txBody>
      </p:sp>
      <p:sp>
        <p:nvSpPr>
          <p:cNvPr id="12" name="矩形 11"/>
          <p:cNvSpPr>
            <a:spLocks noGrp="1"/>
          </p:cNvSpPr>
          <p:nvPr/>
        </p:nvSpPr>
        <p:spPr>
          <a:xfrm>
            <a:off x="8286750" y="3429000"/>
            <a:ext cx="2381250" cy="266700"/>
          </a:xfrm>
          <a:prstGeom prst="rect">
            <a:avLst/>
          </a:prstGeom>
          <a:noFill/>
          <a:ln w="0">
            <a:noFill/>
            <a:prstDash val="solid"/>
          </a:ln>
        </p:spPr>
        <p:txBody>
          <a:bodyPr anchor="ctr"/>
          <a:lstStyle/>
          <a:p>
            <a:pPr algn="ctr">
              <a:buNone/>
              <a:defRPr sz="1350" b="0">
                <a:solidFill>
                  <a:srgbClr val="64748B"/>
                </a:solidFill>
              </a:defRPr>
            </a:pPr>
            <a:r>
              <a:rPr sz="1350" b="0">
                <a:solidFill>
                  <a:srgbClr val="64748B"/>
                </a:solidFill>
              </a:rPr>
              <a:t>Acc@0.5</a:t>
            </a:r>
            <a:endParaRPr sz="1350" b="0">
              <a:solidFill>
                <a:srgbClr val="64748B"/>
              </a:solidFill>
            </a:endParaRPr>
          </a:p>
        </p:txBody>
      </p:sp>
      <p:sp>
        <p:nvSpPr>
          <p:cNvPr id="13" name="直接连接符 12"/>
          <p:cNvSpPr>
            <a:spLocks noGrp="1"/>
          </p:cNvSpPr>
          <p:nvPr/>
        </p:nvSpPr>
        <p:spPr>
          <a:xfrm>
            <a:off x="3429000" y="3067050"/>
            <a:ext cx="742950" cy="0"/>
          </a:xfrm>
          <a:prstGeom prst="line">
            <a:avLst/>
          </a:prstGeom>
          <a:ln w="47625">
            <a:solidFill>
              <a:srgbClr val="18A999"/>
            </a:solidFill>
            <a:prstDash val="solid"/>
          </a:ln>
        </p:spPr>
      </p:sp>
      <p:sp>
        <p:nvSpPr>
          <p:cNvPr id="14" name="直接连接符 13"/>
          <p:cNvSpPr>
            <a:spLocks noGrp="1"/>
          </p:cNvSpPr>
          <p:nvPr/>
        </p:nvSpPr>
        <p:spPr>
          <a:xfrm>
            <a:off x="7191375" y="3067050"/>
            <a:ext cx="647700" cy="0"/>
          </a:xfrm>
          <a:prstGeom prst="line">
            <a:avLst/>
          </a:prstGeom>
          <a:ln w="47625">
            <a:solidFill>
              <a:srgbClr val="F28C28"/>
            </a:solidFill>
            <a:prstDash val="solid"/>
          </a:ln>
        </p:spPr>
      </p:sp>
      <p:sp>
        <p:nvSpPr>
          <p:cNvPr id="15" name="矩形 14"/>
          <p:cNvSpPr>
            <a:spLocks noGrp="1"/>
          </p:cNvSpPr>
          <p:nvPr/>
        </p:nvSpPr>
        <p:spPr>
          <a:xfrm>
            <a:off x="2857500" y="4572000"/>
            <a:ext cx="6477000" cy="361950"/>
          </a:xfrm>
          <a:prstGeom prst="rect">
            <a:avLst/>
          </a:prstGeom>
          <a:noFill/>
          <a:ln w="0">
            <a:noFill/>
            <a:prstDash val="solid"/>
          </a:ln>
        </p:spPr>
        <p:txBody>
          <a:bodyPr anchor="ctr"/>
          <a:lstStyle/>
          <a:p>
            <a:pPr algn="ctr">
              <a:buNone/>
              <a:defRPr sz="2100" b="1">
                <a:solidFill>
                  <a:srgbClr val="102A43"/>
                </a:solidFill>
              </a:defRPr>
            </a:pPr>
            <a:r>
              <a:rPr sz="2100" b="1">
                <a:solidFill>
                  <a:srgbClr val="102A43"/>
                </a:solidFill>
              </a:rPr>
              <a:t>TP@0.5：4285 → 4367</a:t>
            </a:r>
            <a:endParaRPr sz="2100" b="1">
              <a:solidFill>
                <a:srgbClr val="102A43"/>
              </a:solidFill>
            </a:endParaRPr>
          </a:p>
        </p:txBody>
      </p:sp>
      <p:sp>
        <p:nvSpPr>
          <p:cNvPr id="16" name="矩形 15"/>
          <p:cNvSpPr>
            <a:spLocks noGrp="1"/>
          </p:cNvSpPr>
          <p:nvPr/>
        </p:nvSpPr>
        <p:spPr>
          <a:xfrm>
            <a:off x="2667000" y="5143500"/>
            <a:ext cx="6858000" cy="266700"/>
          </a:xfrm>
          <a:prstGeom prst="rect">
            <a:avLst/>
          </a:prstGeom>
          <a:noFill/>
          <a:ln w="0">
            <a:noFill/>
            <a:prstDash val="solid"/>
          </a:ln>
        </p:spPr>
        <p:txBody>
          <a:bodyPr anchor="ctr"/>
          <a:lstStyle/>
          <a:p>
            <a:pPr algn="ctr">
              <a:buNone/>
              <a:defRPr sz="1575" b="0">
                <a:solidFill>
                  <a:srgbClr val="64748B"/>
                </a:solidFill>
              </a:defRPr>
            </a:pPr>
            <a:r>
              <a:rPr sz="1575" b="0">
                <a:solidFill>
                  <a:srgbClr val="64748B"/>
                </a:solidFill>
              </a:rPr>
              <a:t>更多真实目标进入候选池，为后续排序提供基础。</a:t>
            </a:r>
            <a:endParaRPr sz="1575" b="0">
              <a:solidFill>
                <a:srgbClr val="64748B"/>
              </a:solidFill>
            </a:endParaRPr>
          </a:p>
        </p:txBody>
      </p:sp>
      <p:sp>
        <p:nvSpPr>
          <p:cNvPr id="17" name="矩形 16"/>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8" name="矩形 17"/>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13</a:t>
            </a:r>
            <a:endParaRPr sz="900" b="1">
              <a:solidFill>
                <a:srgbClr val="18A999"/>
              </a:solidFill>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p:sp>
        <p:nvSpPr>
          <p:cNvPr id="14" name="矩形 13"/>
          <p:cNvSpPr>
            <a:spLocks noGrp="1"/>
          </p:cNvSpPr>
          <p:nvPr/>
        </p:nvSpPr>
        <p:spPr>
          <a:xfrm>
            <a:off x="685800" y="419100"/>
            <a:ext cx="1905000" cy="209550"/>
          </a:xfrm>
          <a:prstGeom prst="rect">
            <a:avLst/>
          </a:prstGeom>
          <a:noFill/>
          <a:ln w="0">
            <a:noFill/>
            <a:prstDash val="solid"/>
          </a:ln>
        </p:spPr>
        <p:txBody>
          <a:bodyPr anchor="ctr"/>
          <a:lstStyle/>
          <a:p>
            <a:pPr algn="l">
              <a:buNone/>
              <a:defRPr sz="975" b="1">
                <a:solidFill>
                  <a:srgbClr val="18A999"/>
                </a:solidFill>
              </a:defRPr>
            </a:pPr>
            <a:r>
              <a:rPr sz="975" b="1">
                <a:solidFill>
                  <a:srgbClr val="18A999"/>
                </a:solidFill>
              </a:rPr>
              <a:t>CONCLUSION</a:t>
            </a:r>
            <a:endParaRPr sz="975" b="1">
              <a:solidFill>
                <a:srgbClr val="18A999"/>
              </a:solidFill>
            </a:endParaRPr>
          </a:p>
        </p:txBody>
      </p:sp>
      <p:sp>
        <p:nvSpPr>
          <p:cNvPr id="2" name="矩形 1"/>
          <p:cNvSpPr>
            <a:spLocks noGrp="1"/>
          </p:cNvSpPr>
          <p:nvPr/>
        </p:nvSpPr>
        <p:spPr>
          <a:xfrm>
            <a:off x="685800" y="666750"/>
            <a:ext cx="10858500" cy="476250"/>
          </a:xfrm>
          <a:prstGeom prst="rect">
            <a:avLst/>
          </a:prstGeom>
          <a:noFill/>
          <a:ln w="0">
            <a:noFill/>
            <a:prstDash val="solid"/>
          </a:ln>
        </p:spPr>
        <p:txBody>
          <a:bodyPr anchor="ctr"/>
          <a:lstStyle/>
          <a:p>
            <a:pPr algn="l">
              <a:buNone/>
              <a:defRPr sz="2700" b="1">
                <a:solidFill>
                  <a:srgbClr val="102A43"/>
                </a:solidFill>
              </a:defRPr>
            </a:pPr>
            <a:r>
              <a:rPr sz="2700" b="1">
                <a:solidFill>
                  <a:srgbClr val="102A43"/>
                </a:solidFill>
              </a:rPr>
              <a:t>结论：候选覆盖与排序校准共同决定航拍识别质量</a:t>
            </a:r>
            <a:endParaRPr sz="2700" b="1">
              <a:solidFill>
                <a:srgbClr val="102A43"/>
              </a:solidFill>
            </a:endParaRPr>
          </a:p>
        </p:txBody>
      </p:sp>
      <p:sp>
        <p:nvSpPr>
          <p:cNvPr id="3" name="直接连接符 2"/>
          <p:cNvSpPr>
            <a:spLocks noGrp="1"/>
          </p:cNvSpPr>
          <p:nvPr/>
        </p:nvSpPr>
        <p:spPr>
          <a:xfrm>
            <a:off x="685800" y="1543050"/>
            <a:ext cx="10820400" cy="0"/>
          </a:xfrm>
          <a:prstGeom prst="line">
            <a:avLst/>
          </a:prstGeom>
          <a:ln w="9525">
            <a:solidFill>
              <a:srgbClr val="D7E1EA"/>
            </a:solidFill>
            <a:prstDash val="solid"/>
          </a:ln>
        </p:spPr>
      </p:sp>
      <p:sp>
        <p:nvSpPr>
          <p:cNvPr id="4" name="矩形 3"/>
          <p:cNvSpPr>
            <a:spLocks noGrp="1"/>
          </p:cNvSpPr>
          <p:nvPr/>
        </p:nvSpPr>
        <p:spPr>
          <a:xfrm>
            <a:off x="857250" y="2286000"/>
            <a:ext cx="762000" cy="476250"/>
          </a:xfrm>
          <a:prstGeom prst="rect">
            <a:avLst/>
          </a:prstGeom>
          <a:noFill/>
          <a:ln w="0">
            <a:noFill/>
            <a:prstDash val="solid"/>
          </a:ln>
        </p:spPr>
        <p:txBody>
          <a:bodyPr anchor="ctr"/>
          <a:lstStyle/>
          <a:p>
            <a:pPr algn="l">
              <a:buNone/>
              <a:defRPr sz="2700" b="1">
                <a:solidFill>
                  <a:srgbClr val="F28C28"/>
                </a:solidFill>
              </a:defRPr>
            </a:pPr>
            <a:r>
              <a:rPr sz="2700" b="1">
                <a:solidFill>
                  <a:srgbClr val="F28C28"/>
                </a:solidFill>
              </a:rPr>
              <a:t>01</a:t>
            </a:r>
            <a:endParaRPr sz="2700" b="1">
              <a:solidFill>
                <a:srgbClr val="F28C28"/>
              </a:solidFill>
            </a:endParaRPr>
          </a:p>
        </p:txBody>
      </p:sp>
      <p:sp>
        <p:nvSpPr>
          <p:cNvPr id="5" name="矩形 4"/>
          <p:cNvSpPr>
            <a:spLocks noGrp="1"/>
          </p:cNvSpPr>
          <p:nvPr/>
        </p:nvSpPr>
        <p:spPr>
          <a:xfrm>
            <a:off x="1857375" y="2286000"/>
            <a:ext cx="8001000" cy="400050"/>
          </a:xfrm>
          <a:prstGeom prst="rect">
            <a:avLst/>
          </a:prstGeom>
          <a:noFill/>
          <a:ln w="0">
            <a:noFill/>
            <a:prstDash val="solid"/>
          </a:ln>
        </p:spPr>
        <p:txBody>
          <a:bodyPr anchor="ctr"/>
          <a:lstStyle/>
          <a:p>
            <a:pPr algn="l">
              <a:buNone/>
              <a:defRPr sz="1950" b="1">
                <a:solidFill>
                  <a:srgbClr val="102A43"/>
                </a:solidFill>
              </a:defRPr>
            </a:pPr>
            <a:r>
              <a:rPr sz="1950" b="1">
                <a:solidFill>
                  <a:srgbClr val="102A43"/>
                </a:solidFill>
              </a:rPr>
              <a:t>别名提示与候选扩展有效提升小目标命中能力。</a:t>
            </a:r>
            <a:endParaRPr sz="1950" b="1">
              <a:solidFill>
                <a:srgbClr val="102A43"/>
              </a:solidFill>
            </a:endParaRPr>
          </a:p>
        </p:txBody>
      </p:sp>
      <p:sp>
        <p:nvSpPr>
          <p:cNvPr id="6" name="矩形 5"/>
          <p:cNvSpPr>
            <a:spLocks noGrp="1"/>
          </p:cNvSpPr>
          <p:nvPr/>
        </p:nvSpPr>
        <p:spPr>
          <a:xfrm>
            <a:off x="857250" y="3238500"/>
            <a:ext cx="762000" cy="476250"/>
          </a:xfrm>
          <a:prstGeom prst="rect">
            <a:avLst/>
          </a:prstGeom>
          <a:noFill/>
          <a:ln w="0">
            <a:noFill/>
            <a:prstDash val="solid"/>
          </a:ln>
        </p:spPr>
        <p:txBody>
          <a:bodyPr anchor="ctr"/>
          <a:lstStyle/>
          <a:p>
            <a:pPr algn="l">
              <a:buNone/>
              <a:defRPr sz="2700" b="1">
                <a:solidFill>
                  <a:srgbClr val="18A999"/>
                </a:solidFill>
              </a:defRPr>
            </a:pPr>
            <a:r>
              <a:rPr sz="2700" b="1">
                <a:solidFill>
                  <a:srgbClr val="18A999"/>
                </a:solidFill>
              </a:rPr>
              <a:t>02</a:t>
            </a:r>
            <a:endParaRPr sz="2700" b="1">
              <a:solidFill>
                <a:srgbClr val="18A999"/>
              </a:solidFill>
            </a:endParaRPr>
          </a:p>
        </p:txBody>
      </p:sp>
      <p:sp>
        <p:nvSpPr>
          <p:cNvPr id="7" name="矩形 6"/>
          <p:cNvSpPr>
            <a:spLocks noGrp="1"/>
          </p:cNvSpPr>
          <p:nvPr/>
        </p:nvSpPr>
        <p:spPr>
          <a:xfrm>
            <a:off x="1857375" y="3238500"/>
            <a:ext cx="8001000" cy="400050"/>
          </a:xfrm>
          <a:prstGeom prst="rect">
            <a:avLst/>
          </a:prstGeom>
          <a:noFill/>
          <a:ln w="0">
            <a:noFill/>
            <a:prstDash val="solid"/>
          </a:ln>
        </p:spPr>
        <p:txBody>
          <a:bodyPr anchor="ctr"/>
          <a:lstStyle/>
          <a:p>
            <a:pPr algn="l">
              <a:buNone/>
              <a:defRPr sz="1950" b="1">
                <a:solidFill>
                  <a:srgbClr val="102A43"/>
                </a:solidFill>
              </a:defRPr>
            </a:pPr>
            <a:r>
              <a:rPr sz="1950" b="1">
                <a:solidFill>
                  <a:srgbClr val="102A43"/>
                </a:solidFill>
              </a:rPr>
              <a:t>富元信息使候选可靠性可被显式建模与解释。</a:t>
            </a:r>
            <a:endParaRPr sz="1950" b="1">
              <a:solidFill>
                <a:srgbClr val="102A43"/>
              </a:solidFill>
            </a:endParaRPr>
          </a:p>
        </p:txBody>
      </p:sp>
      <p:sp>
        <p:nvSpPr>
          <p:cNvPr id="8" name="矩形 7"/>
          <p:cNvSpPr>
            <a:spLocks noGrp="1"/>
          </p:cNvSpPr>
          <p:nvPr/>
        </p:nvSpPr>
        <p:spPr>
          <a:xfrm>
            <a:off x="857250" y="4191000"/>
            <a:ext cx="762000" cy="476250"/>
          </a:xfrm>
          <a:prstGeom prst="rect">
            <a:avLst/>
          </a:prstGeom>
          <a:noFill/>
          <a:ln w="0">
            <a:noFill/>
            <a:prstDash val="solid"/>
          </a:ln>
        </p:spPr>
        <p:txBody>
          <a:bodyPr anchor="ctr"/>
          <a:lstStyle/>
          <a:p>
            <a:pPr algn="l">
              <a:buNone/>
              <a:defRPr sz="2700" b="1">
                <a:solidFill>
                  <a:srgbClr val="E85D75"/>
                </a:solidFill>
              </a:defRPr>
            </a:pPr>
            <a:r>
              <a:rPr sz="2700" b="1">
                <a:solidFill>
                  <a:srgbClr val="E85D75"/>
                </a:solidFill>
              </a:rPr>
              <a:t>03</a:t>
            </a:r>
            <a:endParaRPr sz="2700" b="1">
              <a:solidFill>
                <a:srgbClr val="E85D75"/>
              </a:solidFill>
            </a:endParaRPr>
          </a:p>
        </p:txBody>
      </p:sp>
      <p:sp>
        <p:nvSpPr>
          <p:cNvPr id="9" name="矩形 8"/>
          <p:cNvSpPr>
            <a:spLocks noGrp="1"/>
          </p:cNvSpPr>
          <p:nvPr/>
        </p:nvSpPr>
        <p:spPr>
          <a:xfrm>
            <a:off x="1857375" y="4191000"/>
            <a:ext cx="8572500" cy="400050"/>
          </a:xfrm>
          <a:prstGeom prst="rect">
            <a:avLst/>
          </a:prstGeom>
          <a:noFill/>
          <a:ln w="0">
            <a:noFill/>
            <a:prstDash val="solid"/>
          </a:ln>
        </p:spPr>
        <p:txBody>
          <a:bodyPr anchor="ctr"/>
          <a:lstStyle/>
          <a:p>
            <a:pPr algn="l">
              <a:buNone/>
              <a:defRPr sz="1950" b="1">
                <a:solidFill>
                  <a:srgbClr val="102A43"/>
                </a:solidFill>
              </a:defRPr>
            </a:pPr>
            <a:r>
              <a:rPr sz="1950" b="1">
                <a:solidFill>
                  <a:srgbClr val="102A43"/>
                </a:solidFill>
              </a:rPr>
              <a:t>反馈式校准在固定候选集上将 mAP@0.5 提升至 0.1690。</a:t>
            </a:r>
            <a:endParaRPr sz="1950" b="1">
              <a:solidFill>
                <a:srgbClr val="102A43"/>
              </a:solidFill>
            </a:endParaRPr>
          </a:p>
        </p:txBody>
      </p:sp>
      <p:sp>
        <p:nvSpPr>
          <p:cNvPr id="10" name="圆角矩形 9"/>
          <p:cNvSpPr>
            <a:spLocks noGrp="1"/>
          </p:cNvSpPr>
          <p:nvPr/>
        </p:nvSpPr>
        <p:spPr>
          <a:xfrm>
            <a:off x="1524000" y="5381625"/>
            <a:ext cx="9144000" cy="533400"/>
          </a:xfrm>
          <a:prstGeom prst="roundRect">
            <a:avLst>
              <a:gd name="adj" fmla="val 21429"/>
            </a:avLst>
          </a:prstGeom>
          <a:solidFill>
            <a:srgbClr val="102A43"/>
          </a:solidFill>
          <a:ln w="0">
            <a:noFill/>
            <a:prstDash val="solid"/>
          </a:ln>
        </p:spPr>
      </p:sp>
      <p:sp>
        <p:nvSpPr>
          <p:cNvPr id="11" name="矩形 10"/>
          <p:cNvSpPr>
            <a:spLocks noGrp="1"/>
          </p:cNvSpPr>
          <p:nvPr/>
        </p:nvSpPr>
        <p:spPr>
          <a:xfrm>
            <a:off x="1714500" y="5476875"/>
            <a:ext cx="8763000" cy="323850"/>
          </a:xfrm>
          <a:prstGeom prst="rect">
            <a:avLst/>
          </a:prstGeom>
          <a:noFill/>
          <a:ln w="0">
            <a:noFill/>
            <a:prstDash val="solid"/>
          </a:ln>
        </p:spPr>
        <p:txBody>
          <a:bodyPr anchor="ctr"/>
          <a:lstStyle/>
          <a:p>
            <a:pPr algn="ctr">
              <a:buNone/>
              <a:defRPr sz="1725" b="1">
                <a:solidFill>
                  <a:srgbClr val="FFFFFF"/>
                </a:solidFill>
              </a:defRPr>
            </a:pPr>
            <a:r>
              <a:rPr sz="1725" b="1">
                <a:solidFill>
                  <a:srgbClr val="FFFFFF"/>
                </a:solidFill>
              </a:rPr>
              <a:t>轻量闭环后处理为开放词表检测适配低空航拍场景提供了可行路径。</a:t>
            </a:r>
            <a:endParaRPr sz="1725" b="1">
              <a:solidFill>
                <a:srgbClr val="FFFFFF"/>
              </a:solidFill>
            </a:endParaRPr>
          </a:p>
        </p:txBody>
      </p:sp>
      <p:sp>
        <p:nvSpPr>
          <p:cNvPr id="12" name="矩形 11"/>
          <p:cNvSpPr>
            <a:spLocks noGrp="1"/>
          </p:cNvSpPr>
          <p:nvPr/>
        </p:nvSpPr>
        <p:spPr>
          <a:xfrm>
            <a:off x="685800" y="6534150"/>
            <a:ext cx="2476500" cy="152400"/>
          </a:xfrm>
          <a:prstGeom prst="rect">
            <a:avLst/>
          </a:prstGeom>
          <a:noFill/>
          <a:ln w="0">
            <a:noFill/>
            <a:prstDash val="solid"/>
          </a:ln>
        </p:spPr>
        <p:txBody>
          <a:bodyPr anchor="ctr"/>
          <a:lstStyle/>
          <a:p>
            <a:pPr algn="l">
              <a:buNone/>
              <a:defRPr sz="825" b="0">
                <a:solidFill>
                  <a:srgbClr val="64748B"/>
                </a:solidFill>
              </a:defRPr>
            </a:pPr>
            <a:r>
              <a:rPr sz="825" b="0">
                <a:solidFill>
                  <a:srgbClr val="64748B"/>
                </a:solidFill>
              </a:rPr>
              <a:t>HIT Shenzhen  |  毕业答辩</a:t>
            </a:r>
            <a:endParaRPr sz="825" b="0">
              <a:solidFill>
                <a:srgbClr val="64748B"/>
              </a:solidFill>
            </a:endParaRPr>
          </a:p>
        </p:txBody>
      </p:sp>
      <p:sp>
        <p:nvSpPr>
          <p:cNvPr id="13" name="矩形 12"/>
          <p:cNvSpPr>
            <a:spLocks noGrp="1"/>
          </p:cNvSpPr>
          <p:nvPr/>
        </p:nvSpPr>
        <p:spPr>
          <a:xfrm>
            <a:off x="10953750" y="6515100"/>
            <a:ext cx="552450" cy="171450"/>
          </a:xfrm>
          <a:prstGeom prst="rect">
            <a:avLst/>
          </a:prstGeom>
          <a:noFill/>
          <a:ln w="0">
            <a:noFill/>
            <a:prstDash val="solid"/>
          </a:ln>
        </p:spPr>
        <p:txBody>
          <a:bodyPr anchor="ctr"/>
          <a:lstStyle/>
          <a:p>
            <a:pPr algn="r">
              <a:buNone/>
              <a:defRPr sz="900" b="1">
                <a:solidFill>
                  <a:srgbClr val="18A999"/>
                </a:solidFill>
              </a:defRPr>
            </a:pPr>
            <a:r>
              <a:rPr sz="900" b="1">
                <a:solidFill>
                  <a:srgbClr val="18A999"/>
                </a:solidFill>
              </a:rPr>
              <a:t>18</a:t>
            </a:r>
            <a:endParaRPr sz="900" b="1">
              <a:solidFill>
                <a:srgbClr val="18A99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p:sp>
        <p:nvSpPr>
          <p:cNvPr id="7" name="矩形 6"/>
          <p:cNvSpPr>
            <a:spLocks noGrp="1"/>
          </p:cNvSpPr>
          <p:nvPr/>
        </p:nvSpPr>
        <p:spPr>
          <a:xfrm>
            <a:off x="0" y="0"/>
            <a:ext cx="12192000" cy="6858000"/>
          </a:xfrm>
          <a:prstGeom prst="rect">
            <a:avLst/>
          </a:prstGeom>
          <a:solidFill>
            <a:srgbClr val="102A43"/>
          </a:solidFill>
          <a:ln w="0">
            <a:noFill/>
            <a:prstDash val="solid"/>
          </a:ln>
        </p:spPr>
      </p:sp>
      <p:sp>
        <p:nvSpPr>
          <p:cNvPr id="2" name="矩形 1"/>
          <p:cNvSpPr>
            <a:spLocks noGrp="1"/>
          </p:cNvSpPr>
          <p:nvPr/>
        </p:nvSpPr>
        <p:spPr>
          <a:xfrm>
            <a:off x="685800" y="2190750"/>
            <a:ext cx="7620000" cy="666750"/>
          </a:xfrm>
          <a:prstGeom prst="rect">
            <a:avLst/>
          </a:prstGeom>
          <a:noFill/>
          <a:ln w="0">
            <a:noFill/>
            <a:prstDash val="solid"/>
          </a:ln>
        </p:spPr>
        <p:txBody>
          <a:bodyPr anchor="ctr"/>
          <a:lstStyle/>
          <a:p>
            <a:pPr algn="l">
              <a:buNone/>
              <a:defRPr sz="4050" b="1">
                <a:solidFill>
                  <a:srgbClr val="FFFFFF"/>
                </a:solidFill>
              </a:defRPr>
            </a:pPr>
            <a:r>
              <a:rPr sz="4050" b="1">
                <a:solidFill>
                  <a:srgbClr val="FFFFFF"/>
                </a:solidFill>
              </a:rPr>
              <a:t>感谢各位老师聆听</a:t>
            </a:r>
            <a:endParaRPr sz="4050" b="1">
              <a:solidFill>
                <a:srgbClr val="FFFFFF"/>
              </a:solidFill>
            </a:endParaRPr>
          </a:p>
        </p:txBody>
      </p:sp>
      <p:sp>
        <p:nvSpPr>
          <p:cNvPr id="3" name="矩形 2"/>
          <p:cNvSpPr>
            <a:spLocks noGrp="1"/>
          </p:cNvSpPr>
          <p:nvPr/>
        </p:nvSpPr>
        <p:spPr>
          <a:xfrm>
            <a:off x="704850" y="3000375"/>
            <a:ext cx="3810000" cy="400050"/>
          </a:xfrm>
          <a:prstGeom prst="rect">
            <a:avLst/>
          </a:prstGeom>
          <a:noFill/>
          <a:ln w="0">
            <a:noFill/>
            <a:prstDash val="solid"/>
          </a:ln>
        </p:spPr>
        <p:txBody>
          <a:bodyPr anchor="ctr"/>
          <a:lstStyle/>
          <a:p>
            <a:pPr algn="l">
              <a:buNone/>
              <a:defRPr sz="2100" b="0">
                <a:solidFill>
                  <a:srgbClr val="B9D9F1"/>
                </a:solidFill>
              </a:defRPr>
            </a:pPr>
            <a:r>
              <a:rPr sz="2100" b="0">
                <a:solidFill>
                  <a:srgbClr val="B9D9F1"/>
                </a:solidFill>
              </a:rPr>
              <a:t>欢迎批评指正</a:t>
            </a:r>
            <a:endParaRPr sz="2100" b="0">
              <a:solidFill>
                <a:srgbClr val="B9D9F1"/>
              </a:solidFill>
            </a:endParaRPr>
          </a:p>
        </p:txBody>
      </p:sp>
      <p:sp>
        <p:nvSpPr>
          <p:cNvPr id="4" name="圆角矩形 3"/>
          <p:cNvSpPr>
            <a:spLocks noGrp="1"/>
          </p:cNvSpPr>
          <p:nvPr/>
        </p:nvSpPr>
        <p:spPr>
          <a:xfrm>
            <a:off x="685800" y="3762375"/>
            <a:ext cx="1619250" cy="66675"/>
          </a:xfrm>
          <a:prstGeom prst="roundRect">
            <a:avLst>
              <a:gd name="adj" fmla="val 50000"/>
            </a:avLst>
          </a:prstGeom>
          <a:solidFill>
            <a:srgbClr val="18A999"/>
          </a:solidFill>
          <a:ln w="0">
            <a:noFill/>
            <a:prstDash val="solid"/>
          </a:ln>
        </p:spPr>
      </p:sp>
      <p:sp>
        <p:nvSpPr>
          <p:cNvPr id="5" name="矩形 4"/>
          <p:cNvSpPr>
            <a:spLocks noGrp="1"/>
          </p:cNvSpPr>
          <p:nvPr/>
        </p:nvSpPr>
        <p:spPr>
          <a:xfrm>
            <a:off x="685800" y="4191000"/>
            <a:ext cx="2857500" cy="457200"/>
          </a:xfrm>
          <a:prstGeom prst="rect">
            <a:avLst/>
          </a:prstGeom>
          <a:noFill/>
          <a:ln w="0">
            <a:noFill/>
            <a:prstDash val="solid"/>
          </a:ln>
        </p:spPr>
        <p:txBody>
          <a:bodyPr anchor="ctr"/>
          <a:lstStyle/>
          <a:p>
            <a:pPr algn="l">
              <a:buNone/>
              <a:defRPr sz="2550" b="1">
                <a:solidFill>
                  <a:srgbClr val="18A999"/>
                </a:solidFill>
              </a:defRPr>
            </a:pPr>
            <a:r>
              <a:rPr sz="2550" b="1">
                <a:solidFill>
                  <a:srgbClr val="18A999"/>
                </a:solidFill>
              </a:rPr>
              <a:t>Q &amp; A</a:t>
            </a:r>
            <a:endParaRPr sz="2550" b="1">
              <a:solidFill>
                <a:srgbClr val="18A999"/>
              </a:solidFill>
            </a:endParaRPr>
          </a:p>
        </p:txBody>
      </p:sp>
      <p:sp>
        <p:nvSpPr>
          <p:cNvPr id="6" name="矩形 5"/>
          <p:cNvSpPr>
            <a:spLocks noGrp="1"/>
          </p:cNvSpPr>
          <p:nvPr/>
        </p:nvSpPr>
        <p:spPr>
          <a:xfrm>
            <a:off x="685800" y="6267450"/>
            <a:ext cx="6667500" cy="190500"/>
          </a:xfrm>
          <a:prstGeom prst="rect">
            <a:avLst/>
          </a:prstGeom>
          <a:noFill/>
          <a:ln w="0">
            <a:noFill/>
            <a:prstDash val="solid"/>
          </a:ln>
        </p:spPr>
        <p:txBody>
          <a:bodyPr anchor="ctr"/>
          <a:lstStyle/>
          <a:p>
            <a:pPr algn="l">
              <a:buNone/>
              <a:defRPr sz="1125" b="0">
                <a:solidFill>
                  <a:srgbClr val="B9D9F1"/>
                </a:solidFill>
              </a:defRPr>
            </a:pPr>
            <a:r>
              <a:rPr sz="1125" b="0">
                <a:solidFill>
                  <a:srgbClr val="B9D9F1"/>
                </a:solidFill>
              </a:rPr>
              <a:t>强化学习驱动的闭环航拍图像识别方法</a:t>
            </a:r>
            <a:endParaRPr sz="1125" b="0">
              <a:solidFill>
                <a:srgbClr val="B9D9F1"/>
              </a:solidFill>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84048"/>
            <a:ext cx="2743200" cy="228600"/>
          </a:xfrm>
          <a:prstGeom prst="rect">
            <a:avLst/>
          </a:prstGeom>
          <a:noFill/>
        </p:spPr>
        <p:txBody>
          <a:bodyPr wrap="square" anchor="ctr">
            <a:spAutoFit/>
          </a:bodyPr>
          <a:lstStyle/>
          <a:p>
            <a:pPr algn="l">
              <a:spcAft>
                <a:spcPts val="100"/>
              </a:spcAft>
            </a:pPr>
            <a:r>
              <a:rPr sz="1000" b="1">
                <a:solidFill>
                  <a:srgbClr val="18A999"/>
                </a:solidFill>
                <a:latin typeface="Microsoft YaHei"/>
              </a:rPr>
              <a:t>EXPERIMENT 01</a:t>
            </a:r>
          </a:p>
        </p:txBody>
      </p:sp>
      <p:sp>
        <p:nvSpPr>
          <p:cNvPr id="3" name="TextBox 2"/>
          <p:cNvSpPr txBox="1"/>
          <p:nvPr/>
        </p:nvSpPr>
        <p:spPr>
          <a:xfrm>
            <a:off x="685800" y="667512"/>
            <a:ext cx="10881360" cy="502920"/>
          </a:xfrm>
          <a:prstGeom prst="rect">
            <a:avLst/>
          </a:prstGeom>
          <a:noFill/>
        </p:spPr>
        <p:txBody>
          <a:bodyPr wrap="square" anchor="ctr">
            <a:spAutoFit/>
          </a:bodyPr>
          <a:lstStyle/>
          <a:p>
            <a:pPr algn="l">
              <a:spcAft>
                <a:spcPts val="100"/>
              </a:spcAft>
            </a:pPr>
            <a:r>
              <a:rPr sz="2700" b="1">
                <a:solidFill>
                  <a:srgbClr val="102A43"/>
                </a:solidFill>
                <a:latin typeface="Microsoft YaHei"/>
              </a:rPr>
              <a:t>实验设置：拆分验证候选覆盖与候选排序</a:t>
            </a:r>
          </a:p>
        </p:txBody>
      </p:sp>
      <p:cxnSp>
        <p:nvCxnSpPr>
          <p:cNvPr id="4" name="Connector 3"/>
          <p:cNvCxnSpPr/>
          <p:nvPr/>
        </p:nvCxnSpPr>
        <p:spPr>
          <a:xfrm>
            <a:off x="685800" y="1545336"/>
            <a:ext cx="10817352"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6510528"/>
            <a:ext cx="2743200" cy="164592"/>
          </a:xfrm>
          <a:prstGeom prst="rect">
            <a:avLst/>
          </a:prstGeom>
          <a:noFill/>
        </p:spPr>
        <p:txBody>
          <a:bodyPr wrap="square" anchor="ctr">
            <a:spAutoFit/>
          </a:bodyPr>
          <a:lstStyle/>
          <a:p>
            <a:pPr algn="l">
              <a:spcAft>
                <a:spcPts val="100"/>
              </a:spcAft>
            </a:pPr>
            <a:r>
              <a:rPr sz="850" b="0">
                <a:solidFill>
                  <a:srgbClr val="64748B"/>
                </a:solidFill>
                <a:latin typeface="Microsoft YaHei"/>
              </a:rPr>
              <a:t>HIT Shenzhen  |  毕业答辩</a:t>
            </a:r>
          </a:p>
        </p:txBody>
      </p:sp>
      <p:sp>
        <p:nvSpPr>
          <p:cNvPr id="6" name="TextBox 5"/>
          <p:cNvSpPr txBox="1"/>
          <p:nvPr/>
        </p:nvSpPr>
        <p:spPr>
          <a:xfrm>
            <a:off x="10954512" y="6492240"/>
            <a:ext cx="548640" cy="164592"/>
          </a:xfrm>
          <a:prstGeom prst="rect">
            <a:avLst/>
          </a:prstGeom>
          <a:noFill/>
        </p:spPr>
        <p:txBody>
          <a:bodyPr wrap="square" anchor="ctr">
            <a:spAutoFit/>
          </a:bodyPr>
          <a:lstStyle/>
          <a:p>
            <a:pPr algn="r">
              <a:spcAft>
                <a:spcPts val="100"/>
              </a:spcAft>
            </a:pPr>
            <a:r>
              <a:rPr sz="850" b="0">
                <a:solidFill>
                  <a:srgbClr val="64748B"/>
                </a:solidFill>
                <a:latin typeface="Microsoft YaHei"/>
              </a:rPr>
              <a:t>17</a:t>
            </a:r>
          </a:p>
        </p:txBody>
      </p:sp>
      <p:sp>
        <p:nvSpPr>
          <p:cNvPr id="7" name="Rounded Rectangle 6"/>
          <p:cNvSpPr/>
          <p:nvPr/>
        </p:nvSpPr>
        <p:spPr>
          <a:xfrm>
            <a:off x="685800" y="1783080"/>
            <a:ext cx="3246120" cy="1051560"/>
          </a:xfrm>
          <a:prstGeom prst="roundRect">
            <a:avLst/>
          </a:prstGeom>
          <a:solidFill>
            <a:srgbClr val="EFF7FD"/>
          </a:solidFill>
          <a:ln w="12700">
            <a:solidFill>
              <a:srgbClr val="B9D9F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700" b="1">
                <a:solidFill>
                  <a:srgbClr val="152536"/>
                </a:solidFill>
                <a:latin typeface="Microsoft YaHei"/>
              </a:rPr>
              <a:t>数据集</a:t>
            </a:r>
          </a:p>
          <a:p>
            <a:pPr algn="ctr">
              <a:spcAft>
                <a:spcPts val="100"/>
              </a:spcAft>
            </a:pPr>
            <a:r>
              <a:rPr sz="1700" b="1">
                <a:solidFill>
                  <a:srgbClr val="152536"/>
                </a:solidFill>
                <a:latin typeface="Microsoft YaHei"/>
              </a:rPr>
              <a:t>VisDroneSplit1000Guarded</a:t>
            </a:r>
          </a:p>
          <a:p>
            <a:pPr algn="ctr">
              <a:spcAft>
                <a:spcPts val="100"/>
              </a:spcAft>
            </a:pPr>
            <a:r>
              <a:rPr sz="1700" b="1">
                <a:solidFill>
                  <a:srgbClr val="152536"/>
                </a:solidFill>
                <a:latin typeface="Microsoft YaHei"/>
              </a:rPr>
              <a:t>测试集 150 张图像</a:t>
            </a:r>
          </a:p>
        </p:txBody>
      </p:sp>
      <p:sp>
        <p:nvSpPr>
          <p:cNvPr id="8" name="Rounded Rectangle 7"/>
          <p:cNvSpPr/>
          <p:nvPr/>
        </p:nvSpPr>
        <p:spPr>
          <a:xfrm>
            <a:off x="4480560" y="1783080"/>
            <a:ext cx="3246120" cy="1051560"/>
          </a:xfrm>
          <a:prstGeom prst="roundRect">
            <a:avLst/>
          </a:prstGeom>
          <a:solidFill>
            <a:srgbClr val="E8F5F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700" b="1">
                <a:solidFill>
                  <a:srgbClr val="152536"/>
                </a:solidFill>
                <a:latin typeface="Microsoft YaHei"/>
              </a:rPr>
              <a:t>统一评价协议</a:t>
            </a:r>
          </a:p>
          <a:p>
            <a:pPr algn="ctr">
              <a:spcAft>
                <a:spcPts val="100"/>
              </a:spcAft>
            </a:pPr>
            <a:r>
              <a:rPr sz="1700" b="1">
                <a:solidFill>
                  <a:srgbClr val="152536"/>
                </a:solidFill>
                <a:latin typeface="Microsoft YaHei"/>
              </a:rPr>
              <a:t>class-aware matching</a:t>
            </a:r>
          </a:p>
          <a:p>
            <a:pPr algn="ctr">
              <a:spcAft>
                <a:spcPts val="100"/>
              </a:spcAft>
            </a:pPr>
            <a:r>
              <a:rPr sz="1700" b="1">
                <a:solidFill>
                  <a:srgbClr val="152536"/>
                </a:solidFill>
                <a:latin typeface="Microsoft YaHei"/>
              </a:rPr>
              <a:t>IoU = 0.5 / 0.75</a:t>
            </a:r>
          </a:p>
        </p:txBody>
      </p:sp>
      <p:sp>
        <p:nvSpPr>
          <p:cNvPr id="9" name="Rounded Rectangle 8"/>
          <p:cNvSpPr/>
          <p:nvPr/>
        </p:nvSpPr>
        <p:spPr>
          <a:xfrm>
            <a:off x="8275320" y="1783080"/>
            <a:ext cx="3246120" cy="1051560"/>
          </a:xfrm>
          <a:prstGeom prst="roundRect">
            <a:avLst/>
          </a:prstGeom>
          <a:solidFill>
            <a:srgbClr val="FCEFE2"/>
          </a:solidFill>
          <a:ln w="1270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700" b="1">
                <a:solidFill>
                  <a:srgbClr val="152536"/>
                </a:solidFill>
                <a:latin typeface="Microsoft YaHei"/>
              </a:rPr>
              <a:t>统一报告指标</a:t>
            </a:r>
          </a:p>
          <a:p>
            <a:pPr algn="ctr">
              <a:spcAft>
                <a:spcPts val="100"/>
              </a:spcAft>
            </a:pPr>
            <a:r>
              <a:rPr sz="1700" b="1">
                <a:solidFill>
                  <a:srgbClr val="152536"/>
                </a:solidFill>
                <a:latin typeface="Microsoft YaHei"/>
              </a:rPr>
              <a:t>Acc@0.5</a:t>
            </a:r>
          </a:p>
          <a:p>
            <a:pPr algn="ctr">
              <a:spcAft>
                <a:spcPts val="100"/>
              </a:spcAft>
            </a:pPr>
            <a:r>
              <a:rPr sz="1700" b="1">
                <a:solidFill>
                  <a:srgbClr val="152536"/>
                </a:solidFill>
                <a:latin typeface="Microsoft YaHei"/>
              </a:rPr>
              <a:t>Acc@0.75 · mAP@0.5</a:t>
            </a:r>
          </a:p>
        </p:txBody>
      </p:sp>
      <p:cxnSp>
        <p:nvCxnSpPr>
          <p:cNvPr id="10" name="Connector 9"/>
          <p:cNvCxnSpPr/>
          <p:nvPr/>
        </p:nvCxnSpPr>
        <p:spPr>
          <a:xfrm>
            <a:off x="3977639" y="2304288"/>
            <a:ext cx="429769" cy="0"/>
          </a:xfrm>
          <a:prstGeom prst="line">
            <a:avLst/>
          </a:prstGeom>
          <a:ln w="1778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2304288"/>
            <a:ext cx="429768" cy="0"/>
          </a:xfrm>
          <a:prstGeom prst="line">
            <a:avLst/>
          </a:prstGeom>
          <a:ln w="17780">
            <a:solidFill>
              <a:srgbClr val="64748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3337560"/>
            <a:ext cx="10515600" cy="292608"/>
          </a:xfrm>
          <a:prstGeom prst="rect">
            <a:avLst/>
          </a:prstGeom>
          <a:noFill/>
        </p:spPr>
        <p:txBody>
          <a:bodyPr wrap="square" anchor="ctr">
            <a:spAutoFit/>
          </a:bodyPr>
          <a:lstStyle/>
          <a:p>
            <a:pPr algn="l">
              <a:spcAft>
                <a:spcPts val="100"/>
              </a:spcAft>
            </a:pPr>
            <a:r>
              <a:rPr sz="1400" b="1">
                <a:solidFill>
                  <a:srgbClr val="18A999"/>
                </a:solidFill>
                <a:latin typeface="Microsoft YaHei"/>
              </a:rPr>
              <a:t>实验逻辑</a:t>
            </a:r>
          </a:p>
        </p:txBody>
      </p:sp>
      <p:sp>
        <p:nvSpPr>
          <p:cNvPr id="13" name="Rounded Rectangle 12"/>
          <p:cNvSpPr/>
          <p:nvPr/>
        </p:nvSpPr>
        <p:spPr>
          <a:xfrm>
            <a:off x="777240" y="3767328"/>
            <a:ext cx="3154680" cy="914400"/>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500" b="1">
                <a:solidFill>
                  <a:srgbClr val="152536"/>
                </a:solidFill>
                <a:latin typeface="Microsoft YaHei"/>
              </a:rPr>
              <a:t>实验 A</a:t>
            </a:r>
          </a:p>
          <a:p>
            <a:pPr algn="ctr">
              <a:spcAft>
                <a:spcPts val="100"/>
              </a:spcAft>
            </a:pPr>
            <a:r>
              <a:rPr sz="1500" b="1">
                <a:solidFill>
                  <a:srgbClr val="152536"/>
                </a:solidFill>
                <a:latin typeface="Microsoft YaHei"/>
              </a:rPr>
              <a:t>Prompt 扩展是否提高候选召回？</a:t>
            </a:r>
          </a:p>
        </p:txBody>
      </p:sp>
      <p:sp>
        <p:nvSpPr>
          <p:cNvPr id="14" name="Rounded Rectangle 13"/>
          <p:cNvSpPr/>
          <p:nvPr/>
        </p:nvSpPr>
        <p:spPr>
          <a:xfrm>
            <a:off x="4507992" y="3767328"/>
            <a:ext cx="3154680" cy="914400"/>
          </a:xfrm>
          <a:prstGeom prst="roundRect">
            <a:avLst/>
          </a:prstGeom>
          <a:solidFill>
            <a:srgbClr val="FFFFFF"/>
          </a:solidFill>
          <a:ln w="1270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500" b="1">
                <a:solidFill>
                  <a:srgbClr val="152536"/>
                </a:solidFill>
                <a:latin typeface="Microsoft YaHei"/>
              </a:rPr>
              <a:t>实验 B</a:t>
            </a:r>
          </a:p>
          <a:p>
            <a:pPr algn="ctr">
              <a:spcAft>
                <a:spcPts val="100"/>
              </a:spcAft>
            </a:pPr>
            <a:r>
              <a:rPr sz="1500" b="1">
                <a:solidFill>
                  <a:srgbClr val="152536"/>
                </a:solidFill>
                <a:latin typeface="Microsoft YaHei"/>
              </a:rPr>
              <a:t>RL 是否比固定/随机动作更有效？</a:t>
            </a:r>
          </a:p>
        </p:txBody>
      </p:sp>
      <p:sp>
        <p:nvSpPr>
          <p:cNvPr id="15" name="Rounded Rectangle 14"/>
          <p:cNvSpPr/>
          <p:nvPr/>
        </p:nvSpPr>
        <p:spPr>
          <a:xfrm>
            <a:off x="8238744" y="3767328"/>
            <a:ext cx="3154680" cy="914400"/>
          </a:xfrm>
          <a:prstGeom prst="roundRect">
            <a:avLst/>
          </a:prstGeom>
          <a:solidFill>
            <a:srgbClr val="FFFFFF"/>
          </a:solidFill>
          <a:ln w="12700">
            <a:solidFill>
              <a:srgbClr val="E85D7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500" b="1">
                <a:solidFill>
                  <a:srgbClr val="152536"/>
                </a:solidFill>
                <a:latin typeface="Microsoft YaHei"/>
              </a:rPr>
              <a:t>实验 C</a:t>
            </a:r>
          </a:p>
          <a:p>
            <a:pPr algn="ctr">
              <a:spcAft>
                <a:spcPts val="100"/>
              </a:spcAft>
            </a:pPr>
            <a:r>
              <a:rPr sz="1500" b="1">
                <a:solidFill>
                  <a:srgbClr val="152536"/>
                </a:solidFill>
                <a:latin typeface="Microsoft YaHei"/>
              </a:rPr>
              <a:t>Exp38 是否只靠排序提升 mAP？</a:t>
            </a:r>
          </a:p>
        </p:txBody>
      </p:sp>
      <p:sp>
        <p:nvSpPr>
          <p:cNvPr id="16" name="TextBox 15"/>
          <p:cNvSpPr txBox="1"/>
          <p:nvPr/>
        </p:nvSpPr>
        <p:spPr>
          <a:xfrm>
            <a:off x="1005840" y="5257800"/>
            <a:ext cx="10058400" cy="502920"/>
          </a:xfrm>
          <a:prstGeom prst="rect">
            <a:avLst/>
          </a:prstGeom>
          <a:noFill/>
        </p:spPr>
        <p:txBody>
          <a:bodyPr wrap="square" anchor="ctr">
            <a:spAutoFit/>
          </a:bodyPr>
          <a:lstStyle/>
          <a:p>
            <a:pPr algn="ctr">
              <a:spcAft>
                <a:spcPts val="100"/>
              </a:spcAft>
            </a:pPr>
            <a:r>
              <a:rPr sz="1700" b="1">
                <a:solidFill>
                  <a:srgbClr val="102A43"/>
                </a:solidFill>
                <a:latin typeface="Microsoft YaHei"/>
              </a:rPr>
              <a:t>核心控制变量：候选生成实验关注召回；排序实验固定候选框集合，只改变最终分数。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84048"/>
            <a:ext cx="2743200" cy="228600"/>
          </a:xfrm>
          <a:prstGeom prst="rect">
            <a:avLst/>
          </a:prstGeom>
          <a:noFill/>
        </p:spPr>
        <p:txBody>
          <a:bodyPr wrap="square" anchor="ctr">
            <a:spAutoFit/>
          </a:bodyPr>
          <a:lstStyle/>
          <a:p>
            <a:pPr algn="l">
              <a:spcAft>
                <a:spcPts val="100"/>
              </a:spcAft>
            </a:pPr>
            <a:r>
              <a:rPr sz="1000" b="1">
                <a:solidFill>
                  <a:srgbClr val="18A999"/>
                </a:solidFill>
                <a:latin typeface="Microsoft YaHei"/>
              </a:rPr>
              <a:t>EXPERIMENT 02</a:t>
            </a:r>
          </a:p>
        </p:txBody>
      </p:sp>
      <p:sp>
        <p:nvSpPr>
          <p:cNvPr id="3" name="TextBox 2"/>
          <p:cNvSpPr txBox="1"/>
          <p:nvPr/>
        </p:nvSpPr>
        <p:spPr>
          <a:xfrm>
            <a:off x="685800" y="667512"/>
            <a:ext cx="10881360" cy="502920"/>
          </a:xfrm>
          <a:prstGeom prst="rect">
            <a:avLst/>
          </a:prstGeom>
          <a:noFill/>
        </p:spPr>
        <p:txBody>
          <a:bodyPr wrap="square" anchor="ctr">
            <a:spAutoFit/>
          </a:bodyPr>
          <a:lstStyle/>
          <a:p>
            <a:pPr algn="l">
              <a:spcAft>
                <a:spcPts val="100"/>
              </a:spcAft>
            </a:pPr>
            <a:r>
              <a:rPr sz="2700" b="1">
                <a:solidFill>
                  <a:srgbClr val="102A43"/>
                </a:solidFill>
                <a:latin typeface="Microsoft YaHei"/>
              </a:rPr>
              <a:t>Prompt 扩展消融：候选覆盖首先决定上限</a:t>
            </a:r>
          </a:p>
        </p:txBody>
      </p:sp>
      <p:cxnSp>
        <p:nvCxnSpPr>
          <p:cNvPr id="4" name="Connector 3"/>
          <p:cNvCxnSpPr/>
          <p:nvPr/>
        </p:nvCxnSpPr>
        <p:spPr>
          <a:xfrm>
            <a:off x="685800" y="1545336"/>
            <a:ext cx="10817352"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6510528"/>
            <a:ext cx="2743200" cy="164592"/>
          </a:xfrm>
          <a:prstGeom prst="rect">
            <a:avLst/>
          </a:prstGeom>
          <a:noFill/>
        </p:spPr>
        <p:txBody>
          <a:bodyPr wrap="square" anchor="ctr">
            <a:spAutoFit/>
          </a:bodyPr>
          <a:lstStyle/>
          <a:p>
            <a:pPr algn="l">
              <a:spcAft>
                <a:spcPts val="100"/>
              </a:spcAft>
            </a:pPr>
            <a:r>
              <a:rPr sz="850" b="0">
                <a:solidFill>
                  <a:srgbClr val="64748B"/>
                </a:solidFill>
                <a:latin typeface="Microsoft YaHei"/>
              </a:rPr>
              <a:t>HIT Shenzhen  |  毕业答辩</a:t>
            </a:r>
          </a:p>
        </p:txBody>
      </p:sp>
      <p:sp>
        <p:nvSpPr>
          <p:cNvPr id="6" name="TextBox 5"/>
          <p:cNvSpPr txBox="1"/>
          <p:nvPr/>
        </p:nvSpPr>
        <p:spPr>
          <a:xfrm>
            <a:off x="10954512" y="6492240"/>
            <a:ext cx="548640" cy="164592"/>
          </a:xfrm>
          <a:prstGeom prst="rect">
            <a:avLst/>
          </a:prstGeom>
          <a:noFill/>
        </p:spPr>
        <p:txBody>
          <a:bodyPr wrap="square" anchor="ctr">
            <a:spAutoFit/>
          </a:bodyPr>
          <a:lstStyle/>
          <a:p>
            <a:pPr algn="r">
              <a:spcAft>
                <a:spcPts val="100"/>
              </a:spcAft>
            </a:pPr>
            <a:r>
              <a:rPr sz="850" b="0">
                <a:solidFill>
                  <a:srgbClr val="64748B"/>
                </a:solidFill>
                <a:latin typeface="Microsoft YaHei"/>
              </a:rPr>
              <a:t>18</a:t>
            </a:r>
          </a:p>
        </p:txBody>
      </p:sp>
      <p:sp>
        <p:nvSpPr>
          <p:cNvPr id="7" name="Rectangle 6"/>
          <p:cNvSpPr/>
          <p:nvPr/>
        </p:nvSpPr>
        <p:spPr>
          <a:xfrm>
            <a:off x="685800" y="1755648"/>
            <a:ext cx="2057400" cy="438912"/>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50" b="1">
                <a:solidFill>
                  <a:srgbClr val="FFFFFF"/>
                </a:solidFill>
                <a:latin typeface="Microsoft YaHei"/>
              </a:rPr>
              <a:t>Prompt 策略</a:t>
            </a:r>
          </a:p>
        </p:txBody>
      </p:sp>
      <p:sp>
        <p:nvSpPr>
          <p:cNvPr id="8" name="Rectangle 7"/>
          <p:cNvSpPr/>
          <p:nvPr/>
        </p:nvSpPr>
        <p:spPr>
          <a:xfrm>
            <a:off x="2743200" y="1755648"/>
            <a:ext cx="1325880" cy="438912"/>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50" b="1">
                <a:solidFill>
                  <a:srgbClr val="FFFFFF"/>
                </a:solidFill>
                <a:latin typeface="Microsoft YaHei"/>
              </a:rPr>
              <a:t>候选数</a:t>
            </a:r>
          </a:p>
        </p:txBody>
      </p:sp>
      <p:sp>
        <p:nvSpPr>
          <p:cNvPr id="9" name="Rectangle 8"/>
          <p:cNvSpPr/>
          <p:nvPr/>
        </p:nvSpPr>
        <p:spPr>
          <a:xfrm>
            <a:off x="4069080" y="1755648"/>
            <a:ext cx="1600200" cy="438912"/>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50" b="1">
                <a:solidFill>
                  <a:srgbClr val="FFFFFF"/>
                </a:solidFill>
                <a:latin typeface="Microsoft YaHei"/>
              </a:rPr>
              <a:t>Cand R@0.5</a:t>
            </a:r>
          </a:p>
        </p:txBody>
      </p:sp>
      <p:sp>
        <p:nvSpPr>
          <p:cNvPr id="10" name="Rectangle 9"/>
          <p:cNvSpPr/>
          <p:nvPr/>
        </p:nvSpPr>
        <p:spPr>
          <a:xfrm>
            <a:off x="5669280" y="1755648"/>
            <a:ext cx="1965960" cy="438912"/>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50" b="1">
                <a:solidFill>
                  <a:srgbClr val="FFFFFF"/>
                </a:solidFill>
                <a:latin typeface="Microsoft YaHei"/>
              </a:rPr>
              <a:t>Small Cand R@0.5</a:t>
            </a:r>
          </a:p>
        </p:txBody>
      </p:sp>
      <p:sp>
        <p:nvSpPr>
          <p:cNvPr id="11" name="Rectangle 10"/>
          <p:cNvSpPr/>
          <p:nvPr/>
        </p:nvSpPr>
        <p:spPr>
          <a:xfrm>
            <a:off x="7635240" y="1755648"/>
            <a:ext cx="1325880" cy="438912"/>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50" b="1">
                <a:solidFill>
                  <a:srgbClr val="FFFFFF"/>
                </a:solidFill>
                <a:latin typeface="Microsoft YaHei"/>
              </a:rPr>
              <a:t>Acc@0.5</a:t>
            </a:r>
          </a:p>
        </p:txBody>
      </p:sp>
      <p:sp>
        <p:nvSpPr>
          <p:cNvPr id="12" name="Rectangle 11"/>
          <p:cNvSpPr/>
          <p:nvPr/>
        </p:nvSpPr>
        <p:spPr>
          <a:xfrm>
            <a:off x="685800" y="2194560"/>
            <a:ext cx="2057400" cy="438912"/>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fixed10</a:t>
            </a:r>
          </a:p>
        </p:txBody>
      </p:sp>
      <p:sp>
        <p:nvSpPr>
          <p:cNvPr id="13" name="Rectangle 12"/>
          <p:cNvSpPr/>
          <p:nvPr/>
        </p:nvSpPr>
        <p:spPr>
          <a:xfrm>
            <a:off x="2743200" y="2194560"/>
            <a:ext cx="1325880" cy="438912"/>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7,476</a:t>
            </a:r>
          </a:p>
        </p:txBody>
      </p:sp>
      <p:sp>
        <p:nvSpPr>
          <p:cNvPr id="14" name="Rectangle 13"/>
          <p:cNvSpPr/>
          <p:nvPr/>
        </p:nvSpPr>
        <p:spPr>
          <a:xfrm>
            <a:off x="4069080" y="2194560"/>
            <a:ext cx="1600200" cy="438912"/>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0.3744</a:t>
            </a:r>
          </a:p>
        </p:txBody>
      </p:sp>
      <p:sp>
        <p:nvSpPr>
          <p:cNvPr id="15" name="Rectangle 14"/>
          <p:cNvSpPr/>
          <p:nvPr/>
        </p:nvSpPr>
        <p:spPr>
          <a:xfrm>
            <a:off x="5669280" y="2194560"/>
            <a:ext cx="1965960" cy="438912"/>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0.1579</a:t>
            </a:r>
          </a:p>
        </p:txBody>
      </p:sp>
      <p:sp>
        <p:nvSpPr>
          <p:cNvPr id="16" name="Rectangle 15"/>
          <p:cNvSpPr/>
          <p:nvPr/>
        </p:nvSpPr>
        <p:spPr>
          <a:xfrm>
            <a:off x="7635240" y="2194560"/>
            <a:ext cx="1325880" cy="438912"/>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0.3719</a:t>
            </a:r>
          </a:p>
        </p:txBody>
      </p:sp>
      <p:sp>
        <p:nvSpPr>
          <p:cNvPr id="17" name="Rectangle 16"/>
          <p:cNvSpPr/>
          <p:nvPr/>
        </p:nvSpPr>
        <p:spPr>
          <a:xfrm>
            <a:off x="685800" y="2633472"/>
            <a:ext cx="2057400" cy="438912"/>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query_only</a:t>
            </a:r>
          </a:p>
        </p:txBody>
      </p:sp>
      <p:sp>
        <p:nvSpPr>
          <p:cNvPr id="18" name="Rectangle 17"/>
          <p:cNvSpPr/>
          <p:nvPr/>
        </p:nvSpPr>
        <p:spPr>
          <a:xfrm>
            <a:off x="2743200" y="2633472"/>
            <a:ext cx="1325880" cy="438912"/>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9,967</a:t>
            </a:r>
          </a:p>
        </p:txBody>
      </p:sp>
      <p:sp>
        <p:nvSpPr>
          <p:cNvPr id="19" name="Rectangle 18"/>
          <p:cNvSpPr/>
          <p:nvPr/>
        </p:nvSpPr>
        <p:spPr>
          <a:xfrm>
            <a:off x="4069080" y="2633472"/>
            <a:ext cx="1600200" cy="438912"/>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0.3717</a:t>
            </a:r>
          </a:p>
        </p:txBody>
      </p:sp>
      <p:sp>
        <p:nvSpPr>
          <p:cNvPr id="20" name="Rectangle 19"/>
          <p:cNvSpPr/>
          <p:nvPr/>
        </p:nvSpPr>
        <p:spPr>
          <a:xfrm>
            <a:off x="5669280" y="2633472"/>
            <a:ext cx="1965960" cy="438912"/>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0.1556</a:t>
            </a:r>
          </a:p>
        </p:txBody>
      </p:sp>
      <p:sp>
        <p:nvSpPr>
          <p:cNvPr id="21" name="Rectangle 20"/>
          <p:cNvSpPr/>
          <p:nvPr/>
        </p:nvSpPr>
        <p:spPr>
          <a:xfrm>
            <a:off x="7635240" y="2633472"/>
            <a:ext cx="1325880" cy="438912"/>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0.3691</a:t>
            </a:r>
          </a:p>
        </p:txBody>
      </p:sp>
      <p:sp>
        <p:nvSpPr>
          <p:cNvPr id="22" name="Rectangle 21"/>
          <p:cNvSpPr/>
          <p:nvPr/>
        </p:nvSpPr>
        <p:spPr>
          <a:xfrm>
            <a:off x="685800" y="3072384"/>
            <a:ext cx="2057400" cy="438912"/>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query_alias</a:t>
            </a:r>
          </a:p>
        </p:txBody>
      </p:sp>
      <p:sp>
        <p:nvSpPr>
          <p:cNvPr id="23" name="Rectangle 22"/>
          <p:cNvSpPr/>
          <p:nvPr/>
        </p:nvSpPr>
        <p:spPr>
          <a:xfrm>
            <a:off x="2743200" y="3072384"/>
            <a:ext cx="1325880" cy="438912"/>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23,633</a:t>
            </a:r>
          </a:p>
        </p:txBody>
      </p:sp>
      <p:sp>
        <p:nvSpPr>
          <p:cNvPr id="24" name="Rectangle 23"/>
          <p:cNvSpPr/>
          <p:nvPr/>
        </p:nvSpPr>
        <p:spPr>
          <a:xfrm>
            <a:off x="4069080" y="3072384"/>
            <a:ext cx="1600200" cy="438912"/>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0.4202</a:t>
            </a:r>
          </a:p>
        </p:txBody>
      </p:sp>
      <p:sp>
        <p:nvSpPr>
          <p:cNvPr id="25" name="Rectangle 24"/>
          <p:cNvSpPr/>
          <p:nvPr/>
        </p:nvSpPr>
        <p:spPr>
          <a:xfrm>
            <a:off x="5669280" y="3072384"/>
            <a:ext cx="1965960" cy="438912"/>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0.3043</a:t>
            </a:r>
          </a:p>
        </p:txBody>
      </p:sp>
      <p:sp>
        <p:nvSpPr>
          <p:cNvPr id="26" name="Rectangle 25"/>
          <p:cNvSpPr/>
          <p:nvPr/>
        </p:nvSpPr>
        <p:spPr>
          <a:xfrm>
            <a:off x="7635240" y="3072384"/>
            <a:ext cx="1325880" cy="438912"/>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0.4178</a:t>
            </a:r>
          </a:p>
        </p:txBody>
      </p:sp>
      <p:sp>
        <p:nvSpPr>
          <p:cNvPr id="27" name="Rectangle 26"/>
          <p:cNvSpPr/>
          <p:nvPr/>
        </p:nvSpPr>
        <p:spPr>
          <a:xfrm>
            <a:off x="685800" y="3511296"/>
            <a:ext cx="2057400" cy="438912"/>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alias + fallback</a:t>
            </a:r>
          </a:p>
        </p:txBody>
      </p:sp>
      <p:sp>
        <p:nvSpPr>
          <p:cNvPr id="28" name="Rectangle 27"/>
          <p:cNvSpPr/>
          <p:nvPr/>
        </p:nvSpPr>
        <p:spPr>
          <a:xfrm>
            <a:off x="2743200" y="3511296"/>
            <a:ext cx="1325880" cy="438912"/>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26,091</a:t>
            </a:r>
          </a:p>
        </p:txBody>
      </p:sp>
      <p:sp>
        <p:nvSpPr>
          <p:cNvPr id="29" name="Rectangle 28"/>
          <p:cNvSpPr/>
          <p:nvPr/>
        </p:nvSpPr>
        <p:spPr>
          <a:xfrm>
            <a:off x="4069080" y="3511296"/>
            <a:ext cx="1600200" cy="438912"/>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0.4527</a:t>
            </a:r>
          </a:p>
        </p:txBody>
      </p:sp>
      <p:sp>
        <p:nvSpPr>
          <p:cNvPr id="30" name="Rectangle 29"/>
          <p:cNvSpPr/>
          <p:nvPr/>
        </p:nvSpPr>
        <p:spPr>
          <a:xfrm>
            <a:off x="5669280" y="3511296"/>
            <a:ext cx="1965960" cy="438912"/>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0.3187</a:t>
            </a:r>
          </a:p>
        </p:txBody>
      </p:sp>
      <p:sp>
        <p:nvSpPr>
          <p:cNvPr id="31" name="Rectangle 30"/>
          <p:cNvSpPr/>
          <p:nvPr/>
        </p:nvSpPr>
        <p:spPr>
          <a:xfrm>
            <a:off x="7635240" y="3511296"/>
            <a:ext cx="1325880" cy="438912"/>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30" b="0">
                <a:solidFill>
                  <a:srgbClr val="152536"/>
                </a:solidFill>
                <a:latin typeface="Microsoft YaHei"/>
              </a:rPr>
              <a:t>0.4504</a:t>
            </a:r>
          </a:p>
        </p:txBody>
      </p:sp>
      <p:sp>
        <p:nvSpPr>
          <p:cNvPr id="32" name="TextBox 31"/>
          <p:cNvSpPr txBox="1"/>
          <p:nvPr/>
        </p:nvSpPr>
        <p:spPr>
          <a:xfrm>
            <a:off x="777240" y="4160520"/>
            <a:ext cx="5029200" cy="246888"/>
          </a:xfrm>
          <a:prstGeom prst="rect">
            <a:avLst/>
          </a:prstGeom>
          <a:noFill/>
        </p:spPr>
        <p:txBody>
          <a:bodyPr wrap="square" anchor="ctr">
            <a:spAutoFit/>
          </a:bodyPr>
          <a:lstStyle/>
          <a:p>
            <a:pPr algn="l">
              <a:spcAft>
                <a:spcPts val="100"/>
              </a:spcAft>
            </a:pPr>
            <a:r>
              <a:rPr sz="1300" b="1">
                <a:solidFill>
                  <a:srgbClr val="18A999"/>
                </a:solidFill>
                <a:latin typeface="Microsoft YaHei"/>
              </a:rPr>
              <a:t>Small-object candidate recall</a:t>
            </a:r>
          </a:p>
        </p:txBody>
      </p:sp>
      <p:sp>
        <p:nvSpPr>
          <p:cNvPr id="33" name="Rounded Rectangle 32"/>
          <p:cNvSpPr/>
          <p:nvPr/>
        </p:nvSpPr>
        <p:spPr>
          <a:xfrm>
            <a:off x="2148840" y="4553712"/>
            <a:ext cx="2834640" cy="201168"/>
          </a:xfrm>
          <a:prstGeom prst="roundRect">
            <a:avLst/>
          </a:prstGeom>
          <a:solidFill>
            <a:srgbClr val="EFF7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148840" y="4553712"/>
            <a:ext cx="1278827" cy="201168"/>
          </a:xfrm>
          <a:prstGeom prst="roundRect">
            <a:avLst/>
          </a:prstGeom>
          <a:solidFill>
            <a:srgbClr val="64748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4553712"/>
            <a:ext cx="1234440" cy="201168"/>
          </a:xfrm>
          <a:prstGeom prst="rect">
            <a:avLst/>
          </a:prstGeom>
          <a:noFill/>
        </p:spPr>
        <p:txBody>
          <a:bodyPr wrap="square" anchor="ctr">
            <a:spAutoFit/>
          </a:bodyPr>
          <a:lstStyle/>
          <a:p>
            <a:pPr algn="r">
              <a:spcAft>
                <a:spcPts val="100"/>
              </a:spcAft>
            </a:pPr>
            <a:r>
              <a:rPr sz="1100" b="1">
                <a:solidFill>
                  <a:srgbClr val="152536"/>
                </a:solidFill>
                <a:latin typeface="Microsoft YaHei"/>
              </a:rPr>
              <a:t>fixed10</a:t>
            </a:r>
          </a:p>
        </p:txBody>
      </p:sp>
      <p:sp>
        <p:nvSpPr>
          <p:cNvPr id="36" name="TextBox 35"/>
          <p:cNvSpPr txBox="1"/>
          <p:nvPr/>
        </p:nvSpPr>
        <p:spPr>
          <a:xfrm>
            <a:off x="5074920" y="4553712"/>
            <a:ext cx="731520" cy="201168"/>
          </a:xfrm>
          <a:prstGeom prst="rect">
            <a:avLst/>
          </a:prstGeom>
          <a:noFill/>
        </p:spPr>
        <p:txBody>
          <a:bodyPr wrap="square" anchor="ctr">
            <a:spAutoFit/>
          </a:bodyPr>
          <a:lstStyle/>
          <a:p>
            <a:pPr algn="l">
              <a:spcAft>
                <a:spcPts val="100"/>
              </a:spcAft>
            </a:pPr>
            <a:r>
              <a:rPr sz="1100" b="1">
                <a:solidFill>
                  <a:srgbClr val="102A43"/>
                </a:solidFill>
                <a:latin typeface="Microsoft YaHei"/>
              </a:rPr>
              <a:t>0.1579</a:t>
            </a:r>
          </a:p>
        </p:txBody>
      </p:sp>
      <p:sp>
        <p:nvSpPr>
          <p:cNvPr id="37" name="Rounded Rectangle 36"/>
          <p:cNvSpPr/>
          <p:nvPr/>
        </p:nvSpPr>
        <p:spPr>
          <a:xfrm>
            <a:off x="2148840" y="4919472"/>
            <a:ext cx="2834640" cy="201168"/>
          </a:xfrm>
          <a:prstGeom prst="roundRect">
            <a:avLst/>
          </a:prstGeom>
          <a:solidFill>
            <a:srgbClr val="EFF7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148840" y="4919472"/>
            <a:ext cx="1260199" cy="201168"/>
          </a:xfrm>
          <a:prstGeom prst="roundRect">
            <a:avLst/>
          </a:prstGeom>
          <a:solidFill>
            <a:srgbClr val="64748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4919472"/>
            <a:ext cx="1234440" cy="201168"/>
          </a:xfrm>
          <a:prstGeom prst="rect">
            <a:avLst/>
          </a:prstGeom>
          <a:noFill/>
        </p:spPr>
        <p:txBody>
          <a:bodyPr wrap="square" anchor="ctr">
            <a:spAutoFit/>
          </a:bodyPr>
          <a:lstStyle/>
          <a:p>
            <a:pPr algn="r">
              <a:spcAft>
                <a:spcPts val="100"/>
              </a:spcAft>
            </a:pPr>
            <a:r>
              <a:rPr sz="1100" b="1">
                <a:solidFill>
                  <a:srgbClr val="152536"/>
                </a:solidFill>
                <a:latin typeface="Microsoft YaHei"/>
              </a:rPr>
              <a:t>query_only</a:t>
            </a:r>
          </a:p>
        </p:txBody>
      </p:sp>
      <p:sp>
        <p:nvSpPr>
          <p:cNvPr id="40" name="TextBox 39"/>
          <p:cNvSpPr txBox="1"/>
          <p:nvPr/>
        </p:nvSpPr>
        <p:spPr>
          <a:xfrm>
            <a:off x="5074920" y="4919472"/>
            <a:ext cx="731520" cy="201168"/>
          </a:xfrm>
          <a:prstGeom prst="rect">
            <a:avLst/>
          </a:prstGeom>
          <a:noFill/>
        </p:spPr>
        <p:txBody>
          <a:bodyPr wrap="square" anchor="ctr">
            <a:spAutoFit/>
          </a:bodyPr>
          <a:lstStyle/>
          <a:p>
            <a:pPr algn="l">
              <a:spcAft>
                <a:spcPts val="100"/>
              </a:spcAft>
            </a:pPr>
            <a:r>
              <a:rPr sz="1100" b="1">
                <a:solidFill>
                  <a:srgbClr val="102A43"/>
                </a:solidFill>
                <a:latin typeface="Microsoft YaHei"/>
              </a:rPr>
              <a:t>0.1556</a:t>
            </a:r>
          </a:p>
        </p:txBody>
      </p:sp>
      <p:sp>
        <p:nvSpPr>
          <p:cNvPr id="41" name="Rounded Rectangle 40"/>
          <p:cNvSpPr/>
          <p:nvPr/>
        </p:nvSpPr>
        <p:spPr>
          <a:xfrm>
            <a:off x="2148840" y="5285232"/>
            <a:ext cx="2834640" cy="201168"/>
          </a:xfrm>
          <a:prstGeom prst="roundRect">
            <a:avLst/>
          </a:prstGeom>
          <a:solidFill>
            <a:srgbClr val="EFF7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148840" y="5285232"/>
            <a:ext cx="2464517" cy="201168"/>
          </a:xfrm>
          <a:prstGeom prst="roundRect">
            <a:avLst/>
          </a:prstGeom>
          <a:solidFill>
            <a:srgbClr val="64748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 y="5285232"/>
            <a:ext cx="1234440" cy="201168"/>
          </a:xfrm>
          <a:prstGeom prst="rect">
            <a:avLst/>
          </a:prstGeom>
          <a:noFill/>
        </p:spPr>
        <p:txBody>
          <a:bodyPr wrap="square" anchor="ctr">
            <a:spAutoFit/>
          </a:bodyPr>
          <a:lstStyle/>
          <a:p>
            <a:pPr algn="r">
              <a:spcAft>
                <a:spcPts val="100"/>
              </a:spcAft>
            </a:pPr>
            <a:r>
              <a:rPr sz="1100" b="1">
                <a:solidFill>
                  <a:srgbClr val="152536"/>
                </a:solidFill>
                <a:latin typeface="Microsoft YaHei"/>
              </a:rPr>
              <a:t>query_alias</a:t>
            </a:r>
          </a:p>
        </p:txBody>
      </p:sp>
      <p:sp>
        <p:nvSpPr>
          <p:cNvPr id="44" name="TextBox 43"/>
          <p:cNvSpPr txBox="1"/>
          <p:nvPr/>
        </p:nvSpPr>
        <p:spPr>
          <a:xfrm>
            <a:off x="5074920" y="5285232"/>
            <a:ext cx="731520" cy="201168"/>
          </a:xfrm>
          <a:prstGeom prst="rect">
            <a:avLst/>
          </a:prstGeom>
          <a:noFill/>
        </p:spPr>
        <p:txBody>
          <a:bodyPr wrap="square" anchor="ctr">
            <a:spAutoFit/>
          </a:bodyPr>
          <a:lstStyle/>
          <a:p>
            <a:pPr algn="l">
              <a:spcAft>
                <a:spcPts val="100"/>
              </a:spcAft>
            </a:pPr>
            <a:r>
              <a:rPr sz="1100" b="1">
                <a:solidFill>
                  <a:srgbClr val="102A43"/>
                </a:solidFill>
                <a:latin typeface="Microsoft YaHei"/>
              </a:rPr>
              <a:t>0.3043</a:t>
            </a:r>
          </a:p>
        </p:txBody>
      </p:sp>
      <p:sp>
        <p:nvSpPr>
          <p:cNvPr id="45" name="Rounded Rectangle 44"/>
          <p:cNvSpPr/>
          <p:nvPr/>
        </p:nvSpPr>
        <p:spPr>
          <a:xfrm>
            <a:off x="2148840" y="5650992"/>
            <a:ext cx="2834640" cy="201168"/>
          </a:xfrm>
          <a:prstGeom prst="roundRect">
            <a:avLst/>
          </a:prstGeom>
          <a:solidFill>
            <a:srgbClr val="EFF7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148840" y="5650992"/>
            <a:ext cx="2581142" cy="20116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 y="5650992"/>
            <a:ext cx="1234440" cy="201168"/>
          </a:xfrm>
          <a:prstGeom prst="rect">
            <a:avLst/>
          </a:prstGeom>
          <a:noFill/>
        </p:spPr>
        <p:txBody>
          <a:bodyPr wrap="square" anchor="ctr">
            <a:spAutoFit/>
          </a:bodyPr>
          <a:lstStyle/>
          <a:p>
            <a:pPr algn="r">
              <a:spcAft>
                <a:spcPts val="100"/>
              </a:spcAft>
            </a:pPr>
            <a:r>
              <a:rPr sz="1100" b="1">
                <a:solidFill>
                  <a:srgbClr val="152536"/>
                </a:solidFill>
                <a:latin typeface="Microsoft YaHei"/>
              </a:rPr>
              <a:t>alias+fallback</a:t>
            </a:r>
          </a:p>
        </p:txBody>
      </p:sp>
      <p:sp>
        <p:nvSpPr>
          <p:cNvPr id="48" name="TextBox 47"/>
          <p:cNvSpPr txBox="1"/>
          <p:nvPr/>
        </p:nvSpPr>
        <p:spPr>
          <a:xfrm>
            <a:off x="5074920" y="5650992"/>
            <a:ext cx="731520" cy="201168"/>
          </a:xfrm>
          <a:prstGeom prst="rect">
            <a:avLst/>
          </a:prstGeom>
          <a:noFill/>
        </p:spPr>
        <p:txBody>
          <a:bodyPr wrap="square" anchor="ctr">
            <a:spAutoFit/>
          </a:bodyPr>
          <a:lstStyle/>
          <a:p>
            <a:pPr algn="l">
              <a:spcAft>
                <a:spcPts val="100"/>
              </a:spcAft>
            </a:pPr>
            <a:r>
              <a:rPr sz="1100" b="1">
                <a:solidFill>
                  <a:srgbClr val="102A43"/>
                </a:solidFill>
                <a:latin typeface="Microsoft YaHei"/>
              </a:rPr>
              <a:t>0.3187</a:t>
            </a:r>
          </a:p>
        </p:txBody>
      </p:sp>
      <p:sp>
        <p:nvSpPr>
          <p:cNvPr id="49" name="Rounded Rectangle 48"/>
          <p:cNvSpPr/>
          <p:nvPr/>
        </p:nvSpPr>
        <p:spPr>
          <a:xfrm>
            <a:off x="6400800" y="1874519"/>
            <a:ext cx="4800600" cy="914400"/>
          </a:xfrm>
          <a:prstGeom prst="roundRect">
            <a:avLst/>
          </a:prstGeom>
          <a:solidFill>
            <a:srgbClr val="FCEFE2"/>
          </a:solidFill>
          <a:ln w="1270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600" b="1">
                <a:solidFill>
                  <a:srgbClr val="152536"/>
                </a:solidFill>
                <a:latin typeface="Microsoft YaHei"/>
              </a:rPr>
              <a:t>观察 1</a:t>
            </a:r>
          </a:p>
          <a:p>
            <a:pPr algn="ctr">
              <a:spcAft>
                <a:spcPts val="100"/>
              </a:spcAft>
            </a:pPr>
            <a:r>
              <a:rPr sz="1600" b="1">
                <a:solidFill>
                  <a:srgbClr val="152536"/>
                </a:solidFill>
                <a:latin typeface="Microsoft YaHei"/>
              </a:rPr>
              <a:t>query_only 并未自动带来收益</a:t>
            </a:r>
          </a:p>
        </p:txBody>
      </p:sp>
      <p:sp>
        <p:nvSpPr>
          <p:cNvPr id="50" name="Rounded Rectangle 49"/>
          <p:cNvSpPr/>
          <p:nvPr/>
        </p:nvSpPr>
        <p:spPr>
          <a:xfrm>
            <a:off x="6400800" y="3063240"/>
            <a:ext cx="4800600" cy="914400"/>
          </a:xfrm>
          <a:prstGeom prst="roundRect">
            <a:avLst/>
          </a:prstGeom>
          <a:solidFill>
            <a:srgbClr val="E8F5F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600" b="1">
                <a:solidFill>
                  <a:srgbClr val="152536"/>
                </a:solidFill>
                <a:latin typeface="Microsoft YaHei"/>
              </a:rPr>
              <a:t>观察 2</a:t>
            </a:r>
          </a:p>
          <a:p>
            <a:pPr algn="ctr">
              <a:spcAft>
                <a:spcPts val="100"/>
              </a:spcAft>
            </a:pPr>
            <a:r>
              <a:rPr sz="1600" b="1">
                <a:solidFill>
                  <a:srgbClr val="152536"/>
                </a:solidFill>
                <a:latin typeface="Microsoft YaHei"/>
              </a:rPr>
              <a:t>alias 显著改善小目标覆盖</a:t>
            </a:r>
          </a:p>
        </p:txBody>
      </p:sp>
      <p:sp>
        <p:nvSpPr>
          <p:cNvPr id="51" name="Rounded Rectangle 50"/>
          <p:cNvSpPr/>
          <p:nvPr/>
        </p:nvSpPr>
        <p:spPr>
          <a:xfrm>
            <a:off x="6400800" y="4251960"/>
            <a:ext cx="4800600" cy="914400"/>
          </a:xfrm>
          <a:prstGeom prst="roundRect">
            <a:avLst/>
          </a:prstGeom>
          <a:solidFill>
            <a:srgbClr val="EFF7FD"/>
          </a:solidFill>
          <a:ln w="12700">
            <a:solidFill>
              <a:srgbClr val="B9D9F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600" b="1">
                <a:solidFill>
                  <a:srgbClr val="152536"/>
                </a:solidFill>
                <a:latin typeface="Microsoft YaHei"/>
              </a:rPr>
              <a:t>观察 3</a:t>
            </a:r>
          </a:p>
          <a:p>
            <a:pPr algn="ctr">
              <a:spcAft>
                <a:spcPts val="100"/>
              </a:spcAft>
            </a:pPr>
            <a:r>
              <a:rPr sz="1600" b="1">
                <a:solidFill>
                  <a:srgbClr val="152536"/>
                </a:solidFill>
                <a:latin typeface="Microsoft YaHei"/>
              </a:rPr>
              <a:t>fallback 保留基础类别，避免有效候选丢失</a:t>
            </a:r>
          </a:p>
        </p:txBody>
      </p:sp>
      <p:sp>
        <p:nvSpPr>
          <p:cNvPr id="52" name="TextBox 51"/>
          <p:cNvSpPr txBox="1"/>
          <p:nvPr/>
        </p:nvSpPr>
        <p:spPr>
          <a:xfrm>
            <a:off x="914400" y="5870448"/>
            <a:ext cx="10241280" cy="347472"/>
          </a:xfrm>
          <a:prstGeom prst="rect">
            <a:avLst/>
          </a:prstGeom>
          <a:noFill/>
        </p:spPr>
        <p:txBody>
          <a:bodyPr wrap="square" anchor="ctr">
            <a:spAutoFit/>
          </a:bodyPr>
          <a:lstStyle/>
          <a:p>
            <a:pPr algn="ctr">
              <a:spcAft>
                <a:spcPts val="100"/>
              </a:spcAft>
            </a:pPr>
            <a:r>
              <a:rPr sz="1600" b="1">
                <a:solidFill>
                  <a:srgbClr val="102A43"/>
                </a:solidFill>
                <a:latin typeface="Microsoft YaHei"/>
              </a:rPr>
              <a:t>结论：Query-aware prompt 解决“目标有没有进入候选池”，但也带来候选数量增长，因此需要后续策略选择。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84048"/>
            <a:ext cx="2743200" cy="228600"/>
          </a:xfrm>
          <a:prstGeom prst="rect">
            <a:avLst/>
          </a:prstGeom>
          <a:noFill/>
        </p:spPr>
        <p:txBody>
          <a:bodyPr wrap="square" anchor="ctr">
            <a:spAutoFit/>
          </a:bodyPr>
          <a:lstStyle/>
          <a:p>
            <a:pPr algn="l">
              <a:spcAft>
                <a:spcPts val="100"/>
              </a:spcAft>
            </a:pPr>
            <a:r>
              <a:rPr sz="1000" b="1">
                <a:solidFill>
                  <a:srgbClr val="18A999"/>
                </a:solidFill>
                <a:latin typeface="Microsoft YaHei"/>
              </a:rPr>
              <a:t>EXPERIMENT 03</a:t>
            </a:r>
          </a:p>
        </p:txBody>
      </p:sp>
      <p:sp>
        <p:nvSpPr>
          <p:cNvPr id="3" name="TextBox 2"/>
          <p:cNvSpPr txBox="1"/>
          <p:nvPr/>
        </p:nvSpPr>
        <p:spPr>
          <a:xfrm>
            <a:off x="685800" y="667512"/>
            <a:ext cx="10881360" cy="502920"/>
          </a:xfrm>
          <a:prstGeom prst="rect">
            <a:avLst/>
          </a:prstGeom>
          <a:noFill/>
        </p:spPr>
        <p:txBody>
          <a:bodyPr wrap="square" anchor="ctr">
            <a:spAutoFit/>
          </a:bodyPr>
          <a:lstStyle/>
          <a:p>
            <a:pPr algn="l">
              <a:spcAft>
                <a:spcPts val="100"/>
              </a:spcAft>
            </a:pPr>
            <a:r>
              <a:rPr sz="2700" b="1">
                <a:solidFill>
                  <a:srgbClr val="102A43"/>
                </a:solidFill>
                <a:latin typeface="Microsoft YaHei"/>
              </a:rPr>
              <a:t>RL_loop 对比：动态选择比盲目扩充更高效</a:t>
            </a:r>
          </a:p>
        </p:txBody>
      </p:sp>
      <p:cxnSp>
        <p:nvCxnSpPr>
          <p:cNvPr id="4" name="Connector 3"/>
          <p:cNvCxnSpPr/>
          <p:nvPr/>
        </p:nvCxnSpPr>
        <p:spPr>
          <a:xfrm>
            <a:off x="685800" y="1545336"/>
            <a:ext cx="10817352"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6510528"/>
            <a:ext cx="2743200" cy="164592"/>
          </a:xfrm>
          <a:prstGeom prst="rect">
            <a:avLst/>
          </a:prstGeom>
          <a:noFill/>
        </p:spPr>
        <p:txBody>
          <a:bodyPr wrap="square" anchor="ctr">
            <a:spAutoFit/>
          </a:bodyPr>
          <a:lstStyle/>
          <a:p>
            <a:pPr algn="l">
              <a:spcAft>
                <a:spcPts val="100"/>
              </a:spcAft>
            </a:pPr>
            <a:r>
              <a:rPr sz="850" b="0">
                <a:solidFill>
                  <a:srgbClr val="64748B"/>
                </a:solidFill>
                <a:latin typeface="Microsoft YaHei"/>
              </a:rPr>
              <a:t>HIT Shenzhen  |  毕业答辩</a:t>
            </a:r>
          </a:p>
        </p:txBody>
      </p:sp>
      <p:sp>
        <p:nvSpPr>
          <p:cNvPr id="6" name="TextBox 5"/>
          <p:cNvSpPr txBox="1"/>
          <p:nvPr/>
        </p:nvSpPr>
        <p:spPr>
          <a:xfrm>
            <a:off x="10954512" y="6492240"/>
            <a:ext cx="548640" cy="164592"/>
          </a:xfrm>
          <a:prstGeom prst="rect">
            <a:avLst/>
          </a:prstGeom>
          <a:noFill/>
        </p:spPr>
        <p:txBody>
          <a:bodyPr wrap="square" anchor="ctr">
            <a:spAutoFit/>
          </a:bodyPr>
          <a:lstStyle/>
          <a:p>
            <a:pPr algn="r">
              <a:spcAft>
                <a:spcPts val="100"/>
              </a:spcAft>
            </a:pPr>
            <a:r>
              <a:rPr sz="850" b="0">
                <a:solidFill>
                  <a:srgbClr val="64748B"/>
                </a:solidFill>
                <a:latin typeface="Microsoft YaHei"/>
              </a:rPr>
              <a:t>19</a:t>
            </a:r>
          </a:p>
        </p:txBody>
      </p:sp>
      <p:sp>
        <p:nvSpPr>
          <p:cNvPr id="7" name="Rectangle 6"/>
          <p:cNvSpPr/>
          <p:nvPr/>
        </p:nvSpPr>
        <p:spPr>
          <a:xfrm>
            <a:off x="685800" y="1719072"/>
            <a:ext cx="2560320" cy="502920"/>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80" b="1">
                <a:solidFill>
                  <a:srgbClr val="FFFFFF"/>
                </a:solidFill>
                <a:latin typeface="Microsoft YaHei"/>
              </a:rPr>
              <a:t>方法</a:t>
            </a:r>
          </a:p>
        </p:txBody>
      </p:sp>
      <p:sp>
        <p:nvSpPr>
          <p:cNvPr id="8" name="Rectangle 7"/>
          <p:cNvSpPr/>
          <p:nvPr/>
        </p:nvSpPr>
        <p:spPr>
          <a:xfrm>
            <a:off x="3246120" y="1719072"/>
            <a:ext cx="1508760" cy="502920"/>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80" b="1">
                <a:solidFill>
                  <a:srgbClr val="FFFFFF"/>
                </a:solidFill>
                <a:latin typeface="Microsoft YaHei"/>
              </a:rPr>
              <a:t>预测框数</a:t>
            </a:r>
          </a:p>
        </p:txBody>
      </p:sp>
      <p:sp>
        <p:nvSpPr>
          <p:cNvPr id="9" name="Rectangle 8"/>
          <p:cNvSpPr/>
          <p:nvPr/>
        </p:nvSpPr>
        <p:spPr>
          <a:xfrm>
            <a:off x="4754879" y="1719072"/>
            <a:ext cx="1417320" cy="502920"/>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80" b="1">
                <a:solidFill>
                  <a:srgbClr val="FFFFFF"/>
                </a:solidFill>
                <a:latin typeface="Microsoft YaHei"/>
              </a:rPr>
              <a:t>Acc@0.5</a:t>
            </a:r>
          </a:p>
        </p:txBody>
      </p:sp>
      <p:sp>
        <p:nvSpPr>
          <p:cNvPr id="10" name="Rectangle 9"/>
          <p:cNvSpPr/>
          <p:nvPr/>
        </p:nvSpPr>
        <p:spPr>
          <a:xfrm>
            <a:off x="6172199" y="1719072"/>
            <a:ext cx="1417320" cy="502920"/>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80" b="1">
                <a:solidFill>
                  <a:srgbClr val="FFFFFF"/>
                </a:solidFill>
                <a:latin typeface="Microsoft YaHei"/>
              </a:rPr>
              <a:t>Acc@0.75</a:t>
            </a:r>
          </a:p>
        </p:txBody>
      </p:sp>
      <p:sp>
        <p:nvSpPr>
          <p:cNvPr id="11" name="Rectangle 10"/>
          <p:cNvSpPr/>
          <p:nvPr/>
        </p:nvSpPr>
        <p:spPr>
          <a:xfrm>
            <a:off x="7589519" y="1719072"/>
            <a:ext cx="1417320" cy="502920"/>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80" b="1">
                <a:solidFill>
                  <a:srgbClr val="FFFFFF"/>
                </a:solidFill>
                <a:latin typeface="Microsoft YaHei"/>
              </a:rPr>
              <a:t>mAP@0.5</a:t>
            </a:r>
          </a:p>
        </p:txBody>
      </p:sp>
      <p:sp>
        <p:nvSpPr>
          <p:cNvPr id="12" name="Rectangle 11"/>
          <p:cNvSpPr/>
          <p:nvPr/>
        </p:nvSpPr>
        <p:spPr>
          <a:xfrm>
            <a:off x="685800" y="2221991"/>
            <a:ext cx="2560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Query base + Exp38</a:t>
            </a:r>
          </a:p>
        </p:txBody>
      </p:sp>
      <p:sp>
        <p:nvSpPr>
          <p:cNvPr id="13" name="Rectangle 12"/>
          <p:cNvSpPr/>
          <p:nvPr/>
        </p:nvSpPr>
        <p:spPr>
          <a:xfrm>
            <a:off x="3246120" y="2221991"/>
            <a:ext cx="150876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22,298</a:t>
            </a:r>
          </a:p>
        </p:txBody>
      </p:sp>
      <p:sp>
        <p:nvSpPr>
          <p:cNvPr id="14" name="Rectangle 13"/>
          <p:cNvSpPr/>
          <p:nvPr/>
        </p:nvSpPr>
        <p:spPr>
          <a:xfrm>
            <a:off x="4754879" y="2221991"/>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0.4651</a:t>
            </a:r>
          </a:p>
        </p:txBody>
      </p:sp>
      <p:sp>
        <p:nvSpPr>
          <p:cNvPr id="15" name="Rectangle 14"/>
          <p:cNvSpPr/>
          <p:nvPr/>
        </p:nvSpPr>
        <p:spPr>
          <a:xfrm>
            <a:off x="6172199" y="2221991"/>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0.3131</a:t>
            </a:r>
          </a:p>
        </p:txBody>
      </p:sp>
      <p:sp>
        <p:nvSpPr>
          <p:cNvPr id="16" name="Rectangle 15"/>
          <p:cNvSpPr/>
          <p:nvPr/>
        </p:nvSpPr>
        <p:spPr>
          <a:xfrm>
            <a:off x="7589519" y="2221991"/>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0.1343</a:t>
            </a:r>
          </a:p>
        </p:txBody>
      </p:sp>
      <p:sp>
        <p:nvSpPr>
          <p:cNvPr id="17" name="Rectangle 16"/>
          <p:cNvSpPr/>
          <p:nvPr/>
        </p:nvSpPr>
        <p:spPr>
          <a:xfrm>
            <a:off x="685800" y="2724912"/>
            <a:ext cx="2560320" cy="502920"/>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固定动作三轮 RL</a:t>
            </a:r>
          </a:p>
        </p:txBody>
      </p:sp>
      <p:sp>
        <p:nvSpPr>
          <p:cNvPr id="18" name="Rectangle 17"/>
          <p:cNvSpPr/>
          <p:nvPr/>
        </p:nvSpPr>
        <p:spPr>
          <a:xfrm>
            <a:off x="3246120" y="2724912"/>
            <a:ext cx="1508760" cy="502920"/>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40,904</a:t>
            </a:r>
          </a:p>
        </p:txBody>
      </p:sp>
      <p:sp>
        <p:nvSpPr>
          <p:cNvPr id="19" name="Rectangle 18"/>
          <p:cNvSpPr/>
          <p:nvPr/>
        </p:nvSpPr>
        <p:spPr>
          <a:xfrm>
            <a:off x="4754879" y="2724912"/>
            <a:ext cx="1417320" cy="502920"/>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0.5293</a:t>
            </a:r>
          </a:p>
        </p:txBody>
      </p:sp>
      <p:sp>
        <p:nvSpPr>
          <p:cNvPr id="20" name="Rectangle 19"/>
          <p:cNvSpPr/>
          <p:nvPr/>
        </p:nvSpPr>
        <p:spPr>
          <a:xfrm>
            <a:off x="6172199" y="2724912"/>
            <a:ext cx="1417320" cy="502920"/>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0.3310</a:t>
            </a:r>
          </a:p>
        </p:txBody>
      </p:sp>
      <p:sp>
        <p:nvSpPr>
          <p:cNvPr id="21" name="Rectangle 20"/>
          <p:cNvSpPr/>
          <p:nvPr/>
        </p:nvSpPr>
        <p:spPr>
          <a:xfrm>
            <a:off x="7589519" y="2724912"/>
            <a:ext cx="1417320" cy="502920"/>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0.1397</a:t>
            </a:r>
          </a:p>
        </p:txBody>
      </p:sp>
      <p:sp>
        <p:nvSpPr>
          <p:cNvPr id="22" name="Rectangle 21"/>
          <p:cNvSpPr/>
          <p:nvPr/>
        </p:nvSpPr>
        <p:spPr>
          <a:xfrm>
            <a:off x="685800" y="3227832"/>
            <a:ext cx="2560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Qwen 动态动作三轮</a:t>
            </a:r>
          </a:p>
        </p:txBody>
      </p:sp>
      <p:sp>
        <p:nvSpPr>
          <p:cNvPr id="23" name="Rectangle 22"/>
          <p:cNvSpPr/>
          <p:nvPr/>
        </p:nvSpPr>
        <p:spPr>
          <a:xfrm>
            <a:off x="3246120" y="3227832"/>
            <a:ext cx="150876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35,869</a:t>
            </a:r>
          </a:p>
        </p:txBody>
      </p:sp>
      <p:sp>
        <p:nvSpPr>
          <p:cNvPr id="24" name="Rectangle 23"/>
          <p:cNvSpPr/>
          <p:nvPr/>
        </p:nvSpPr>
        <p:spPr>
          <a:xfrm>
            <a:off x="4754879" y="3227832"/>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0.5004</a:t>
            </a:r>
          </a:p>
        </p:txBody>
      </p:sp>
      <p:sp>
        <p:nvSpPr>
          <p:cNvPr id="25" name="Rectangle 24"/>
          <p:cNvSpPr/>
          <p:nvPr/>
        </p:nvSpPr>
        <p:spPr>
          <a:xfrm>
            <a:off x="6172199" y="3227832"/>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0.3248</a:t>
            </a:r>
          </a:p>
        </p:txBody>
      </p:sp>
      <p:sp>
        <p:nvSpPr>
          <p:cNvPr id="26" name="Rectangle 25"/>
          <p:cNvSpPr/>
          <p:nvPr/>
        </p:nvSpPr>
        <p:spPr>
          <a:xfrm>
            <a:off x="7589519" y="3227832"/>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0.1424</a:t>
            </a:r>
          </a:p>
        </p:txBody>
      </p:sp>
      <p:sp>
        <p:nvSpPr>
          <p:cNvPr id="27" name="TextBox 26"/>
          <p:cNvSpPr txBox="1"/>
          <p:nvPr/>
        </p:nvSpPr>
        <p:spPr>
          <a:xfrm>
            <a:off x="822960" y="3794760"/>
            <a:ext cx="4480560" cy="274320"/>
          </a:xfrm>
          <a:prstGeom prst="rect">
            <a:avLst/>
          </a:prstGeom>
          <a:noFill/>
        </p:spPr>
        <p:txBody>
          <a:bodyPr wrap="square" anchor="ctr">
            <a:spAutoFit/>
          </a:bodyPr>
          <a:lstStyle/>
          <a:p>
            <a:pPr algn="l">
              <a:spcAft>
                <a:spcPts val="100"/>
              </a:spcAft>
            </a:pPr>
            <a:r>
              <a:rPr sz="1400" b="1">
                <a:solidFill>
                  <a:srgbClr val="18A999"/>
                </a:solidFill>
                <a:latin typeface="Microsoft YaHei"/>
              </a:rPr>
              <a:t>综合指标对比</a:t>
            </a:r>
          </a:p>
        </p:txBody>
      </p:sp>
      <p:sp>
        <p:nvSpPr>
          <p:cNvPr id="28" name="Rounded Rectangle 27"/>
          <p:cNvSpPr/>
          <p:nvPr/>
        </p:nvSpPr>
        <p:spPr>
          <a:xfrm>
            <a:off x="2148840" y="4206240"/>
            <a:ext cx="2743200" cy="256032"/>
          </a:xfrm>
          <a:prstGeom prst="roundRect">
            <a:avLst/>
          </a:prstGeom>
          <a:solidFill>
            <a:srgbClr val="EFF7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148840" y="4206240"/>
            <a:ext cx="2126437" cy="256032"/>
          </a:xfrm>
          <a:prstGeom prst="roundRect">
            <a:avLst/>
          </a:prstGeom>
          <a:solidFill>
            <a:srgbClr val="64748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206240"/>
            <a:ext cx="1234440" cy="256032"/>
          </a:xfrm>
          <a:prstGeom prst="rect">
            <a:avLst/>
          </a:prstGeom>
          <a:noFill/>
        </p:spPr>
        <p:txBody>
          <a:bodyPr wrap="square" anchor="ctr">
            <a:spAutoFit/>
          </a:bodyPr>
          <a:lstStyle/>
          <a:p>
            <a:pPr algn="r">
              <a:spcAft>
                <a:spcPts val="100"/>
              </a:spcAft>
            </a:pPr>
            <a:r>
              <a:rPr sz="1100" b="1">
                <a:solidFill>
                  <a:srgbClr val="152536"/>
                </a:solidFill>
                <a:latin typeface="Microsoft YaHei"/>
              </a:rPr>
              <a:t>Query base Acc</a:t>
            </a:r>
          </a:p>
        </p:txBody>
      </p:sp>
      <p:sp>
        <p:nvSpPr>
          <p:cNvPr id="31" name="TextBox 30"/>
          <p:cNvSpPr txBox="1"/>
          <p:nvPr/>
        </p:nvSpPr>
        <p:spPr>
          <a:xfrm>
            <a:off x="4983479" y="4206240"/>
            <a:ext cx="731520" cy="256032"/>
          </a:xfrm>
          <a:prstGeom prst="rect">
            <a:avLst/>
          </a:prstGeom>
          <a:noFill/>
        </p:spPr>
        <p:txBody>
          <a:bodyPr wrap="square" anchor="ctr">
            <a:spAutoFit/>
          </a:bodyPr>
          <a:lstStyle/>
          <a:p>
            <a:pPr algn="l">
              <a:spcAft>
                <a:spcPts val="100"/>
              </a:spcAft>
            </a:pPr>
            <a:r>
              <a:rPr sz="1100" b="1">
                <a:solidFill>
                  <a:srgbClr val="102A43"/>
                </a:solidFill>
                <a:latin typeface="Microsoft YaHei"/>
              </a:rPr>
              <a:t>0.4651</a:t>
            </a:r>
          </a:p>
        </p:txBody>
      </p:sp>
      <p:sp>
        <p:nvSpPr>
          <p:cNvPr id="32" name="Rounded Rectangle 31"/>
          <p:cNvSpPr/>
          <p:nvPr/>
        </p:nvSpPr>
        <p:spPr>
          <a:xfrm>
            <a:off x="2148840" y="4590288"/>
            <a:ext cx="2743200" cy="256032"/>
          </a:xfrm>
          <a:prstGeom prst="roundRect">
            <a:avLst/>
          </a:prstGeom>
          <a:solidFill>
            <a:srgbClr val="EFF7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148840" y="4590288"/>
            <a:ext cx="2419959" cy="256032"/>
          </a:xfrm>
          <a:prstGeom prst="roundRect">
            <a:avLst/>
          </a:prstGeom>
          <a:solidFill>
            <a:srgbClr val="F28C28"/>
          </a:solidFill>
          <a:ln w="1270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590288"/>
            <a:ext cx="1234440" cy="256032"/>
          </a:xfrm>
          <a:prstGeom prst="rect">
            <a:avLst/>
          </a:prstGeom>
          <a:noFill/>
        </p:spPr>
        <p:txBody>
          <a:bodyPr wrap="square" anchor="ctr">
            <a:spAutoFit/>
          </a:bodyPr>
          <a:lstStyle/>
          <a:p>
            <a:pPr algn="r">
              <a:spcAft>
                <a:spcPts val="100"/>
              </a:spcAft>
            </a:pPr>
            <a:r>
              <a:rPr sz="1100" b="1">
                <a:solidFill>
                  <a:srgbClr val="152536"/>
                </a:solidFill>
                <a:latin typeface="Microsoft YaHei"/>
              </a:rPr>
              <a:t>Fixed RL Acc</a:t>
            </a:r>
          </a:p>
        </p:txBody>
      </p:sp>
      <p:sp>
        <p:nvSpPr>
          <p:cNvPr id="35" name="TextBox 34"/>
          <p:cNvSpPr txBox="1"/>
          <p:nvPr/>
        </p:nvSpPr>
        <p:spPr>
          <a:xfrm>
            <a:off x="4983479" y="4590288"/>
            <a:ext cx="731520" cy="256032"/>
          </a:xfrm>
          <a:prstGeom prst="rect">
            <a:avLst/>
          </a:prstGeom>
          <a:noFill/>
        </p:spPr>
        <p:txBody>
          <a:bodyPr wrap="square" anchor="ctr">
            <a:spAutoFit/>
          </a:bodyPr>
          <a:lstStyle/>
          <a:p>
            <a:pPr algn="l">
              <a:spcAft>
                <a:spcPts val="100"/>
              </a:spcAft>
            </a:pPr>
            <a:r>
              <a:rPr sz="1100" b="1">
                <a:solidFill>
                  <a:srgbClr val="102A43"/>
                </a:solidFill>
                <a:latin typeface="Microsoft YaHei"/>
              </a:rPr>
              <a:t>0.5293</a:t>
            </a:r>
          </a:p>
        </p:txBody>
      </p:sp>
      <p:sp>
        <p:nvSpPr>
          <p:cNvPr id="36" name="Rounded Rectangle 35"/>
          <p:cNvSpPr/>
          <p:nvPr/>
        </p:nvSpPr>
        <p:spPr>
          <a:xfrm>
            <a:off x="2148840" y="4974336"/>
            <a:ext cx="2743200" cy="256032"/>
          </a:xfrm>
          <a:prstGeom prst="roundRect">
            <a:avLst/>
          </a:prstGeom>
          <a:solidFill>
            <a:srgbClr val="EFF7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148840" y="4974336"/>
            <a:ext cx="2287828" cy="25603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974336"/>
            <a:ext cx="1234440" cy="256032"/>
          </a:xfrm>
          <a:prstGeom prst="rect">
            <a:avLst/>
          </a:prstGeom>
          <a:noFill/>
        </p:spPr>
        <p:txBody>
          <a:bodyPr wrap="square" anchor="ctr">
            <a:spAutoFit/>
          </a:bodyPr>
          <a:lstStyle/>
          <a:p>
            <a:pPr algn="r">
              <a:spcAft>
                <a:spcPts val="100"/>
              </a:spcAft>
            </a:pPr>
            <a:r>
              <a:rPr sz="1100" b="1">
                <a:solidFill>
                  <a:srgbClr val="152536"/>
                </a:solidFill>
                <a:latin typeface="Microsoft YaHei"/>
              </a:rPr>
              <a:t>Qwen RL Acc</a:t>
            </a:r>
          </a:p>
        </p:txBody>
      </p:sp>
      <p:sp>
        <p:nvSpPr>
          <p:cNvPr id="39" name="TextBox 38"/>
          <p:cNvSpPr txBox="1"/>
          <p:nvPr/>
        </p:nvSpPr>
        <p:spPr>
          <a:xfrm>
            <a:off x="4983479" y="4974336"/>
            <a:ext cx="731520" cy="256032"/>
          </a:xfrm>
          <a:prstGeom prst="rect">
            <a:avLst/>
          </a:prstGeom>
          <a:noFill/>
        </p:spPr>
        <p:txBody>
          <a:bodyPr wrap="square" anchor="ctr">
            <a:spAutoFit/>
          </a:bodyPr>
          <a:lstStyle/>
          <a:p>
            <a:pPr algn="l">
              <a:spcAft>
                <a:spcPts val="100"/>
              </a:spcAft>
            </a:pPr>
            <a:r>
              <a:rPr sz="1100" b="1">
                <a:solidFill>
                  <a:srgbClr val="102A43"/>
                </a:solidFill>
                <a:latin typeface="Microsoft YaHei"/>
              </a:rPr>
              <a:t>0.5004</a:t>
            </a:r>
          </a:p>
        </p:txBody>
      </p:sp>
      <p:sp>
        <p:nvSpPr>
          <p:cNvPr id="40" name="Rounded Rectangle 39"/>
          <p:cNvSpPr/>
          <p:nvPr/>
        </p:nvSpPr>
        <p:spPr>
          <a:xfrm>
            <a:off x="6446520" y="3977639"/>
            <a:ext cx="4754880" cy="804672"/>
          </a:xfrm>
          <a:prstGeom prst="roundRect">
            <a:avLst/>
          </a:prstGeom>
          <a:solidFill>
            <a:srgbClr val="FCEFE2"/>
          </a:solidFill>
          <a:ln w="1270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700" b="1">
                <a:solidFill>
                  <a:srgbClr val="152536"/>
                </a:solidFill>
                <a:latin typeface="Microsoft YaHei"/>
              </a:rPr>
              <a:t>固定动作</a:t>
            </a:r>
          </a:p>
          <a:p>
            <a:pPr algn="ctr">
              <a:spcAft>
                <a:spcPts val="100"/>
              </a:spcAft>
            </a:pPr>
            <a:r>
              <a:rPr sz="1700" b="1">
                <a:solidFill>
                  <a:srgbClr val="152536"/>
                </a:solidFill>
                <a:latin typeface="Microsoft YaHei"/>
              </a:rPr>
              <a:t>召回更强，但候选更多</a:t>
            </a:r>
          </a:p>
        </p:txBody>
      </p:sp>
      <p:sp>
        <p:nvSpPr>
          <p:cNvPr id="41" name="Rounded Rectangle 40"/>
          <p:cNvSpPr/>
          <p:nvPr/>
        </p:nvSpPr>
        <p:spPr>
          <a:xfrm>
            <a:off x="6446520" y="5010912"/>
            <a:ext cx="4754880" cy="804672"/>
          </a:xfrm>
          <a:prstGeom prst="roundRect">
            <a:avLst/>
          </a:prstGeom>
          <a:solidFill>
            <a:srgbClr val="E8F5F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700" b="1">
                <a:solidFill>
                  <a:srgbClr val="152536"/>
                </a:solidFill>
                <a:latin typeface="Microsoft YaHei"/>
              </a:rPr>
              <a:t>Qwen 动态动作</a:t>
            </a:r>
          </a:p>
          <a:p>
            <a:pPr algn="ctr">
              <a:spcAft>
                <a:spcPts val="100"/>
              </a:spcAft>
            </a:pPr>
            <a:r>
              <a:rPr sz="1700" b="1">
                <a:solidFill>
                  <a:srgbClr val="152536"/>
                </a:solidFill>
                <a:latin typeface="Microsoft YaHei"/>
              </a:rPr>
              <a:t>候选减少约 12.3%，mAP 最高</a:t>
            </a:r>
          </a:p>
        </p:txBody>
      </p:sp>
      <p:sp>
        <p:nvSpPr>
          <p:cNvPr id="42" name="TextBox 41"/>
          <p:cNvSpPr txBox="1"/>
          <p:nvPr/>
        </p:nvSpPr>
        <p:spPr>
          <a:xfrm>
            <a:off x="914400" y="6126480"/>
            <a:ext cx="10241280" cy="256032"/>
          </a:xfrm>
          <a:prstGeom prst="rect">
            <a:avLst/>
          </a:prstGeom>
          <a:noFill/>
        </p:spPr>
        <p:txBody>
          <a:bodyPr wrap="square" anchor="ctr">
            <a:spAutoFit/>
          </a:bodyPr>
          <a:lstStyle/>
          <a:p>
            <a:pPr algn="ctr">
              <a:spcAft>
                <a:spcPts val="100"/>
              </a:spcAft>
            </a:pPr>
            <a:r>
              <a:rPr sz="1500" b="1">
                <a:solidFill>
                  <a:srgbClr val="102A43"/>
                </a:solidFill>
                <a:latin typeface="Microsoft YaHei"/>
              </a:rPr>
              <a:t>结论：动态 prompt pool 使 RL 从“固定类别 ID 选择”变成“状态—动作匹配”。</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84048"/>
            <a:ext cx="2743200" cy="228600"/>
          </a:xfrm>
          <a:prstGeom prst="rect">
            <a:avLst/>
          </a:prstGeom>
          <a:noFill/>
        </p:spPr>
        <p:txBody>
          <a:bodyPr wrap="square" anchor="ctr">
            <a:spAutoFit/>
          </a:bodyPr>
          <a:lstStyle/>
          <a:p>
            <a:pPr algn="l">
              <a:spcAft>
                <a:spcPts val="100"/>
              </a:spcAft>
            </a:pPr>
            <a:r>
              <a:rPr sz="1000" b="1">
                <a:solidFill>
                  <a:srgbClr val="18A999"/>
                </a:solidFill>
                <a:latin typeface="Microsoft YaHei"/>
              </a:rPr>
              <a:t>EXPERIMENT 04</a:t>
            </a:r>
          </a:p>
        </p:txBody>
      </p:sp>
      <p:sp>
        <p:nvSpPr>
          <p:cNvPr id="3" name="TextBox 2"/>
          <p:cNvSpPr txBox="1"/>
          <p:nvPr/>
        </p:nvSpPr>
        <p:spPr>
          <a:xfrm>
            <a:off x="685800" y="667512"/>
            <a:ext cx="10881360" cy="502920"/>
          </a:xfrm>
          <a:prstGeom prst="rect">
            <a:avLst/>
          </a:prstGeom>
          <a:noFill/>
        </p:spPr>
        <p:txBody>
          <a:bodyPr wrap="square" anchor="ctr">
            <a:spAutoFit/>
          </a:bodyPr>
          <a:lstStyle/>
          <a:p>
            <a:pPr algn="l">
              <a:spcAft>
                <a:spcPts val="100"/>
              </a:spcAft>
            </a:pPr>
            <a:r>
              <a:rPr sz="2700" b="1">
                <a:solidFill>
                  <a:srgbClr val="102A43"/>
                </a:solidFill>
                <a:latin typeface="Microsoft YaHei"/>
              </a:rPr>
              <a:t>Exp38 控制变量：在相同候选集上提升排序质量</a:t>
            </a:r>
          </a:p>
        </p:txBody>
      </p:sp>
      <p:cxnSp>
        <p:nvCxnSpPr>
          <p:cNvPr id="4" name="Connector 3"/>
          <p:cNvCxnSpPr/>
          <p:nvPr/>
        </p:nvCxnSpPr>
        <p:spPr>
          <a:xfrm>
            <a:off x="685800" y="1545336"/>
            <a:ext cx="10817352"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6510528"/>
            <a:ext cx="2743200" cy="164592"/>
          </a:xfrm>
          <a:prstGeom prst="rect">
            <a:avLst/>
          </a:prstGeom>
          <a:noFill/>
        </p:spPr>
        <p:txBody>
          <a:bodyPr wrap="square" anchor="ctr">
            <a:spAutoFit/>
          </a:bodyPr>
          <a:lstStyle/>
          <a:p>
            <a:pPr algn="l">
              <a:spcAft>
                <a:spcPts val="100"/>
              </a:spcAft>
            </a:pPr>
            <a:r>
              <a:rPr sz="850" b="0">
                <a:solidFill>
                  <a:srgbClr val="64748B"/>
                </a:solidFill>
                <a:latin typeface="Microsoft YaHei"/>
              </a:rPr>
              <a:t>HIT Shenzhen  |  毕业答辩</a:t>
            </a:r>
          </a:p>
        </p:txBody>
      </p:sp>
      <p:sp>
        <p:nvSpPr>
          <p:cNvPr id="6" name="TextBox 5"/>
          <p:cNvSpPr txBox="1"/>
          <p:nvPr/>
        </p:nvSpPr>
        <p:spPr>
          <a:xfrm>
            <a:off x="10954512" y="6492240"/>
            <a:ext cx="548640" cy="164592"/>
          </a:xfrm>
          <a:prstGeom prst="rect">
            <a:avLst/>
          </a:prstGeom>
          <a:noFill/>
        </p:spPr>
        <p:txBody>
          <a:bodyPr wrap="square" anchor="ctr">
            <a:spAutoFit/>
          </a:bodyPr>
          <a:lstStyle/>
          <a:p>
            <a:pPr algn="r">
              <a:spcAft>
                <a:spcPts val="100"/>
              </a:spcAft>
            </a:pPr>
            <a:r>
              <a:rPr sz="850" b="0">
                <a:solidFill>
                  <a:srgbClr val="64748B"/>
                </a:solidFill>
                <a:latin typeface="Microsoft YaHei"/>
              </a:rPr>
              <a:t>20</a:t>
            </a:r>
          </a:p>
        </p:txBody>
      </p:sp>
      <p:sp>
        <p:nvSpPr>
          <p:cNvPr id="7" name="TextBox 6"/>
          <p:cNvSpPr txBox="1"/>
          <p:nvPr/>
        </p:nvSpPr>
        <p:spPr>
          <a:xfrm>
            <a:off x="777240" y="1664208"/>
            <a:ext cx="10424160" cy="228600"/>
          </a:xfrm>
          <a:prstGeom prst="rect">
            <a:avLst/>
          </a:prstGeom>
          <a:noFill/>
        </p:spPr>
        <p:txBody>
          <a:bodyPr wrap="square" anchor="ctr">
            <a:spAutoFit/>
          </a:bodyPr>
          <a:lstStyle/>
          <a:p>
            <a:pPr algn="l">
              <a:spcAft>
                <a:spcPts val="100"/>
              </a:spcAft>
            </a:pPr>
            <a:r>
              <a:rPr sz="1200" b="0">
                <a:solidFill>
                  <a:srgbClr val="64748B"/>
                </a:solidFill>
                <a:latin typeface="Microsoft YaHei"/>
              </a:rPr>
              <a:t>三种方法读取同一份 52,872 个 metadata 候选框；规则组仅做筛选，Exp38 只重新标定分数。</a:t>
            </a:r>
          </a:p>
        </p:txBody>
      </p:sp>
      <p:sp>
        <p:nvSpPr>
          <p:cNvPr id="8" name="Rectangle 7"/>
          <p:cNvSpPr/>
          <p:nvPr/>
        </p:nvSpPr>
        <p:spPr>
          <a:xfrm>
            <a:off x="685800" y="2057400"/>
            <a:ext cx="2468880" cy="502920"/>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80" b="1">
                <a:solidFill>
                  <a:srgbClr val="FFFFFF"/>
                </a:solidFill>
                <a:latin typeface="Microsoft YaHei"/>
              </a:rPr>
              <a:t>方法</a:t>
            </a:r>
          </a:p>
        </p:txBody>
      </p:sp>
      <p:sp>
        <p:nvSpPr>
          <p:cNvPr id="9" name="Rectangle 8"/>
          <p:cNvSpPr/>
          <p:nvPr/>
        </p:nvSpPr>
        <p:spPr>
          <a:xfrm>
            <a:off x="3154680" y="2057400"/>
            <a:ext cx="1600200" cy="502920"/>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80" b="1">
                <a:solidFill>
                  <a:srgbClr val="FFFFFF"/>
                </a:solidFill>
                <a:latin typeface="Microsoft YaHei"/>
              </a:rPr>
              <a:t>预测框数</a:t>
            </a:r>
          </a:p>
        </p:txBody>
      </p:sp>
      <p:sp>
        <p:nvSpPr>
          <p:cNvPr id="10" name="Rectangle 9"/>
          <p:cNvSpPr/>
          <p:nvPr/>
        </p:nvSpPr>
        <p:spPr>
          <a:xfrm>
            <a:off x="4754880" y="2057400"/>
            <a:ext cx="1417320" cy="502920"/>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80" b="1">
                <a:solidFill>
                  <a:srgbClr val="FFFFFF"/>
                </a:solidFill>
                <a:latin typeface="Microsoft YaHei"/>
              </a:rPr>
              <a:t>Acc@0.5</a:t>
            </a:r>
          </a:p>
        </p:txBody>
      </p:sp>
      <p:sp>
        <p:nvSpPr>
          <p:cNvPr id="11" name="Rectangle 10"/>
          <p:cNvSpPr/>
          <p:nvPr/>
        </p:nvSpPr>
        <p:spPr>
          <a:xfrm>
            <a:off x="6172200" y="2057400"/>
            <a:ext cx="1417320" cy="502920"/>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80" b="1">
                <a:solidFill>
                  <a:srgbClr val="FFFFFF"/>
                </a:solidFill>
                <a:latin typeface="Microsoft YaHei"/>
              </a:rPr>
              <a:t>Acc@0.75</a:t>
            </a:r>
          </a:p>
        </p:txBody>
      </p:sp>
      <p:sp>
        <p:nvSpPr>
          <p:cNvPr id="12" name="Rectangle 11"/>
          <p:cNvSpPr/>
          <p:nvPr/>
        </p:nvSpPr>
        <p:spPr>
          <a:xfrm>
            <a:off x="7589520" y="2057400"/>
            <a:ext cx="1417320" cy="502920"/>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80" b="1">
                <a:solidFill>
                  <a:srgbClr val="FFFFFF"/>
                </a:solidFill>
                <a:latin typeface="Microsoft YaHei"/>
              </a:rPr>
              <a:t>mAP@0.5</a:t>
            </a:r>
          </a:p>
        </p:txBody>
      </p:sp>
      <p:sp>
        <p:nvSpPr>
          <p:cNvPr id="13" name="Rectangle 12"/>
          <p:cNvSpPr/>
          <p:nvPr/>
        </p:nvSpPr>
        <p:spPr>
          <a:xfrm>
            <a:off x="685800" y="2560320"/>
            <a:ext cx="246888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富元信息融合前</a:t>
            </a:r>
          </a:p>
        </p:txBody>
      </p:sp>
      <p:sp>
        <p:nvSpPr>
          <p:cNvPr id="14" name="Rectangle 13"/>
          <p:cNvSpPr/>
          <p:nvPr/>
        </p:nvSpPr>
        <p:spPr>
          <a:xfrm>
            <a:off x="3154680" y="2560320"/>
            <a:ext cx="160020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52,872</a:t>
            </a:r>
          </a:p>
        </p:txBody>
      </p:sp>
      <p:sp>
        <p:nvSpPr>
          <p:cNvPr id="15" name="Rectangle 14"/>
          <p:cNvSpPr/>
          <p:nvPr/>
        </p:nvSpPr>
        <p:spPr>
          <a:xfrm>
            <a:off x="4754880" y="2560320"/>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0.5374</a:t>
            </a:r>
          </a:p>
        </p:txBody>
      </p:sp>
      <p:sp>
        <p:nvSpPr>
          <p:cNvPr id="16" name="Rectangle 15"/>
          <p:cNvSpPr/>
          <p:nvPr/>
        </p:nvSpPr>
        <p:spPr>
          <a:xfrm>
            <a:off x="6172200" y="2560320"/>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0.3463</a:t>
            </a:r>
          </a:p>
        </p:txBody>
      </p:sp>
      <p:sp>
        <p:nvSpPr>
          <p:cNvPr id="17" name="Rectangle 16"/>
          <p:cNvSpPr/>
          <p:nvPr/>
        </p:nvSpPr>
        <p:spPr>
          <a:xfrm>
            <a:off x="7589520" y="2560320"/>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0.1464</a:t>
            </a:r>
          </a:p>
        </p:txBody>
      </p:sp>
      <p:sp>
        <p:nvSpPr>
          <p:cNvPr id="18" name="Rectangle 17"/>
          <p:cNvSpPr/>
          <p:nvPr/>
        </p:nvSpPr>
        <p:spPr>
          <a:xfrm>
            <a:off x="685800" y="3063240"/>
            <a:ext cx="2468880" cy="502920"/>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规则筛选对照</a:t>
            </a:r>
          </a:p>
        </p:txBody>
      </p:sp>
      <p:sp>
        <p:nvSpPr>
          <p:cNvPr id="19" name="Rectangle 18"/>
          <p:cNvSpPr/>
          <p:nvPr/>
        </p:nvSpPr>
        <p:spPr>
          <a:xfrm>
            <a:off x="3154680" y="3063240"/>
            <a:ext cx="1600200" cy="502920"/>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9,586</a:t>
            </a:r>
          </a:p>
        </p:txBody>
      </p:sp>
      <p:sp>
        <p:nvSpPr>
          <p:cNvPr id="20" name="Rectangle 19"/>
          <p:cNvSpPr/>
          <p:nvPr/>
        </p:nvSpPr>
        <p:spPr>
          <a:xfrm>
            <a:off x="4754880" y="3063240"/>
            <a:ext cx="1417320" cy="502920"/>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0.3193</a:t>
            </a:r>
          </a:p>
        </p:txBody>
      </p:sp>
      <p:sp>
        <p:nvSpPr>
          <p:cNvPr id="21" name="Rectangle 20"/>
          <p:cNvSpPr/>
          <p:nvPr/>
        </p:nvSpPr>
        <p:spPr>
          <a:xfrm>
            <a:off x="6172200" y="3063240"/>
            <a:ext cx="1417320" cy="502920"/>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0.2491</a:t>
            </a:r>
          </a:p>
        </p:txBody>
      </p:sp>
      <p:sp>
        <p:nvSpPr>
          <p:cNvPr id="22" name="Rectangle 21"/>
          <p:cNvSpPr/>
          <p:nvPr/>
        </p:nvSpPr>
        <p:spPr>
          <a:xfrm>
            <a:off x="7589520" y="3063240"/>
            <a:ext cx="1417320" cy="502920"/>
          </a:xfrm>
          <a:prstGeom prst="rect">
            <a:avLst/>
          </a:prstGeom>
          <a:solidFill>
            <a:srgbClr val="FFFFFF"/>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0.1187</a:t>
            </a:r>
          </a:p>
        </p:txBody>
      </p:sp>
      <p:sp>
        <p:nvSpPr>
          <p:cNvPr id="23" name="Rectangle 22"/>
          <p:cNvSpPr/>
          <p:nvPr/>
        </p:nvSpPr>
        <p:spPr>
          <a:xfrm>
            <a:off x="685800" y="3566160"/>
            <a:ext cx="246888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Exp38 反馈式校准</a:t>
            </a:r>
          </a:p>
        </p:txBody>
      </p:sp>
      <p:sp>
        <p:nvSpPr>
          <p:cNvPr id="24" name="Rectangle 23"/>
          <p:cNvSpPr/>
          <p:nvPr/>
        </p:nvSpPr>
        <p:spPr>
          <a:xfrm>
            <a:off x="3154680" y="3566160"/>
            <a:ext cx="160020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52,872</a:t>
            </a:r>
          </a:p>
        </p:txBody>
      </p:sp>
      <p:sp>
        <p:nvSpPr>
          <p:cNvPr id="25" name="Rectangle 24"/>
          <p:cNvSpPr/>
          <p:nvPr/>
        </p:nvSpPr>
        <p:spPr>
          <a:xfrm>
            <a:off x="4754880" y="3566160"/>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0.5374</a:t>
            </a:r>
          </a:p>
        </p:txBody>
      </p:sp>
      <p:sp>
        <p:nvSpPr>
          <p:cNvPr id="26" name="Rectangle 25"/>
          <p:cNvSpPr/>
          <p:nvPr/>
        </p:nvSpPr>
        <p:spPr>
          <a:xfrm>
            <a:off x="6172200" y="3566160"/>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0.3491</a:t>
            </a:r>
          </a:p>
        </p:txBody>
      </p:sp>
      <p:sp>
        <p:nvSpPr>
          <p:cNvPr id="27" name="Rectangle 26"/>
          <p:cNvSpPr/>
          <p:nvPr/>
        </p:nvSpPr>
        <p:spPr>
          <a:xfrm>
            <a:off x="7589520" y="3566160"/>
            <a:ext cx="1417320" cy="502920"/>
          </a:xfrm>
          <a:prstGeom prst="rect">
            <a:avLst/>
          </a:prstGeom>
          <a:solidFill>
            <a:srgbClr val="EFF7FD"/>
          </a:solidFill>
          <a:ln w="1270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060" b="0">
                <a:solidFill>
                  <a:srgbClr val="152536"/>
                </a:solidFill>
                <a:latin typeface="Microsoft YaHei"/>
              </a:rPr>
              <a:t>0.1690</a:t>
            </a:r>
          </a:p>
        </p:txBody>
      </p:sp>
      <p:sp>
        <p:nvSpPr>
          <p:cNvPr id="28" name="TextBox 27"/>
          <p:cNvSpPr txBox="1"/>
          <p:nvPr/>
        </p:nvSpPr>
        <p:spPr>
          <a:xfrm>
            <a:off x="868680" y="4005072"/>
            <a:ext cx="4206240" cy="246888"/>
          </a:xfrm>
          <a:prstGeom prst="rect">
            <a:avLst/>
          </a:prstGeom>
          <a:noFill/>
        </p:spPr>
        <p:txBody>
          <a:bodyPr wrap="square" anchor="ctr">
            <a:spAutoFit/>
          </a:bodyPr>
          <a:lstStyle/>
          <a:p>
            <a:pPr algn="l">
              <a:spcAft>
                <a:spcPts val="100"/>
              </a:spcAft>
            </a:pPr>
            <a:r>
              <a:rPr sz="1400" b="1">
                <a:solidFill>
                  <a:srgbClr val="18A999"/>
                </a:solidFill>
                <a:latin typeface="Microsoft YaHei"/>
              </a:rPr>
              <a:t>mAP@0.5</a:t>
            </a:r>
          </a:p>
        </p:txBody>
      </p:sp>
      <p:sp>
        <p:nvSpPr>
          <p:cNvPr id="29" name="Rounded Rectangle 28"/>
          <p:cNvSpPr/>
          <p:nvPr/>
        </p:nvSpPr>
        <p:spPr>
          <a:xfrm>
            <a:off x="2148840" y="4407408"/>
            <a:ext cx="2743200" cy="256032"/>
          </a:xfrm>
          <a:prstGeom prst="roundRect">
            <a:avLst/>
          </a:prstGeom>
          <a:solidFill>
            <a:srgbClr val="EFF7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148840" y="4407408"/>
            <a:ext cx="2231136" cy="256032"/>
          </a:xfrm>
          <a:prstGeom prst="roundRect">
            <a:avLst/>
          </a:prstGeom>
          <a:solidFill>
            <a:srgbClr val="64748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407408"/>
            <a:ext cx="1234440" cy="256032"/>
          </a:xfrm>
          <a:prstGeom prst="rect">
            <a:avLst/>
          </a:prstGeom>
          <a:noFill/>
        </p:spPr>
        <p:txBody>
          <a:bodyPr wrap="square" anchor="ctr">
            <a:spAutoFit/>
          </a:bodyPr>
          <a:lstStyle/>
          <a:p>
            <a:pPr algn="r">
              <a:spcAft>
                <a:spcPts val="100"/>
              </a:spcAft>
            </a:pPr>
            <a:r>
              <a:rPr sz="1100" b="1">
                <a:solidFill>
                  <a:srgbClr val="152536"/>
                </a:solidFill>
                <a:latin typeface="Microsoft YaHei"/>
              </a:rPr>
              <a:t>融合前</a:t>
            </a:r>
          </a:p>
        </p:txBody>
      </p:sp>
      <p:sp>
        <p:nvSpPr>
          <p:cNvPr id="32" name="TextBox 31"/>
          <p:cNvSpPr txBox="1"/>
          <p:nvPr/>
        </p:nvSpPr>
        <p:spPr>
          <a:xfrm>
            <a:off x="4983479" y="4407408"/>
            <a:ext cx="731520" cy="256032"/>
          </a:xfrm>
          <a:prstGeom prst="rect">
            <a:avLst/>
          </a:prstGeom>
          <a:noFill/>
        </p:spPr>
        <p:txBody>
          <a:bodyPr wrap="square" anchor="ctr">
            <a:spAutoFit/>
          </a:bodyPr>
          <a:lstStyle/>
          <a:p>
            <a:pPr algn="l">
              <a:spcAft>
                <a:spcPts val="100"/>
              </a:spcAft>
            </a:pPr>
            <a:r>
              <a:rPr sz="1100" b="1">
                <a:solidFill>
                  <a:srgbClr val="102A43"/>
                </a:solidFill>
                <a:latin typeface="Microsoft YaHei"/>
              </a:rPr>
              <a:t>0.1464</a:t>
            </a:r>
          </a:p>
        </p:txBody>
      </p:sp>
      <p:sp>
        <p:nvSpPr>
          <p:cNvPr id="33" name="Rounded Rectangle 32"/>
          <p:cNvSpPr/>
          <p:nvPr/>
        </p:nvSpPr>
        <p:spPr>
          <a:xfrm>
            <a:off x="2148840" y="4800600"/>
            <a:ext cx="2743200" cy="256032"/>
          </a:xfrm>
          <a:prstGeom prst="roundRect">
            <a:avLst/>
          </a:prstGeom>
          <a:solidFill>
            <a:srgbClr val="EFF7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148840" y="4800600"/>
            <a:ext cx="1808988" cy="256032"/>
          </a:xfrm>
          <a:prstGeom prst="roundRect">
            <a:avLst/>
          </a:prstGeom>
          <a:solidFill>
            <a:srgbClr val="F28C28"/>
          </a:solidFill>
          <a:ln w="1270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4800600"/>
            <a:ext cx="1234440" cy="256032"/>
          </a:xfrm>
          <a:prstGeom prst="rect">
            <a:avLst/>
          </a:prstGeom>
          <a:noFill/>
        </p:spPr>
        <p:txBody>
          <a:bodyPr wrap="square" anchor="ctr">
            <a:spAutoFit/>
          </a:bodyPr>
          <a:lstStyle/>
          <a:p>
            <a:pPr algn="r">
              <a:spcAft>
                <a:spcPts val="100"/>
              </a:spcAft>
            </a:pPr>
            <a:r>
              <a:rPr sz="1100" b="1">
                <a:solidFill>
                  <a:srgbClr val="152536"/>
                </a:solidFill>
                <a:latin typeface="Microsoft YaHei"/>
              </a:rPr>
              <a:t>规则筛选</a:t>
            </a:r>
          </a:p>
        </p:txBody>
      </p:sp>
      <p:sp>
        <p:nvSpPr>
          <p:cNvPr id="36" name="TextBox 35"/>
          <p:cNvSpPr txBox="1"/>
          <p:nvPr/>
        </p:nvSpPr>
        <p:spPr>
          <a:xfrm>
            <a:off x="4983479" y="4800600"/>
            <a:ext cx="731520" cy="256032"/>
          </a:xfrm>
          <a:prstGeom prst="rect">
            <a:avLst/>
          </a:prstGeom>
          <a:noFill/>
        </p:spPr>
        <p:txBody>
          <a:bodyPr wrap="square" anchor="ctr">
            <a:spAutoFit/>
          </a:bodyPr>
          <a:lstStyle/>
          <a:p>
            <a:pPr algn="l">
              <a:spcAft>
                <a:spcPts val="100"/>
              </a:spcAft>
            </a:pPr>
            <a:r>
              <a:rPr sz="1100" b="1">
                <a:solidFill>
                  <a:srgbClr val="102A43"/>
                </a:solidFill>
                <a:latin typeface="Microsoft YaHei"/>
              </a:rPr>
              <a:t>0.1187</a:t>
            </a:r>
          </a:p>
        </p:txBody>
      </p:sp>
      <p:sp>
        <p:nvSpPr>
          <p:cNvPr id="37" name="Rounded Rectangle 36"/>
          <p:cNvSpPr/>
          <p:nvPr/>
        </p:nvSpPr>
        <p:spPr>
          <a:xfrm>
            <a:off x="2148840" y="5193792"/>
            <a:ext cx="2743200" cy="256032"/>
          </a:xfrm>
          <a:prstGeom prst="roundRect">
            <a:avLst/>
          </a:prstGeom>
          <a:solidFill>
            <a:srgbClr val="EFF7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148840" y="5193792"/>
            <a:ext cx="2575560" cy="25603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5193792"/>
            <a:ext cx="1234440" cy="256032"/>
          </a:xfrm>
          <a:prstGeom prst="rect">
            <a:avLst/>
          </a:prstGeom>
          <a:noFill/>
        </p:spPr>
        <p:txBody>
          <a:bodyPr wrap="square" anchor="ctr">
            <a:spAutoFit/>
          </a:bodyPr>
          <a:lstStyle/>
          <a:p>
            <a:pPr algn="r">
              <a:spcAft>
                <a:spcPts val="100"/>
              </a:spcAft>
            </a:pPr>
            <a:r>
              <a:rPr sz="1100" b="1">
                <a:solidFill>
                  <a:srgbClr val="152536"/>
                </a:solidFill>
                <a:latin typeface="Microsoft YaHei"/>
              </a:rPr>
              <a:t>Exp38</a:t>
            </a:r>
          </a:p>
        </p:txBody>
      </p:sp>
      <p:sp>
        <p:nvSpPr>
          <p:cNvPr id="40" name="TextBox 39"/>
          <p:cNvSpPr txBox="1"/>
          <p:nvPr/>
        </p:nvSpPr>
        <p:spPr>
          <a:xfrm>
            <a:off x="4983479" y="5193792"/>
            <a:ext cx="731520" cy="256032"/>
          </a:xfrm>
          <a:prstGeom prst="rect">
            <a:avLst/>
          </a:prstGeom>
          <a:noFill/>
        </p:spPr>
        <p:txBody>
          <a:bodyPr wrap="square" anchor="ctr">
            <a:spAutoFit/>
          </a:bodyPr>
          <a:lstStyle/>
          <a:p>
            <a:pPr algn="l">
              <a:spcAft>
                <a:spcPts val="100"/>
              </a:spcAft>
            </a:pPr>
            <a:r>
              <a:rPr sz="1100" b="1">
                <a:solidFill>
                  <a:srgbClr val="102A43"/>
                </a:solidFill>
                <a:latin typeface="Microsoft YaHei"/>
              </a:rPr>
              <a:t>0.1690</a:t>
            </a:r>
          </a:p>
        </p:txBody>
      </p:sp>
      <p:sp>
        <p:nvSpPr>
          <p:cNvPr id="41" name="Rounded Rectangle 40"/>
          <p:cNvSpPr/>
          <p:nvPr/>
        </p:nvSpPr>
        <p:spPr>
          <a:xfrm>
            <a:off x="6446520" y="4096512"/>
            <a:ext cx="4754880" cy="960120"/>
          </a:xfrm>
          <a:prstGeom prst="roundRect">
            <a:avLst/>
          </a:prstGeom>
          <a:solidFill>
            <a:srgbClr val="E8F5F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900" b="1">
                <a:solidFill>
                  <a:srgbClr val="152536"/>
                </a:solidFill>
                <a:latin typeface="Microsoft YaHei"/>
              </a:rPr>
              <a:t>候选数量相同</a:t>
            </a:r>
          </a:p>
          <a:p>
            <a:pPr algn="ctr">
              <a:spcAft>
                <a:spcPts val="100"/>
              </a:spcAft>
            </a:pPr>
            <a:r>
              <a:rPr sz="1900" b="1">
                <a:solidFill>
                  <a:srgbClr val="152536"/>
                </a:solidFill>
                <a:latin typeface="Microsoft YaHei"/>
              </a:rPr>
              <a:t>Acc@0.5 不变</a:t>
            </a:r>
          </a:p>
          <a:p>
            <a:pPr algn="ctr">
              <a:spcAft>
                <a:spcPts val="100"/>
              </a:spcAft>
            </a:pPr>
            <a:r>
              <a:rPr sz="1900" b="1">
                <a:solidFill>
                  <a:srgbClr val="152536"/>
                </a:solidFill>
                <a:latin typeface="Microsoft YaHei"/>
              </a:rPr>
              <a:t>mAP@0.5：0.1464 → 0.1690</a:t>
            </a:r>
          </a:p>
        </p:txBody>
      </p:sp>
      <p:sp>
        <p:nvSpPr>
          <p:cNvPr id="42" name="Rounded Rectangle 41"/>
          <p:cNvSpPr/>
          <p:nvPr/>
        </p:nvSpPr>
        <p:spPr>
          <a:xfrm>
            <a:off x="6446520" y="5321808"/>
            <a:ext cx="4754880" cy="658368"/>
          </a:xfrm>
          <a:prstGeom prst="roundRect">
            <a:avLst/>
          </a:prstGeom>
          <a:solidFill>
            <a:srgbClr val="FDEBEF"/>
          </a:solidFill>
          <a:ln w="12700">
            <a:solidFill>
              <a:srgbClr val="E85D7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700" b="1">
                <a:solidFill>
                  <a:srgbClr val="152536"/>
                </a:solidFill>
                <a:latin typeface="Microsoft YaHei"/>
              </a:rPr>
              <a:t>提升来自排序，不是增加候选框</a:t>
            </a:r>
          </a:p>
        </p:txBody>
      </p:sp>
      <p:sp>
        <p:nvSpPr>
          <p:cNvPr id="43" name="TextBox 42"/>
          <p:cNvSpPr txBox="1"/>
          <p:nvPr/>
        </p:nvSpPr>
        <p:spPr>
          <a:xfrm>
            <a:off x="914400" y="6144768"/>
            <a:ext cx="10241280" cy="237744"/>
          </a:xfrm>
          <a:prstGeom prst="rect">
            <a:avLst/>
          </a:prstGeom>
          <a:noFill/>
        </p:spPr>
        <p:txBody>
          <a:bodyPr wrap="square" anchor="ctr">
            <a:spAutoFit/>
          </a:bodyPr>
          <a:lstStyle/>
          <a:p>
            <a:pPr algn="ctr">
              <a:spcAft>
                <a:spcPts val="100"/>
              </a:spcAft>
            </a:pPr>
            <a:r>
              <a:rPr sz="1500" b="1">
                <a:solidFill>
                  <a:srgbClr val="102A43"/>
                </a:solidFill>
                <a:latin typeface="Microsoft YaHei"/>
              </a:rPr>
              <a:t>结论：Exp38 让候选框的来源、query 匹配和小目标先验进入最终排序。</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84048"/>
            <a:ext cx="2743200" cy="228600"/>
          </a:xfrm>
          <a:prstGeom prst="rect">
            <a:avLst/>
          </a:prstGeom>
          <a:noFill/>
        </p:spPr>
        <p:txBody>
          <a:bodyPr wrap="square" anchor="ctr">
            <a:spAutoFit/>
          </a:bodyPr>
          <a:lstStyle/>
          <a:p>
            <a:pPr algn="l">
              <a:spcAft>
                <a:spcPts val="100"/>
              </a:spcAft>
            </a:pPr>
            <a:r>
              <a:rPr sz="1000" b="1">
                <a:solidFill>
                  <a:srgbClr val="18A999"/>
                </a:solidFill>
                <a:latin typeface="Microsoft YaHei"/>
              </a:rPr>
              <a:t>EXPERIMENT 05</a:t>
            </a:r>
          </a:p>
        </p:txBody>
      </p:sp>
      <p:sp>
        <p:nvSpPr>
          <p:cNvPr id="3" name="TextBox 2"/>
          <p:cNvSpPr txBox="1"/>
          <p:nvPr/>
        </p:nvSpPr>
        <p:spPr>
          <a:xfrm>
            <a:off x="685800" y="667512"/>
            <a:ext cx="10881360" cy="502920"/>
          </a:xfrm>
          <a:prstGeom prst="rect">
            <a:avLst/>
          </a:prstGeom>
          <a:noFill/>
        </p:spPr>
        <p:txBody>
          <a:bodyPr wrap="square" anchor="ctr">
            <a:spAutoFit/>
          </a:bodyPr>
          <a:lstStyle/>
          <a:p>
            <a:pPr algn="l">
              <a:spcAft>
                <a:spcPts val="100"/>
              </a:spcAft>
            </a:pPr>
            <a:r>
              <a:rPr sz="2700" b="1">
                <a:solidFill>
                  <a:srgbClr val="102A43"/>
                </a:solidFill>
                <a:latin typeface="Microsoft YaHei"/>
              </a:rPr>
              <a:t>典型流程：Qwen 生成语义扩展，RL 选择动作，Exp38 完成重排</a:t>
            </a:r>
          </a:p>
        </p:txBody>
      </p:sp>
      <p:cxnSp>
        <p:nvCxnSpPr>
          <p:cNvPr id="4" name="Connector 3"/>
          <p:cNvCxnSpPr/>
          <p:nvPr/>
        </p:nvCxnSpPr>
        <p:spPr>
          <a:xfrm>
            <a:off x="685800" y="1545336"/>
            <a:ext cx="10817352" cy="0"/>
          </a:xfrm>
          <a:prstGeom prst="line">
            <a:avLst/>
          </a:prstGeom>
          <a:ln w="12700">
            <a:solidFill>
              <a:srgbClr val="DA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6510528"/>
            <a:ext cx="2743200" cy="164592"/>
          </a:xfrm>
          <a:prstGeom prst="rect">
            <a:avLst/>
          </a:prstGeom>
          <a:noFill/>
        </p:spPr>
        <p:txBody>
          <a:bodyPr wrap="square" anchor="ctr">
            <a:spAutoFit/>
          </a:bodyPr>
          <a:lstStyle/>
          <a:p>
            <a:pPr algn="l">
              <a:spcAft>
                <a:spcPts val="100"/>
              </a:spcAft>
            </a:pPr>
            <a:r>
              <a:rPr sz="850" b="0">
                <a:solidFill>
                  <a:srgbClr val="64748B"/>
                </a:solidFill>
                <a:latin typeface="Microsoft YaHei"/>
              </a:rPr>
              <a:t>HIT Shenzhen  |  毕业答辩</a:t>
            </a:r>
          </a:p>
        </p:txBody>
      </p:sp>
      <p:sp>
        <p:nvSpPr>
          <p:cNvPr id="6" name="TextBox 5"/>
          <p:cNvSpPr txBox="1"/>
          <p:nvPr/>
        </p:nvSpPr>
        <p:spPr>
          <a:xfrm>
            <a:off x="10954512" y="6492240"/>
            <a:ext cx="548640" cy="164592"/>
          </a:xfrm>
          <a:prstGeom prst="rect">
            <a:avLst/>
          </a:prstGeom>
          <a:noFill/>
        </p:spPr>
        <p:txBody>
          <a:bodyPr wrap="square" anchor="ctr">
            <a:spAutoFit/>
          </a:bodyPr>
          <a:lstStyle/>
          <a:p>
            <a:pPr algn="r">
              <a:spcAft>
                <a:spcPts val="100"/>
              </a:spcAft>
            </a:pPr>
            <a:r>
              <a:rPr sz="850" b="0">
                <a:solidFill>
                  <a:srgbClr val="64748B"/>
                </a:solidFill>
                <a:latin typeface="Microsoft YaHei"/>
              </a:rPr>
              <a:t>21</a:t>
            </a:r>
          </a:p>
        </p:txBody>
      </p:sp>
      <p:pic>
        <p:nvPicPr>
          <p:cNvPr id="7" name="Picture 6" descr="trace_case_0000193.png"/>
          <p:cNvPicPr>
            <a:picLocks noChangeAspect="1"/>
          </p:cNvPicPr>
          <p:nvPr/>
        </p:nvPicPr>
        <p:blipFill>
          <a:blip r:embed="rId2"/>
          <a:stretch>
            <a:fillRect/>
          </a:stretch>
        </p:blipFill>
        <p:spPr>
          <a:xfrm>
            <a:off x="685800" y="1691640"/>
            <a:ext cx="4251960" cy="3337560"/>
          </a:xfrm>
          <a:prstGeom prst="rect">
            <a:avLst/>
          </a:prstGeom>
        </p:spPr>
      </p:pic>
      <p:sp>
        <p:nvSpPr>
          <p:cNvPr id="8" name="TextBox 7"/>
          <p:cNvSpPr txBox="1"/>
          <p:nvPr/>
        </p:nvSpPr>
        <p:spPr>
          <a:xfrm>
            <a:off x="5212080" y="1737360"/>
            <a:ext cx="6080760" cy="256032"/>
          </a:xfrm>
          <a:prstGeom prst="rect">
            <a:avLst/>
          </a:prstGeom>
          <a:noFill/>
        </p:spPr>
        <p:txBody>
          <a:bodyPr wrap="square" anchor="ctr">
            <a:spAutoFit/>
          </a:bodyPr>
          <a:lstStyle/>
          <a:p>
            <a:pPr algn="l">
              <a:spcAft>
                <a:spcPts val="100"/>
              </a:spcAft>
            </a:pPr>
            <a:r>
              <a:rPr sz="1300" b="1">
                <a:solidFill>
                  <a:srgbClr val="18A999"/>
                </a:solidFill>
                <a:latin typeface="Microsoft YaHei"/>
              </a:rPr>
              <a:t>原始 Query</a:t>
            </a:r>
          </a:p>
        </p:txBody>
      </p:sp>
      <p:sp>
        <p:nvSpPr>
          <p:cNvPr id="9" name="Rounded Rectangle 8"/>
          <p:cNvSpPr/>
          <p:nvPr/>
        </p:nvSpPr>
        <p:spPr>
          <a:xfrm>
            <a:off x="5212080" y="2057400"/>
            <a:ext cx="5989320" cy="640080"/>
          </a:xfrm>
          <a:prstGeom prst="roundRect">
            <a:avLst/>
          </a:prstGeom>
          <a:solidFill>
            <a:srgbClr val="EFF7FD"/>
          </a:solidFill>
          <a:ln w="12700">
            <a:solidFill>
              <a:srgbClr val="B9D9F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100"/>
              </a:spcAft>
            </a:pPr>
            <a:r>
              <a:rPr sz="1250" b="0">
                <a:solidFill>
                  <a:srgbClr val="152536"/>
                </a:solidFill>
                <a:latin typeface="Microsoft YaHei"/>
              </a:rPr>
              <a:t>A black-clad cyclist is crossing the intersection.</a:t>
            </a:r>
          </a:p>
          <a:p>
            <a:pPr algn="l">
              <a:spcAft>
                <a:spcPts val="100"/>
              </a:spcAft>
            </a:pPr>
            <a:r>
              <a:rPr sz="1250" b="0">
                <a:solidFill>
                  <a:srgbClr val="152536"/>
                </a:solidFill>
                <a:latin typeface="Microsoft YaHei"/>
              </a:rPr>
              <a:t>There is a red tricycle at the top left.</a:t>
            </a:r>
          </a:p>
        </p:txBody>
      </p:sp>
      <p:sp>
        <p:nvSpPr>
          <p:cNvPr id="10" name="TextBox 9"/>
          <p:cNvSpPr txBox="1"/>
          <p:nvPr/>
        </p:nvSpPr>
        <p:spPr>
          <a:xfrm>
            <a:off x="5212080" y="2880360"/>
            <a:ext cx="6080760" cy="256032"/>
          </a:xfrm>
          <a:prstGeom prst="rect">
            <a:avLst/>
          </a:prstGeom>
          <a:noFill/>
        </p:spPr>
        <p:txBody>
          <a:bodyPr wrap="square" anchor="ctr">
            <a:spAutoFit/>
          </a:bodyPr>
          <a:lstStyle/>
          <a:p>
            <a:pPr algn="l">
              <a:spcAft>
                <a:spcPts val="100"/>
              </a:spcAft>
            </a:pPr>
            <a:r>
              <a:rPr sz="1300" b="1">
                <a:solidFill>
                  <a:srgbClr val="18A999"/>
                </a:solidFill>
                <a:latin typeface="Microsoft YaHei"/>
              </a:rPr>
              <a:t>Qwen 语义扩展</a:t>
            </a:r>
          </a:p>
        </p:txBody>
      </p:sp>
      <p:sp>
        <p:nvSpPr>
          <p:cNvPr id="11" name="Rounded Rectangle 10"/>
          <p:cNvSpPr/>
          <p:nvPr/>
        </p:nvSpPr>
        <p:spPr>
          <a:xfrm>
            <a:off x="5212080" y="3200400"/>
            <a:ext cx="5989320" cy="868680"/>
          </a:xfrm>
          <a:prstGeom prst="roundRect">
            <a:avLst/>
          </a:prstGeom>
          <a:solidFill>
            <a:srgbClr val="E8F5F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100"/>
              </a:spcAft>
            </a:pPr>
            <a:r>
              <a:rPr sz="1300" b="0">
                <a:solidFill>
                  <a:srgbClr val="152536"/>
                </a:solidFill>
                <a:latin typeface="Microsoft YaHei"/>
              </a:rPr>
              <a:t>cyclist in dark clothing  ·  person in black attire</a:t>
            </a:r>
          </a:p>
          <a:p>
            <a:pPr algn="l">
              <a:spcAft>
                <a:spcPts val="100"/>
              </a:spcAft>
            </a:pPr>
            <a:r>
              <a:rPr sz="1300" b="0">
                <a:solidFill>
                  <a:srgbClr val="152536"/>
                </a:solidFill>
                <a:latin typeface="Microsoft YaHei"/>
              </a:rPr>
              <a:t>cyclist crossing a road  ·  cyclist navigating an intersection</a:t>
            </a:r>
          </a:p>
        </p:txBody>
      </p:sp>
      <p:sp>
        <p:nvSpPr>
          <p:cNvPr id="12" name="TextBox 11"/>
          <p:cNvSpPr txBox="1"/>
          <p:nvPr/>
        </p:nvSpPr>
        <p:spPr>
          <a:xfrm>
            <a:off x="5212080" y="4251960"/>
            <a:ext cx="6080760" cy="256032"/>
          </a:xfrm>
          <a:prstGeom prst="rect">
            <a:avLst/>
          </a:prstGeom>
          <a:noFill/>
        </p:spPr>
        <p:txBody>
          <a:bodyPr wrap="square" anchor="ctr">
            <a:spAutoFit/>
          </a:bodyPr>
          <a:lstStyle/>
          <a:p>
            <a:pPr algn="l">
              <a:spcAft>
                <a:spcPts val="100"/>
              </a:spcAft>
            </a:pPr>
            <a:r>
              <a:rPr sz="1300" b="1">
                <a:solidFill>
                  <a:srgbClr val="18A999"/>
                </a:solidFill>
                <a:latin typeface="Microsoft YaHei"/>
              </a:rPr>
              <a:t>语义映射与 RL 动作</a:t>
            </a:r>
          </a:p>
        </p:txBody>
      </p:sp>
      <p:sp>
        <p:nvSpPr>
          <p:cNvPr id="13" name="Rounded Rectangle 12"/>
          <p:cNvSpPr/>
          <p:nvPr/>
        </p:nvSpPr>
        <p:spPr>
          <a:xfrm>
            <a:off x="5212080" y="4572000"/>
            <a:ext cx="1874519" cy="640080"/>
          </a:xfrm>
          <a:prstGeom prst="roundRect">
            <a:avLst/>
          </a:prstGeom>
          <a:solidFill>
            <a:srgbClr val="FCEFE2"/>
          </a:solidFill>
          <a:ln w="1270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700" b="1">
                <a:solidFill>
                  <a:srgbClr val="152536"/>
                </a:solidFill>
                <a:latin typeface="Microsoft YaHei"/>
              </a:rPr>
              <a:t>person</a:t>
            </a:r>
          </a:p>
        </p:txBody>
      </p:sp>
      <p:cxnSp>
        <p:nvCxnSpPr>
          <p:cNvPr id="14" name="Connector 13"/>
          <p:cNvCxnSpPr/>
          <p:nvPr/>
        </p:nvCxnSpPr>
        <p:spPr>
          <a:xfrm>
            <a:off x="7242048" y="4892040"/>
            <a:ext cx="347472" cy="0"/>
          </a:xfrm>
          <a:prstGeom prst="line">
            <a:avLst/>
          </a:prstGeom>
          <a:ln w="17780">
            <a:solidFill>
              <a:srgbClr val="64748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635240" y="4572000"/>
            <a:ext cx="1874519" cy="640080"/>
          </a:xfrm>
          <a:prstGeom prst="roundRect">
            <a:avLst/>
          </a:prstGeom>
          <a:solidFill>
            <a:srgbClr val="FCEFE2"/>
          </a:solidFill>
          <a:ln w="1270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700" b="1">
                <a:solidFill>
                  <a:srgbClr val="152536"/>
                </a:solidFill>
                <a:latin typeface="Microsoft YaHei"/>
              </a:rPr>
              <a:t>bicycle</a:t>
            </a:r>
          </a:p>
        </p:txBody>
      </p:sp>
      <p:cxnSp>
        <p:nvCxnSpPr>
          <p:cNvPr id="16" name="Connector 15"/>
          <p:cNvCxnSpPr/>
          <p:nvPr/>
        </p:nvCxnSpPr>
        <p:spPr>
          <a:xfrm>
            <a:off x="9665208" y="4892040"/>
            <a:ext cx="347472" cy="0"/>
          </a:xfrm>
          <a:prstGeom prst="line">
            <a:avLst/>
          </a:prstGeom>
          <a:ln w="17780">
            <a:solidFill>
              <a:srgbClr val="64748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058400" y="4572000"/>
            <a:ext cx="1143000" cy="640080"/>
          </a:xfrm>
          <a:prstGeom prst="roundRect">
            <a:avLst/>
          </a:prstGeom>
          <a:solidFill>
            <a:srgbClr val="E8F5F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
              </a:spcAft>
            </a:pPr>
            <a:r>
              <a:rPr sz="1400" b="1">
                <a:solidFill>
                  <a:srgbClr val="152536"/>
                </a:solidFill>
                <a:latin typeface="Microsoft YaHei"/>
              </a:rPr>
              <a:t>Exp38</a:t>
            </a:r>
          </a:p>
          <a:p>
            <a:pPr algn="ctr">
              <a:spcAft>
                <a:spcPts val="100"/>
              </a:spcAft>
            </a:pPr>
            <a:r>
              <a:rPr sz="1400" b="1">
                <a:solidFill>
                  <a:srgbClr val="152536"/>
                </a:solidFill>
                <a:latin typeface="Microsoft YaHei"/>
              </a:rPr>
              <a:t>重排</a:t>
            </a:r>
          </a:p>
        </p:txBody>
      </p:sp>
      <p:sp>
        <p:nvSpPr>
          <p:cNvPr id="18" name="TextBox 17"/>
          <p:cNvSpPr txBox="1"/>
          <p:nvPr/>
        </p:nvSpPr>
        <p:spPr>
          <a:xfrm>
            <a:off x="777240" y="5349240"/>
            <a:ext cx="10424160" cy="292608"/>
          </a:xfrm>
          <a:prstGeom prst="rect">
            <a:avLst/>
          </a:prstGeom>
          <a:noFill/>
        </p:spPr>
        <p:txBody>
          <a:bodyPr wrap="square" anchor="ctr">
            <a:spAutoFit/>
          </a:bodyPr>
          <a:lstStyle/>
          <a:p>
            <a:pPr algn="ctr">
              <a:spcAft>
                <a:spcPts val="100"/>
              </a:spcAft>
            </a:pPr>
            <a:r>
              <a:rPr sz="1600" b="1">
                <a:solidFill>
                  <a:srgbClr val="102A43"/>
                </a:solidFill>
                <a:latin typeface="Microsoft YaHei"/>
              </a:rPr>
              <a:t>Round 2：ADD_PERSON    →    Round 3：ADD_BICYCLE    →    合并去重 + Exp38 rescoring</a:t>
            </a:r>
          </a:p>
        </p:txBody>
      </p:sp>
      <p:sp>
        <p:nvSpPr>
          <p:cNvPr id="19" name="TextBox 18"/>
          <p:cNvSpPr txBox="1"/>
          <p:nvPr/>
        </p:nvSpPr>
        <p:spPr>
          <a:xfrm>
            <a:off x="914400" y="5870448"/>
            <a:ext cx="10241280" cy="320040"/>
          </a:xfrm>
          <a:prstGeom prst="rect">
            <a:avLst/>
          </a:prstGeom>
          <a:noFill/>
        </p:spPr>
        <p:txBody>
          <a:bodyPr wrap="square" anchor="ctr">
            <a:spAutoFit/>
          </a:bodyPr>
          <a:lstStyle/>
          <a:p>
            <a:pPr algn="ctr">
              <a:spcAft>
                <a:spcPts val="100"/>
              </a:spcAft>
            </a:pPr>
            <a:r>
              <a:rPr sz="1500" b="1">
                <a:solidFill>
                  <a:srgbClr val="102A43"/>
                </a:solidFill>
                <a:latin typeface="Microsoft YaHei"/>
              </a:rPr>
              <a:t>该案例说明：Qwen 提供开放语义，RL 负责选择，Exp38 负责最终候选质量排序。</a:t>
            </a:r>
          </a:p>
        </p:txBody>
      </p:sp>
    </p:spTree>
  </p:cSld>
  <p:clrMapOvr>
    <a:masterClrMapping/>
  </p:clrMapOvr>
</p:sld>
</file>

<file path=ppt/tags/tag1.xml><?xml version="1.0" encoding="utf-8"?>
<p:tagLst xmlns:p="http://schemas.openxmlformats.org/presentationml/2006/main">
  <p:tag name="TABLE_ENDDRAG_ORIGIN_RECT" val="845*150"/>
  <p:tag name="TABLE_ENDDRAG_RECT" val="60*133*845*150"/>
</p:tagLst>
</file>

<file path=ppt/tags/tag2.xml><?xml version="1.0" encoding="utf-8"?>
<p:tagLst xmlns:p="http://schemas.openxmlformats.org/presentationml/2006/main">
  <p:tag name="KSO_WM_DIAGRAM_VIRTUALLY_FRAME" val="{&quot;height&quot;:311.45,&quot;left&quot;:54,&quot;top&quot;:145.3,&quot;width&quot;:852}"/>
</p:tagLst>
</file>

<file path=ppt/tags/tag3.xml><?xml version="1.0" encoding="utf-8"?>
<p:tagLst xmlns:p="http://schemas.openxmlformats.org/presentationml/2006/main">
  <p:tag name="KSO_WM_DIAGRAM_VIRTUALLY_FRAME" val="{&quot;height&quot;:311.45,&quot;left&quot;:54,&quot;top&quot;:145.3,&quot;width&quot;:852}"/>
</p:tagLst>
</file>

<file path=ppt/tags/tag4.xml><?xml version="1.0" encoding="utf-8"?>
<p:tagLst xmlns:p="http://schemas.openxmlformats.org/presentationml/2006/main">
  <p:tag name="KSO_WM_DIAGRAM_VIRTUALLY_FRAME" val="{&quot;height&quot;:311.45,&quot;left&quot;:54,&quot;top&quot;:145.3,&quot;width&quot;:852}"/>
</p:tagLst>
</file>

<file path=ppt/tags/tag5.xml><?xml version="1.0" encoding="utf-8"?>
<p:tagLst xmlns:p="http://schemas.openxmlformats.org/presentationml/2006/main">
  <p:tag name="KSO_WM_DIAGRAM_VIRTUALLY_FRAME" val="{&quot;height&quot;:311.45,&quot;left&quot;:54,&quot;top&quot;:145.3,&quot;width&quot;:852}"/>
</p:tagLst>
</file>

<file path=ppt/tags/tag6.xml><?xml version="1.0" encoding="utf-8"?>
<p:tagLst xmlns:p="http://schemas.openxmlformats.org/presentationml/2006/main">
  <p:tag name="KSO_WM_DIAGRAM_VIRTUALLY_FRAME" val="{&quot;height&quot;:311.45,&quot;left&quot;:54,&quot;top&quot;:145.3,&quot;width&quot;:852}"/>
</p:tagLst>
</file>

<file path=ppt/tags/tag7.xml><?xml version="1.0" encoding="utf-8"?>
<p:tagLst xmlns:p="http://schemas.openxmlformats.org/presentationml/2006/main">
  <p:tag name="KSO_WM_DIAGRAM_VIRTUALLY_FRAME" val="{&quot;height&quot;:311.45,&quot;left&quot;:54,&quot;top&quot;:145.3,&quot;width&quot;:852}"/>
</p:tagLst>
</file>

<file path=ppt/tags/tag8.xml><?xml version="1.0" encoding="utf-8"?>
<p:tagLst xmlns:p="http://schemas.openxmlformats.org/presentationml/2006/main">
  <p:tag name="KSO_WM_DIAGRAM_VIRTUALLY_FRAME" val="{&quot;height&quot;:311.45,&quot;left&quot;:54,&quot;top&quot;:145.3,&quot;width&quot;:852}"/>
</p:tagLst>
</file>

<file path=ppt/tags/tag9.xml><?xml version="1.0" encoding="utf-8"?>
<p:tagLst xmlns:p="http://schemas.openxmlformats.org/presentationml/2006/main">
  <p:tag name="KSO_WM_DIAGRAM_VIRTUALLY_FRAME" val="{&quot;height&quot;:311.45,&quot;left&quot;:54,&quot;top&quot;:145.3,&quot;width&quot;:852}"/>
</p:tagLst>
</file>

<file path=ppt/tags/tag10.xml><?xml version="1.0" encoding="utf-8"?>
<p:tagLst xmlns:p="http://schemas.openxmlformats.org/presentationml/2006/main">
  <p:tag name="KSO_WM_DIAGRAM_VIRTUALLY_FRAME" val="{&quot;height&quot;:311.45,&quot;left&quot;:54,&quot;top&quot;:145.3,&quot;width&quot;:852}"/>
</p:tagLst>
</file>

<file path=ppt/tags/tag11.xml><?xml version="1.0" encoding="utf-8"?>
<p:tagLst xmlns:p="http://schemas.openxmlformats.org/presentationml/2006/main">
  <p:tag name="KSO_WM_DIAGRAM_VIRTUALLY_FRAME" val="{&quot;height&quot;:311.45,&quot;left&quot;:54,&quot;top&quot;:145.3,&quot;width&quot;:852}"/>
</p:tagLst>
</file>

<file path=ppt/tags/tag12.xml><?xml version="1.0" encoding="utf-8"?>
<p:tagLst xmlns:p="http://schemas.openxmlformats.org/presentationml/2006/main">
  <p:tag name="KSO_WM_DIAGRAM_VIRTUALLY_FRAME" val="{&quot;height&quot;:311.45,&quot;left&quot;:54,&quot;top&quot;:145.3,&quot;width&quot;:852}"/>
</p:tagLst>
</file>

<file path=ppt/tags/tag13.xml><?xml version="1.0" encoding="utf-8"?>
<p:tagLst xmlns:p="http://schemas.openxmlformats.org/presentationml/2006/main">
  <p:tag name="KSO_WM_DIAGRAM_VIRTUALLY_FRAME" val="{&quot;height&quot;:311.45,&quot;left&quot;:54,&quot;top&quot;:145.3,&quot;width&quot;:852}"/>
</p:tagLst>
</file>

<file path=ppt/tags/tag14.xml><?xml version="1.0" encoding="utf-8"?>
<p:tagLst xmlns:p="http://schemas.openxmlformats.org/presentationml/2006/main">
  <p:tag name="KSO_WM_DIAGRAM_VIRTUALLY_FRAME" val="{&quot;height&quot;:311.45,&quot;left&quot;:54,&quot;top&quot;:145.3,&quot;width&quot;:852}"/>
</p:tagLst>
</file>

<file path=ppt/tags/tag15.xml><?xml version="1.0" encoding="utf-8"?>
<p:tagLst xmlns:p="http://schemas.openxmlformats.org/presentationml/2006/main">
  <p:tag name="KSO_WM_DIAGRAM_VIRTUALLY_FRAME" val="{&quot;height&quot;:311.45,&quot;left&quot;:54,&quot;top&quot;:145.3,&quot;width&quot;:852}"/>
</p:tagLst>
</file>

<file path=ppt/tags/tag16.xml><?xml version="1.0" encoding="utf-8"?>
<p:tagLst xmlns:p="http://schemas.openxmlformats.org/presentationml/2006/main">
  <p:tag name="KSO_WM_DIAGRAM_VIRTUALLY_FRAME" val="{&quot;height&quot;:311.45,&quot;left&quot;:54,&quot;top&quot;:145.3,&quot;width&quot;:852}"/>
</p:tagLst>
</file>

<file path=ppt/tags/tag17.xml><?xml version="1.0" encoding="utf-8"?>
<p:tagLst xmlns:p="http://schemas.openxmlformats.org/presentationml/2006/main">
  <p:tag name="KSO_WM_DIAGRAM_VIRTUALLY_FRAME" val="{&quot;height&quot;:311.45,&quot;left&quot;:54,&quot;top&quot;:145.3,&quot;width&quot;:852}"/>
</p:tagLst>
</file>

<file path=ppt/tags/tag18.xml><?xml version="1.0" encoding="utf-8"?>
<p:tagLst xmlns:p="http://schemas.openxmlformats.org/presentationml/2006/main">
  <p:tag name="KSO_WM_DIAGRAM_VIRTUALLY_FRAME" val="{&quot;height&quot;:311.45,&quot;left&quot;:54,&quot;top&quot;:145.3,&quot;width&quot;:852}"/>
</p:tagLst>
</file>

<file path=ppt/tags/tag19.xml><?xml version="1.0" encoding="utf-8"?>
<p:tagLst xmlns:p="http://schemas.openxmlformats.org/presentationml/2006/main">
  <p:tag name="KSO_WM_DIAGRAM_VIRTUALLY_FRAME" val="{&quot;height&quot;:311.45,&quot;left&quot;:54,&quot;top&quot;:145.3,&quot;width&quot;:852}"/>
</p:tagLst>
</file>

<file path=ppt/tags/tag20.xml><?xml version="1.0" encoding="utf-8"?>
<p:tagLst xmlns:p="http://schemas.openxmlformats.org/presentationml/2006/main">
  <p:tag name="KSO_WM_DIAGRAM_VIRTUALLY_FRAME" val="{&quot;height&quot;:187.5,&quot;left&quot;:54,&quot;top&quot;:168.75,&quot;width&quot;:852}"/>
</p:tagLst>
</file>

<file path=ppt/tags/tag21.xml><?xml version="1.0" encoding="utf-8"?>
<p:tagLst xmlns:p="http://schemas.openxmlformats.org/presentationml/2006/main">
  <p:tag name="KSO_WM_DIAGRAM_VIRTUALLY_FRAME" val="{&quot;height&quot;:187.5,&quot;left&quot;:54,&quot;top&quot;:168.75,&quot;width&quot;:852}"/>
</p:tagLst>
</file>

<file path=ppt/tags/tag22.xml><?xml version="1.0" encoding="utf-8"?>
<p:tagLst xmlns:p="http://schemas.openxmlformats.org/presentationml/2006/main">
  <p:tag name="KSO_WM_DIAGRAM_VIRTUALLY_FRAME" val="{&quot;height&quot;:187.5,&quot;left&quot;:54,&quot;top&quot;:168.75,&quot;width&quot;:852}"/>
</p:tagLst>
</file>

<file path=ppt/tags/tag23.xml><?xml version="1.0" encoding="utf-8"?>
<p:tagLst xmlns:p="http://schemas.openxmlformats.org/presentationml/2006/main">
  <p:tag name="KSO_WM_DIAGRAM_VIRTUALLY_FRAME" val="{&quot;height&quot;:187.5,&quot;left&quot;:54,&quot;top&quot;:168.75,&quot;width&quot;:852}"/>
</p:tagLst>
</file>

<file path=ppt/tags/tag24.xml><?xml version="1.0" encoding="utf-8"?>
<p:tagLst xmlns:p="http://schemas.openxmlformats.org/presentationml/2006/main">
  <p:tag name="KSO_WM_DIAGRAM_VIRTUALLY_FRAME" val="{&quot;height&quot;:187.5,&quot;left&quot;:54,&quot;top&quot;:168.75,&quot;width&quot;:852}"/>
</p:tagLst>
</file>

<file path=ppt/tags/tag25.xml><?xml version="1.0" encoding="utf-8"?>
<p:tagLst xmlns:p="http://schemas.openxmlformats.org/presentationml/2006/main">
  <p:tag name="KSO_WM_DIAGRAM_VIRTUALLY_FRAME" val="{&quot;height&quot;:187.5,&quot;left&quot;:54,&quot;top&quot;:168.75,&quot;width&quot;:852}"/>
</p:tagLst>
</file>

<file path=ppt/tags/tag26.xml><?xml version="1.0" encoding="utf-8"?>
<p:tagLst xmlns:p="http://schemas.openxmlformats.org/presentationml/2006/main">
  <p:tag name="KSO_WM_DIAGRAM_VIRTUALLY_FRAME" val="{&quot;height&quot;:187.5,&quot;left&quot;:54,&quot;top&quot;:168.75,&quot;width&quot;:852}"/>
</p:tagLst>
</file>

<file path=ppt/tags/tag27.xml><?xml version="1.0" encoding="utf-8"?>
<p:tagLst xmlns:p="http://schemas.openxmlformats.org/presentationml/2006/main">
  <p:tag name="KSO_WM_DIAGRAM_VIRTUALLY_FRAME" val="{&quot;height&quot;:187.5,&quot;left&quot;:54,&quot;top&quot;:168.75,&quot;width&quot;:852}"/>
</p:tagLst>
</file>

<file path=ppt/tags/tag28.xml><?xml version="1.0" encoding="utf-8"?>
<p:tagLst xmlns:p="http://schemas.openxmlformats.org/presentationml/2006/main">
  <p:tag name="KSO_WM_DIAGRAM_VIRTUALLY_FRAME" val="{&quot;height&quot;:187.5,&quot;left&quot;:54,&quot;top&quot;:168.75,&quot;width&quot;:852}"/>
</p:tagLst>
</file>

<file path=ppt/tags/tag29.xml><?xml version="1.0" encoding="utf-8"?>
<p:tagLst xmlns:p="http://schemas.openxmlformats.org/presentationml/2006/main">
  <p:tag name="KSO_WM_DIAGRAM_VIRTUALLY_FRAME" val="{&quot;height&quot;:187.5,&quot;left&quot;:54,&quot;top&quot;:168.75,&quot;width&quot;:852}"/>
</p:tagLst>
</file>

<file path=ppt/tags/tag30.xml><?xml version="1.0" encoding="utf-8"?>
<p:tagLst xmlns:p="http://schemas.openxmlformats.org/presentationml/2006/main">
  <p:tag name="KSO_WM_DIAGRAM_VIRTUALLY_FRAME" val="{&quot;height&quot;:187.5,&quot;left&quot;:54,&quot;top&quot;:168.75,&quot;width&quot;:852}"/>
</p:tagLst>
</file>

<file path=ppt/tags/tag31.xml><?xml version="1.0" encoding="utf-8"?>
<p:tagLst xmlns:p="http://schemas.openxmlformats.org/presentationml/2006/main">
  <p:tag name="KSO_WM_DIAGRAM_VIRTUALLY_FRAME" val="{&quot;height&quot;:187.5,&quot;left&quot;:54,&quot;top&quot;:168.75,&quot;width&quot;:852}"/>
</p:tagLst>
</file>

<file path=ppt/tags/tag32.xml><?xml version="1.0" encoding="utf-8"?>
<p:tagLst xmlns:p="http://schemas.openxmlformats.org/presentationml/2006/main">
  <p:tag name="KSO_WM_DIAGRAM_VIRTUALLY_FRAME" val="{&quot;height&quot;:187.5,&quot;left&quot;:54,&quot;top&quot;:168.75,&quot;width&quot;:852}"/>
</p:tagLst>
</file>

<file path=ppt/tags/tag33.xml><?xml version="1.0" encoding="utf-8"?>
<p:tagLst xmlns:p="http://schemas.openxmlformats.org/presentationml/2006/main">
  <p:tag name="KSO_WM_DIAGRAM_VIRTUALLY_FRAME" val="{&quot;height&quot;:187.5,&quot;left&quot;:54,&quot;top&quot;:168.75,&quot;width&quot;:852}"/>
</p:tagLst>
</file>

<file path=ppt/tags/tag34.xml><?xml version="1.0" encoding="utf-8"?>
<p:tagLst xmlns:p="http://schemas.openxmlformats.org/presentationml/2006/main">
  <p:tag name="KSO_WM_DIAGRAM_VIRTUALLY_FRAME" val="{&quot;height&quot;:187.5,&quot;left&quot;:54,&quot;top&quot;:168.75,&quot;width&quot;:852}"/>
</p:tagLst>
</file>

<file path=ppt/tags/tag35.xml><?xml version="1.0" encoding="utf-8"?>
<p:tagLst xmlns:p="http://schemas.openxmlformats.org/presentationml/2006/main">
  <p:tag name="KSO_WM_DIAGRAM_VIRTUALLY_FRAME" val="{&quot;height&quot;:187.5,&quot;left&quot;:54,&quot;top&quot;:168.75,&quot;width&quot;:852}"/>
</p:tagLst>
</file>

<file path=ppt/tags/tag36.xml><?xml version="1.0" encoding="utf-8"?>
<p:tagLst xmlns:p="http://schemas.openxmlformats.org/presentationml/2006/main">
  <p:tag name="KSO_WM_DIAGRAM_VIRTUALLY_FRAME" val="{&quot;height&quot;:187.5,&quot;left&quot;:54,&quot;top&quot;:168.75,&quot;width&quot;:852}"/>
</p:tagLst>
</file>

<file path=ppt/tags/tag37.xml><?xml version="1.0" encoding="utf-8"?>
<p:tagLst xmlns:p="http://schemas.openxmlformats.org/presentationml/2006/main">
  <p:tag name="KSO_WM_DIAGRAM_VIRTUALLY_FRAME" val="{&quot;height&quot;:187.5,&quot;left&quot;:54,&quot;top&quot;:168.75,&quot;width&quot;:852}"/>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2764</Words>
  <Application>WPS 演示</Application>
  <PresentationFormat>Converted Presentation</PresentationFormat>
  <Paragraphs>413</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宋体</vt:lpstr>
      <vt:lpstr>Wingdings</vt:lpstr>
      <vt:lpstr>Adobe Gothic Std B</vt:lpstr>
      <vt:lpstr>华文中宋</vt:lpstr>
      <vt:lpstr>华文细黑</vt:lpstr>
      <vt:lpstr>Calibri</vt:lpstr>
      <vt:lpstr>微软雅黑</vt:lpstr>
      <vt:lpstr>Arial Unicode MS</vt:lpstr>
      <vt:lpstr>Optima-Regular</vt:lpstr>
      <vt:lpstr>0xProto Nerd Font Mono</vt:lpstr>
      <vt:lpstr>黑体</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王哲</cp:lastModifiedBy>
  <cp:revision>45</cp:revision>
  <dcterms:created xsi:type="dcterms:W3CDTF">2026-08-29T14:39:00Z</dcterms:created>
  <dcterms:modified xsi:type="dcterms:W3CDTF">2026-09-10T08:16:44Z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92321FF83F674E7FBB1B8E6A3F817BAC_12</vt:lpwstr>
  </property>
</Properties>
</file>